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thesis for the room: we can teach the G1 a new cup-manipulation variant by showing it one demonstration, with no retraining, and we have a 10–12 week plan to prove or disprove that on our hardware. Everything that follows serves that sentence. Companion documents: the engineering guide, the ICL literature review and the ENPIRE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cost of the status quo. If you have a number for hours-per-new-task on the current stack, put it here. The rest of the talk answers whether in-context learning can remove the retrain step, and what it takes to find out on our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the context: one or more demonstrations, optionally language or a goal image. H is the live observation history. Training beforehand is allowed and usually essential; the claim is only that θ is fixed during every test rollout. Keep the four mechanisms separate all the way to the results slide — a new checkpoint or an ENPIRE code edit is never called an in-context update. Guide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ICL concrete for a mixed audience. Walk it slowly: the demo is tokenized and placed in front of the live observation; the frozen network compares the query image with the demo images, finds the corresponding objects, and reproduces the relative motion. Nothing is trained on the demo. The closed loop re-prompts every step with the same demo and a fresh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 lives in row 1 (ICRT, BPP) with row 4 added later (retrieval, ENPIRE-tuned). Row 2 is a cheap conceptual baseline but its published version depends on GPT-4 Turbo. Row 3 is a watchlist. Comparison axes across all four: number of demos, demo modality (teleop vs human video), tokenization, and whether the base is a bespoke policy or a VLA.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as a timeline, not a citation table; the table with approximate citation counts is in the backup of the literature review. The message is that the idea is eight years old but only became deployable on real hardware in 2024–25.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BiCICLe (bimanual, LLM leader-follower), Instant-Fold (deformables), HiST-AT (action tokenizer) and SynthICL (synthetic RGB training) are in the backup. Most of these are 2026 preprints; treat numbers as preliminary.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the teaching pair. LocoFormer: the "demo" is the robot's own history; adaptation is rebuilding an embodiment representation online, and the G1 push and walking videos on the project page show it on our robot class. S1: the demo is a person doing the task; the policy must infer intent, functional correspondences and task progress across scene, viewpoint and embodiment. Skild frames pre-training as the outer loop that teaches learning-from-context, and the prompt as the inner loop with no weight change — exactly the definition on slide 3. Timeline: LocoFormer Sept 2025 → first in-domain ICL Feb 2026 → first pancake May 2026 → S1 Aug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from Skild's blog on internal benchmarks with human intervention used to score long-horizon VLA baselines; no third-party reproduction and no released weights. Quote them as the field's current upper bound on what ICL can look like, not as something we will match. Skild's data engine ranks sources on hardware proximity, diversity and scalability: teleop (high/low/low), UMI (moderate on all three), egocentric video (low/high/high), simulation (moderate/low/high). That table is the justification for our phase-2 mix: iPhUMI for training diversity, human video as the phase-3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everything open we can run: ICRT, BPP, MimicDroid and Instant Policy all train for ICL with a support/query split. GEN-1.5 did not, and prompts introduce time jumps it never saw, yet it works. Their hypotheses are the LLM ones: burstiness and Zipfian structure of physical data, and repetitive cycles the model learns to extend. Three ideas transfer to our plan regardless of model: a library of short composable prompts instead of one long demo; sim-recorded prompts as a cheap prompt source; and an evaluation row comparing one-shot in context against 1–5 gradient steps on the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is in an ICL deck: Skild cites this paper for the finding that dense from-scratch post-training matches a post-trained foundation model, i.e. the purpose of pretraining is ICL, not better fine-tuning. FACTR 2 itself is a better way to do behaviour cloning. Grasp verification today is "gripper closed and TCP rising"; with NEXT it becomes "closed, rising, and carrying an external load", which is a stronger signal for the verifier and for the GRASP_MISS / SLIP failure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Concurrent one-shot manipulation work Skild cites: Generalist AI GEN-1.5 and RoboTTT (context scaling / test-time training); both are also closed or protocol-different. The comparison is about availability and fit, not a ranking of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ICRT first because it has the most explicit demonstration/action interface; BPP as the matched comparison on the same data; RICL only if we accept the VLA dependency stack. Do not average or vote across their outputs — different training distributions and action conventions. Guide Sections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MimicDroid is the one to re-check regularly: if a G1 training package appears it moves from watchlist to candidate. Instant Policy is excluded from the strict source-only core but its pseudo-demonstration idea is reused in the data-scaling track. Guide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earns trust for the rest of the talk. Vendor numbers are on narrow tasks and are not reproduced independently. It also explains why Act 2 spends so much time on verification: a robot video is not evidence that ICL contributed.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once so the team sees fine-tuning is a known, supported path with tooling and a CC BY-4.0 G1 teleop dataset to bootstrap from. Then the comparison: fine-tuning changes θ per task set; ICL changes C per rollout. If the team only wants one task done reliably this quarter, fine-tuning wins; if the requirement is adding variants without retraining, ICL is the only route that removes the loop. Vendor numbers are on "place known fruits" with 1K episodes and are not independently reproduced; NVIDIA's own reference G1 policy is documented at ~60–70% and "not production-grade". Matched-data reporting (Section 21) means counting GR00T's extra pretraining as learning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unresolved rights explicitly in release_manifest.yaml. In practice the ICRT Franka checkpoint is of no direct use on a G1, so expect the "train eligible source on our own data" mode. A checkpoint without its codec, normalization and prompt bank is not a reproducible robot policy. Guide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concrete "what would we actually do on Monday" scenarios. MimicDroid is conceptually the best match for a humanoid but ships no G1 weights, so it is a training project. BPP ships checkpoints and a prompt interface (iPhUMI) and its UMI-style action space (end-effector pose + gripper) is the most embodiment-agnostic of the three, so a G1 with a parallel gripper and wrist camera is a plausible deployment target; BPP itself reports weaker conditioning in low-diversity settings, so expect to add our data. Astra + ENPIRE needs no training at all and can take demo videos in context, but it is closed, slow per trial (2–3 min in published runs) and metered. Numbers from Robocurve and StationeryBench are third-party, on YAM arms, not on a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reorders the earlier ICRT-first plan to honour the preference for pretrained weights and few-video prompts. Astra + ENPIRE is the scaffold that produces the environment (Stage 1 of ENPIRE) and an early demo; BPP is the first frozen-weight ICL candidate because it is the only one with released checkpoints and a demo-as-prompt interface; MimicDroid is the humanoid-native end state. Keep the two-cup experiment as the acceptance test for whichever route is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the way the KAT example was walked: input on the left, output on the right. Numbers to quote: prompt encoder ~57M params, action decoder ~151M, real drawing data was 200 human tasks × 5 demos plus 800 scripted tasks. The transfer risk for us is the action space: UMI-style relative end-effector trajectories and a matched wrist-camera pose. If those two are reproduced on the G1 gripper, a released checkpoint is worth trying before any training; if not, ICRT is the fallback. Paper Sections 3.3–3.4 and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still reflects integration risk, now weighted by what is pretrained. Astra outputs are configuration and skill code, validated by the same gates as any candidate; the reported ICL number comes from the frozen BPP or MimicDroid policy, not from the API. Guide Sections 1–4 for the original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Lift-and-hold and full completion are scored separately. Walking, liquids, glass, handle grasps and bimanual motion are excluded from v1. Recommend the parallel gripper explicitly: Dex3 commissioning alone can consume weeks and the scalar hand synergy only makes sense for a body grasp. Do not inherit hand or wrist assumptions from a paper. Guide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early so the team knows what success looks like on a screen before seeing the ladder that gets there. Specify where prompt demos come from: if they are recorded in unmatched scenes, the model must match cup identity by appearance across scenes, which is a harder and different claim than "follow the demonstrated destination". Treat the two as separate rows in the evaluation matrix. Wrong-prompt stress tests run in simulation first. Guide Section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the only actuator publisher. The supervisor controls trial state, leases and reset. The coding agent has no direct DDS interface. A new candidate becomes active only after validation and a new generation number. Guide Sections 6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lease gives exactly one process permission to request execution; reset and policy execution never hold it together. Increment the generation after reset, reconnect, calibration or policy changes and reject late packets from old generations. Guide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TCP-local displacement in metres and radians; the hand scalar g maps to a calibrated joint synergy. Packets carry observation ID, generation, deadline, dt and codec hash; NaN, stale and unreachable actions are rejected rather than clipped. Codec tests before any powered motion: identity action → no change; positive local x matches the observed TCP axis; rotation signs; round trip within tolerance. Record raw streams above the policy rate so 10 Hz can be revisited later without recollecting. Guide Sections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overlay at one pose does not validate a transform. Moving torso, head or camera mounts require updated transforms or invalidation. Check once how the stance controller behaves during a 3-second hold with the arm extended. Guide Sections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state machine on calibrated RGB-D: table plane, bounded segmentation, cup-body approximation, several side-grasp candidates scored on clearance and reach. It validates hardware and calibration and provides failure examples; it does not provide the varied demonstrations needed for learning. Guide Section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method that shows convincing context use was meta-trained across far more task diversity than six variants; BPP's own headline finding is that diversity drives prompting. Say this plainly so nobody hears "120 episodes and we are done". Log requested action, accepted target and measured state separately; keep interventions and failures but label them. Guide Section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use the same episode as support and query; never expose the query's future labels. Normalization from the training partition only. Tuning axes: prompt count, downsampling, context length, action horizon, encoder freezing; optimizer settings are model-specific. Record seeds and effective batch size. Guide Section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prompt IDs, frame indices, similarity scores and the context hash in every trial. More prompts raise memory and latency and can distract the policy. A proposed 10 Hz policy rate requires matching training time steps. Keep the optional coding model off the inference GPU during trials. Guide Sections 14 and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the actual cup from an external view with calibrated geometry: initial height, lift over time, retention, final placement. Audit the verifier on labelled success/failure/occlusion samples, then freeze it. Operator-assisted completions are a separate outcome. Guide Section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requires evidence, not a passing demo. Simulation validates interfaces but not cup friction, hand contact or balance. Never test robustness by deliberately commanding a wrong joint map. Guide Section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twenty paired development conditions. Final: fifty held-out conditions per method as a starting budget, raised if intervals are too wide for the decision. Lean on the paired design; it is what makes a 10-point context effect detectable. Guide Section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8–12 weeks assumes a small experienced team, usable hardware and the parallel gripper. With Dex3 or a large scaling dataset it is closer to a quarter. One engineer should serialize packages. Profile the actual model before buying GPUs. Guide Sections 22–23.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rung names the data and interface change it requires, not just the ambition. Do not promise a new dexterous primitive from one example — BPP is explicit that ICL recombines known primitives. Guide Section 5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lever maps to a specific, cheap ablation on the frozen-policy rig. Traces are a research extension: label five future image points from measured TCP, predict query traces at deployment, and never send a trace to the actuator. Guide Sections 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MimicDroid reports nearly twofold higher real-world success than prior methods on its own benchmark; its G1 training package is not verified as of the review date. Re-check before phase 3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ENPIRE needs a real G1 adapter against the pinned protocol (adapter base, launcher, commands, NEW_TASK.md); renaming the YAM station is not a port. Route all movement through the gateway. A deterministic candidate search is a valid first implementation; a local coding model (e.g. Qwen2.5-Coder) is optional and its output is untrusted until validated. Guide Section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Interleave incumbent and candidate trials to reduce drift. Preserve rejected candidates and failures for audit. This mirrors ENPIRE's own contract: one hypothesis, smallest change, tests first, budgeted trials, evidence, gated acceptance. Guide Section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two questions. "Why not just fine-tune GR00T or UnifoLM?" — we may, as the workhorse; ICL is the layer that removes per-task retraining, and RICL shows VLAs do not get it for free. "Why is the dataset so small?" — phase 1 validates the pipeline; the scaling track is the real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context controls behaviour poorly, retain the practical geometric baseline and diagnose rather than retrain around it. Guide Sections 21 and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citation table with approximate counts, and the release qualifications, are in the companion literature review and engineering guide. Source review date: 17 September 2026. No cross-paper numerical ranking is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engineering guide as the detailed handoff. Public source availability is checked separately from checkpoint rights and task suitability.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3.19578" TargetMode="External"/><Relationship Id="rId2" Type="http://schemas.openxmlformats.org/officeDocument/2006/relationships/hyperlink" Target="https://arxiv.org/abs/2210.14215" TargetMode="External"/><Relationship Id="rId3" Type="http://schemas.openxmlformats.org/officeDocument/2006/relationships/hyperlink" Target="https://arxiv.org/abs/2508.02062"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1703.07326" TargetMode="External"/><Relationship Id="rId2" Type="http://schemas.openxmlformats.org/officeDocument/2006/relationships/hyperlink" Target="https://arxiv.org/abs/2411.12633" TargetMode="External"/><Relationship Id="rId3" Type="http://schemas.openxmlformats.org/officeDocument/2006/relationships/hyperlink" Target="https://arxiv.org/abs/2511.10110" TargetMode="External"/><Relationship Id="rId4" Type="http://schemas.openxmlformats.org/officeDocument/2006/relationships/hyperlink" Target="https://arxiv.org/abs/2508.02062" TargetMode="Externa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9.09769" TargetMode="External"/><Relationship Id="rId2" Type="http://schemas.openxmlformats.org/officeDocument/2006/relationships/hyperlink" Target="https://arxiv.org/abs/2606.30457" TargetMode="External"/><Relationship Id="rId3" Type="http://schemas.openxmlformats.org/officeDocument/2006/relationships/hyperlink" Target="https://arxiv.org/abs/2508.02062" TargetMode="External"/><Relationship Id="rId4" Type="http://schemas.openxmlformats.org/officeDocument/2006/relationships/hyperlink" Target="https://arxiv.org/abs/2603.08269" TargetMode="Externa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eneralist-locomotion.github.io/" TargetMode="External"/><Relationship Id="rId2" Type="http://schemas.openxmlformats.org/officeDocument/2006/relationships/hyperlink" Target="https://arxiv.org/abs/2509.23745" TargetMode="External"/><Relationship Id="rId3" Type="http://schemas.openxmlformats.org/officeDocument/2006/relationships/hyperlink" Target="https://www.skild.ai/blogs/s1" TargetMode="Externa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skild.ai/blogs/s1" TargetMode="External"/><Relationship Id="rId2" Type="http://schemas.openxmlformats.org/officeDocument/2006/relationships/hyperlink" Target="https://generalistai.com/blog/gen-1.5" TargetMode="External"/><Relationship Id="rId3" Type="http://schemas.openxmlformats.org/officeDocument/2006/relationships/hyperlink" Target="https://arxiv.org/abs/2607.15275" TargetMode="External"/><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eneralistai.com/blog/gen-1.5"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jasonjzliu.com/factr2/" TargetMode="External"/><Relationship Id="rId2" Type="http://schemas.openxmlformats.org/officeDocument/2006/relationships/hyperlink" Target="https://arxiv.org/abs/2606.12406" TargetMode="External"/><Relationship Id="rId3" Type="http://schemas.openxmlformats.org/officeDocument/2006/relationships/hyperlink" Target="https://github.com/philiphan0109/factr2_next/tree/main"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skild.ai/blogs/s1" TargetMode="External"/><Relationship Id="rId2" Type="http://schemas.openxmlformats.org/officeDocument/2006/relationships/hyperlink" Target="https://generalist-locomotion.github.io/" TargetMode="External"/><Relationship Id="rId3" Type="http://schemas.openxmlformats.org/officeDocument/2006/relationships/hyperlink" Target="https://ut-austin-rpl.github.io/MimicDroid/" TargetMode="External"/><Relationship Id="rId4" Type="http://schemas.openxmlformats.org/officeDocument/2006/relationships/hyperlink" Target="https://github.com/real-stanford/behavior_prompting" TargetMode="External"/><Relationship Id="rId5" Type="http://schemas.openxmlformats.org/officeDocument/2006/relationships/hyperlink" Target="https://github.com/NVIDIA/Isaac-GR00T"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Max-Fu/icrt" TargetMode="External"/><Relationship Id="rId2" Type="http://schemas.openxmlformats.org/officeDocument/2006/relationships/hyperlink" Target="https://github.com/real-stanford/behavior_prompting" TargetMode="External"/><Relationship Id="rId3" Type="http://schemas.openxmlformats.org/officeDocument/2006/relationships/hyperlink" Target="https://github.com/ricl-vla/ricl_openpi" TargetMode="External"/><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ut-austin-rpl.github.io/MimicDroid/" TargetMode="External"/><Relationship Id="rId2" Type="http://schemas.openxmlformats.org/officeDocument/2006/relationships/hyperlink" Target="https://github.com/toannguyen1904/ICLR" TargetMode="External"/><Relationship Id="rId3" Type="http://schemas.openxmlformats.org/officeDocument/2006/relationships/hyperlink" Target="https://github.com/vv19/instant_policy" TargetMode="External"/><Relationship Id="rId4" Type="http://schemas.openxmlformats.org/officeDocument/2006/relationships/hyperlink" Target="https://www.skild.ai/blogs/s1" TargetMode="Externa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NVIDIA/Isaac-GR00T" TargetMode="External"/><Relationship Id="rId2" Type="http://schemas.openxmlformats.org/officeDocument/2006/relationships/hyperlink" Target="https://github.com/unitreerobotics/unifolm-vla" TargetMode="External"/><Relationship Id="rId3" Type="http://schemas.openxmlformats.org/officeDocument/2006/relationships/hyperlink" Target="https://github.com/Physical-Intelligence/openpi" TargetMode="External"/><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NVIDIA/Isaac-GR00T" TargetMode="External"/><Relationship Id="rId2" Type="http://schemas.openxmlformats.org/officeDocument/2006/relationships/hyperlink" Target="https://huggingface.co/datasets/nvidia/PhysicalAI-Robotics-GR00T-Teleop-G1" TargetMode="External"/><Relationship Id="rId3" Type="http://schemas.openxmlformats.org/officeDocument/2006/relationships/hyperlink" Target="https://github.com/huggingface/lerobot" TargetMode="External"/><Relationship Id="rId4" Type="http://schemas.openxmlformats.org/officeDocument/2006/relationships/hyperlink" Target="https://ricl-vla.github.io/" TargetMode="External"/><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ut-austin-rpl.github.io/MimicDroid/" TargetMode="External"/><Relationship Id="rId2" Type="http://schemas.openxmlformats.org/officeDocument/2006/relationships/hyperlink" Target="https://github.com/real-stanford/behavior_prompting" TargetMode="External"/><Relationship Id="rId3" Type="http://schemas.openxmlformats.org/officeDocument/2006/relationships/hyperlink" Target="https://github.com/real-stanford/iPhUMI" TargetMode="External"/><Relationship Id="rId4" Type="http://schemas.openxmlformats.org/officeDocument/2006/relationships/hyperlink" Target="https://openai.com/index/gpt-6-astra/" TargetMode="External"/><Relationship Id="rId5" Type="http://schemas.openxmlformats.org/officeDocument/2006/relationships/hyperlink" Target="https://openai.robocurve.org/gpt-6-astra/" TargetMode="External"/><Relationship Id="rId6" Type="http://schemas.openxmlformats.org/officeDocument/2006/relationships/hyperlink" Target="https://github.com/NVlabs/ENPIRE" TargetMode="External"/><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real-stanford/behavior_prompting" TargetMode="External"/><Relationship Id="rId2" Type="http://schemas.openxmlformats.org/officeDocument/2006/relationships/hyperlink" Target="https://github.com/real-stanford/gated-memory-policy/" TargetMode="External"/><Relationship Id="rId3" Type="http://schemas.openxmlformats.org/officeDocument/2006/relationships/hyperlink" Target="https://github.com/NVlabs/ENPIRE" TargetMode="External"/><Relationship Id="rId4" Type="http://schemas.openxmlformats.org/officeDocument/2006/relationships/hyperlink" Target="https://ut-austin-rpl.github.io/MimicDroid/" TargetMode="External"/><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real-stanford/behavior_prompting" TargetMode="External"/><Relationship Id="rId2" Type="http://schemas.openxmlformats.org/officeDocument/2006/relationships/hyperlink" Target="https://github.com/real-stanford/iPhUMI" TargetMode="External"/><Relationship Id="rId3" Type="http://schemas.openxmlformats.org/officeDocument/2006/relationships/hyperlink" Target="https://arxiv.org/abs/2606.30457"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openai.com/index/gpt-6-astra/" TargetMode="External"/><Relationship Id="rId2" Type="http://schemas.openxmlformats.org/officeDocument/2006/relationships/hyperlink" Target="https://github.com/real-stanford/behavior_prompting" TargetMode="External"/><Relationship Id="rId3" Type="http://schemas.openxmlformats.org/officeDocument/2006/relationships/hyperlink" Target="https://ut-austin-rpl.github.io/MimicDroid/" TargetMode="External"/><Relationship Id="rId4" Type="http://schemas.openxmlformats.org/officeDocument/2006/relationships/hyperlink" Target="https://github.com/NVIDIA/Isaac-GR00T" TargetMode="Externa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unitreerobotics/xr_teleoperate"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github.com/unitreerobotics/unitree_sdk2/blob/main/example/g1/high_level/g1_arm7_sdk_dds_example.cpp" TargetMode="External"/><Relationship Id="rId2" Type="http://schemas.openxmlformats.org/officeDocument/2006/relationships/hyperlink" Target="https://github.com/stack-of-tasks/pinocchio" TargetMode="Externa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github.com/unitreerobotics/xr_teleoperate" TargetMode="External"/><Relationship Id="rId2" Type="http://schemas.openxmlformats.org/officeDocument/2006/relationships/hyperlink" Target="https://arxiv.org/abs/2606.08154" TargetMode="External"/><Relationship Id="rId3" Type="http://schemas.openxmlformats.org/officeDocument/2006/relationships/hyperlink" Target="https://github.com/google-deepmind/mujoco" TargetMode="External"/><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github.com/Max-Fu/icrt" TargetMode="External"/><Relationship Id="rId2" Type="http://schemas.openxmlformats.org/officeDocument/2006/relationships/hyperlink" Target="https://github.com/real-stanford/behavior_prompting" TargetMode="External"/><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github.com/google-deepmind/mujoco"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arxiv.org/abs/2604.20348" TargetMode="External"/><Relationship Id="rId2" Type="http://schemas.openxmlformats.org/officeDocument/2006/relationships/hyperlink" Target="https://github.com/NVIDIA/Isaac-GR00T" TargetMode="Externa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ricl-vla.github.io/" TargetMode="External"/><Relationship Id="rId2" Type="http://schemas.openxmlformats.org/officeDocument/2006/relationships/hyperlink" Target="https://arxiv.org/abs/2604.15215" TargetMode="External"/><Relationship Id="rId3" Type="http://schemas.openxmlformats.org/officeDocument/2006/relationships/hyperlink" Target="https://arxiv.org/abs/2603.08269" TargetMode="External"/><Relationship Id="rId4" Type="http://schemas.openxmlformats.org/officeDocument/2006/relationships/hyperlink" Target="https://arxiv.org/html/2603.07530v2" TargetMode="External"/><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ut-austin-rpl.github.io/MimicDroid/" TargetMode="External"/><Relationship Id="rId2" Type="http://schemas.openxmlformats.org/officeDocument/2006/relationships/hyperlink" Target="https://github.com/UT-Austin-RPL/mimicdroid-robocasa" TargetMode="External"/><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github.com/NVlabs/ENPIRE" TargetMode="External"/><Relationship Id="rId2" Type="http://schemas.openxmlformats.org/officeDocument/2006/relationships/hyperlink" Target="https://arxiv.org/abs/2606.19980" TargetMode="External"/><Relationship Id="rId3" Type="http://schemas.openxmlformats.org/officeDocument/2006/relationships/hyperlink" Target="https://huggingface.co/Qwen/Qwen2.5-Coder-7B-Instruct" TargetMode="External"/><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arxiv.org/abs/1703.07326" TargetMode="External"/><Relationship Id="rId2" Type="http://schemas.openxmlformats.org/officeDocument/2006/relationships/hyperlink" Target="https://arxiv.org/abs/2408.15980" TargetMode="External"/><Relationship Id="rId3" Type="http://schemas.openxmlformats.org/officeDocument/2006/relationships/hyperlink" Target="https://arxiv.org/abs/2411.12633" TargetMode="External"/><Relationship Id="rId4" Type="http://schemas.openxmlformats.org/officeDocument/2006/relationships/hyperlink" Target="https://arxiv.org/abs/2511.10110" TargetMode="External"/><Relationship Id="rId5" Type="http://schemas.openxmlformats.org/officeDocument/2006/relationships/hyperlink" Target="https://arxiv.org/abs/2508.02062" TargetMode="External"/><Relationship Id="rId6" Type="http://schemas.openxmlformats.org/officeDocument/2006/relationships/hyperlink" Target="https://arxiv.org/abs/2606.30457" TargetMode="External"/><Relationship Id="rId7" Type="http://schemas.openxmlformats.org/officeDocument/2006/relationships/hyperlink" Target="https://arxiv.org/abs/2509.09769" TargetMode="External"/><Relationship Id="rId8" Type="http://schemas.openxmlformats.org/officeDocument/2006/relationships/hyperlink" Target="https://arxiv.org/abs/2603.08269" TargetMode="External"/><Relationship Id="rId9" Type="http://schemas.openxmlformats.org/officeDocument/2006/relationships/hyperlink" Target="https://arxiv.org/abs/2604.15215" TargetMode="External"/><Relationship Id="rId10" Type="http://schemas.openxmlformats.org/officeDocument/2006/relationships/hyperlink" Target="https://arxiv.org/html/2603.07530v2" TargetMode="External"/><Relationship Id="rId11" Type="http://schemas.openxmlformats.org/officeDocument/2006/relationships/hyperlink" Target="https://arxiv.org/abs/2604.20348" TargetMode="External"/><Relationship Id="rId12" Type="http://schemas.openxmlformats.org/officeDocument/2006/relationships/hyperlink" Target="https://arxiv.org/abs/2606.08154" TargetMode="External"/><Relationship Id="rId13" Type="http://schemas.openxmlformats.org/officeDocument/2006/relationships/hyperlink" Target="https://arxiv.org/abs/2403.19578" TargetMode="External"/><Relationship Id="rId14" Type="http://schemas.openxmlformats.org/officeDocument/2006/relationships/hyperlink" Target="https://arxiv.org/abs/2210.14215" TargetMode="External"/><Relationship Id="rId15" Type="http://schemas.openxmlformats.org/officeDocument/2006/relationships/hyperlink" Target="https://arxiv.org/abs/2509.23745" TargetMode="External"/><Relationship Id="rId16" Type="http://schemas.openxmlformats.org/officeDocument/2006/relationships/hyperlink" Target="https://www.skild.ai/blogs/s1" TargetMode="External"/><Relationship Id="rId17" Type="http://schemas.openxmlformats.org/officeDocument/2006/relationships/hyperlink" Target="https://generalistai.com/blog/gen-1.5" TargetMode="External"/><Relationship Id="rId18" Type="http://schemas.openxmlformats.org/officeDocument/2006/relationships/hyperlink" Target="https://arxiv.org/abs/2607.15275" TargetMode="External"/><Relationship Id="rId19" Type="http://schemas.openxmlformats.org/officeDocument/2006/relationships/hyperlink" Target="https://arxiv.org/abs/2606.12406" TargetMode="External"/><Relationship Id="rId20" Type="http://schemas.openxmlformats.org/officeDocument/2006/relationships/hyperlink" Target="https://github.com/philiphan0109/factr2_next/tree/main" TargetMode="External"/><Relationship Id="rId21" Type="http://schemas.openxmlformats.org/officeDocument/2006/relationships/slideLayout" Target="../slideLayouts/slideLayout1.xml"/><Relationship Id="rId2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github.com/NVlabs/ENPIRE" TargetMode="External"/><Relationship Id="rId2" Type="http://schemas.openxmlformats.org/officeDocument/2006/relationships/hyperlink" Target="https://arxiv.org/abs/2606.19980" TargetMode="External"/><Relationship Id="rId3" Type="http://schemas.openxmlformats.org/officeDocument/2006/relationships/hyperlink" Target="https://github.com/unitreerobotics/unitree_sdk2/blob/main/example/g1/high_level/g1_arm7_sdk_dds_example.cpp" TargetMode="External"/><Relationship Id="rId4" Type="http://schemas.openxmlformats.org/officeDocument/2006/relationships/hyperlink" Target="https://github.com/unitreerobotics/xr_teleoperate" TargetMode="External"/><Relationship Id="rId5" Type="http://schemas.openxmlformats.org/officeDocument/2006/relationships/hyperlink" Target="https://github.com/NVIDIA/Isaac-GR00T" TargetMode="External"/><Relationship Id="rId6" Type="http://schemas.openxmlformats.org/officeDocument/2006/relationships/hyperlink" Target="https://huggingface.co/datasets/nvidia/PhysicalAI-Robotics-GR00T-Teleop-G1" TargetMode="External"/><Relationship Id="rId7" Type="http://schemas.openxmlformats.org/officeDocument/2006/relationships/hyperlink" Target="https://github.com/unitreerobotics/unifolm-vla" TargetMode="External"/><Relationship Id="rId8" Type="http://schemas.openxmlformats.org/officeDocument/2006/relationships/hyperlink" Target="https://github.com/Physical-Intelligence/openpi" TargetMode="External"/><Relationship Id="rId9" Type="http://schemas.openxmlformats.org/officeDocument/2006/relationships/hyperlink" Target="https://github.com/huggingface/lerobot" TargetMode="External"/><Relationship Id="rId10" Type="http://schemas.openxmlformats.org/officeDocument/2006/relationships/hyperlink" Target="https://github.com/stack-of-tasks/pinocchio" TargetMode="External"/><Relationship Id="rId11" Type="http://schemas.openxmlformats.org/officeDocument/2006/relationships/hyperlink" Target="https://github.com/google-deepmind/mujoco" TargetMode="External"/><Relationship Id="rId12" Type="http://schemas.openxmlformats.org/officeDocument/2006/relationships/hyperlink" Target="https://huggingface.co/Qwen/Qwen2.5-Coder-7B-Instruct" TargetMode="External"/><Relationship Id="rId13" Type="http://schemas.openxmlformats.org/officeDocument/2006/relationships/hyperlink" Target="https://openai.com/index/gpt-6-astra/" TargetMode="External"/><Relationship Id="rId14" Type="http://schemas.openxmlformats.org/officeDocument/2006/relationships/hyperlink" Target="https://openai.robocurve.org/gpt-6-astra/" TargetMode="External"/><Relationship Id="rId15" Type="http://schemas.openxmlformats.org/officeDocument/2006/relationships/hyperlink" Target="https://the-decoder.com/gpt-6-astra-appears-to-show-a-step-change-in-spatial-reasoning-based-on-early-benchmarks/" TargetMode="External"/><Relationship Id="rId16" Type="http://schemas.openxmlformats.org/officeDocument/2006/relationships/hyperlink" Target="https://github.com/real-stanford/iPhUMI" TargetMode="External"/><Relationship Id="rId17" Type="http://schemas.openxmlformats.org/officeDocument/2006/relationships/hyperlink" Target="https://github.com/real-stanford/gated-memory-policy/" TargetMode="External"/><Relationship Id="rId18" Type="http://schemas.openxmlformats.org/officeDocument/2006/relationships/slideLayout" Target="../slideLayouts/slideLayout1.xml"/><Relationship Id="rId19"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83D"/>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200" b="1" spc="200" kern="0" dirty="0">
                <a:solidFill>
                  <a:srgbClr val="F3BD58"/>
                </a:solidFill>
                <a:latin typeface="Arial" pitchFamily="34" charset="0"/>
                <a:ea typeface="Arial" pitchFamily="34" charset="-122"/>
                <a:cs typeface="Arial" pitchFamily="34" charset="-120"/>
              </a:rPr>
              <a:t>Team presentation · 17 September 2026</a:t>
            </a:r>
            <a:endParaRPr lang="en-US" sz="1200" dirty="0"/>
          </a:p>
        </p:txBody>
      </p:sp>
      <p:sp>
        <p:nvSpPr>
          <p:cNvPr id="3" name="Text 1"/>
          <p:cNvSpPr txBox="1"/>
          <p:nvPr/>
        </p:nvSpPr>
        <p:spPr>
          <a:xfrm>
            <a:off x="548640" y="1097280"/>
            <a:ext cx="10972800" cy="9144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In-context learning on Unitree G1</a:t>
            </a:r>
            <a:endParaRPr lang="en-US" sz="4000" dirty="0"/>
          </a:p>
        </p:txBody>
      </p:sp>
      <p:sp>
        <p:nvSpPr>
          <p:cNvPr id="4" name="Text 2"/>
          <p:cNvSpPr txBox="1"/>
          <p:nvPr/>
        </p:nvSpPr>
        <p:spPr>
          <a:xfrm>
            <a:off x="548640" y="2286000"/>
            <a:ext cx="10972800" cy="1463040"/>
          </a:xfrm>
          <a:prstGeom prst="rect">
            <a:avLst/>
          </a:prstGeom>
          <a:noFill/>
          <a:ln/>
        </p:spPr>
        <p:txBody>
          <a:bodyPr wrap="square" lIns="0" tIns="0" rIns="0" bIns="0" rtlCol="0" anchor="t"/>
          <a:lstStyle/>
          <a:p>
            <a:pPr indent="0" marL="0">
              <a:buNone/>
            </a:pPr>
            <a:r>
              <a:rPr lang="en-US" sz="3400" dirty="0">
                <a:solidFill>
                  <a:srgbClr val="FFFFFF"/>
                </a:solidFill>
                <a:latin typeface="Georgia" pitchFamily="34" charset="0"/>
                <a:ea typeface="Georgia" pitchFamily="34" charset="-122"/>
                <a:cs typeface="Georgia" pitchFamily="34" charset="-120"/>
              </a:rPr>
              <a:t>Show the robot once,</a:t>
            </a:r>
            <a:endParaRPr lang="en-US" sz="3400" dirty="0"/>
          </a:p>
          <a:p>
            <a:pPr indent="0" marL="0">
              <a:buNone/>
            </a:pPr>
            <a:r>
              <a:rPr lang="en-US" sz="3400" dirty="0">
                <a:solidFill>
                  <a:srgbClr val="FFFFFF"/>
                </a:solidFill>
                <a:latin typeface="Georgia" pitchFamily="34" charset="0"/>
                <a:ea typeface="Georgia" pitchFamily="34" charset="-122"/>
                <a:cs typeface="Georgia" pitchFamily="34" charset="-120"/>
              </a:rPr>
              <a:t>and it does the </a:t>
            </a:r>
            <a:endParaRPr lang="en-US" sz="3400" dirty="0"/>
          </a:p>
          <a:p>
            <a:pPr indent="0" marL="0">
              <a:buNone/>
            </a:pPr>
            <a:r>
              <a:rPr lang="en-US" sz="3400" dirty="0">
                <a:solidFill>
                  <a:srgbClr val="FFFFFF"/>
                </a:solidFill>
                <a:latin typeface="Georgia" pitchFamily="34" charset="0"/>
                <a:ea typeface="Georgia" pitchFamily="34" charset="-122"/>
                <a:cs typeface="Georgia" pitchFamily="34" charset="-120"/>
              </a:rPr>
              <a:t>cup task</a:t>
            </a:r>
            <a:endParaRPr lang="en-US" sz="3400" dirty="0"/>
          </a:p>
        </p:txBody>
      </p:sp>
      <p:sp>
        <p:nvSpPr>
          <p:cNvPr id="5" name="Text 3"/>
          <p:cNvSpPr txBox="1"/>
          <p:nvPr/>
        </p:nvSpPr>
        <p:spPr>
          <a:xfrm>
            <a:off x="548640" y="3840480"/>
            <a:ext cx="10972800" cy="548640"/>
          </a:xfrm>
          <a:prstGeom prst="rect">
            <a:avLst/>
          </a:prstGeom>
          <a:noFill/>
          <a:ln/>
        </p:spPr>
        <p:txBody>
          <a:bodyPr wrap="square" lIns="0" tIns="0" rIns="0" bIns="0" rtlCol="0" anchor="ctr"/>
          <a:lstStyle/>
          <a:p>
            <a:pPr indent="0" marL="0">
              <a:buNone/>
            </a:pPr>
            <a:r>
              <a:rPr lang="en-US" sz="1800" dirty="0">
                <a:solidFill>
                  <a:srgbClr val="F3BD58"/>
                </a:solidFill>
                <a:latin typeface="Arial" pitchFamily="34" charset="0"/>
                <a:ea typeface="Arial" pitchFamily="34" charset="-122"/>
                <a:cs typeface="Arial" pitchFamily="34" charset="-120"/>
              </a:rPr>
              <a:t>What ICL is → how we test it on our G1 → where it takes us next</a:t>
            </a:r>
            <a:endParaRPr lang="en-US" sz="1800" dirty="0"/>
          </a:p>
        </p:txBody>
      </p:sp>
      <p:sp>
        <p:nvSpPr>
          <p:cNvPr id="6" name="Text 4"/>
          <p:cNvSpPr txBox="1"/>
          <p:nvPr/>
        </p:nvSpPr>
        <p:spPr>
          <a:xfrm>
            <a:off x="548640" y="4572000"/>
            <a:ext cx="10972800" cy="548640"/>
          </a:xfrm>
          <a:prstGeom prst="rect">
            <a:avLst/>
          </a:prstGeom>
          <a:noFill/>
          <a:ln/>
        </p:spPr>
        <p:txBody>
          <a:bodyPr wrap="square" lIns="0" tIns="0" rIns="0" bIns="0" rtlCol="0" anchor="ctr"/>
          <a:lstStyle/>
          <a:p>
            <a:pPr indent="0" marL="0">
              <a:buNone/>
            </a:pPr>
            <a:r>
              <a:rPr lang="en-US" sz="1300" dirty="0">
                <a:solidFill>
                  <a:srgbClr val="B8C4CC"/>
                </a:solidFill>
                <a:latin typeface="Arial" pitchFamily="34" charset="0"/>
                <a:ea typeface="Arial" pitchFamily="34" charset="-122"/>
                <a:cs typeface="Arial" pitchFamily="34" charset="-120"/>
              </a:rPr>
              <a:t>Literature review • step-by-step engineering plan • extension roadmap • no hardware results claimed yet</a:t>
            </a:r>
            <a:endParaRPr lang="en-US" sz="1300" dirty="0"/>
          </a:p>
        </p:txBody>
      </p:sp>
      <p:sp>
        <p:nvSpPr>
          <p:cNvPr id="7" name="Text 5"/>
          <p:cNvSpPr txBox="1"/>
          <p:nvPr/>
        </p:nvSpPr>
        <p:spPr>
          <a:xfrm>
            <a:off x="548640" y="6217920"/>
            <a:ext cx="7315200" cy="274320"/>
          </a:xfrm>
          <a:prstGeom prst="rect">
            <a:avLst/>
          </a:prstGeom>
          <a:noFill/>
          <a:ln/>
        </p:spPr>
        <p:txBody>
          <a:bodyPr wrap="square" lIns="0" tIns="0" rIns="0" bIns="0" rtlCol="0" anchor="ctr"/>
          <a:lstStyle/>
          <a:p>
            <a:pPr indent="0" marL="0">
              <a:buNone/>
            </a:pPr>
            <a:r>
              <a:rPr lang="en-US" sz="900" dirty="0">
                <a:solidFill>
                  <a:srgbClr val="8A9AA6"/>
                </a:solidFill>
                <a:latin typeface="Arial" pitchFamily="34" charset="0"/>
                <a:ea typeface="Arial" pitchFamily="34" charset="-122"/>
                <a:cs typeface="Arial" pitchFamily="34" charset="-120"/>
              </a:rPr>
              <a:t>Companion: engineering guide · literature review</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The problem we have today</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3544824" cy="1539933"/>
          </a:xfrm>
          <a:prstGeom prst="rect">
            <a:avLst/>
          </a:prstGeom>
          <a:solidFill>
            <a:srgbClr val="FFFFFF"/>
          </a:solidFill>
          <a:ln w="9525">
            <a:solidFill>
              <a:srgbClr val="D7DEDB"/>
            </a:solidFill>
            <a:prstDash val="solid"/>
          </a:ln>
        </p:spPr>
      </p:sp>
      <p:sp>
        <p:nvSpPr>
          <p:cNvPr id="6" name="Shape 4"/>
          <p:cNvSpPr/>
          <p:nvPr/>
        </p:nvSpPr>
        <p:spPr>
          <a:xfrm>
            <a:off x="548640" y="1371600"/>
            <a:ext cx="3544824"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Collect</a:t>
            </a:r>
            <a:endParaRPr lang="en-US" sz="1932" dirty="0"/>
          </a:p>
        </p:txBody>
      </p:sp>
      <p:sp>
        <p:nvSpPr>
          <p:cNvPr id="8" name="Text 6"/>
          <p:cNvSpPr txBox="1"/>
          <p:nvPr/>
        </p:nvSpPr>
        <p:spPr>
          <a:xfrm>
            <a:off x="731520"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Every new task variant means a fresh teleoperation session on the robot.</a:t>
            </a:r>
            <a:endParaRPr lang="en-US" sz="1587" dirty="0"/>
          </a:p>
        </p:txBody>
      </p:sp>
      <p:sp>
        <p:nvSpPr>
          <p:cNvPr id="9" name="Shape 7"/>
          <p:cNvSpPr/>
          <p:nvPr/>
        </p:nvSpPr>
        <p:spPr>
          <a:xfrm>
            <a:off x="4322064" y="1371600"/>
            <a:ext cx="3544824" cy="1539933"/>
          </a:xfrm>
          <a:prstGeom prst="rect">
            <a:avLst/>
          </a:prstGeom>
          <a:solidFill>
            <a:srgbClr val="FFFFFF"/>
          </a:solidFill>
          <a:ln w="9525">
            <a:solidFill>
              <a:srgbClr val="D7DEDB"/>
            </a:solidFill>
            <a:prstDash val="solid"/>
          </a:ln>
        </p:spPr>
      </p:sp>
      <p:sp>
        <p:nvSpPr>
          <p:cNvPr id="10" name="Shape 8"/>
          <p:cNvSpPr/>
          <p:nvPr/>
        </p:nvSpPr>
        <p:spPr>
          <a:xfrm>
            <a:off x="4322064" y="1371600"/>
            <a:ext cx="3544824" cy="54864"/>
          </a:xfrm>
          <a:prstGeom prst="rect">
            <a:avLst/>
          </a:prstGeom>
          <a:solidFill>
            <a:srgbClr val="007F79"/>
          </a:solidFill>
          <a:ln w="12700">
            <a:solidFill>
              <a:srgbClr val="007F79"/>
            </a:solidFill>
            <a:prstDash val="solid"/>
          </a:ln>
        </p:spPr>
      </p:sp>
      <p:sp>
        <p:nvSpPr>
          <p:cNvPr id="11" name="Text 9"/>
          <p:cNvSpPr txBox="1"/>
          <p:nvPr/>
        </p:nvSpPr>
        <p:spPr>
          <a:xfrm>
            <a:off x="4504944"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Retrain</a:t>
            </a:r>
            <a:endParaRPr lang="en-US" sz="1932" dirty="0"/>
          </a:p>
        </p:txBody>
      </p:sp>
      <p:sp>
        <p:nvSpPr>
          <p:cNvPr id="12" name="Text 10"/>
          <p:cNvSpPr txBox="1"/>
          <p:nvPr/>
        </p:nvSpPr>
        <p:spPr>
          <a:xfrm>
            <a:off x="4504944"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A fine-tuning run, checkpoint selection and a new deployment bundle.</a:t>
            </a:r>
            <a:endParaRPr lang="en-US" sz="1587" dirty="0"/>
          </a:p>
        </p:txBody>
      </p:sp>
      <p:sp>
        <p:nvSpPr>
          <p:cNvPr id="13" name="Shape 11"/>
          <p:cNvSpPr/>
          <p:nvPr/>
        </p:nvSpPr>
        <p:spPr>
          <a:xfrm>
            <a:off x="8095488" y="1371600"/>
            <a:ext cx="3544824" cy="1539933"/>
          </a:xfrm>
          <a:prstGeom prst="rect">
            <a:avLst/>
          </a:prstGeom>
          <a:solidFill>
            <a:srgbClr val="FFFFFF"/>
          </a:solidFill>
          <a:ln w="9525">
            <a:solidFill>
              <a:srgbClr val="D7DEDB"/>
            </a:solidFill>
            <a:prstDash val="solid"/>
          </a:ln>
        </p:spPr>
      </p:sp>
      <p:sp>
        <p:nvSpPr>
          <p:cNvPr id="14" name="Shape 12"/>
          <p:cNvSpPr/>
          <p:nvPr/>
        </p:nvSpPr>
        <p:spPr>
          <a:xfrm>
            <a:off x="8095488" y="1371600"/>
            <a:ext cx="3544824" cy="54864"/>
          </a:xfrm>
          <a:prstGeom prst="rect">
            <a:avLst/>
          </a:prstGeom>
          <a:solidFill>
            <a:srgbClr val="007F79"/>
          </a:solidFill>
          <a:ln w="12700">
            <a:solidFill>
              <a:srgbClr val="007F79"/>
            </a:solidFill>
            <a:prstDash val="solid"/>
          </a:ln>
        </p:spPr>
      </p:sp>
      <p:sp>
        <p:nvSpPr>
          <p:cNvPr id="15" name="Text 13"/>
          <p:cNvSpPr txBox="1"/>
          <p:nvPr/>
        </p:nvSpPr>
        <p:spPr>
          <a:xfrm>
            <a:off x="8278368"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Redeploy</a:t>
            </a:r>
            <a:endParaRPr lang="en-US" sz="1932" dirty="0"/>
          </a:p>
        </p:txBody>
      </p:sp>
      <p:sp>
        <p:nvSpPr>
          <p:cNvPr id="16" name="Text 14"/>
          <p:cNvSpPr txBox="1"/>
          <p:nvPr/>
        </p:nvSpPr>
        <p:spPr>
          <a:xfrm>
            <a:off x="8278368"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Validate again on hardware before anyone trusts the new behaviour.</a:t>
            </a:r>
            <a:endParaRPr lang="en-US" sz="1587" dirty="0"/>
          </a:p>
        </p:txBody>
      </p:sp>
      <p:sp>
        <p:nvSpPr>
          <p:cNvPr id="17" name="Shape 15"/>
          <p:cNvSpPr/>
          <p:nvPr/>
        </p:nvSpPr>
        <p:spPr>
          <a:xfrm>
            <a:off x="548640" y="3277293"/>
            <a:ext cx="11091672" cy="530901"/>
          </a:xfrm>
          <a:prstGeom prst="rect">
            <a:avLst/>
          </a:prstGeom>
          <a:solidFill>
            <a:srgbClr val="FBF1DC"/>
          </a:solidFill>
          <a:ln w="12700">
            <a:solidFill>
              <a:srgbClr val="FBF1DC"/>
            </a:solidFill>
            <a:prstDash val="solid"/>
          </a:ln>
        </p:spPr>
      </p:sp>
      <p:sp>
        <p:nvSpPr>
          <p:cNvPr id="18" name="Shape 16"/>
          <p:cNvSpPr/>
          <p:nvPr/>
        </p:nvSpPr>
        <p:spPr>
          <a:xfrm>
            <a:off x="548640" y="3277293"/>
            <a:ext cx="82296" cy="530901"/>
          </a:xfrm>
          <a:prstGeom prst="rect">
            <a:avLst/>
          </a:prstGeom>
          <a:solidFill>
            <a:srgbClr val="F3BD58"/>
          </a:solidFill>
          <a:ln w="12700">
            <a:solidFill>
              <a:srgbClr val="F3BD58"/>
            </a:solidFill>
            <a:prstDash val="solid"/>
          </a:ln>
        </p:spPr>
      </p:sp>
      <p:sp>
        <p:nvSpPr>
          <p:cNvPr id="19" name="Text 17"/>
          <p:cNvSpPr txBox="1"/>
          <p:nvPr/>
        </p:nvSpPr>
        <p:spPr>
          <a:xfrm>
            <a:off x="822960" y="3277293"/>
            <a:ext cx="10543032" cy="53090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Goal: replace that cycle with </a:t>
            </a:r>
            <a:pPr indent="0" marL="0">
              <a:buNone/>
            </a:pPr>
            <a:r>
              <a:rPr lang="en-US" sz="1656" b="1" dirty="0">
                <a:solidFill>
                  <a:srgbClr val="10283D"/>
                </a:solidFill>
                <a:latin typeface="Arial" pitchFamily="34" charset="0"/>
                <a:ea typeface="Arial" pitchFamily="34" charset="-122"/>
                <a:cs typeface="Arial" pitchFamily="34" charset="-120"/>
              </a:rPr>
              <a:t>one demonstration in the prompt</a:t>
            </a:r>
            <a:pPr indent="0" marL="0">
              <a:buNone/>
            </a:pPr>
            <a:r>
              <a:rPr lang="en-US" sz="1656" dirty="0">
                <a:solidFill>
                  <a:srgbClr val="10283D"/>
                </a:solidFill>
                <a:latin typeface="Arial" pitchFamily="34" charset="0"/>
                <a:ea typeface="Arial" pitchFamily="34" charset="-122"/>
                <a:cs typeface="Arial" pitchFamily="34" charset="-120"/>
              </a:rPr>
              <a:t> — no weight updates between task variants.</a:t>
            </a:r>
            <a:endParaRPr lang="en-US" sz="1656" dirty="0"/>
          </a:p>
        </p:txBody>
      </p:sp>
      <p:sp>
        <p:nvSpPr>
          <p:cNvPr id="20" name="Text 18"/>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21" name="Text 19"/>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02 / 44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What in-context learning means for a robot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11091672" cy="492760"/>
          </a:xfrm>
          <a:prstGeom prst="rect">
            <a:avLst/>
          </a:prstGeom>
          <a:noFill/>
          <a:ln/>
        </p:spPr>
        <p:txBody>
          <a:bodyPr wrap="square" lIns="0" tIns="0" rIns="0" bIns="0" rtlCol="0" anchor="ctr"/>
          <a:lstStyle/>
          <a:p>
            <a:pPr indent="0" marL="0">
              <a:buNone/>
            </a:pPr>
            <a:r>
              <a:rPr lang="en-US" sz="2000" dirty="0">
                <a:solidFill>
                  <a:srgbClr val="10283D"/>
                </a:solidFill>
                <a:latin typeface="Georgia" pitchFamily="34" charset="0"/>
                <a:ea typeface="Georgia" pitchFamily="34" charset="-122"/>
                <a:cs typeface="Georgia" pitchFamily="34" charset="-120"/>
              </a:rPr>
              <a:t>Aₜ = πθ(C, Hₜ)    with θ frozen at test time</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38680"/>
          <a:ext cx="11091672" cy="914400"/>
        </p:xfrm>
        <a:graphic>
          <a:graphicData uri="http://schemas.openxmlformats.org/drawingml/2006/table">
            <a:tbl>
              <a:tblPr/>
              <a:tblGrid>
                <a:gridCol w="4384450"/>
                <a:gridCol w="6707222"/>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Mechanism</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What changes during adaptation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Robot ICL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The demonstration context C and ordinary inference state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Fine-tuning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Policy weights θ</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ENPIRE improvement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Code or configuration between trials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Test-time training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Fast weights or other learned parameters during execution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8" name="Text 5"/>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03 / 44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One concrete example: what goes in, what comes out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5271516" cy="1539933"/>
          </a:xfrm>
          <a:prstGeom prst="rect">
            <a:avLst/>
          </a:prstGeom>
          <a:solidFill>
            <a:srgbClr val="FFFFFF"/>
          </a:solidFill>
          <a:ln w="9525">
            <a:solidFill>
              <a:srgbClr val="D7DEDB"/>
            </a:solidFill>
            <a:prstDash val="solid"/>
          </a:ln>
        </p:spPr>
      </p:sp>
      <p:sp>
        <p:nvSpPr>
          <p:cNvPr id="6" name="Shape 4"/>
          <p:cNvSpPr/>
          <p:nvPr/>
        </p:nvSpPr>
        <p:spPr>
          <a:xfrm>
            <a:off x="548640" y="1371600"/>
            <a:ext cx="5271516"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Input</a:t>
            </a:r>
            <a:endParaRPr lang="en-US" sz="1932" dirty="0"/>
          </a:p>
        </p:txBody>
      </p:sp>
      <p:sp>
        <p:nvSpPr>
          <p:cNvPr id="8" name="Text 6"/>
          <p:cNvSpPr txBox="1"/>
          <p:nvPr/>
        </p:nvSpPr>
        <p:spPr>
          <a:xfrm>
            <a:off x="731520" y="1990984"/>
            <a:ext cx="4905756"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One teleoperated demo of </a:t>
            </a:r>
            <a:pPr indent="0" marL="0">
              <a:buNone/>
            </a:pPr>
            <a:r>
              <a:rPr lang="en-US" sz="1587" i="1" dirty="0">
                <a:solidFill>
                  <a:srgbClr val="1B2A36"/>
                </a:solidFill>
                <a:latin typeface="Arial" pitchFamily="34" charset="0"/>
                <a:ea typeface="Arial" pitchFamily="34" charset="-122"/>
                <a:cs typeface="Arial" pitchFamily="34" charset="-120"/>
              </a:rPr>
              <a:t>cup → coaster</a:t>
            </a:r>
            <a:pPr indent="0" marL="0">
              <a:buNone/>
            </a:pPr>
            <a:r>
              <a:rPr lang="en-US" sz="1587" dirty="0">
                <a:solidFill>
                  <a:srgbClr val="1B2A36"/>
                </a:solidFill>
                <a:latin typeface="Arial" pitchFamily="34" charset="0"/>
                <a:ea typeface="Arial" pitchFamily="34" charset="-122"/>
                <a:cs typeface="Arial" pitchFamily="34" charset="-120"/>
              </a:rPr>
              <a:t> (images, joint states, actions) </a:t>
            </a:r>
            <a:pPr indent="0" marL="0">
              <a:buNone/>
            </a:pPr>
            <a:r>
              <a:rPr lang="en-US" sz="1587" b="1" dirty="0">
                <a:solidFill>
                  <a:srgbClr val="1B2A36"/>
                </a:solidFill>
                <a:latin typeface="Arial" pitchFamily="34" charset="0"/>
                <a:ea typeface="Arial" pitchFamily="34" charset="-122"/>
                <a:cs typeface="Arial" pitchFamily="34" charset="-120"/>
              </a:rPr>
              <a:t>plus</a:t>
            </a:r>
            <a:pPr indent="0" marL="0">
              <a:buNone/>
            </a:pPr>
            <a:r>
              <a:rPr lang="en-US" sz="1587" dirty="0">
                <a:solidFill>
                  <a:srgbClr val="1B2A36"/>
                </a:solidFill>
                <a:latin typeface="Arial" pitchFamily="34" charset="0"/>
                <a:ea typeface="Arial" pitchFamily="34" charset="-122"/>
                <a:cs typeface="Arial" pitchFamily="34" charset="-120"/>
              </a:rPr>
              <a:t> the current camera image and gripper pose in a new scene</a:t>
            </a:r>
            <a:endParaRPr lang="en-US" sz="1587" dirty="0"/>
          </a:p>
        </p:txBody>
      </p:sp>
      <p:sp>
        <p:nvSpPr>
          <p:cNvPr id="9" name="Shape 7"/>
          <p:cNvSpPr/>
          <p:nvPr/>
        </p:nvSpPr>
        <p:spPr>
          <a:xfrm>
            <a:off x="6368796" y="1371600"/>
            <a:ext cx="5271516" cy="1539933"/>
          </a:xfrm>
          <a:prstGeom prst="rect">
            <a:avLst/>
          </a:prstGeom>
          <a:solidFill>
            <a:srgbClr val="FFFFFF"/>
          </a:solidFill>
          <a:ln w="9525">
            <a:solidFill>
              <a:srgbClr val="D7DEDB"/>
            </a:solidFill>
            <a:prstDash val="solid"/>
          </a:ln>
        </p:spPr>
      </p:sp>
      <p:sp>
        <p:nvSpPr>
          <p:cNvPr id="10" name="Shape 8"/>
          <p:cNvSpPr/>
          <p:nvPr/>
        </p:nvSpPr>
        <p:spPr>
          <a:xfrm>
            <a:off x="6368796" y="1371600"/>
            <a:ext cx="5271516" cy="54864"/>
          </a:xfrm>
          <a:prstGeom prst="rect">
            <a:avLst/>
          </a:prstGeom>
          <a:solidFill>
            <a:srgbClr val="007F79"/>
          </a:solidFill>
          <a:ln w="12700">
            <a:solidFill>
              <a:srgbClr val="007F79"/>
            </a:solidFill>
            <a:prstDash val="solid"/>
          </a:ln>
        </p:spPr>
      </p:sp>
      <p:sp>
        <p:nvSpPr>
          <p:cNvPr id="11" name="Text 9"/>
          <p:cNvSpPr txBox="1"/>
          <p:nvPr/>
        </p:nvSpPr>
        <p:spPr>
          <a:xfrm>
            <a:off x="6551676"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Output</a:t>
            </a:r>
            <a:endParaRPr lang="en-US" sz="1932" dirty="0"/>
          </a:p>
        </p:txBody>
      </p:sp>
      <p:sp>
        <p:nvSpPr>
          <p:cNvPr id="12" name="Text 10"/>
          <p:cNvSpPr txBox="1"/>
          <p:nvPr/>
        </p:nvSpPr>
        <p:spPr>
          <a:xfrm>
            <a:off x="6551676" y="1990984"/>
            <a:ext cx="4905756"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An action chunk for the next second: move toward </a:t>
            </a:r>
            <a:pPr indent="0" marL="0">
              <a:buNone/>
            </a:pPr>
            <a:r>
              <a:rPr lang="en-US" sz="1587" i="1" dirty="0">
                <a:solidFill>
                  <a:srgbClr val="1B2A36"/>
                </a:solidFill>
                <a:latin typeface="Arial" pitchFamily="34" charset="0"/>
                <a:ea typeface="Arial" pitchFamily="34" charset="-122"/>
                <a:cs typeface="Arial" pitchFamily="34" charset="-120"/>
              </a:rPr>
              <a:t>this</a:t>
            </a:r>
            <a:pPr indent="0" marL="0">
              <a:buNone/>
            </a:pPr>
            <a:r>
              <a:rPr lang="en-US" sz="1587" dirty="0">
                <a:solidFill>
                  <a:srgbClr val="1B2A36"/>
                </a:solidFill>
                <a:latin typeface="Arial" pitchFamily="34" charset="0"/>
                <a:ea typeface="Arial" pitchFamily="34" charset="-122"/>
                <a:cs typeface="Arial" pitchFamily="34" charset="-120"/>
              </a:rPr>
              <a:t> cup, descend, close, lift, carry to </a:t>
            </a:r>
            <a:pPr indent="0" marL="0">
              <a:buNone/>
            </a:pPr>
            <a:r>
              <a:rPr lang="en-US" sz="1587" i="1" dirty="0">
                <a:solidFill>
                  <a:srgbClr val="1B2A36"/>
                </a:solidFill>
                <a:latin typeface="Arial" pitchFamily="34" charset="0"/>
                <a:ea typeface="Arial" pitchFamily="34" charset="-122"/>
                <a:cs typeface="Arial" pitchFamily="34" charset="-120"/>
              </a:rPr>
              <a:t>this</a:t>
            </a:r>
            <a:pPr indent="0" marL="0">
              <a:buNone/>
            </a:pPr>
            <a:r>
              <a:rPr lang="en-US" sz="1587" dirty="0">
                <a:solidFill>
                  <a:srgbClr val="1B2A36"/>
                </a:solidFill>
                <a:latin typeface="Arial" pitchFamily="34" charset="0"/>
                <a:ea typeface="Arial" pitchFamily="34" charset="-122"/>
                <a:cs typeface="Arial" pitchFamily="34" charset="-120"/>
              </a:rPr>
              <a:t> coaster</a:t>
            </a:r>
            <a:endParaRPr lang="en-US" sz="1587" dirty="0"/>
          </a:p>
        </p:txBody>
      </p:sp>
      <p:sp>
        <p:nvSpPr>
          <p:cNvPr id="13" name="Text 11"/>
          <p:cNvSpPr txBox="1"/>
          <p:nvPr/>
        </p:nvSpPr>
        <p:spPr>
          <a:xfrm>
            <a:off x="5820156" y="1371600"/>
            <a:ext cx="548640" cy="1539933"/>
          </a:xfrm>
          <a:prstGeom prst="rect">
            <a:avLst/>
          </a:prstGeom>
          <a:noFill/>
          <a:ln/>
        </p:spPr>
        <p:txBody>
          <a:bodyPr wrap="square" lIns="0" tIns="0" rIns="0" bIns="0" rtlCol="0" anchor="ctr"/>
          <a:lstStyle/>
          <a:p>
            <a:pPr algn="ctr" indent="0" marL="0">
              <a:buNone/>
            </a:pPr>
            <a:r>
              <a:rPr lang="en-US" sz="2400" dirty="0">
                <a:solidFill>
                  <a:srgbClr val="F3BD5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3277293"/>
            <a:ext cx="11091672" cy="787481"/>
          </a:xfrm>
          <a:prstGeom prst="rect">
            <a:avLst/>
          </a:prstGeom>
          <a:solidFill>
            <a:srgbClr val="FBF1DC"/>
          </a:solidFill>
          <a:ln w="12700">
            <a:solidFill>
              <a:srgbClr val="FBF1DC"/>
            </a:solidFill>
            <a:prstDash val="solid"/>
          </a:ln>
        </p:spPr>
      </p:sp>
      <p:sp>
        <p:nvSpPr>
          <p:cNvPr id="15" name="Shape 13"/>
          <p:cNvSpPr/>
          <p:nvPr/>
        </p:nvSpPr>
        <p:spPr>
          <a:xfrm>
            <a:off x="548640" y="3277293"/>
            <a:ext cx="82296" cy="787481"/>
          </a:xfrm>
          <a:prstGeom prst="rect">
            <a:avLst/>
          </a:prstGeom>
          <a:solidFill>
            <a:srgbClr val="F3BD58"/>
          </a:solidFill>
          <a:ln w="12700">
            <a:solidFill>
              <a:srgbClr val="F3BD58"/>
            </a:solidFill>
            <a:prstDash val="solid"/>
          </a:ln>
        </p:spPr>
      </p:sp>
      <p:sp>
        <p:nvSpPr>
          <p:cNvPr id="16" name="Text 14"/>
          <p:cNvSpPr txBox="1"/>
          <p:nvPr/>
        </p:nvSpPr>
        <p:spPr>
          <a:xfrm>
            <a:off x="822960" y="3277293"/>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Swap the demo for </a:t>
            </a:r>
            <a:pPr indent="0" marL="0">
              <a:buNone/>
            </a:pPr>
            <a:r>
              <a:rPr lang="en-US" sz="1656" i="1" dirty="0">
                <a:solidFill>
                  <a:srgbClr val="10283D"/>
                </a:solidFill>
                <a:latin typeface="Arial" pitchFamily="34" charset="0"/>
                <a:ea typeface="Arial" pitchFamily="34" charset="-122"/>
                <a:cs typeface="Arial" pitchFamily="34" charset="-120"/>
              </a:rPr>
              <a:t>bowl → mug</a:t>
            </a:r>
            <a:pPr indent="0" marL="0">
              <a:buNone/>
            </a:pPr>
            <a:r>
              <a:rPr lang="en-US" sz="1656" dirty="0">
                <a:solidFill>
                  <a:srgbClr val="10283D"/>
                </a:solidFill>
                <a:latin typeface="Arial" pitchFamily="34" charset="0"/>
                <a:ea typeface="Arial" pitchFamily="34" charset="-122"/>
                <a:cs typeface="Arial" pitchFamily="34" charset="-120"/>
              </a:rPr>
              <a:t> and keep everything else fixed: same weights, same scene, different behaviour. The demonstration is the program; the forward pass is the interpreter.</a:t>
            </a:r>
            <a:endParaRPr lang="en-US" sz="1656" dirty="0"/>
          </a:p>
        </p:txBody>
      </p:sp>
      <p:sp>
        <p:nvSpPr>
          <p:cNvPr id="17" name="Text 1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8" name="Text 1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04 / 44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Four ways the field does it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924092"/>
                <a:gridCol w="4548111"/>
                <a:gridCol w="3619469"/>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Paradigm</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Mechanism</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Examples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Demonstration-prompted policy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Bespoke transformer / diffusion policy ingests demos as context; meta-trained over many tasks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One-Shot IL 2017 · ICRT · Instant Policy · BPP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LLM / VLM as controller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Keypoints and actions serialized as text; an off-the-shelf model completes the trajectory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Keypoint Action Tokens · Code as Policies · BiCICLe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In-context RL / dynamics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Context is the robot's own recent transitions; the model infers dynamics or improves without gradients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Algorithm Distillation · Dynamics as Prompts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Retrieval-augmented ICL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 demo library is searched at test time; nearest segments fill the context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RICL · SAIL · Thousand Tasks in a Day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KAT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Algorithm Distillation</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RICL</a:t>
            </a:r>
            <a:endParaRPr lang="en-US" sz="900" dirty="0"/>
          </a:p>
        </p:txBody>
      </p:sp>
      <p:sp>
        <p:nvSpPr>
          <p:cNvPr id="7"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05 / 44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Landmarks: from one-shot imitation to instant policies</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1</a:t>
            </a:r>
            <a:endParaRPr lang="en-US" sz="1794" dirty="0"/>
          </a:p>
        </p:txBody>
      </p:sp>
      <p:sp>
        <p:nvSpPr>
          <p:cNvPr id="7" name="Text 5"/>
          <p:cNvSpPr txBox="1"/>
          <p:nvPr/>
        </p:nvSpPr>
        <p:spPr>
          <a:xfrm>
            <a:off x="1097280" y="137160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2017</a:t>
            </a:r>
            <a:endParaRPr lang="en-US" sz="1656" dirty="0"/>
          </a:p>
        </p:txBody>
      </p:sp>
      <p:sp>
        <p:nvSpPr>
          <p:cNvPr id="8" name="Text 6"/>
          <p:cNvSpPr txBox="1"/>
          <p:nvPr/>
        </p:nvSpPr>
        <p:spPr>
          <a:xfrm>
            <a:off x="1097280" y="1683045"/>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One-Shot Imitation Learning (Duan et al.) — soft attention over a single demo; the meta-imitation recipe</a:t>
            </a:r>
            <a:endParaRPr lang="en-US" sz="1518" dirty="0"/>
          </a:p>
        </p:txBody>
      </p:sp>
      <p:sp>
        <p:nvSpPr>
          <p:cNvPr id="9" name="Shape 7"/>
          <p:cNvSpPr/>
          <p:nvPr/>
        </p:nvSpPr>
        <p:spPr>
          <a:xfrm>
            <a:off x="1097280" y="2009684"/>
            <a:ext cx="10543032" cy="0"/>
          </a:xfrm>
          <a:prstGeom prst="line">
            <a:avLst/>
          </a:prstGeom>
          <a:noFill/>
          <a:ln w="6350">
            <a:solidFill>
              <a:srgbClr val="D7DEDB"/>
            </a:solidFill>
            <a:prstDash val="solid"/>
          </a:ln>
        </p:spPr>
      </p:sp>
      <p:sp>
        <p:nvSpPr>
          <p:cNvPr id="10" name="Shape 8"/>
          <p:cNvSpPr/>
          <p:nvPr/>
        </p:nvSpPr>
        <p:spPr>
          <a:xfrm>
            <a:off x="548640" y="2073692"/>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207369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2</a:t>
            </a:r>
            <a:endParaRPr lang="en-US" sz="1794" dirty="0"/>
          </a:p>
        </p:txBody>
      </p:sp>
      <p:sp>
        <p:nvSpPr>
          <p:cNvPr id="12" name="Text 10"/>
          <p:cNvSpPr txBox="1"/>
          <p:nvPr/>
        </p:nvSpPr>
        <p:spPr>
          <a:xfrm>
            <a:off x="1097280" y="204626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2022</a:t>
            </a:r>
            <a:endParaRPr lang="en-US" sz="1656" dirty="0"/>
          </a:p>
        </p:txBody>
      </p:sp>
      <p:sp>
        <p:nvSpPr>
          <p:cNvPr id="13" name="Text 11"/>
          <p:cNvSpPr txBox="1"/>
          <p:nvPr/>
        </p:nvSpPr>
        <p:spPr>
          <a:xfrm>
            <a:off x="1097280" y="2357704"/>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Gato · VIMA · Prompt-DT · Code as Policies — generalist agents and multimodal prompts</a:t>
            </a:r>
            <a:endParaRPr lang="en-US" sz="1518" dirty="0"/>
          </a:p>
        </p:txBody>
      </p:sp>
      <p:sp>
        <p:nvSpPr>
          <p:cNvPr id="14" name="Shape 12"/>
          <p:cNvSpPr/>
          <p:nvPr/>
        </p:nvSpPr>
        <p:spPr>
          <a:xfrm>
            <a:off x="1097280" y="2684343"/>
            <a:ext cx="10543032" cy="0"/>
          </a:xfrm>
          <a:prstGeom prst="line">
            <a:avLst/>
          </a:prstGeom>
          <a:noFill/>
          <a:ln w="6350">
            <a:solidFill>
              <a:srgbClr val="D7DEDB"/>
            </a:solidFill>
            <a:prstDash val="solid"/>
          </a:ln>
        </p:spPr>
      </p:sp>
      <p:sp>
        <p:nvSpPr>
          <p:cNvPr id="15" name="Shape 13"/>
          <p:cNvSpPr/>
          <p:nvPr/>
        </p:nvSpPr>
        <p:spPr>
          <a:xfrm>
            <a:off x="548640" y="2748351"/>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2748351"/>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3</a:t>
            </a:r>
            <a:endParaRPr lang="en-US" sz="1794" dirty="0"/>
          </a:p>
        </p:txBody>
      </p:sp>
      <p:sp>
        <p:nvSpPr>
          <p:cNvPr id="17" name="Text 15"/>
          <p:cNvSpPr txBox="1"/>
          <p:nvPr/>
        </p:nvSpPr>
        <p:spPr>
          <a:xfrm>
            <a:off x="1097280" y="2720919"/>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2023</a:t>
            </a:r>
            <a:endParaRPr lang="en-US" sz="1656" dirty="0"/>
          </a:p>
        </p:txBody>
      </p:sp>
      <p:sp>
        <p:nvSpPr>
          <p:cNvPr id="18" name="Text 16"/>
          <p:cNvSpPr txBox="1"/>
          <p:nvPr/>
        </p:nvSpPr>
        <p:spPr>
          <a:xfrm>
            <a:off x="1097280" y="3032364"/>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Algorithm Distillation — in-context RL; ChatGPT for Robotics; graph-based few-shot imitation</a:t>
            </a:r>
            <a:endParaRPr lang="en-US" sz="1518" dirty="0"/>
          </a:p>
        </p:txBody>
      </p:sp>
      <p:sp>
        <p:nvSpPr>
          <p:cNvPr id="19" name="Shape 17"/>
          <p:cNvSpPr/>
          <p:nvPr/>
        </p:nvSpPr>
        <p:spPr>
          <a:xfrm>
            <a:off x="1097280" y="3359003"/>
            <a:ext cx="10543032" cy="0"/>
          </a:xfrm>
          <a:prstGeom prst="line">
            <a:avLst/>
          </a:prstGeom>
          <a:noFill/>
          <a:ln w="6350">
            <a:solidFill>
              <a:srgbClr val="D7DEDB"/>
            </a:solidFill>
            <a:prstDash val="solid"/>
          </a:ln>
        </p:spPr>
      </p:sp>
      <p:sp>
        <p:nvSpPr>
          <p:cNvPr id="20" name="Shape 18"/>
          <p:cNvSpPr/>
          <p:nvPr/>
        </p:nvSpPr>
        <p:spPr>
          <a:xfrm>
            <a:off x="548640" y="3423011"/>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3423011"/>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4</a:t>
            </a:r>
            <a:endParaRPr lang="en-US" sz="1794" dirty="0"/>
          </a:p>
        </p:txBody>
      </p:sp>
      <p:sp>
        <p:nvSpPr>
          <p:cNvPr id="22" name="Text 20"/>
          <p:cNvSpPr txBox="1"/>
          <p:nvPr/>
        </p:nvSpPr>
        <p:spPr>
          <a:xfrm>
            <a:off x="1097280" y="3395579"/>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2024</a:t>
            </a:r>
            <a:endParaRPr lang="en-US" sz="1656" dirty="0"/>
          </a:p>
        </p:txBody>
      </p:sp>
      <p:sp>
        <p:nvSpPr>
          <p:cNvPr id="23" name="Text 21"/>
          <p:cNvSpPr txBox="1"/>
          <p:nvPr/>
        </p:nvSpPr>
        <p:spPr>
          <a:xfrm>
            <a:off x="1097280" y="3707023"/>
            <a:ext cx="10543032" cy="488686"/>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Keypoint Action Tokens — GPT-4 imitates from keypoints; ICRT — next-token prediction on sensorimotor trajectories</a:t>
            </a:r>
            <a:endParaRPr lang="en-US" sz="1518" dirty="0"/>
          </a:p>
        </p:txBody>
      </p:sp>
      <p:sp>
        <p:nvSpPr>
          <p:cNvPr id="24" name="Shape 22"/>
          <p:cNvSpPr/>
          <p:nvPr/>
        </p:nvSpPr>
        <p:spPr>
          <a:xfrm>
            <a:off x="1097280" y="4177421"/>
            <a:ext cx="10543032" cy="0"/>
          </a:xfrm>
          <a:prstGeom prst="line">
            <a:avLst/>
          </a:prstGeom>
          <a:noFill/>
          <a:ln w="6350">
            <a:solidFill>
              <a:srgbClr val="D7DEDB"/>
            </a:solidFill>
            <a:prstDash val="solid"/>
          </a:ln>
        </p:spPr>
      </p:sp>
      <p:sp>
        <p:nvSpPr>
          <p:cNvPr id="25" name="Shape 23"/>
          <p:cNvSpPr/>
          <p:nvPr/>
        </p:nvSpPr>
        <p:spPr>
          <a:xfrm>
            <a:off x="548640" y="4241429"/>
            <a:ext cx="384048" cy="384048"/>
          </a:xfrm>
          <a:prstGeom prst="ellipse">
            <a:avLst/>
          </a:prstGeom>
          <a:solidFill>
            <a:srgbClr val="007F79"/>
          </a:solidFill>
          <a:ln w="12700">
            <a:solidFill>
              <a:srgbClr val="007F79"/>
            </a:solidFill>
            <a:prstDash val="solid"/>
          </a:ln>
        </p:spPr>
      </p:sp>
      <p:sp>
        <p:nvSpPr>
          <p:cNvPr id="26" name="Text 24"/>
          <p:cNvSpPr txBox="1"/>
          <p:nvPr/>
        </p:nvSpPr>
        <p:spPr>
          <a:xfrm>
            <a:off x="548640" y="4241429"/>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5</a:t>
            </a:r>
            <a:endParaRPr lang="en-US" sz="1794" dirty="0"/>
          </a:p>
        </p:txBody>
      </p:sp>
      <p:sp>
        <p:nvSpPr>
          <p:cNvPr id="27" name="Text 25"/>
          <p:cNvSpPr txBox="1"/>
          <p:nvPr/>
        </p:nvSpPr>
        <p:spPr>
          <a:xfrm>
            <a:off x="1097280" y="4213997"/>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2025</a:t>
            </a:r>
            <a:endParaRPr lang="en-US" sz="1656" dirty="0"/>
          </a:p>
        </p:txBody>
      </p:sp>
      <p:sp>
        <p:nvSpPr>
          <p:cNvPr id="28" name="Text 26"/>
          <p:cNvSpPr txBox="1"/>
          <p:nvPr/>
        </p:nvSpPr>
        <p:spPr>
          <a:xfrm>
            <a:off x="1097280" y="4525442"/>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Instant Policy (ICLR oral) · 1,000 real tasks in a day (Science Robotics) · RICL adds ICL to a VLA</a:t>
            </a:r>
            <a:endParaRPr lang="en-US" sz="1518" dirty="0"/>
          </a:p>
        </p:txBody>
      </p:sp>
      <p:sp>
        <p:nvSpPr>
          <p:cNvPr id="29" name="Text 27"/>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Duan 2017</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Instant Policy</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Thousand Tasks</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RICL</a:t>
            </a:r>
            <a:endParaRPr lang="en-US" sz="900" dirty="0"/>
          </a:p>
        </p:txBody>
      </p:sp>
      <p:sp>
        <p:nvSpPr>
          <p:cNvPr id="30" name="Text 28"/>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06 / 44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2025–26 frontier, filtered for what matters to us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510579"/>
                <a:gridCol w="4310435"/>
                <a:gridCol w="4270658"/>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Work</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What it showed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Why it matters for the G1</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MimicDroid (ICRA 2026)</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Humanoid ICL trained only from human play videos; wrist retargeting + patch masking; ~2× real-world success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The only ICL method built for this embodiment; the long-term path to demo-free prompting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BPP (Stanford 2026)</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Single human demo as a behaviour prompt; </a:t>
                      </a:r>
                      <a:pPr indent="0" marL="0">
                        <a:buNone/>
                      </a:pPr>
                      <a:r>
                        <a:rPr lang="en-US" sz="1449" b="1" dirty="0">
                          <a:solidFill>
                            <a:srgbClr val="1B2A36"/>
                          </a:solidFill>
                          <a:latin typeface="Arial" pitchFamily="34" charset="0"/>
                          <a:ea typeface="Arial" pitchFamily="34" charset="-122"/>
                          <a:cs typeface="Arial" pitchFamily="34" charset="-120"/>
                        </a:rPr>
                        <a:t>task diversity, not demos per task, drives prompting ability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Sets our data-collection strategy: many variants with few episodes each</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RICL (CoRL 2025)</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Retrofits ICL + retrieval onto π0-FAST; 10–20 demos per new task, no weight updates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Shows VLAs do not get ICL for free — and how to add it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SAIL (2026)</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Trajectory-level search with VLM scoring; success rises with test-time compute, up to 95%</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 later lever once a base policy works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BPP</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RICL</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SAIL</a:t>
            </a:r>
            <a:endParaRPr lang="en-US" sz="900" dirty="0"/>
          </a:p>
        </p:txBody>
      </p:sp>
      <p:sp>
        <p:nvSpPr>
          <p:cNvPr id="7"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07 / 44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Two ways context can teach a robot: LocoFormer and S1</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5271516" cy="2822837"/>
          </a:xfrm>
          <a:prstGeom prst="rect">
            <a:avLst/>
          </a:prstGeom>
          <a:solidFill>
            <a:srgbClr val="FFFFFF"/>
          </a:solidFill>
          <a:ln w="9525">
            <a:solidFill>
              <a:srgbClr val="D7DEDB"/>
            </a:solidFill>
            <a:prstDash val="solid"/>
          </a:ln>
        </p:spPr>
      </p:sp>
      <p:sp>
        <p:nvSpPr>
          <p:cNvPr id="6" name="Shape 4"/>
          <p:cNvSpPr/>
          <p:nvPr/>
        </p:nvSpPr>
        <p:spPr>
          <a:xfrm>
            <a:off x="548640" y="1371600"/>
            <a:ext cx="5271516"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4905756" cy="735848"/>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LocoFormer · context = the robot's own experience</a:t>
            </a:r>
            <a:endParaRPr lang="en-US" sz="1932" dirty="0"/>
          </a:p>
        </p:txBody>
      </p:sp>
      <p:sp>
        <p:nvSpPr>
          <p:cNvPr id="8" name="Text 6"/>
          <p:cNvSpPr txBox="1"/>
          <p:nvPr/>
        </p:nvSpPr>
        <p:spPr>
          <a:xfrm>
            <a:off x="731520" y="2290328"/>
            <a:ext cx="4905756" cy="1812668"/>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A single locomotion policy for unseen legged and wheeled robots — including a G1 — with no precise kinematics given. Transformer-XL keeps memory </a:t>
            </a:r>
            <a:pPr indent="0" marL="0">
              <a:buNone/>
            </a:pPr>
            <a:r>
              <a:rPr lang="en-US" sz="1587" b="1" dirty="0">
                <a:solidFill>
                  <a:srgbClr val="1B2A36"/>
                </a:solidFill>
                <a:latin typeface="Arial" pitchFamily="34" charset="0"/>
                <a:ea typeface="Arial" pitchFamily="34" charset="-122"/>
                <a:cs typeface="Arial" pitchFamily="34" charset="-120"/>
              </a:rPr>
              <a:t>across trials</a:t>
            </a:r>
            <a:pPr indent="0" marL="0">
              <a:buNone/>
            </a:pPr>
            <a:r>
              <a:rPr lang="en-US" sz="1587" dirty="0">
                <a:solidFill>
                  <a:srgbClr val="1B2A36"/>
                </a:solidFill>
                <a:latin typeface="Arial" pitchFamily="34" charset="0"/>
                <a:ea typeface="Arial" pitchFamily="34" charset="-122"/>
                <a:cs typeface="Arial" pitchFamily="34" charset="-120"/>
              </a:rPr>
              <a:t>: it learns from falls in early trials and walks in later ones. Trained by massive RL on procedurally generated robots with aggressive domain randomization. CoRL 2025 best-paper finalist.</a:t>
            </a:r>
            <a:endParaRPr lang="en-US" sz="1587" dirty="0"/>
          </a:p>
        </p:txBody>
      </p:sp>
      <p:sp>
        <p:nvSpPr>
          <p:cNvPr id="9" name="Shape 7"/>
          <p:cNvSpPr/>
          <p:nvPr/>
        </p:nvSpPr>
        <p:spPr>
          <a:xfrm>
            <a:off x="6368796" y="1371600"/>
            <a:ext cx="5271516" cy="2822837"/>
          </a:xfrm>
          <a:prstGeom prst="rect">
            <a:avLst/>
          </a:prstGeom>
          <a:solidFill>
            <a:srgbClr val="FFFFFF"/>
          </a:solidFill>
          <a:ln w="9525">
            <a:solidFill>
              <a:srgbClr val="D7DEDB"/>
            </a:solidFill>
            <a:prstDash val="solid"/>
          </a:ln>
        </p:spPr>
      </p:sp>
      <p:sp>
        <p:nvSpPr>
          <p:cNvPr id="10" name="Shape 8"/>
          <p:cNvSpPr/>
          <p:nvPr/>
        </p:nvSpPr>
        <p:spPr>
          <a:xfrm>
            <a:off x="6368796" y="1371600"/>
            <a:ext cx="5271516" cy="54864"/>
          </a:xfrm>
          <a:prstGeom prst="rect">
            <a:avLst/>
          </a:prstGeom>
          <a:solidFill>
            <a:srgbClr val="007F79"/>
          </a:solidFill>
          <a:ln w="12700">
            <a:solidFill>
              <a:srgbClr val="007F79"/>
            </a:solidFill>
            <a:prstDash val="solid"/>
          </a:ln>
        </p:spPr>
      </p:sp>
      <p:sp>
        <p:nvSpPr>
          <p:cNvPr id="11" name="Text 9"/>
          <p:cNvSpPr txBox="1"/>
          <p:nvPr/>
        </p:nvSpPr>
        <p:spPr>
          <a:xfrm>
            <a:off x="6551676"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S1 · context = one video of a person</a:t>
            </a:r>
            <a:endParaRPr lang="en-US" sz="1932" dirty="0"/>
          </a:p>
        </p:txBody>
      </p:sp>
      <p:sp>
        <p:nvSpPr>
          <p:cNvPr id="12" name="Text 10"/>
          <p:cNvSpPr txBox="1"/>
          <p:nvPr/>
        </p:nvSpPr>
        <p:spPr>
          <a:xfrm>
            <a:off x="6551676" y="1990984"/>
            <a:ext cx="4905756" cy="2112013"/>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Skild's manipulation foundation model, built from the ground up as an in-context learner. One egocentric human video → the robot executes unseen tasks up to 10 minutes long: plant potting, pancakes, pour-over coffee, kit assembly. Same weights for every example; no post-training.</a:t>
            </a:r>
            <a:endParaRPr lang="en-US" sz="1587" dirty="0"/>
          </a:p>
        </p:txBody>
      </p:sp>
      <p:sp>
        <p:nvSpPr>
          <p:cNvPr id="13" name="Text 11"/>
          <p:cNvSpPr txBox="1"/>
          <p:nvPr/>
        </p:nvSpPr>
        <p:spPr>
          <a:xfrm>
            <a:off x="5820156" y="1371600"/>
            <a:ext cx="548640" cy="2822837"/>
          </a:xfrm>
          <a:prstGeom prst="rect">
            <a:avLst/>
          </a:prstGeom>
          <a:noFill/>
          <a:ln/>
        </p:spPr>
        <p:txBody>
          <a:bodyPr wrap="square" lIns="0" tIns="0" rIns="0" bIns="0" rtlCol="0" anchor="ctr"/>
          <a:lstStyle/>
          <a:p>
            <a:pPr algn="ctr" indent="0" marL="0">
              <a:buNone/>
            </a:pPr>
            <a:r>
              <a:rPr lang="en-US" sz="2400" dirty="0">
                <a:solidFill>
                  <a:srgbClr val="F3BD5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4560197"/>
            <a:ext cx="11091672" cy="1044062"/>
          </a:xfrm>
          <a:prstGeom prst="rect">
            <a:avLst/>
          </a:prstGeom>
          <a:solidFill>
            <a:srgbClr val="FBF1DC"/>
          </a:solidFill>
          <a:ln w="12700">
            <a:solidFill>
              <a:srgbClr val="FBF1DC"/>
            </a:solidFill>
            <a:prstDash val="solid"/>
          </a:ln>
        </p:spPr>
      </p:sp>
      <p:sp>
        <p:nvSpPr>
          <p:cNvPr id="15" name="Shape 13"/>
          <p:cNvSpPr/>
          <p:nvPr/>
        </p:nvSpPr>
        <p:spPr>
          <a:xfrm>
            <a:off x="548640" y="4560197"/>
            <a:ext cx="82296" cy="1044062"/>
          </a:xfrm>
          <a:prstGeom prst="rect">
            <a:avLst/>
          </a:prstGeom>
          <a:solidFill>
            <a:srgbClr val="F3BD58"/>
          </a:solidFill>
          <a:ln w="12700">
            <a:solidFill>
              <a:srgbClr val="F3BD58"/>
            </a:solidFill>
            <a:prstDash val="solid"/>
          </a:ln>
        </p:spPr>
      </p:sp>
      <p:sp>
        <p:nvSpPr>
          <p:cNvPr id="16" name="Text 14"/>
          <p:cNvSpPr txBox="1"/>
          <p:nvPr/>
        </p:nvSpPr>
        <p:spPr>
          <a:xfrm>
            <a:off x="822960" y="4560197"/>
            <a:ext cx="10543032" cy="1044062"/>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Same company, same idea, two paradigms from our four-way map: LocoFormer is in-context RL (row 3); S1 is demonstration-prompted from human video (row 1). Neither ships weights — they are the clearest available explanation of what ICL </a:t>
            </a:r>
            <a:pPr indent="0" marL="0">
              <a:buNone/>
            </a:pPr>
            <a:r>
              <a:rPr lang="en-US" sz="1656" i="1" dirty="0">
                <a:solidFill>
                  <a:srgbClr val="10283D"/>
                </a:solidFill>
                <a:latin typeface="Arial" pitchFamily="34" charset="0"/>
                <a:ea typeface="Arial" pitchFamily="34" charset="-122"/>
                <a:cs typeface="Arial" pitchFamily="34" charset="-120"/>
              </a:rPr>
              <a:t>is</a:t>
            </a:r>
            <a:pPr indent="0" marL="0">
              <a:buNone/>
            </a:pPr>
            <a:r>
              <a:rPr lang="en-US" sz="1656" dirty="0">
                <a:solidFill>
                  <a:srgbClr val="10283D"/>
                </a:solidFill>
                <a:latin typeface="Arial" pitchFamily="34" charset="0"/>
                <a:ea typeface="Arial" pitchFamily="34" charset="-122"/>
                <a:cs typeface="Arial" pitchFamily="34" charset="-120"/>
              </a:rPr>
              <a:t>, not something we can run.</a:t>
            </a:r>
            <a:endParaRPr lang="en-US" sz="1656" dirty="0"/>
          </a:p>
        </p:txBody>
      </p:sp>
      <p:sp>
        <p:nvSpPr>
          <p:cNvPr id="17" name="Text 1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LocoFormer</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S1 blog</a:t>
            </a:r>
            <a:endParaRPr lang="en-US" sz="900" dirty="0"/>
          </a:p>
        </p:txBody>
      </p:sp>
      <p:sp>
        <p:nvSpPr>
          <p:cNvPr id="18" name="Text 1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08 / 44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What S1's results teach us about ICL (vendor-reported)</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994748"/>
                <a:gridCol w="4255991"/>
                <a:gridCol w="3840933"/>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Finding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Number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What it means for us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ICL vs language prompting, seen tasks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Language wins at 1k h (53% vs 43%); ICL reaches 96% at scale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 demo removes the ambiguity of language once diversity is high enough</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ICL vs language, </a:t>
                      </a:r>
                      <a:pPr indent="0" marL="0">
                        <a:buNone/>
                      </a:pPr>
                      <a:r>
                        <a:rPr lang="en-US" sz="1449" b="1" dirty="0">
                          <a:solidFill>
                            <a:srgbClr val="1B2A36"/>
                          </a:solidFill>
                          <a:latin typeface="Arial" pitchFamily="34" charset="0"/>
                          <a:ea typeface="Arial" pitchFamily="34" charset="-122"/>
                          <a:cs typeface="Arial" pitchFamily="34" charset="-120"/>
                        </a:rPr>
                        <a:t>unseen</a:t>
                      </a:r>
                      <a:pPr indent="0" marL="0">
                        <a:buNone/>
                      </a:pPr>
                      <a:r>
                        <a:rPr lang="en-US" sz="1449" dirty="0">
                          <a:solidFill>
                            <a:srgbClr val="1B2A36"/>
                          </a:solidFill>
                          <a:latin typeface="Arial" pitchFamily="34" charset="0"/>
                          <a:ea typeface="Arial" pitchFamily="34" charset="-122"/>
                          <a:cs typeface="Arial" pitchFamily="34" charset="-120"/>
                        </a:rPr>
                        <a:t> tasks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66% vs 9% at 100k h; gap widens with data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Prompting with a demo is the route to new behaviours, not fine-tuning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Demonstration efficiency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 in-context demo ≈ 380 post-training episodes (50–100 h teleop); post-training only overtakes at ~2,000</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Why the per-variant retrain loop is worth removing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Robustness (L1–L5)</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Tolerates shifted and substituted objects; degrades only when the plan itself must change (opposite arm)</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Two axes to test: distance from training, distance from the prompt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Emergent behaviour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Retries after failure, uses a cup when the can is missing, corrects a sloppy demo</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The demo is a goal specification, not a trajectory to replay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Deployment time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11 minutes from recording the demo to autonomous execution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The end-state UX for our cup task</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blog</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GEN-1.5</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RoboTTT</a:t>
            </a:r>
            <a:endParaRPr lang="en-US" sz="900" dirty="0"/>
          </a:p>
        </p:txBody>
      </p:sp>
      <p:sp>
        <p:nvSpPr>
          <p:cNvPr id="7"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09 / 44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GEN-1.5: in-context learning that was never trained for</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586" b="1" dirty="0">
                <a:solidFill>
                  <a:srgbClr val="FFFFFF"/>
                </a:solidFill>
                <a:latin typeface="Georgia" pitchFamily="34" charset="0"/>
                <a:ea typeface="Georgia" pitchFamily="34" charset="-122"/>
                <a:cs typeface="Georgia" pitchFamily="34" charset="-120"/>
              </a:rPr>
              <a:t>1</a:t>
            </a:r>
            <a:endParaRPr lang="en-US" sz="1586" dirty="0"/>
          </a:p>
        </p:txBody>
      </p:sp>
      <p:sp>
        <p:nvSpPr>
          <p:cNvPr id="7" name="Text 5"/>
          <p:cNvSpPr txBox="1"/>
          <p:nvPr/>
        </p:nvSpPr>
        <p:spPr>
          <a:xfrm>
            <a:off x="1097280" y="1371600"/>
            <a:ext cx="10543032" cy="299984"/>
          </a:xfrm>
          <a:prstGeom prst="rect">
            <a:avLst/>
          </a:prstGeom>
          <a:noFill/>
          <a:ln/>
        </p:spPr>
        <p:txBody>
          <a:bodyPr wrap="square" lIns="0" tIns="0" rIns="0" bIns="0" rtlCol="0" anchor="ctr"/>
          <a:lstStyle/>
          <a:p>
            <a:pPr indent="0" marL="0">
              <a:buNone/>
            </a:pPr>
            <a:r>
              <a:rPr lang="en-US" sz="1464" b="1" dirty="0">
                <a:solidFill>
                  <a:srgbClr val="10283D"/>
                </a:solidFill>
                <a:latin typeface="Arial" pitchFamily="34" charset="0"/>
                <a:ea typeface="Arial" pitchFamily="34" charset="-122"/>
                <a:cs typeface="Arial" pitchFamily="34" charset="-120"/>
              </a:rPr>
              <a:t>Pretrain on raw experience</a:t>
            </a:r>
            <a:endParaRPr lang="en-US" sz="1464" dirty="0"/>
          </a:p>
        </p:txBody>
      </p:sp>
      <p:sp>
        <p:nvSpPr>
          <p:cNvPr id="8" name="Text 6"/>
          <p:cNvSpPr txBox="1"/>
          <p:nvPr/>
        </p:nvSpPr>
        <p:spPr>
          <a:xfrm>
            <a:off x="1097280" y="1653296"/>
            <a:ext cx="10543032" cy="434147"/>
          </a:xfrm>
          <a:prstGeom prst="rect">
            <a:avLst/>
          </a:prstGeom>
          <a:noFill/>
          <a:ln/>
        </p:spPr>
        <p:txBody>
          <a:bodyPr wrap="square" lIns="0" tIns="0" rIns="0" bIns="0" rtlCol="0" anchor="t"/>
          <a:lstStyle/>
          <a:p>
            <a:pPr indent="0" marL="0">
              <a:buNone/>
            </a:pPr>
            <a:r>
              <a:rPr lang="en-US" sz="1342" dirty="0">
                <a:solidFill>
                  <a:srgbClr val="1B2A36"/>
                </a:solidFill>
                <a:latin typeface="Arial" pitchFamily="34" charset="0"/>
                <a:ea typeface="Arial" pitchFamily="34" charset="-122"/>
                <a:cs typeface="Arial" pitchFamily="34" charset="-120"/>
              </a:rPr>
              <a:t>Large multimodal model, 30 s context, 100 Hz actions; &gt;8 months of continuous pretraining on ~1.9M scenes from homes, warehouses and factories. No meta-learning loop, no ICL architecture, no auxiliary objectives.</a:t>
            </a:r>
            <a:endParaRPr lang="en-US" sz="1342" dirty="0"/>
          </a:p>
        </p:txBody>
      </p:sp>
      <p:sp>
        <p:nvSpPr>
          <p:cNvPr id="9" name="Shape 7"/>
          <p:cNvSpPr/>
          <p:nvPr/>
        </p:nvSpPr>
        <p:spPr>
          <a:xfrm>
            <a:off x="1097280" y="2069155"/>
            <a:ext cx="10543032" cy="0"/>
          </a:xfrm>
          <a:prstGeom prst="line">
            <a:avLst/>
          </a:prstGeom>
          <a:noFill/>
          <a:ln w="6350">
            <a:solidFill>
              <a:srgbClr val="D7DEDB"/>
            </a:solidFill>
            <a:prstDash val="solid"/>
          </a:ln>
        </p:spPr>
      </p:sp>
      <p:sp>
        <p:nvSpPr>
          <p:cNvPr id="10" name="Shape 8"/>
          <p:cNvSpPr/>
          <p:nvPr/>
        </p:nvSpPr>
        <p:spPr>
          <a:xfrm>
            <a:off x="548640" y="2133163"/>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2133163"/>
            <a:ext cx="384048" cy="384048"/>
          </a:xfrm>
          <a:prstGeom prst="rect">
            <a:avLst/>
          </a:prstGeom>
          <a:noFill/>
          <a:ln/>
        </p:spPr>
        <p:txBody>
          <a:bodyPr wrap="square" lIns="0" tIns="0" rIns="0" bIns="0" rtlCol="0" anchor="ctr"/>
          <a:lstStyle/>
          <a:p>
            <a:pPr algn="ctr" indent="0" marL="0">
              <a:buNone/>
            </a:pPr>
            <a:r>
              <a:rPr lang="en-US" sz="1586" b="1" dirty="0">
                <a:solidFill>
                  <a:srgbClr val="FFFFFF"/>
                </a:solidFill>
                <a:latin typeface="Georgia" pitchFamily="34" charset="0"/>
                <a:ea typeface="Georgia" pitchFamily="34" charset="-122"/>
                <a:cs typeface="Georgia" pitchFamily="34" charset="-120"/>
              </a:rPr>
              <a:t>2</a:t>
            </a:r>
            <a:endParaRPr lang="en-US" sz="1586" dirty="0"/>
          </a:p>
        </p:txBody>
      </p:sp>
      <p:sp>
        <p:nvSpPr>
          <p:cNvPr id="12" name="Text 10"/>
          <p:cNvSpPr txBox="1"/>
          <p:nvPr/>
        </p:nvSpPr>
        <p:spPr>
          <a:xfrm>
            <a:off x="1097280" y="2105731"/>
            <a:ext cx="10543032" cy="299984"/>
          </a:xfrm>
          <a:prstGeom prst="rect">
            <a:avLst/>
          </a:prstGeom>
          <a:noFill/>
          <a:ln/>
        </p:spPr>
        <p:txBody>
          <a:bodyPr wrap="square" lIns="0" tIns="0" rIns="0" bIns="0" rtlCol="0" anchor="ctr"/>
          <a:lstStyle/>
          <a:p>
            <a:pPr indent="0" marL="0">
              <a:buNone/>
            </a:pPr>
            <a:r>
              <a:rPr lang="en-US" sz="1464" b="1" dirty="0">
                <a:solidFill>
                  <a:srgbClr val="10283D"/>
                </a:solidFill>
                <a:latin typeface="Arial" pitchFamily="34" charset="0"/>
                <a:ea typeface="Arial" pitchFamily="34" charset="-122"/>
                <a:cs typeface="Arial" pitchFamily="34" charset="-120"/>
              </a:rPr>
              <a:t>Physical prompt</a:t>
            </a:r>
            <a:endParaRPr lang="en-US" sz="1464" dirty="0"/>
          </a:p>
        </p:txBody>
      </p:sp>
      <p:sp>
        <p:nvSpPr>
          <p:cNvPr id="13" name="Text 11"/>
          <p:cNvSpPr txBox="1"/>
          <p:nvPr/>
        </p:nvSpPr>
        <p:spPr>
          <a:xfrm>
            <a:off x="1097280" y="2387427"/>
            <a:ext cx="10543032" cy="434147"/>
          </a:xfrm>
          <a:prstGeom prst="rect">
            <a:avLst/>
          </a:prstGeom>
          <a:noFill/>
          <a:ln/>
        </p:spPr>
        <p:txBody>
          <a:bodyPr wrap="square" lIns="0" tIns="0" rIns="0" bIns="0" rtlCol="0" anchor="t"/>
          <a:lstStyle/>
          <a:p>
            <a:pPr indent="0" marL="0">
              <a:buNone/>
            </a:pPr>
            <a:r>
              <a:rPr lang="en-US" sz="1342" dirty="0">
                <a:solidFill>
                  <a:srgbClr val="1B2A36"/>
                </a:solidFill>
                <a:latin typeface="Arial" pitchFamily="34" charset="0"/>
                <a:ea typeface="Arial" pitchFamily="34" charset="-122"/>
                <a:cs typeface="Arial" pitchFamily="34" charset="-120"/>
              </a:rPr>
              <a:t>Insert a 3–12 s sensorimotor clip (sensors + actions, recorded with handheld grippers or by the robot) at the front of the context; the rest holds rolling observations.</a:t>
            </a:r>
            <a:endParaRPr lang="en-US" sz="1342" dirty="0"/>
          </a:p>
        </p:txBody>
      </p:sp>
      <p:sp>
        <p:nvSpPr>
          <p:cNvPr id="14" name="Shape 12"/>
          <p:cNvSpPr/>
          <p:nvPr/>
        </p:nvSpPr>
        <p:spPr>
          <a:xfrm>
            <a:off x="1097280" y="2803286"/>
            <a:ext cx="10543032" cy="0"/>
          </a:xfrm>
          <a:prstGeom prst="line">
            <a:avLst/>
          </a:prstGeom>
          <a:noFill/>
          <a:ln w="6350">
            <a:solidFill>
              <a:srgbClr val="D7DEDB"/>
            </a:solidFill>
            <a:prstDash val="solid"/>
          </a:ln>
        </p:spPr>
      </p:sp>
      <p:sp>
        <p:nvSpPr>
          <p:cNvPr id="15" name="Shape 13"/>
          <p:cNvSpPr/>
          <p:nvPr/>
        </p:nvSpPr>
        <p:spPr>
          <a:xfrm>
            <a:off x="548640" y="2867294"/>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2867294"/>
            <a:ext cx="384048" cy="384048"/>
          </a:xfrm>
          <a:prstGeom prst="rect">
            <a:avLst/>
          </a:prstGeom>
          <a:noFill/>
          <a:ln/>
        </p:spPr>
        <p:txBody>
          <a:bodyPr wrap="square" lIns="0" tIns="0" rIns="0" bIns="0" rtlCol="0" anchor="ctr"/>
          <a:lstStyle/>
          <a:p>
            <a:pPr algn="ctr" indent="0" marL="0">
              <a:buNone/>
            </a:pPr>
            <a:r>
              <a:rPr lang="en-US" sz="1586" b="1" dirty="0">
                <a:solidFill>
                  <a:srgbClr val="FFFFFF"/>
                </a:solidFill>
                <a:latin typeface="Georgia" pitchFamily="34" charset="0"/>
                <a:ea typeface="Georgia" pitchFamily="34" charset="-122"/>
                <a:cs typeface="Georgia" pitchFamily="34" charset="-120"/>
              </a:rPr>
              <a:t>3</a:t>
            </a:r>
            <a:endParaRPr lang="en-US" sz="1586" dirty="0"/>
          </a:p>
        </p:txBody>
      </p:sp>
      <p:sp>
        <p:nvSpPr>
          <p:cNvPr id="17" name="Text 15"/>
          <p:cNvSpPr txBox="1"/>
          <p:nvPr/>
        </p:nvSpPr>
        <p:spPr>
          <a:xfrm>
            <a:off x="1097280" y="2839862"/>
            <a:ext cx="10543032" cy="299984"/>
          </a:xfrm>
          <a:prstGeom prst="rect">
            <a:avLst/>
          </a:prstGeom>
          <a:noFill/>
          <a:ln/>
        </p:spPr>
        <p:txBody>
          <a:bodyPr wrap="square" lIns="0" tIns="0" rIns="0" bIns="0" rtlCol="0" anchor="ctr"/>
          <a:lstStyle/>
          <a:p>
            <a:pPr indent="0" marL="0">
              <a:buNone/>
            </a:pPr>
            <a:r>
              <a:rPr lang="en-US" sz="1464" b="1" dirty="0">
                <a:solidFill>
                  <a:srgbClr val="10283D"/>
                </a:solidFill>
                <a:latin typeface="Arial" pitchFamily="34" charset="0"/>
                <a:ea typeface="Arial" pitchFamily="34" charset="-122"/>
                <a:cs typeface="Arial" pitchFamily="34" charset="-120"/>
              </a:rPr>
              <a:t>Execute with zero gradient steps</a:t>
            </a:r>
            <a:endParaRPr lang="en-US" sz="1464" dirty="0"/>
          </a:p>
        </p:txBody>
      </p:sp>
      <p:sp>
        <p:nvSpPr>
          <p:cNvPr id="18" name="Text 16"/>
          <p:cNvSpPr txBox="1"/>
          <p:nvPr/>
        </p:nvSpPr>
        <p:spPr>
          <a:xfrm>
            <a:off x="1097280" y="3121558"/>
            <a:ext cx="10543032" cy="317657"/>
          </a:xfrm>
          <a:prstGeom prst="rect">
            <a:avLst/>
          </a:prstGeom>
          <a:noFill/>
          <a:ln/>
        </p:spPr>
        <p:txBody>
          <a:bodyPr wrap="square" lIns="0" tIns="0" rIns="0" bIns="0" rtlCol="0" anchor="t"/>
          <a:lstStyle/>
          <a:p>
            <a:pPr indent="0" marL="0">
              <a:buNone/>
            </a:pPr>
            <a:r>
              <a:rPr lang="en-US" sz="1342" dirty="0">
                <a:solidFill>
                  <a:srgbClr val="1B2A36"/>
                </a:solidFill>
                <a:latin typeface="Arial" pitchFamily="34" charset="0"/>
                <a:ea typeface="Arial" pitchFamily="34" charset="-122"/>
                <a:cs typeface="Arial" pitchFamily="34" charset="-120"/>
              </a:rPr>
              <a:t>59% ± 10% average success across 10 unseen short-horizon tasks (zippers, jar lids, wallets).</a:t>
            </a:r>
            <a:endParaRPr lang="en-US" sz="1342" dirty="0"/>
          </a:p>
        </p:txBody>
      </p:sp>
      <p:sp>
        <p:nvSpPr>
          <p:cNvPr id="19" name="Shape 17"/>
          <p:cNvSpPr/>
          <p:nvPr/>
        </p:nvSpPr>
        <p:spPr>
          <a:xfrm>
            <a:off x="1097280" y="3420928"/>
            <a:ext cx="10543032" cy="0"/>
          </a:xfrm>
          <a:prstGeom prst="line">
            <a:avLst/>
          </a:prstGeom>
          <a:noFill/>
          <a:ln w="6350">
            <a:solidFill>
              <a:srgbClr val="D7DEDB"/>
            </a:solidFill>
            <a:prstDash val="solid"/>
          </a:ln>
        </p:spPr>
      </p:sp>
      <p:sp>
        <p:nvSpPr>
          <p:cNvPr id="20" name="Shape 18"/>
          <p:cNvSpPr/>
          <p:nvPr/>
        </p:nvSpPr>
        <p:spPr>
          <a:xfrm>
            <a:off x="548640" y="3484936"/>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3484936"/>
            <a:ext cx="384048" cy="384048"/>
          </a:xfrm>
          <a:prstGeom prst="rect">
            <a:avLst/>
          </a:prstGeom>
          <a:noFill/>
          <a:ln/>
        </p:spPr>
        <p:txBody>
          <a:bodyPr wrap="square" lIns="0" tIns="0" rIns="0" bIns="0" rtlCol="0" anchor="ctr"/>
          <a:lstStyle/>
          <a:p>
            <a:pPr algn="ctr" indent="0" marL="0">
              <a:buNone/>
            </a:pPr>
            <a:r>
              <a:rPr lang="en-US" sz="1586" b="1" dirty="0">
                <a:solidFill>
                  <a:srgbClr val="FFFFFF"/>
                </a:solidFill>
                <a:latin typeface="Georgia" pitchFamily="34" charset="0"/>
                <a:ea typeface="Georgia" pitchFamily="34" charset="-122"/>
                <a:cs typeface="Georgia" pitchFamily="34" charset="-120"/>
              </a:rPr>
              <a:t>4</a:t>
            </a:r>
            <a:endParaRPr lang="en-US" sz="1586" dirty="0"/>
          </a:p>
        </p:txBody>
      </p:sp>
      <p:sp>
        <p:nvSpPr>
          <p:cNvPr id="22" name="Text 20"/>
          <p:cNvSpPr txBox="1"/>
          <p:nvPr/>
        </p:nvSpPr>
        <p:spPr>
          <a:xfrm>
            <a:off x="1097280" y="3457504"/>
            <a:ext cx="10543032" cy="299984"/>
          </a:xfrm>
          <a:prstGeom prst="rect">
            <a:avLst/>
          </a:prstGeom>
          <a:noFill/>
          <a:ln/>
        </p:spPr>
        <p:txBody>
          <a:bodyPr wrap="square" lIns="0" tIns="0" rIns="0" bIns="0" rtlCol="0" anchor="ctr"/>
          <a:lstStyle/>
          <a:p>
            <a:pPr indent="0" marL="0">
              <a:buNone/>
            </a:pPr>
            <a:r>
              <a:rPr lang="en-US" sz="1464" b="1" dirty="0">
                <a:solidFill>
                  <a:srgbClr val="10283D"/>
                </a:solidFill>
                <a:latin typeface="Arial" pitchFamily="34" charset="0"/>
                <a:ea typeface="Arial" pitchFamily="34" charset="-122"/>
                <a:cs typeface="Arial" pitchFamily="34" charset="-120"/>
              </a:rPr>
              <a:t>Prompt engineering</a:t>
            </a:r>
            <a:endParaRPr lang="en-US" sz="1464" dirty="0"/>
          </a:p>
        </p:txBody>
      </p:sp>
      <p:sp>
        <p:nvSpPr>
          <p:cNvPr id="23" name="Text 21"/>
          <p:cNvSpPr txBox="1"/>
          <p:nvPr/>
        </p:nvSpPr>
        <p:spPr>
          <a:xfrm>
            <a:off x="1097280" y="3739200"/>
            <a:ext cx="10543032" cy="434147"/>
          </a:xfrm>
          <a:prstGeom prst="rect">
            <a:avLst/>
          </a:prstGeom>
          <a:noFill/>
          <a:ln/>
        </p:spPr>
        <p:txBody>
          <a:bodyPr wrap="square" lIns="0" tIns="0" rIns="0" bIns="0" rtlCol="0" anchor="t"/>
          <a:lstStyle/>
          <a:p>
            <a:pPr indent="0" marL="0">
              <a:buNone/>
            </a:pPr>
            <a:r>
              <a:rPr lang="en-US" sz="1342" dirty="0">
                <a:solidFill>
                  <a:srgbClr val="1B2A36"/>
                </a:solidFill>
                <a:latin typeface="Arial" pitchFamily="34" charset="0"/>
                <a:ea typeface="Arial" pitchFamily="34" charset="-122"/>
                <a:cs typeface="Arial" pitchFamily="34" charset="-120"/>
              </a:rPr>
              <a:t>Compose demo A + demo B into one behaviour with invented bridging motions; prompt from simulation with no sim data in pretraining; a person's own hands in view can be the prompt.</a:t>
            </a:r>
            <a:endParaRPr lang="en-US" sz="1342" dirty="0"/>
          </a:p>
        </p:txBody>
      </p:sp>
      <p:sp>
        <p:nvSpPr>
          <p:cNvPr id="24" name="Shape 22"/>
          <p:cNvSpPr/>
          <p:nvPr/>
        </p:nvSpPr>
        <p:spPr>
          <a:xfrm>
            <a:off x="1097280" y="4155059"/>
            <a:ext cx="10543032" cy="0"/>
          </a:xfrm>
          <a:prstGeom prst="line">
            <a:avLst/>
          </a:prstGeom>
          <a:noFill/>
          <a:ln w="6350">
            <a:solidFill>
              <a:srgbClr val="D7DEDB"/>
            </a:solidFill>
            <a:prstDash val="solid"/>
          </a:ln>
        </p:spPr>
      </p:sp>
      <p:sp>
        <p:nvSpPr>
          <p:cNvPr id="25" name="Shape 23"/>
          <p:cNvSpPr/>
          <p:nvPr/>
        </p:nvSpPr>
        <p:spPr>
          <a:xfrm>
            <a:off x="548640" y="4219067"/>
            <a:ext cx="384048" cy="384048"/>
          </a:xfrm>
          <a:prstGeom prst="ellipse">
            <a:avLst/>
          </a:prstGeom>
          <a:solidFill>
            <a:srgbClr val="007F79"/>
          </a:solidFill>
          <a:ln w="12700">
            <a:solidFill>
              <a:srgbClr val="007F79"/>
            </a:solidFill>
            <a:prstDash val="solid"/>
          </a:ln>
        </p:spPr>
      </p:sp>
      <p:sp>
        <p:nvSpPr>
          <p:cNvPr id="26" name="Text 24"/>
          <p:cNvSpPr txBox="1"/>
          <p:nvPr/>
        </p:nvSpPr>
        <p:spPr>
          <a:xfrm>
            <a:off x="548640" y="4219067"/>
            <a:ext cx="384048" cy="384048"/>
          </a:xfrm>
          <a:prstGeom prst="rect">
            <a:avLst/>
          </a:prstGeom>
          <a:noFill/>
          <a:ln/>
        </p:spPr>
        <p:txBody>
          <a:bodyPr wrap="square" lIns="0" tIns="0" rIns="0" bIns="0" rtlCol="0" anchor="ctr"/>
          <a:lstStyle/>
          <a:p>
            <a:pPr algn="ctr" indent="0" marL="0">
              <a:buNone/>
            </a:pPr>
            <a:r>
              <a:rPr lang="en-US" sz="1586" b="1" dirty="0">
                <a:solidFill>
                  <a:srgbClr val="FFFFFF"/>
                </a:solidFill>
                <a:latin typeface="Georgia" pitchFamily="34" charset="0"/>
                <a:ea typeface="Georgia" pitchFamily="34" charset="-122"/>
                <a:cs typeface="Georgia" pitchFamily="34" charset="-120"/>
              </a:rPr>
              <a:t>5</a:t>
            </a:r>
            <a:endParaRPr lang="en-US" sz="1586" dirty="0"/>
          </a:p>
        </p:txBody>
      </p:sp>
      <p:sp>
        <p:nvSpPr>
          <p:cNvPr id="27" name="Text 25"/>
          <p:cNvSpPr txBox="1"/>
          <p:nvPr/>
        </p:nvSpPr>
        <p:spPr>
          <a:xfrm>
            <a:off x="1097280" y="4191635"/>
            <a:ext cx="10543032" cy="299984"/>
          </a:xfrm>
          <a:prstGeom prst="rect">
            <a:avLst/>
          </a:prstGeom>
          <a:noFill/>
          <a:ln/>
        </p:spPr>
        <p:txBody>
          <a:bodyPr wrap="square" lIns="0" tIns="0" rIns="0" bIns="0" rtlCol="0" anchor="ctr"/>
          <a:lstStyle/>
          <a:p>
            <a:pPr indent="0" marL="0">
              <a:buNone/>
            </a:pPr>
            <a:r>
              <a:rPr lang="en-US" sz="1464" b="1" dirty="0">
                <a:solidFill>
                  <a:srgbClr val="10283D"/>
                </a:solidFill>
                <a:latin typeface="Arial" pitchFamily="34" charset="0"/>
                <a:ea typeface="Arial" pitchFamily="34" charset="-122"/>
                <a:cs typeface="Arial" pitchFamily="34" charset="-120"/>
              </a:rPr>
              <a:t>Optional few-step adaptation</a:t>
            </a:r>
            <a:endParaRPr lang="en-US" sz="1464" dirty="0"/>
          </a:p>
        </p:txBody>
      </p:sp>
      <p:sp>
        <p:nvSpPr>
          <p:cNvPr id="28" name="Text 26"/>
          <p:cNvSpPr txBox="1"/>
          <p:nvPr/>
        </p:nvSpPr>
        <p:spPr>
          <a:xfrm>
            <a:off x="1097280" y="4473331"/>
            <a:ext cx="10543032" cy="317657"/>
          </a:xfrm>
          <a:prstGeom prst="rect">
            <a:avLst/>
          </a:prstGeom>
          <a:noFill/>
          <a:ln/>
        </p:spPr>
        <p:txBody>
          <a:bodyPr wrap="square" lIns="0" tIns="0" rIns="0" bIns="0" rtlCol="0" anchor="t"/>
          <a:lstStyle/>
          <a:p>
            <a:pPr indent="0" marL="0">
              <a:buNone/>
            </a:pPr>
            <a:r>
              <a:rPr lang="en-US" sz="1342" dirty="0">
                <a:solidFill>
                  <a:srgbClr val="1B2A36"/>
                </a:solidFill>
                <a:latin typeface="Arial" pitchFamily="34" charset="0"/>
                <a:ea typeface="Arial" pitchFamily="34" charset="-122"/>
                <a:cs typeface="Arial" pitchFamily="34" charset="-120"/>
              </a:rPr>
              <a:t>1–10 gradient steps on 1–5 min of data → 83% ± 9%; ten steps move weights by &lt;0.15%. One step on one minute: 66.5%.</a:t>
            </a:r>
            <a:endParaRPr lang="en-US" sz="1342" dirty="0"/>
          </a:p>
        </p:txBody>
      </p:sp>
      <p:sp>
        <p:nvSpPr>
          <p:cNvPr id="29" name="Shape 27"/>
          <p:cNvSpPr/>
          <p:nvPr/>
        </p:nvSpPr>
        <p:spPr>
          <a:xfrm>
            <a:off x="548640" y="5112952"/>
            <a:ext cx="11091672" cy="954816"/>
          </a:xfrm>
          <a:prstGeom prst="rect">
            <a:avLst/>
          </a:prstGeom>
          <a:solidFill>
            <a:srgbClr val="FBF1DC"/>
          </a:solidFill>
          <a:ln w="12700">
            <a:solidFill>
              <a:srgbClr val="FBF1DC"/>
            </a:solidFill>
            <a:prstDash val="solid"/>
          </a:ln>
        </p:spPr>
      </p:sp>
      <p:sp>
        <p:nvSpPr>
          <p:cNvPr id="30" name="Shape 28"/>
          <p:cNvSpPr/>
          <p:nvPr/>
        </p:nvSpPr>
        <p:spPr>
          <a:xfrm>
            <a:off x="548640" y="5112952"/>
            <a:ext cx="82296" cy="954816"/>
          </a:xfrm>
          <a:prstGeom prst="rect">
            <a:avLst/>
          </a:prstGeom>
          <a:solidFill>
            <a:srgbClr val="F3BD58"/>
          </a:solidFill>
          <a:ln w="12700">
            <a:solidFill>
              <a:srgbClr val="F3BD58"/>
            </a:solidFill>
            <a:prstDash val="solid"/>
          </a:ln>
        </p:spPr>
      </p:sp>
      <p:sp>
        <p:nvSpPr>
          <p:cNvPr id="31" name="Text 29"/>
          <p:cNvSpPr txBox="1"/>
          <p:nvPr/>
        </p:nvSpPr>
        <p:spPr>
          <a:xfrm>
            <a:off x="822960" y="5112952"/>
            <a:ext cx="10543032" cy="954816"/>
          </a:xfrm>
          <a:prstGeom prst="rect">
            <a:avLst/>
          </a:prstGeom>
          <a:noFill/>
          <a:ln/>
        </p:spPr>
        <p:txBody>
          <a:bodyPr wrap="square" lIns="0" tIns="0" rIns="0" bIns="0" rtlCol="0" anchor="ctr"/>
          <a:lstStyle/>
          <a:p>
            <a:pPr indent="0" marL="0">
              <a:buNone/>
            </a:pPr>
            <a:r>
              <a:rPr lang="en-US" sz="1464" dirty="0">
                <a:solidFill>
                  <a:srgbClr val="10283D"/>
                </a:solidFill>
                <a:latin typeface="Arial" pitchFamily="34" charset="0"/>
                <a:ea typeface="Arial" pitchFamily="34" charset="-122"/>
                <a:cs typeface="Arial" pitchFamily="34" charset="-120"/>
              </a:rPr>
              <a:t>Lesson: past a pretraining threshold, adaptation cost collapses and one-shot ICL and one-step fine-tuning become two faces of "reminding the model of something it nearly knows." Closed model, no weights — a concept source, not a candidate.</a:t>
            </a:r>
            <a:endParaRPr lang="en-US" sz="1464" dirty="0"/>
          </a:p>
        </p:txBody>
      </p:sp>
      <p:sp>
        <p:nvSpPr>
          <p:cNvPr id="32" name="Text 30"/>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GEN-1.5 blog</a:t>
            </a:r>
            <a:endParaRPr lang="en-US" sz="900" dirty="0"/>
          </a:p>
        </p:txBody>
      </p:sp>
      <p:sp>
        <p:nvSpPr>
          <p:cNvPr id="33" name="Text 31"/>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10 / 44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FACTR 2: not ICL, but two tools our G1 plan is missing</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5271516" cy="2523493"/>
          </a:xfrm>
          <a:prstGeom prst="rect">
            <a:avLst/>
          </a:prstGeom>
          <a:solidFill>
            <a:srgbClr val="FFFFFF"/>
          </a:solidFill>
          <a:ln w="9525">
            <a:solidFill>
              <a:srgbClr val="D7DEDB"/>
            </a:solidFill>
            <a:prstDash val="solid"/>
          </a:ln>
        </p:spPr>
      </p:sp>
      <p:sp>
        <p:nvSpPr>
          <p:cNvPr id="6" name="Shape 4"/>
          <p:cNvSpPr/>
          <p:nvPr/>
        </p:nvSpPr>
        <p:spPr>
          <a:xfrm>
            <a:off x="548640" y="1371600"/>
            <a:ext cx="5271516"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NEXT · force sensing without a sensor</a:t>
            </a:r>
            <a:endParaRPr lang="en-US" sz="1932" dirty="0"/>
          </a:p>
        </p:txBody>
      </p:sp>
      <p:sp>
        <p:nvSpPr>
          <p:cNvPr id="8" name="Text 6"/>
          <p:cNvSpPr txBox="1"/>
          <p:nvPr/>
        </p:nvSpPr>
        <p:spPr>
          <a:xfrm>
            <a:off x="731520" y="1990984"/>
            <a:ext cx="4905756" cy="1812668"/>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Collect ~10 min of free-space motion; train an LSTM (≈1 min) to predict measured joint torque (current × torque constant) from joint state. Deploy: </a:t>
            </a:r>
            <a:pPr indent="0" marL="0">
              <a:buNone/>
            </a:pPr>
            <a:r>
              <a:rPr lang="en-US" sz="1587" b="1" dirty="0">
                <a:solidFill>
                  <a:srgbClr val="1B2A36"/>
                </a:solidFill>
                <a:latin typeface="Arial" pitchFamily="34" charset="0"/>
                <a:ea typeface="Arial" pitchFamily="34" charset="-122"/>
                <a:cs typeface="Arial" pitchFamily="34" charset="-120"/>
              </a:rPr>
              <a:t>external torque = measured − predicted</a:t>
            </a:r>
            <a:pPr indent="0" marL="0">
              <a:buNone/>
            </a:pPr>
            <a:r>
              <a:rPr lang="en-US" sz="1587" dirty="0">
                <a:solidFill>
                  <a:srgbClr val="1B2A36"/>
                </a:solidFill>
                <a:latin typeface="Arial" pitchFamily="34" charset="0"/>
                <a:ea typeface="Arial" pitchFamily="34" charset="-122"/>
                <a:cs typeface="Arial" pitchFamily="34" charset="-120"/>
              </a:rPr>
              <a:t>. Near zero in free motion, matches Franka's factory torque sensors in contact; enables force-feedback teleop on Piper and YAM arms.</a:t>
            </a:r>
            <a:endParaRPr lang="en-US" sz="1587" dirty="0"/>
          </a:p>
        </p:txBody>
      </p:sp>
      <p:sp>
        <p:nvSpPr>
          <p:cNvPr id="9" name="Shape 7"/>
          <p:cNvSpPr/>
          <p:nvPr/>
        </p:nvSpPr>
        <p:spPr>
          <a:xfrm>
            <a:off x="6368796" y="1371600"/>
            <a:ext cx="5271516" cy="2523493"/>
          </a:xfrm>
          <a:prstGeom prst="rect">
            <a:avLst/>
          </a:prstGeom>
          <a:solidFill>
            <a:srgbClr val="FFFFFF"/>
          </a:solidFill>
          <a:ln w="9525">
            <a:solidFill>
              <a:srgbClr val="D7DEDB"/>
            </a:solidFill>
            <a:prstDash val="solid"/>
          </a:ln>
        </p:spPr>
      </p:sp>
      <p:sp>
        <p:nvSpPr>
          <p:cNvPr id="10" name="Shape 8"/>
          <p:cNvSpPr/>
          <p:nvPr/>
        </p:nvSpPr>
        <p:spPr>
          <a:xfrm>
            <a:off x="6368796" y="1371600"/>
            <a:ext cx="5271516" cy="54864"/>
          </a:xfrm>
          <a:prstGeom prst="rect">
            <a:avLst/>
          </a:prstGeom>
          <a:solidFill>
            <a:srgbClr val="007F79"/>
          </a:solidFill>
          <a:ln w="12700">
            <a:solidFill>
              <a:srgbClr val="007F79"/>
            </a:solidFill>
            <a:prstDash val="solid"/>
          </a:ln>
        </p:spPr>
      </p:sp>
      <p:sp>
        <p:nvSpPr>
          <p:cNvPr id="11" name="Text 9"/>
          <p:cNvSpPr txBox="1"/>
          <p:nvPr/>
        </p:nvSpPr>
        <p:spPr>
          <a:xfrm>
            <a:off x="6551676"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FIRST · force-informed re-sampling</a:t>
            </a:r>
            <a:endParaRPr lang="en-US" sz="1932" dirty="0"/>
          </a:p>
        </p:txBody>
      </p:sp>
      <p:sp>
        <p:nvSpPr>
          <p:cNvPr id="12" name="Text 10"/>
          <p:cNvSpPr txBox="1"/>
          <p:nvPr/>
        </p:nvSpPr>
        <p:spPr>
          <a:xfrm>
            <a:off x="6551676" y="1990984"/>
            <a:ext cx="4905756" cy="1812668"/>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Run NEXT over every demo, segment into free-space / pre-contact / contact, and up-sample the contact-relevant samples in each BC batch. Across five contact-rich long-horizon tasks (NIST belt, cap screwing, insertion, tool clean-up, LEGO): &gt;17% higher task progress than prior force-aware policies, more recovery, better robustness.</a:t>
            </a:r>
            <a:endParaRPr lang="en-US" sz="1587" dirty="0"/>
          </a:p>
        </p:txBody>
      </p:sp>
      <p:sp>
        <p:nvSpPr>
          <p:cNvPr id="13" name="Text 11"/>
          <p:cNvSpPr txBox="1"/>
          <p:nvPr/>
        </p:nvSpPr>
        <p:spPr>
          <a:xfrm>
            <a:off x="5820156" y="1371600"/>
            <a:ext cx="548640" cy="2523493"/>
          </a:xfrm>
          <a:prstGeom prst="rect">
            <a:avLst/>
          </a:prstGeom>
          <a:noFill/>
          <a:ln/>
        </p:spPr>
        <p:txBody>
          <a:bodyPr wrap="square" lIns="0" tIns="0" rIns="0" bIns="0" rtlCol="0" anchor="ctr"/>
          <a:lstStyle/>
          <a:p>
            <a:pPr algn="ctr" indent="0" marL="0">
              <a:buNone/>
            </a:pPr>
            <a:r>
              <a:rPr lang="en-US" sz="2400" dirty="0">
                <a:solidFill>
                  <a:srgbClr val="F3BD5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4260853"/>
            <a:ext cx="11091672" cy="1044062"/>
          </a:xfrm>
          <a:prstGeom prst="rect">
            <a:avLst/>
          </a:prstGeom>
          <a:solidFill>
            <a:srgbClr val="FBF1DC"/>
          </a:solidFill>
          <a:ln w="12700">
            <a:solidFill>
              <a:srgbClr val="FBF1DC"/>
            </a:solidFill>
            <a:prstDash val="solid"/>
          </a:ln>
        </p:spPr>
      </p:sp>
      <p:sp>
        <p:nvSpPr>
          <p:cNvPr id="15" name="Shape 13"/>
          <p:cNvSpPr/>
          <p:nvPr/>
        </p:nvSpPr>
        <p:spPr>
          <a:xfrm>
            <a:off x="548640" y="4260853"/>
            <a:ext cx="82296" cy="1044062"/>
          </a:xfrm>
          <a:prstGeom prst="rect">
            <a:avLst/>
          </a:prstGeom>
          <a:solidFill>
            <a:srgbClr val="F3BD58"/>
          </a:solidFill>
          <a:ln w="12700">
            <a:solidFill>
              <a:srgbClr val="F3BD58"/>
            </a:solidFill>
            <a:prstDash val="solid"/>
          </a:ln>
        </p:spPr>
      </p:sp>
      <p:sp>
        <p:nvSpPr>
          <p:cNvPr id="16" name="Text 14"/>
          <p:cNvSpPr txBox="1"/>
          <p:nvPr/>
        </p:nvSpPr>
        <p:spPr>
          <a:xfrm>
            <a:off x="822960" y="4260853"/>
            <a:ext cx="10543032" cy="1044062"/>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For the G1 (no F/T sensors, joint current available): a real contact signal for the cup verifier, phase labels for teleop data QA and FIRST-style training of the GR00T baseline or BPP, and haptics for the operator — all inside week 1. Code is public.</a:t>
            </a:r>
            <a:endParaRPr lang="en-US" sz="1656" dirty="0"/>
          </a:p>
        </p:txBody>
      </p:sp>
      <p:sp>
        <p:nvSpPr>
          <p:cNvPr id="17" name="Text 1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FACTR 2</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Code</a:t>
            </a:r>
            <a:endParaRPr lang="en-US" sz="900" dirty="0"/>
          </a:p>
        </p:txBody>
      </p:sp>
      <p:sp>
        <p:nvSpPr>
          <p:cNvPr id="18" name="Text 1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11 / 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Where S1 and LocoFormer sit next to what we can run</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436001"/>
                <a:gridCol w="2080397"/>
                <a:gridCol w="1940869"/>
                <a:gridCol w="1785988"/>
                <a:gridCol w="2035321"/>
                <a:gridCol w="1813096"/>
              </a:tblGrid>
              <a:tr h="384048">
                <a:tc>
                  <a:txBody>
                    <a:bodyPr/>
                    <a:lstStyle/>
                    <a:p>
                      <a:pPr indent="0" marL="0">
                        <a:buNone/>
                      </a:pP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S1</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LocoFormer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MimicDroid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BPP + iPhUMI</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GR00T fine-tune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Context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 human video</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Own trial history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Human play video</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 handheld demo</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None (language)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Domain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Bimanual manipulation, 10-min tasks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Locomotion, any body incl. G1</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Humanoid tabletop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Tabletop / bimanual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Humanoid tabletop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Unseen tasks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Yes, incl. new primitives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New bodies and faults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Yes (its benchmark)</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Recombination of known primitives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 — retrain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Weights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Closed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Not released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Not released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b="1" dirty="0">
                          <a:solidFill>
                            <a:srgbClr val="1B2A36"/>
                          </a:solidFill>
                          <a:latin typeface="Arial" pitchFamily="34" charset="0"/>
                          <a:ea typeface="Arial" pitchFamily="34" charset="-122"/>
                          <a:cs typeface="Arial" pitchFamily="34" charset="-120"/>
                        </a:rPr>
                        <a:t>Released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b="1" dirty="0">
                          <a:solidFill>
                            <a:srgbClr val="1B2A36"/>
                          </a:solidFill>
                          <a:latin typeface="Arial" pitchFamily="34" charset="0"/>
                          <a:ea typeface="Arial" pitchFamily="34" charset="-122"/>
                          <a:cs typeface="Arial" pitchFamily="34" charset="-120"/>
                        </a:rPr>
                        <a:t>Released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Our use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Concept + upper bound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Concept (in-context RL)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Phase 3 training target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First frozen-weight candidate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Matched non-ICL baseline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4374672"/>
            <a:ext cx="11091672" cy="787481"/>
          </a:xfrm>
          <a:prstGeom prst="rect">
            <a:avLst/>
          </a:prstGeom>
          <a:solidFill>
            <a:srgbClr val="FBF1DC"/>
          </a:solidFill>
          <a:ln w="12700">
            <a:solidFill>
              <a:srgbClr val="FBF1DC"/>
            </a:solidFill>
            <a:prstDash val="solid"/>
          </a:ln>
        </p:spPr>
      </p:sp>
      <p:sp>
        <p:nvSpPr>
          <p:cNvPr id="7" name="Shape 4"/>
          <p:cNvSpPr/>
          <p:nvPr/>
        </p:nvSpPr>
        <p:spPr>
          <a:xfrm>
            <a:off x="548640" y="4374672"/>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4374672"/>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Reading across the row "Weights" is the whole decision: understand ICL from S1, LocoFormer and GEN-1.5; run it with BPP; aim at MimicDroid; measure against GR00T.</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LocoFormer</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BPP</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GR00T</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12 / 44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Implementable routes: what each buys and what is left to do</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556880"/>
                <a:gridCol w="3245270"/>
                <a:gridCol w="2954370"/>
                <a:gridCol w="3335151"/>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Route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Mechanism</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Release evidence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G1 work remaining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ICRT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Autoregressive imitation conditioned on robot demos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Apache-2.0 source; checkpoint links (Franka)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Camera/action adapter; train on G1 data; audit weight rights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BPP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Prompt encoder + action decoder; demos specify behaviour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MIT source; training and deployment docs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G1 data and deployment adapter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RICL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ICL-specific retraining of π0-FAST with retrieval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Apache-2.0 source; DROID checkpoint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VLA dependencies; embodiment and action conversion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3742776"/>
            <a:ext cx="11091672" cy="787481"/>
          </a:xfrm>
          <a:prstGeom prst="rect">
            <a:avLst/>
          </a:prstGeom>
          <a:solidFill>
            <a:srgbClr val="FBF1DC"/>
          </a:solidFill>
          <a:ln w="12700">
            <a:solidFill>
              <a:srgbClr val="FBF1DC"/>
            </a:solidFill>
            <a:prstDash val="solid"/>
          </a:ln>
        </p:spPr>
      </p:sp>
      <p:sp>
        <p:nvSpPr>
          <p:cNvPr id="7" name="Shape 4"/>
          <p:cNvSpPr/>
          <p:nvPr/>
        </p:nvSpPr>
        <p:spPr>
          <a:xfrm>
            <a:off x="548640" y="3742776"/>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3742776"/>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None is a plug-and-play cup controller for our G1. Compare them through one gateway and one evaluation contract.</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ICRT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BPP</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RICL</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13 / 44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Humanoid relevance ≠ complete release</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038071"/>
                <a:gridCol w="3595325"/>
                <a:gridCol w="4458276"/>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Method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Why it matters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Availability boundary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MimicDroid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Human-play ICL with G1 videos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Benchmark and dataset linked; full G1 policy package not verified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ICLR (visual traces)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Predicts gripper traces before actions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LIBERO code + encoder; complete real-robot policy not verified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Instant Policy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Geometry-based demo conditioning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Compiled deployment core; training not fully inspectable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Skild S1 · RoboTTT · KAT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Capability references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 deployable open weights / different protocol / GPT-4 dependency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283232"/>
            <a:ext cx="11091672" cy="530901"/>
          </a:xfrm>
          <a:prstGeom prst="rect">
            <a:avLst/>
          </a:prstGeom>
          <a:solidFill>
            <a:srgbClr val="FBF1DC"/>
          </a:solidFill>
          <a:ln w="12700">
            <a:solidFill>
              <a:srgbClr val="FBF1DC"/>
            </a:solidFill>
            <a:prstDash val="solid"/>
          </a:ln>
        </p:spPr>
      </p:sp>
      <p:sp>
        <p:nvSpPr>
          <p:cNvPr id="7" name="Shape 4"/>
          <p:cNvSpPr/>
          <p:nvPr/>
        </p:nvSpPr>
        <p:spPr>
          <a:xfrm>
            <a:off x="548640" y="4283232"/>
            <a:ext cx="82296" cy="530901"/>
          </a:xfrm>
          <a:prstGeom prst="rect">
            <a:avLst/>
          </a:prstGeom>
          <a:solidFill>
            <a:srgbClr val="F3BD58"/>
          </a:solidFill>
          <a:ln w="12700">
            <a:solidFill>
              <a:srgbClr val="F3BD58"/>
            </a:solidFill>
            <a:prstDash val="solid"/>
          </a:ln>
        </p:spPr>
      </p:sp>
      <p:sp>
        <p:nvSpPr>
          <p:cNvPr id="8" name="Text 5"/>
          <p:cNvSpPr txBox="1"/>
          <p:nvPr/>
        </p:nvSpPr>
        <p:spPr>
          <a:xfrm>
            <a:off x="822960" y="4283232"/>
            <a:ext cx="10543032" cy="53090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Borrow research questions from these, not claims of deployable capability.</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ICLR code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Instant Policy</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S1</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14 / 44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Honest state of the art on this robot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816579"/>
                <a:gridCol w="4689617"/>
                <a:gridCol w="3585476"/>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Model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Published G1 result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Status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Any ICL method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None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 ICL success rate on a G1 has been published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NVIDIA GR00T N1.5 / N1.7</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98.8% on "place known fruits" (vendor); NVIDIA's own reference apple-to-plate policy ~60–70%, "not production-grade"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Fine-tune workhorse, not ICL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Unitree UnifoLM-VLA-0</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12 task categories, qualitative only; LIBERO 98.7 in sim</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Fine-tune workhorse; CC BY-NC-SA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π0 / π0.5 via LeRobot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G1 integration exists; no published G1 success rate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Fine-tune workhorse; Apache-2.0</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283232"/>
            <a:ext cx="11091672" cy="787481"/>
          </a:xfrm>
          <a:prstGeom prst="rect">
            <a:avLst/>
          </a:prstGeom>
          <a:solidFill>
            <a:srgbClr val="FBF1DC"/>
          </a:solidFill>
          <a:ln w="12700">
            <a:solidFill>
              <a:srgbClr val="FBF1DC"/>
            </a:solidFill>
            <a:prstDash val="solid"/>
          </a:ln>
        </p:spPr>
      </p:sp>
      <p:sp>
        <p:nvSpPr>
          <p:cNvPr id="7" name="Shape 4"/>
          <p:cNvSpPr/>
          <p:nvPr/>
        </p:nvSpPr>
        <p:spPr>
          <a:xfrm>
            <a:off x="548640" y="4283232"/>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4283232"/>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Whatever we report will be the first measured ICL result on a G1 — so the measurement has to be defensible.</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GR00T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UnifoLM</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openpi</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15 / 44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150" b="1" dirty="0">
                <a:solidFill>
                  <a:srgbClr val="10283D"/>
                </a:solidFill>
                <a:latin typeface="Georgia" pitchFamily="34" charset="0"/>
                <a:ea typeface="Georgia" pitchFamily="34" charset="-122"/>
                <a:cs typeface="Georgia" pitchFamily="34" charset="-120"/>
              </a:rPr>
              <a:t>The alternative we will also run: GR00T fine-tuning on teleop data</a:t>
            </a:r>
            <a:endParaRPr lang="en-US" sz="215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040" b="1" dirty="0">
                <a:solidFill>
                  <a:srgbClr val="FFFFFF"/>
                </a:solidFill>
                <a:latin typeface="Georgia" pitchFamily="34" charset="0"/>
                <a:ea typeface="Georgia" pitchFamily="34" charset="-122"/>
                <a:cs typeface="Georgia" pitchFamily="34" charset="-120"/>
              </a:rPr>
              <a:t>1</a:t>
            </a:r>
            <a:endParaRPr lang="en-US" sz="1040" dirty="0"/>
          </a:p>
        </p:txBody>
      </p:sp>
      <p:sp>
        <p:nvSpPr>
          <p:cNvPr id="7" name="Text 5"/>
          <p:cNvSpPr txBox="1"/>
          <p:nvPr/>
        </p:nvSpPr>
        <p:spPr>
          <a:xfrm>
            <a:off x="1097280" y="1371600"/>
            <a:ext cx="10543032" cy="221894"/>
          </a:xfrm>
          <a:prstGeom prst="rect">
            <a:avLst/>
          </a:prstGeom>
          <a:noFill/>
          <a:ln/>
        </p:spPr>
        <p:txBody>
          <a:bodyPr wrap="square" lIns="0" tIns="0" rIns="0" bIns="0" rtlCol="0" anchor="ctr"/>
          <a:lstStyle/>
          <a:p>
            <a:pPr indent="0" marL="0">
              <a:buNone/>
            </a:pPr>
            <a:r>
              <a:rPr lang="en-US" sz="960" b="1" dirty="0">
                <a:solidFill>
                  <a:srgbClr val="10283D"/>
                </a:solidFill>
                <a:latin typeface="Arial" pitchFamily="34" charset="0"/>
                <a:ea typeface="Arial" pitchFamily="34" charset="-122"/>
                <a:cs typeface="Arial" pitchFamily="34" charset="-120"/>
              </a:rPr>
              <a:t>Collect</a:t>
            </a:r>
            <a:endParaRPr lang="en-US" sz="960" dirty="0"/>
          </a:p>
        </p:txBody>
      </p:sp>
      <p:sp>
        <p:nvSpPr>
          <p:cNvPr id="8" name="Text 6"/>
          <p:cNvSpPr txBox="1"/>
          <p:nvPr/>
        </p:nvSpPr>
        <p:spPr>
          <a:xfrm>
            <a:off x="1097280" y="1575206"/>
            <a:ext cx="10543032" cy="246075"/>
          </a:xfrm>
          <a:prstGeom prst="rect">
            <a:avLst/>
          </a:prstGeom>
          <a:noFill/>
          <a:ln/>
        </p:spPr>
        <p:txBody>
          <a:bodyPr wrap="square" lIns="0" tIns="0" rIns="0" bIns="0" rtlCol="0" anchor="t"/>
          <a:lstStyle/>
          <a:p>
            <a:pPr indent="0" marL="0">
              <a:buNone/>
            </a:pPr>
            <a:r>
              <a:rPr lang="en-US" sz="880" dirty="0">
                <a:solidFill>
                  <a:srgbClr val="1B2A36"/>
                </a:solidFill>
                <a:latin typeface="Arial" pitchFamily="34" charset="0"/>
                <a:ea typeface="Arial" pitchFamily="34" charset="-122"/>
                <a:cs typeface="Arial" pitchFamily="34" charset="-120"/>
              </a:rPr>
              <a:t>Teleoperate the cup task on the G1 (xr_teleoperate or Isaac Lab teleop); ~1K episodes is NVIDIA's reference budget</a:t>
            </a:r>
            <a:endParaRPr lang="en-US" sz="880" dirty="0"/>
          </a:p>
        </p:txBody>
      </p:sp>
      <p:sp>
        <p:nvSpPr>
          <p:cNvPr id="9" name="Shape 7"/>
          <p:cNvSpPr/>
          <p:nvPr/>
        </p:nvSpPr>
        <p:spPr>
          <a:xfrm>
            <a:off x="1097280" y="1802994"/>
            <a:ext cx="10543032" cy="0"/>
          </a:xfrm>
          <a:prstGeom prst="line">
            <a:avLst/>
          </a:prstGeom>
          <a:noFill/>
          <a:ln w="6350">
            <a:solidFill>
              <a:srgbClr val="D7DEDB"/>
            </a:solidFill>
            <a:prstDash val="solid"/>
          </a:ln>
        </p:spPr>
      </p:sp>
      <p:sp>
        <p:nvSpPr>
          <p:cNvPr id="10" name="Shape 8"/>
          <p:cNvSpPr/>
          <p:nvPr/>
        </p:nvSpPr>
        <p:spPr>
          <a:xfrm>
            <a:off x="548640" y="1867002"/>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1867002"/>
            <a:ext cx="384048" cy="384048"/>
          </a:xfrm>
          <a:prstGeom prst="rect">
            <a:avLst/>
          </a:prstGeom>
          <a:noFill/>
          <a:ln/>
        </p:spPr>
        <p:txBody>
          <a:bodyPr wrap="square" lIns="0" tIns="0" rIns="0" bIns="0" rtlCol="0" anchor="ctr"/>
          <a:lstStyle/>
          <a:p>
            <a:pPr algn="ctr" indent="0" marL="0">
              <a:buNone/>
            </a:pPr>
            <a:r>
              <a:rPr lang="en-US" sz="1040" b="1" dirty="0">
                <a:solidFill>
                  <a:srgbClr val="FFFFFF"/>
                </a:solidFill>
                <a:latin typeface="Georgia" pitchFamily="34" charset="0"/>
                <a:ea typeface="Georgia" pitchFamily="34" charset="-122"/>
                <a:cs typeface="Georgia" pitchFamily="34" charset="-120"/>
              </a:rPr>
              <a:t>2</a:t>
            </a:r>
            <a:endParaRPr lang="en-US" sz="1040" dirty="0"/>
          </a:p>
        </p:txBody>
      </p:sp>
      <p:sp>
        <p:nvSpPr>
          <p:cNvPr id="12" name="Text 10"/>
          <p:cNvSpPr txBox="1"/>
          <p:nvPr/>
        </p:nvSpPr>
        <p:spPr>
          <a:xfrm>
            <a:off x="1097280" y="1839570"/>
            <a:ext cx="10543032" cy="221894"/>
          </a:xfrm>
          <a:prstGeom prst="rect">
            <a:avLst/>
          </a:prstGeom>
          <a:noFill/>
          <a:ln/>
        </p:spPr>
        <p:txBody>
          <a:bodyPr wrap="square" lIns="0" tIns="0" rIns="0" bIns="0" rtlCol="0" anchor="ctr"/>
          <a:lstStyle/>
          <a:p>
            <a:pPr indent="0" marL="0">
              <a:buNone/>
            </a:pPr>
            <a:r>
              <a:rPr lang="en-US" sz="960" b="1" dirty="0">
                <a:solidFill>
                  <a:srgbClr val="10283D"/>
                </a:solidFill>
                <a:latin typeface="Arial" pitchFamily="34" charset="0"/>
                <a:ea typeface="Arial" pitchFamily="34" charset="-122"/>
                <a:cs typeface="Arial" pitchFamily="34" charset="-120"/>
              </a:rPr>
              <a:t>Convert</a:t>
            </a:r>
            <a:endParaRPr lang="en-US" sz="960" dirty="0"/>
          </a:p>
        </p:txBody>
      </p:sp>
      <p:sp>
        <p:nvSpPr>
          <p:cNvPr id="13" name="Text 11"/>
          <p:cNvSpPr txBox="1"/>
          <p:nvPr/>
        </p:nvSpPr>
        <p:spPr>
          <a:xfrm>
            <a:off x="1097280" y="2043176"/>
            <a:ext cx="10543032" cy="246075"/>
          </a:xfrm>
          <a:prstGeom prst="rect">
            <a:avLst/>
          </a:prstGeom>
          <a:noFill/>
          <a:ln/>
        </p:spPr>
        <p:txBody>
          <a:bodyPr wrap="square" lIns="0" tIns="0" rIns="0" bIns="0" rtlCol="0" anchor="t"/>
          <a:lstStyle/>
          <a:p>
            <a:pPr indent="0" marL="0">
              <a:buNone/>
            </a:pPr>
            <a:r>
              <a:rPr lang="en-US" sz="880" dirty="0">
                <a:solidFill>
                  <a:srgbClr val="1B2A36"/>
                </a:solidFill>
                <a:latin typeface="Arial" pitchFamily="34" charset="0"/>
                <a:ea typeface="Arial" pitchFamily="34" charset="-122"/>
                <a:cs typeface="Arial" pitchFamily="34" charset="-120"/>
              </a:rPr>
              <a:t>LeRobot-format dataset with a G1 modality config; embodiment tag UNITREE_G1</a:t>
            </a:r>
            <a:endParaRPr lang="en-US" sz="880" dirty="0"/>
          </a:p>
        </p:txBody>
      </p:sp>
      <p:sp>
        <p:nvSpPr>
          <p:cNvPr id="14" name="Shape 12"/>
          <p:cNvSpPr/>
          <p:nvPr/>
        </p:nvSpPr>
        <p:spPr>
          <a:xfrm>
            <a:off x="1097280" y="2270963"/>
            <a:ext cx="10543032" cy="0"/>
          </a:xfrm>
          <a:prstGeom prst="line">
            <a:avLst/>
          </a:prstGeom>
          <a:noFill/>
          <a:ln w="6350">
            <a:solidFill>
              <a:srgbClr val="D7DEDB"/>
            </a:solidFill>
            <a:prstDash val="solid"/>
          </a:ln>
        </p:spPr>
      </p:sp>
      <p:sp>
        <p:nvSpPr>
          <p:cNvPr id="15" name="Shape 13"/>
          <p:cNvSpPr/>
          <p:nvPr/>
        </p:nvSpPr>
        <p:spPr>
          <a:xfrm>
            <a:off x="548640" y="2334971"/>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2334971"/>
            <a:ext cx="384048" cy="384048"/>
          </a:xfrm>
          <a:prstGeom prst="rect">
            <a:avLst/>
          </a:prstGeom>
          <a:noFill/>
          <a:ln/>
        </p:spPr>
        <p:txBody>
          <a:bodyPr wrap="square" lIns="0" tIns="0" rIns="0" bIns="0" rtlCol="0" anchor="ctr"/>
          <a:lstStyle/>
          <a:p>
            <a:pPr algn="ctr" indent="0" marL="0">
              <a:buNone/>
            </a:pPr>
            <a:r>
              <a:rPr lang="en-US" sz="1040" b="1" dirty="0">
                <a:solidFill>
                  <a:srgbClr val="FFFFFF"/>
                </a:solidFill>
                <a:latin typeface="Georgia" pitchFamily="34" charset="0"/>
                <a:ea typeface="Georgia" pitchFamily="34" charset="-122"/>
                <a:cs typeface="Georgia" pitchFamily="34" charset="-120"/>
              </a:rPr>
              <a:t>3</a:t>
            </a:r>
            <a:endParaRPr lang="en-US" sz="1040" dirty="0"/>
          </a:p>
        </p:txBody>
      </p:sp>
      <p:sp>
        <p:nvSpPr>
          <p:cNvPr id="17" name="Text 15"/>
          <p:cNvSpPr txBox="1"/>
          <p:nvPr/>
        </p:nvSpPr>
        <p:spPr>
          <a:xfrm>
            <a:off x="1097280" y="2307539"/>
            <a:ext cx="10543032" cy="221894"/>
          </a:xfrm>
          <a:prstGeom prst="rect">
            <a:avLst/>
          </a:prstGeom>
          <a:noFill/>
          <a:ln/>
        </p:spPr>
        <p:txBody>
          <a:bodyPr wrap="square" lIns="0" tIns="0" rIns="0" bIns="0" rtlCol="0" anchor="ctr"/>
          <a:lstStyle/>
          <a:p>
            <a:pPr indent="0" marL="0">
              <a:buNone/>
            </a:pPr>
            <a:r>
              <a:rPr lang="en-US" sz="960" b="1" dirty="0">
                <a:solidFill>
                  <a:srgbClr val="10283D"/>
                </a:solidFill>
                <a:latin typeface="Arial" pitchFamily="34" charset="0"/>
                <a:ea typeface="Arial" pitchFamily="34" charset="-122"/>
                <a:cs typeface="Arial" pitchFamily="34" charset="-120"/>
              </a:rPr>
              <a:t>Fine-tune</a:t>
            </a:r>
            <a:endParaRPr lang="en-US" sz="960" dirty="0"/>
          </a:p>
        </p:txBody>
      </p:sp>
      <p:sp>
        <p:nvSpPr>
          <p:cNvPr id="18" name="Text 16"/>
          <p:cNvSpPr txBox="1"/>
          <p:nvPr/>
        </p:nvSpPr>
        <p:spPr>
          <a:xfrm>
            <a:off x="1097280" y="2511146"/>
            <a:ext cx="10543032" cy="246075"/>
          </a:xfrm>
          <a:prstGeom prst="rect">
            <a:avLst/>
          </a:prstGeom>
          <a:noFill/>
          <a:ln/>
        </p:spPr>
        <p:txBody>
          <a:bodyPr wrap="square" lIns="0" tIns="0" rIns="0" bIns="0" rtlCol="0" anchor="t"/>
          <a:lstStyle/>
          <a:p>
            <a:pPr indent="0" marL="0">
              <a:buNone/>
            </a:pPr>
            <a:r>
              <a:rPr lang="en-US" sz="880" dirty="0">
                <a:solidFill>
                  <a:srgbClr val="1B2A36"/>
                </a:solidFill>
                <a:latin typeface="Arial" pitchFamily="34" charset="0"/>
                <a:ea typeface="Arial" pitchFamily="34" charset="-122"/>
                <a:cs typeface="Arial" pitchFamily="34" charset="-120"/>
              </a:rPr>
              <a:t>Isaac-GR00T finetune script on one GPU: action head (and optionally the VLM) updated; new checkpoint per task set</a:t>
            </a:r>
            <a:endParaRPr lang="en-US" sz="880" dirty="0"/>
          </a:p>
        </p:txBody>
      </p:sp>
      <p:sp>
        <p:nvSpPr>
          <p:cNvPr id="19" name="Shape 17"/>
          <p:cNvSpPr/>
          <p:nvPr/>
        </p:nvSpPr>
        <p:spPr>
          <a:xfrm>
            <a:off x="1097280" y="2738933"/>
            <a:ext cx="10543032" cy="0"/>
          </a:xfrm>
          <a:prstGeom prst="line">
            <a:avLst/>
          </a:prstGeom>
          <a:noFill/>
          <a:ln w="6350">
            <a:solidFill>
              <a:srgbClr val="D7DEDB"/>
            </a:solidFill>
            <a:prstDash val="solid"/>
          </a:ln>
        </p:spPr>
      </p:sp>
      <p:sp>
        <p:nvSpPr>
          <p:cNvPr id="20" name="Shape 18"/>
          <p:cNvSpPr/>
          <p:nvPr/>
        </p:nvSpPr>
        <p:spPr>
          <a:xfrm>
            <a:off x="548640" y="2802941"/>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2802941"/>
            <a:ext cx="384048" cy="384048"/>
          </a:xfrm>
          <a:prstGeom prst="rect">
            <a:avLst/>
          </a:prstGeom>
          <a:noFill/>
          <a:ln/>
        </p:spPr>
        <p:txBody>
          <a:bodyPr wrap="square" lIns="0" tIns="0" rIns="0" bIns="0" rtlCol="0" anchor="ctr"/>
          <a:lstStyle/>
          <a:p>
            <a:pPr algn="ctr" indent="0" marL="0">
              <a:buNone/>
            </a:pPr>
            <a:r>
              <a:rPr lang="en-US" sz="1040" b="1" dirty="0">
                <a:solidFill>
                  <a:srgbClr val="FFFFFF"/>
                </a:solidFill>
                <a:latin typeface="Georgia" pitchFamily="34" charset="0"/>
                <a:ea typeface="Georgia" pitchFamily="34" charset="-122"/>
                <a:cs typeface="Georgia" pitchFamily="34" charset="-120"/>
              </a:rPr>
              <a:t>4</a:t>
            </a:r>
            <a:endParaRPr lang="en-US" sz="1040" dirty="0"/>
          </a:p>
        </p:txBody>
      </p:sp>
      <p:sp>
        <p:nvSpPr>
          <p:cNvPr id="22" name="Text 20"/>
          <p:cNvSpPr txBox="1"/>
          <p:nvPr/>
        </p:nvSpPr>
        <p:spPr>
          <a:xfrm>
            <a:off x="1097280" y="2775509"/>
            <a:ext cx="10543032" cy="221894"/>
          </a:xfrm>
          <a:prstGeom prst="rect">
            <a:avLst/>
          </a:prstGeom>
          <a:noFill/>
          <a:ln/>
        </p:spPr>
        <p:txBody>
          <a:bodyPr wrap="square" lIns="0" tIns="0" rIns="0" bIns="0" rtlCol="0" anchor="ctr"/>
          <a:lstStyle/>
          <a:p>
            <a:pPr indent="0" marL="0">
              <a:buNone/>
            </a:pPr>
            <a:r>
              <a:rPr lang="en-US" sz="960" b="1" dirty="0">
                <a:solidFill>
                  <a:srgbClr val="10283D"/>
                </a:solidFill>
                <a:latin typeface="Arial" pitchFamily="34" charset="0"/>
                <a:ea typeface="Arial" pitchFamily="34" charset="-122"/>
                <a:cs typeface="Arial" pitchFamily="34" charset="-120"/>
              </a:rPr>
              <a:t>Deploy</a:t>
            </a:r>
            <a:endParaRPr lang="en-US" sz="960" dirty="0"/>
          </a:p>
        </p:txBody>
      </p:sp>
      <p:sp>
        <p:nvSpPr>
          <p:cNvPr id="23" name="Text 21"/>
          <p:cNvSpPr txBox="1"/>
          <p:nvPr/>
        </p:nvSpPr>
        <p:spPr>
          <a:xfrm>
            <a:off x="1097280" y="2979115"/>
            <a:ext cx="10543032" cy="246075"/>
          </a:xfrm>
          <a:prstGeom prst="rect">
            <a:avLst/>
          </a:prstGeom>
          <a:noFill/>
          <a:ln/>
        </p:spPr>
        <p:txBody>
          <a:bodyPr wrap="square" lIns="0" tIns="0" rIns="0" bIns="0" rtlCol="0" anchor="t"/>
          <a:lstStyle/>
          <a:p>
            <a:pPr indent="0" marL="0">
              <a:buNone/>
            </a:pPr>
            <a:r>
              <a:rPr lang="en-US" sz="880" dirty="0">
                <a:solidFill>
                  <a:srgbClr val="1B2A36"/>
                </a:solidFill>
                <a:latin typeface="Arial" pitchFamily="34" charset="0"/>
                <a:ea typeface="Arial" pitchFamily="34" charset="-122"/>
                <a:cs typeface="Arial" pitchFamily="34" charset="-120"/>
              </a:rPr>
              <a:t>Policy inference server on the workstation; client on the robot streams observations and executes action chunks</a:t>
            </a:r>
            <a:endParaRPr lang="en-US" sz="880" dirty="0"/>
          </a:p>
        </p:txBody>
      </p:sp>
      <p:sp>
        <p:nvSpPr>
          <p:cNvPr id="24" name="Shape 22"/>
          <p:cNvSpPr/>
          <p:nvPr/>
        </p:nvSpPr>
        <p:spPr>
          <a:xfrm>
            <a:off x="1097280" y="3206902"/>
            <a:ext cx="10543032" cy="0"/>
          </a:xfrm>
          <a:prstGeom prst="line">
            <a:avLst/>
          </a:prstGeom>
          <a:noFill/>
          <a:ln w="6350">
            <a:solidFill>
              <a:srgbClr val="D7DEDB"/>
            </a:solidFill>
            <a:prstDash val="solid"/>
          </a:ln>
        </p:spPr>
      </p:sp>
      <p:sp>
        <p:nvSpPr>
          <p:cNvPr id="25" name="Shape 23"/>
          <p:cNvSpPr/>
          <p:nvPr/>
        </p:nvSpPr>
        <p:spPr>
          <a:xfrm>
            <a:off x="548640" y="3270910"/>
            <a:ext cx="384048" cy="384048"/>
          </a:xfrm>
          <a:prstGeom prst="ellipse">
            <a:avLst/>
          </a:prstGeom>
          <a:solidFill>
            <a:srgbClr val="007F79"/>
          </a:solidFill>
          <a:ln w="12700">
            <a:solidFill>
              <a:srgbClr val="007F79"/>
            </a:solidFill>
            <a:prstDash val="solid"/>
          </a:ln>
        </p:spPr>
      </p:sp>
      <p:sp>
        <p:nvSpPr>
          <p:cNvPr id="26" name="Text 24"/>
          <p:cNvSpPr txBox="1"/>
          <p:nvPr/>
        </p:nvSpPr>
        <p:spPr>
          <a:xfrm>
            <a:off x="548640" y="3270910"/>
            <a:ext cx="384048" cy="384048"/>
          </a:xfrm>
          <a:prstGeom prst="rect">
            <a:avLst/>
          </a:prstGeom>
          <a:noFill/>
          <a:ln/>
        </p:spPr>
        <p:txBody>
          <a:bodyPr wrap="square" lIns="0" tIns="0" rIns="0" bIns="0" rtlCol="0" anchor="ctr"/>
          <a:lstStyle/>
          <a:p>
            <a:pPr algn="ctr" indent="0" marL="0">
              <a:buNone/>
            </a:pPr>
            <a:r>
              <a:rPr lang="en-US" sz="1040" b="1" dirty="0">
                <a:solidFill>
                  <a:srgbClr val="FFFFFF"/>
                </a:solidFill>
                <a:latin typeface="Georgia" pitchFamily="34" charset="0"/>
                <a:ea typeface="Georgia" pitchFamily="34" charset="-122"/>
                <a:cs typeface="Georgia" pitchFamily="34" charset="-120"/>
              </a:rPr>
              <a:t>5</a:t>
            </a:r>
            <a:endParaRPr lang="en-US" sz="1040" dirty="0"/>
          </a:p>
        </p:txBody>
      </p:sp>
      <p:sp>
        <p:nvSpPr>
          <p:cNvPr id="27" name="Text 25"/>
          <p:cNvSpPr txBox="1"/>
          <p:nvPr/>
        </p:nvSpPr>
        <p:spPr>
          <a:xfrm>
            <a:off x="1097280" y="3243478"/>
            <a:ext cx="10543032" cy="221894"/>
          </a:xfrm>
          <a:prstGeom prst="rect">
            <a:avLst/>
          </a:prstGeom>
          <a:noFill/>
          <a:ln/>
        </p:spPr>
        <p:txBody>
          <a:bodyPr wrap="square" lIns="0" tIns="0" rIns="0" bIns="0" rtlCol="0" anchor="ctr"/>
          <a:lstStyle/>
          <a:p>
            <a:pPr indent="0" marL="0">
              <a:buNone/>
            </a:pPr>
            <a:r>
              <a:rPr lang="en-US" sz="960" b="1" dirty="0">
                <a:solidFill>
                  <a:srgbClr val="10283D"/>
                </a:solidFill>
                <a:latin typeface="Arial" pitchFamily="34" charset="0"/>
                <a:ea typeface="Arial" pitchFamily="34" charset="-122"/>
                <a:cs typeface="Arial" pitchFamily="34" charset="-120"/>
              </a:rPr>
              <a:t>Evaluate</a:t>
            </a:r>
            <a:endParaRPr lang="en-US" sz="960" dirty="0"/>
          </a:p>
        </p:txBody>
      </p:sp>
      <p:sp>
        <p:nvSpPr>
          <p:cNvPr id="28" name="Text 26"/>
          <p:cNvSpPr txBox="1"/>
          <p:nvPr/>
        </p:nvSpPr>
        <p:spPr>
          <a:xfrm>
            <a:off x="1097280" y="3447085"/>
            <a:ext cx="10543032" cy="246075"/>
          </a:xfrm>
          <a:prstGeom prst="rect">
            <a:avLst/>
          </a:prstGeom>
          <a:noFill/>
          <a:ln/>
        </p:spPr>
        <p:txBody>
          <a:bodyPr wrap="square" lIns="0" tIns="0" rIns="0" bIns="0" rtlCol="0" anchor="t"/>
          <a:lstStyle/>
          <a:p>
            <a:pPr indent="0" marL="0">
              <a:buNone/>
            </a:pPr>
            <a:r>
              <a:rPr lang="en-US" sz="880" dirty="0">
                <a:solidFill>
                  <a:srgbClr val="1B2A36"/>
                </a:solidFill>
                <a:latin typeface="Arial" pitchFamily="34" charset="0"/>
                <a:ea typeface="Arial" pitchFamily="34" charset="-122"/>
                <a:cs typeface="Arial" pitchFamily="34" charset="-120"/>
              </a:rPr>
              <a:t>Same gateway, verifier and held-out conditions as the ICL rig — this is the strong "no-context" reference row</a:t>
            </a:r>
            <a:endParaRPr lang="en-US" sz="88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881933"/>
          <a:ext cx="11091672" cy="914400"/>
        </p:xfrm>
        <a:graphic>
          <a:graphicData uri="http://schemas.openxmlformats.org/drawingml/2006/table">
            <a:tbl>
              <a:tblPr/>
              <a:tblGrid>
                <a:gridCol w="2799020"/>
                <a:gridCol w="4414373"/>
                <a:gridCol w="3878279"/>
              </a:tblGrid>
              <a:tr h="384048">
                <a:tc>
                  <a:txBody>
                    <a:bodyPr/>
                    <a:lstStyle/>
                    <a:p>
                      <a:pPr indent="0" marL="0">
                        <a:buNone/>
                      </a:pP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840" b="1" dirty="0">
                          <a:solidFill>
                            <a:srgbClr val="FFFFFF"/>
                          </a:solidFill>
                          <a:latin typeface="Arial" pitchFamily="34" charset="0"/>
                          <a:ea typeface="Arial" pitchFamily="34" charset="-122"/>
                          <a:cs typeface="Arial" pitchFamily="34" charset="-120"/>
                        </a:rPr>
                        <a:t>GR00T fine-tuning</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840" b="1" dirty="0">
                          <a:solidFill>
                            <a:srgbClr val="FFFFFF"/>
                          </a:solidFill>
                          <a:latin typeface="Arial" pitchFamily="34" charset="0"/>
                          <a:ea typeface="Arial" pitchFamily="34" charset="-122"/>
                          <a:cs typeface="Arial" pitchFamily="34" charset="-120"/>
                        </a:rPr>
                        <a:t>In-context learning</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274320">
                <a:tc>
                  <a:txBody>
                    <a:bodyPr/>
                    <a:lstStyle/>
                    <a:p>
                      <a:pPr indent="0" marL="0">
                        <a:buNone/>
                      </a:pPr>
                      <a:r>
                        <a:rPr lang="en-US" sz="840" dirty="0">
                          <a:solidFill>
                            <a:srgbClr val="1B2A36"/>
                          </a:solidFill>
                          <a:latin typeface="Arial" pitchFamily="34" charset="0"/>
                          <a:ea typeface="Arial" pitchFamily="34" charset="-122"/>
                          <a:cs typeface="Arial" pitchFamily="34" charset="-120"/>
                        </a:rPr>
                        <a:t>New task variant costs</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Hundreds to ~1K teleop episodes + a training run + a new bundle</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1–20 demos placed in the prompt; weights unchanged</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274320">
                <a:tc>
                  <a:txBody>
                    <a:bodyPr/>
                    <a:lstStyle/>
                    <a:p>
                      <a:pPr indent="0" marL="0">
                        <a:buNone/>
                      </a:pPr>
                      <a:r>
                        <a:rPr lang="en-US" sz="840" dirty="0">
                          <a:solidFill>
                            <a:srgbClr val="1B2A36"/>
                          </a:solidFill>
                          <a:latin typeface="Arial" pitchFamily="34" charset="0"/>
                          <a:ea typeface="Arial" pitchFamily="34" charset="-122"/>
                          <a:cs typeface="Arial" pitchFamily="34" charset="-120"/>
                        </a:rPr>
                        <a:t>Time to first execution</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Hours (data + GPU) per task set</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Seconds after the demo is recorded</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274320">
                <a:tc>
                  <a:txBody>
                    <a:bodyPr/>
                    <a:lstStyle/>
                    <a:p>
                      <a:pPr indent="0" marL="0">
                        <a:buNone/>
                      </a:pPr>
                      <a:r>
                        <a:rPr lang="en-US" sz="840" dirty="0">
                          <a:solidFill>
                            <a:srgbClr val="1B2A36"/>
                          </a:solidFill>
                          <a:latin typeface="Arial" pitchFamily="34" charset="0"/>
                          <a:ea typeface="Arial" pitchFamily="34" charset="-122"/>
                          <a:cs typeface="Arial" pitchFamily="34" charset="-120"/>
                        </a:rPr>
                        <a:t>Evidence on a G1</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First-party support; vendor 98.8% on a narrow task, NVIDIA reference ~60–70%</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None published — our experiment would be the first</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274320">
                <a:tc>
                  <a:txBody>
                    <a:bodyPr/>
                    <a:lstStyle/>
                    <a:p>
                      <a:pPr indent="0" marL="0">
                        <a:buNone/>
                      </a:pPr>
                      <a:r>
                        <a:rPr lang="en-US" sz="840" dirty="0">
                          <a:solidFill>
                            <a:srgbClr val="1B2A36"/>
                          </a:solidFill>
                          <a:latin typeface="Arial" pitchFamily="34" charset="0"/>
                          <a:ea typeface="Arial" pitchFamily="34" charset="-122"/>
                          <a:cs typeface="Arial" pitchFamily="34" charset="-120"/>
                        </a:rPr>
                        <a:t>Licence / stack</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NVIDIA commercial; GR00T + LeRobot dependencies</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840" dirty="0">
                          <a:solidFill>
                            <a:srgbClr val="1B2A36"/>
                          </a:solidFill>
                          <a:latin typeface="Arial" pitchFamily="34" charset="0"/>
                          <a:ea typeface="Arial" pitchFamily="34" charset="-122"/>
                          <a:cs typeface="Arial" pitchFamily="34" charset="-120"/>
                        </a:rPr>
                        <a:t>Apache/MIT source (ICRT, BPP); bespoke policy, our data</a:t>
                      </a:r>
                      <a:endParaRPr lang="en-US" sz="840"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30" name="Shape 27"/>
          <p:cNvSpPr/>
          <p:nvPr/>
        </p:nvSpPr>
        <p:spPr>
          <a:xfrm>
            <a:off x="548640" y="5579466"/>
            <a:ext cx="11091672" cy="571805"/>
          </a:xfrm>
          <a:prstGeom prst="rect">
            <a:avLst/>
          </a:prstGeom>
          <a:solidFill>
            <a:srgbClr val="FBF1DC"/>
          </a:solidFill>
          <a:ln w="12700">
            <a:solidFill>
              <a:srgbClr val="FBF1DC"/>
            </a:solidFill>
            <a:prstDash val="solid"/>
          </a:ln>
        </p:spPr>
      </p:sp>
      <p:sp>
        <p:nvSpPr>
          <p:cNvPr id="31" name="Shape 28"/>
          <p:cNvSpPr/>
          <p:nvPr/>
        </p:nvSpPr>
        <p:spPr>
          <a:xfrm>
            <a:off x="548640" y="5579466"/>
            <a:ext cx="82296" cy="571805"/>
          </a:xfrm>
          <a:prstGeom prst="rect">
            <a:avLst/>
          </a:prstGeom>
          <a:solidFill>
            <a:srgbClr val="F3BD58"/>
          </a:solidFill>
          <a:ln w="12700">
            <a:solidFill>
              <a:srgbClr val="F3BD58"/>
            </a:solidFill>
            <a:prstDash val="solid"/>
          </a:ln>
        </p:spPr>
      </p:sp>
      <p:sp>
        <p:nvSpPr>
          <p:cNvPr id="32" name="Text 29"/>
          <p:cNvSpPr txBox="1"/>
          <p:nvPr/>
        </p:nvSpPr>
        <p:spPr>
          <a:xfrm>
            <a:off x="822960" y="5579466"/>
            <a:ext cx="10543032" cy="571805"/>
          </a:xfrm>
          <a:prstGeom prst="rect">
            <a:avLst/>
          </a:prstGeom>
          <a:noFill/>
          <a:ln/>
        </p:spPr>
        <p:txBody>
          <a:bodyPr wrap="square" lIns="0" tIns="0" rIns="0" bIns="0" rtlCol="0" anchor="ctr"/>
          <a:lstStyle/>
          <a:p>
            <a:pPr indent="0" marL="0">
              <a:buNone/>
            </a:pPr>
            <a:r>
              <a:rPr lang="en-US" sz="960" dirty="0">
                <a:solidFill>
                  <a:srgbClr val="10283D"/>
                </a:solidFill>
                <a:latin typeface="Arial" pitchFamily="34" charset="0"/>
                <a:ea typeface="Arial" pitchFamily="34" charset="-122"/>
                <a:cs typeface="Arial" pitchFamily="34" charset="-120"/>
              </a:rPr>
              <a:t>Comment: complementary, not competing. GR00T is the workhorse that gets a reliable cup grasp; ICL is the layer that removes the retrain step per variant. RICL shows a VLA does not gain ICL for free, so both need a recipe. Report GR00T fine-tuned on the same phase-2 data as the matched non-ICL baseline.</a:t>
            </a:r>
            <a:endParaRPr lang="en-US" sz="960" dirty="0"/>
          </a:p>
        </p:txBody>
      </p:sp>
      <p:sp>
        <p:nvSpPr>
          <p:cNvPr id="33" name="Text 30"/>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Isaac-GR00T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G1 teleop dataset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LeRobot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RICL</a:t>
            </a:r>
            <a:endParaRPr lang="en-US" sz="900" dirty="0"/>
          </a:p>
        </p:txBody>
      </p:sp>
      <p:sp>
        <p:nvSpPr>
          <p:cNvPr id="34" name="Text 31"/>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16 / 44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01 · ICL AND THE STATE OF THE ART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Open-source gate: audit the entire bundle</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11091672" cy="1453134"/>
          </a:xfrm>
          <a:prstGeom prst="rect">
            <a:avLst/>
          </a:prstGeom>
          <a:noFill/>
          <a:ln/>
        </p:spPr>
        <p:txBody>
          <a:bodyPr wrap="square" lIns="0" tIns="0" rIns="0" bIns="0" rtlCol="0" anchor="t"/>
          <a:lstStyle/>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Code license and exact commit</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Policy weights, base model, encoder and tokenizer rights</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Dataset and simulator-asset rights</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Runtime, preprocessing, normalization and artifact hashes</a:t>
            </a:r>
            <a:endParaRPr lang="en-US" sz="1725" dirty="0"/>
          </a:p>
        </p:txBody>
      </p:sp>
      <p:sp>
        <p:nvSpPr>
          <p:cNvPr id="6" name="Shape 4"/>
          <p:cNvSpPr/>
          <p:nvPr/>
        </p:nvSpPr>
        <p:spPr>
          <a:xfrm>
            <a:off x="548640" y="3099054"/>
            <a:ext cx="11091672" cy="530901"/>
          </a:xfrm>
          <a:prstGeom prst="rect">
            <a:avLst/>
          </a:prstGeom>
          <a:solidFill>
            <a:srgbClr val="FBF1DC"/>
          </a:solidFill>
          <a:ln w="12700">
            <a:solidFill>
              <a:srgbClr val="FBF1DC"/>
            </a:solidFill>
            <a:prstDash val="solid"/>
          </a:ln>
        </p:spPr>
      </p:sp>
      <p:sp>
        <p:nvSpPr>
          <p:cNvPr id="7" name="Shape 5"/>
          <p:cNvSpPr/>
          <p:nvPr/>
        </p:nvSpPr>
        <p:spPr>
          <a:xfrm>
            <a:off x="548640" y="3099054"/>
            <a:ext cx="82296" cy="530901"/>
          </a:xfrm>
          <a:prstGeom prst="rect">
            <a:avLst/>
          </a:prstGeom>
          <a:solidFill>
            <a:srgbClr val="F3BD58"/>
          </a:solidFill>
          <a:ln w="12700">
            <a:solidFill>
              <a:srgbClr val="F3BD58"/>
            </a:solidFill>
            <a:prstDash val="solid"/>
          </a:ln>
        </p:spPr>
      </p:sp>
      <p:sp>
        <p:nvSpPr>
          <p:cNvPr id="8" name="Text 6"/>
          <p:cNvSpPr txBox="1"/>
          <p:nvPr/>
        </p:nvSpPr>
        <p:spPr>
          <a:xfrm>
            <a:off x="822960" y="3099054"/>
            <a:ext cx="10543032" cy="53090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Public download ≠ open license. Unitree firmware sits outside the open application stack.</a:t>
            </a:r>
            <a:endParaRPr lang="en-US" sz="1656" dirty="0"/>
          </a:p>
        </p:txBody>
      </p:sp>
      <p:sp>
        <p:nvSpPr>
          <p:cNvPr id="9" name="Text 7"/>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0" name="Text 8"/>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17 / 44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Three real scenarios on our G1</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896064"/>
                <a:gridCol w="2881697"/>
                <a:gridCol w="3156956"/>
                <a:gridCol w="3156956"/>
              </a:tblGrid>
              <a:tr h="384048">
                <a:tc>
                  <a:txBody>
                    <a:bodyPr/>
                    <a:lstStyle/>
                    <a:p>
                      <a:pPr indent="0" marL="0">
                        <a:buNone/>
                      </a:pP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MimicDroid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BPP + iPhUMI</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GPT-6 Astra + ENPIRE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764964">
                <a:tc>
                  <a:txBody>
                    <a:bodyPr/>
                    <a:lstStyle/>
                    <a:p>
                      <a:pPr indent="0" marL="0">
                        <a:buNone/>
                      </a:pPr>
                      <a:r>
                        <a:rPr lang="en-US" sz="1449" dirty="0">
                          <a:solidFill>
                            <a:srgbClr val="1B2A36"/>
                          </a:solidFill>
                          <a:latin typeface="Arial" pitchFamily="34" charset="0"/>
                          <a:ea typeface="Arial" pitchFamily="34" charset="-122"/>
                          <a:cs typeface="Arial" pitchFamily="34" charset="-120"/>
                        </a:rPr>
                        <a:t>What the prompt is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Human play video: someone handles cups in front of a camera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 handheld iPhUMI demo (wrist RGB + 6-DoF pose) sent wirelessly to the policy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Demo video frames + live camera image in the model context; Astra writes/edits the cup skill script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989472">
                <a:tc>
                  <a:txBody>
                    <a:bodyPr/>
                    <a:lstStyle/>
                    <a:p>
                      <a:pPr indent="0" marL="0">
                        <a:buNone/>
                      </a:pPr>
                      <a:r>
                        <a:rPr lang="en-US" sz="1449" dirty="0">
                          <a:solidFill>
                            <a:srgbClr val="1B2A36"/>
                          </a:solidFill>
                          <a:latin typeface="Arial" pitchFamily="34" charset="0"/>
                          <a:ea typeface="Arial" pitchFamily="34" charset="-122"/>
                          <a:cs typeface="Arial" pitchFamily="34" charset="-120"/>
                        </a:rPr>
                        <a:t>What is pretrained today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Code, RoboCasa benchmark and dataset; </a:t>
                      </a:r>
                      <a:pPr indent="0" marL="0">
                        <a:buNone/>
                      </a:pPr>
                      <a:r>
                        <a:rPr lang="en-US" sz="1449" b="1" dirty="0">
                          <a:solidFill>
                            <a:srgbClr val="1B2A36"/>
                          </a:solidFill>
                          <a:latin typeface="Arial" pitchFamily="34" charset="0"/>
                          <a:ea typeface="Arial" pitchFamily="34" charset="-122"/>
                          <a:cs typeface="Arial" pitchFamily="34" charset="-120"/>
                        </a:rPr>
                        <a:t>no released G1 weights verified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MIT code, datasets and </a:t>
                      </a:r>
                      <a:pPr indent="0" marL="0">
                        <a:buNone/>
                      </a:pPr>
                      <a:r>
                        <a:rPr lang="en-US" sz="1449" b="1" dirty="0">
                          <a:solidFill>
                            <a:srgbClr val="1B2A36"/>
                          </a:solidFill>
                          <a:latin typeface="Arial" pitchFamily="34" charset="0"/>
                          <a:ea typeface="Arial" pitchFamily="34" charset="-122"/>
                          <a:cs typeface="Arial" pitchFamily="34" charset="-120"/>
                        </a:rPr>
                        <a:t>released checkpoints</a:t>
                      </a:r>
                      <a:pPr indent="0" marL="0">
                        <a:buNone/>
                      </a:pPr>
                      <a:r>
                        <a:rPr lang="en-US" sz="1449" dirty="0">
                          <a:solidFill>
                            <a:srgbClr val="1B2A36"/>
                          </a:solidFill>
                          <a:latin typeface="Arial" pitchFamily="34" charset="0"/>
                          <a:ea typeface="Arial" pitchFamily="34" charset="-122"/>
                          <a:cs typeface="Arial" pitchFamily="34" charset="-120"/>
                        </a:rPr>
                        <a:t> for UMI-style gripper policies; deployment stack included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Hosted frontier model via API; nothing to train; 19/20 block-in-bowl on YAM arms, 7/100 full completions on StationeryBench</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989472">
                <a:tc>
                  <a:txBody>
                    <a:bodyPr/>
                    <a:lstStyle/>
                    <a:p>
                      <a:pPr indent="0" marL="0">
                        <a:buNone/>
                      </a:pPr>
                      <a:r>
                        <a:rPr lang="en-US" sz="1449" dirty="0">
                          <a:solidFill>
                            <a:srgbClr val="1B2A36"/>
                          </a:solidFill>
                          <a:latin typeface="Arial" pitchFamily="34" charset="0"/>
                          <a:ea typeface="Arial" pitchFamily="34" charset="-122"/>
                          <a:cs typeface="Arial" pitchFamily="34" charset="-120"/>
                        </a:rPr>
                        <a:t>Day-one work on the G1</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Film play videos → train MimicDroid on them → wrist retargeting → deploy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Mount iPhUMI-matched wrist camera on the gripper; TCP-pose actions through the gateway; validate a released checkpoint on our cup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G1 adapter for ENPIRE; SAM3 + cuRobo tools; reset and verifier; Astra as the coding agent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Runs without training?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No</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Yes for a released checkpoint; new tasks may need our data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Yes — but each trial is minutes and every call is a paid API</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Open-source gate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Passes (code); weights would be ours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Passes (MIT)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b="1" dirty="0">
                          <a:solidFill>
                            <a:srgbClr val="1B2A36"/>
                          </a:solidFill>
                          <a:latin typeface="Arial" pitchFamily="34" charset="0"/>
                          <a:ea typeface="Arial" pitchFamily="34" charset="-122"/>
                          <a:cs typeface="Arial" pitchFamily="34" charset="-120"/>
                        </a:rPr>
                        <a:t>Fails</a:t>
                      </a:r>
                      <a:pPr indent="0" marL="0">
                        <a:buNone/>
                      </a:pPr>
                      <a:r>
                        <a:rPr lang="en-US" sz="1449" dirty="0">
                          <a:solidFill>
                            <a:srgbClr val="1B2A36"/>
                          </a:solidFill>
                          <a:latin typeface="Arial" pitchFamily="34" charset="0"/>
                          <a:ea typeface="Arial" pitchFamily="34" charset="-122"/>
                          <a:cs typeface="Arial" pitchFamily="34" charset="-120"/>
                        </a:rPr>
                        <a:t>: proprietary model, unavailable offline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Text 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BPP</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iPhUMI</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GPT-6 Astra</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Robocurve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ENPIRE</a:t>
            </a:r>
            <a:endParaRPr lang="en-US" sz="900" dirty="0"/>
          </a:p>
        </p:txBody>
      </p:sp>
      <p:sp>
        <p:nvSpPr>
          <p:cNvPr id="7"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18 / 44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Leaning toward pretrained weights and video-as-demo</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1</a:t>
            </a:r>
            <a:endParaRPr lang="en-US" sz="1794" dirty="0"/>
          </a:p>
        </p:txBody>
      </p:sp>
      <p:sp>
        <p:nvSpPr>
          <p:cNvPr id="7" name="Text 5"/>
          <p:cNvSpPr txBox="1"/>
          <p:nvPr/>
        </p:nvSpPr>
        <p:spPr>
          <a:xfrm>
            <a:off x="1097280" y="137160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Week 1–2 · Astra + ENPIRE</a:t>
            </a:r>
            <a:endParaRPr lang="en-US" sz="1656" dirty="0"/>
          </a:p>
        </p:txBody>
      </p:sp>
      <p:sp>
        <p:nvSpPr>
          <p:cNvPr id="8" name="Text 6"/>
          <p:cNvSpPr txBox="1"/>
          <p:nvPr/>
        </p:nvSpPr>
        <p:spPr>
          <a:xfrm>
            <a:off x="1097280" y="1683045"/>
            <a:ext cx="10543032" cy="488686"/>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Fastest first result: no training, demo videos in context, ENPIRE reset/verify loop hill-climbs a code-as-policy cup skill. Gives us the gateway, reset and verifier we need anyway.</a:t>
            </a:r>
            <a:endParaRPr lang="en-US" sz="1518" dirty="0"/>
          </a:p>
        </p:txBody>
      </p:sp>
      <p:sp>
        <p:nvSpPr>
          <p:cNvPr id="9" name="Shape 7"/>
          <p:cNvSpPr/>
          <p:nvPr/>
        </p:nvSpPr>
        <p:spPr>
          <a:xfrm>
            <a:off x="1097280" y="2153442"/>
            <a:ext cx="10543032" cy="0"/>
          </a:xfrm>
          <a:prstGeom prst="line">
            <a:avLst/>
          </a:prstGeom>
          <a:noFill/>
          <a:ln w="6350">
            <a:solidFill>
              <a:srgbClr val="D7DEDB"/>
            </a:solidFill>
            <a:prstDash val="solid"/>
          </a:ln>
        </p:spPr>
      </p:sp>
      <p:sp>
        <p:nvSpPr>
          <p:cNvPr id="10" name="Shape 8"/>
          <p:cNvSpPr/>
          <p:nvPr/>
        </p:nvSpPr>
        <p:spPr>
          <a:xfrm>
            <a:off x="548640" y="2217450"/>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2217450"/>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2</a:t>
            </a:r>
            <a:endParaRPr lang="en-US" sz="1794" dirty="0"/>
          </a:p>
        </p:txBody>
      </p:sp>
      <p:sp>
        <p:nvSpPr>
          <p:cNvPr id="12" name="Text 10"/>
          <p:cNvSpPr txBox="1"/>
          <p:nvPr/>
        </p:nvSpPr>
        <p:spPr>
          <a:xfrm>
            <a:off x="1097280" y="2190018"/>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Week 2–5 · BPP checkpoint</a:t>
            </a:r>
            <a:endParaRPr lang="en-US" sz="1656" dirty="0"/>
          </a:p>
        </p:txBody>
      </p:sp>
      <p:sp>
        <p:nvSpPr>
          <p:cNvPr id="13" name="Text 11"/>
          <p:cNvSpPr txBox="1"/>
          <p:nvPr/>
        </p:nvSpPr>
        <p:spPr>
          <a:xfrm>
            <a:off x="1097280" y="2501463"/>
            <a:ext cx="10543032" cy="488686"/>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Deploy a released BPP checkpoint with an iPhUMI prompt on the G1 gripper; if it grasps our cup, we have frozen-weight ICL on day one. If not, fine-tune on our iPhUMI data — still no teleop.</a:t>
            </a:r>
            <a:endParaRPr lang="en-US" sz="1518" dirty="0"/>
          </a:p>
        </p:txBody>
      </p:sp>
      <p:sp>
        <p:nvSpPr>
          <p:cNvPr id="14" name="Shape 12"/>
          <p:cNvSpPr/>
          <p:nvPr/>
        </p:nvSpPr>
        <p:spPr>
          <a:xfrm>
            <a:off x="1097280" y="2971861"/>
            <a:ext cx="10543032" cy="0"/>
          </a:xfrm>
          <a:prstGeom prst="line">
            <a:avLst/>
          </a:prstGeom>
          <a:noFill/>
          <a:ln w="6350">
            <a:solidFill>
              <a:srgbClr val="D7DEDB"/>
            </a:solidFill>
            <a:prstDash val="solid"/>
          </a:ln>
        </p:spPr>
      </p:sp>
      <p:sp>
        <p:nvSpPr>
          <p:cNvPr id="15" name="Shape 13"/>
          <p:cNvSpPr/>
          <p:nvPr/>
        </p:nvSpPr>
        <p:spPr>
          <a:xfrm>
            <a:off x="548640" y="3035869"/>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3035869"/>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3</a:t>
            </a:r>
            <a:endParaRPr lang="en-US" sz="1794" dirty="0"/>
          </a:p>
        </p:txBody>
      </p:sp>
      <p:sp>
        <p:nvSpPr>
          <p:cNvPr id="17" name="Text 15"/>
          <p:cNvSpPr txBox="1"/>
          <p:nvPr/>
        </p:nvSpPr>
        <p:spPr>
          <a:xfrm>
            <a:off x="1097280" y="3008437"/>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Week 6+ · MimicDroid</a:t>
            </a:r>
            <a:endParaRPr lang="en-US" sz="1656" dirty="0"/>
          </a:p>
        </p:txBody>
      </p:sp>
      <p:sp>
        <p:nvSpPr>
          <p:cNvPr id="18" name="Text 16"/>
          <p:cNvSpPr txBox="1"/>
          <p:nvPr/>
        </p:nvSpPr>
        <p:spPr>
          <a:xfrm>
            <a:off x="1097280" y="3319882"/>
            <a:ext cx="10543032" cy="488686"/>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Train from human play videos once the rig, verifier and cup dataset exist; the only route whose prompt is a plain video of a person.</a:t>
            </a:r>
            <a:endParaRPr lang="en-US" sz="1518" dirty="0"/>
          </a:p>
        </p:txBody>
      </p:sp>
      <p:sp>
        <p:nvSpPr>
          <p:cNvPr id="19" name="Shape 17"/>
          <p:cNvSpPr/>
          <p:nvPr/>
        </p:nvSpPr>
        <p:spPr>
          <a:xfrm>
            <a:off x="1097280" y="3790279"/>
            <a:ext cx="10543032" cy="0"/>
          </a:xfrm>
          <a:prstGeom prst="line">
            <a:avLst/>
          </a:prstGeom>
          <a:noFill/>
          <a:ln w="6350">
            <a:solidFill>
              <a:srgbClr val="D7DEDB"/>
            </a:solidFill>
            <a:prstDash val="solid"/>
          </a:ln>
        </p:spPr>
      </p:sp>
      <p:sp>
        <p:nvSpPr>
          <p:cNvPr id="20" name="Shape 18"/>
          <p:cNvSpPr/>
          <p:nvPr/>
        </p:nvSpPr>
        <p:spPr>
          <a:xfrm>
            <a:off x="548640" y="3854287"/>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3854287"/>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4</a:t>
            </a:r>
            <a:endParaRPr lang="en-US" sz="1794" dirty="0"/>
          </a:p>
        </p:txBody>
      </p:sp>
      <p:sp>
        <p:nvSpPr>
          <p:cNvPr id="22" name="Text 20"/>
          <p:cNvSpPr txBox="1"/>
          <p:nvPr/>
        </p:nvSpPr>
        <p:spPr>
          <a:xfrm>
            <a:off x="1097280" y="3826855"/>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Fallback · ICRT / GR00T</a:t>
            </a:r>
            <a:endParaRPr lang="en-US" sz="1656" dirty="0"/>
          </a:p>
        </p:txBody>
      </p:sp>
      <p:sp>
        <p:nvSpPr>
          <p:cNvPr id="23" name="Text 21"/>
          <p:cNvSpPr txBox="1"/>
          <p:nvPr/>
        </p:nvSpPr>
        <p:spPr>
          <a:xfrm>
            <a:off x="1097280" y="4138300"/>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ICRT if BPP's action space cannot be mapped to the G1; GR00T fine-tune as the matched non-ICL baseline.</a:t>
            </a:r>
            <a:endParaRPr lang="en-US" sz="1518" dirty="0"/>
          </a:p>
        </p:txBody>
      </p:sp>
      <p:sp>
        <p:nvSpPr>
          <p:cNvPr id="24" name="Shape 22"/>
          <p:cNvSpPr/>
          <p:nvPr/>
        </p:nvSpPr>
        <p:spPr>
          <a:xfrm>
            <a:off x="548640" y="4821555"/>
            <a:ext cx="11091672" cy="1044062"/>
          </a:xfrm>
          <a:prstGeom prst="rect">
            <a:avLst/>
          </a:prstGeom>
          <a:solidFill>
            <a:srgbClr val="FBF1DC"/>
          </a:solidFill>
          <a:ln w="12700">
            <a:solidFill>
              <a:srgbClr val="FBF1DC"/>
            </a:solidFill>
            <a:prstDash val="solid"/>
          </a:ln>
        </p:spPr>
      </p:sp>
      <p:sp>
        <p:nvSpPr>
          <p:cNvPr id="25" name="Shape 23"/>
          <p:cNvSpPr/>
          <p:nvPr/>
        </p:nvSpPr>
        <p:spPr>
          <a:xfrm>
            <a:off x="548640" y="4821555"/>
            <a:ext cx="82296" cy="1044062"/>
          </a:xfrm>
          <a:prstGeom prst="rect">
            <a:avLst/>
          </a:prstGeom>
          <a:solidFill>
            <a:srgbClr val="F3BD58"/>
          </a:solidFill>
          <a:ln w="12700">
            <a:solidFill>
              <a:srgbClr val="F3BD58"/>
            </a:solidFill>
            <a:prstDash val="solid"/>
          </a:ln>
        </p:spPr>
      </p:sp>
      <p:sp>
        <p:nvSpPr>
          <p:cNvPr id="26" name="Text 24"/>
          <p:cNvSpPr txBox="1"/>
          <p:nvPr/>
        </p:nvSpPr>
        <p:spPr>
          <a:xfrm>
            <a:off x="822960" y="4821555"/>
            <a:ext cx="10543032" cy="1044062"/>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Trade-off to say out loud: the fastest route (Astra) fails the open-source gate; the open routes need either a checkpoint that transfers (BPP) or a training run (MimicDroid). Run Astra as a scaffold, not as the reported ICL result.</a:t>
            </a:r>
            <a:endParaRPr lang="en-US" sz="1656" dirty="0"/>
          </a:p>
        </p:txBody>
      </p:sp>
      <p:sp>
        <p:nvSpPr>
          <p:cNvPr id="27" name="Text 2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BPP</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GMP cup checkpoint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ENPIRE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MimicDroid</a:t>
            </a:r>
            <a:endParaRPr lang="en-US" sz="900" dirty="0"/>
          </a:p>
        </p:txBody>
      </p:sp>
      <p:sp>
        <p:nvSpPr>
          <p:cNvPr id="28" name="Text 2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19 / 44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BPP + iPhUMI on the G1, step by step</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352" b="1" dirty="0">
                <a:solidFill>
                  <a:srgbClr val="FFFFFF"/>
                </a:solidFill>
                <a:latin typeface="Georgia" pitchFamily="34" charset="0"/>
                <a:ea typeface="Georgia" pitchFamily="34" charset="-122"/>
                <a:cs typeface="Georgia" pitchFamily="34" charset="-120"/>
              </a:rPr>
              <a:t>1</a:t>
            </a:r>
            <a:endParaRPr lang="en-US" sz="1352" dirty="0"/>
          </a:p>
        </p:txBody>
      </p:sp>
      <p:sp>
        <p:nvSpPr>
          <p:cNvPr id="7" name="Text 5"/>
          <p:cNvSpPr txBox="1"/>
          <p:nvPr/>
        </p:nvSpPr>
        <p:spPr>
          <a:xfrm>
            <a:off x="1097280" y="1371600"/>
            <a:ext cx="10543032" cy="266517"/>
          </a:xfrm>
          <a:prstGeom prst="rect">
            <a:avLst/>
          </a:prstGeom>
          <a:noFill/>
          <a:ln/>
        </p:spPr>
        <p:txBody>
          <a:bodyPr wrap="square" lIns="0" tIns="0" rIns="0" bIns="0" rtlCol="0" anchor="ctr"/>
          <a:lstStyle/>
          <a:p>
            <a:pPr indent="0" marL="0">
              <a:buNone/>
            </a:pPr>
            <a:r>
              <a:rPr lang="en-US" sz="1248" b="1" dirty="0">
                <a:solidFill>
                  <a:srgbClr val="10283D"/>
                </a:solidFill>
                <a:latin typeface="Arial" pitchFamily="34" charset="0"/>
                <a:ea typeface="Arial" pitchFamily="34" charset="-122"/>
                <a:cs typeface="Arial" pitchFamily="34" charset="-120"/>
              </a:rPr>
              <a:t>Record prompt</a:t>
            </a:r>
            <a:endParaRPr lang="en-US" sz="1248" dirty="0"/>
          </a:p>
        </p:txBody>
      </p:sp>
      <p:sp>
        <p:nvSpPr>
          <p:cNvPr id="8" name="Text 6"/>
          <p:cNvSpPr txBox="1"/>
          <p:nvPr/>
        </p:nvSpPr>
        <p:spPr>
          <a:xfrm>
            <a:off x="1097280" y="1619829"/>
            <a:ext cx="10543032" cy="372791"/>
          </a:xfrm>
          <a:prstGeom prst="rect">
            <a:avLst/>
          </a:prstGeom>
          <a:noFill/>
          <a:ln/>
        </p:spPr>
        <p:txBody>
          <a:bodyPr wrap="square" lIns="0" tIns="0" rIns="0" bIns="0" rtlCol="0" anchor="t"/>
          <a:lstStyle/>
          <a:p>
            <a:pPr indent="0" marL="0">
              <a:buNone/>
            </a:pPr>
            <a:r>
              <a:rPr lang="en-US" sz="1144" dirty="0">
                <a:solidFill>
                  <a:srgbClr val="1B2A36"/>
                </a:solidFill>
                <a:latin typeface="Arial" pitchFamily="34" charset="0"/>
                <a:ea typeface="Arial" pitchFamily="34" charset="-122"/>
                <a:cs typeface="Arial" pitchFamily="34" charset="-120"/>
              </a:rPr>
              <a:t>One handheld iPhUMI demo of cup → coaster, no robot: wrist RGB 60 Hz, ARKit 6-DoF pose, gripper width via finger tags. One-time width calibration.</a:t>
            </a:r>
            <a:endParaRPr lang="en-US" sz="1144" dirty="0"/>
          </a:p>
        </p:txBody>
      </p:sp>
      <p:sp>
        <p:nvSpPr>
          <p:cNvPr id="9" name="Shape 7"/>
          <p:cNvSpPr/>
          <p:nvPr/>
        </p:nvSpPr>
        <p:spPr>
          <a:xfrm>
            <a:off x="1097280" y="1974332"/>
            <a:ext cx="10543032" cy="0"/>
          </a:xfrm>
          <a:prstGeom prst="line">
            <a:avLst/>
          </a:prstGeom>
          <a:noFill/>
          <a:ln w="6350">
            <a:solidFill>
              <a:srgbClr val="D7DEDB"/>
            </a:solidFill>
            <a:prstDash val="solid"/>
          </a:ln>
        </p:spPr>
      </p:sp>
      <p:sp>
        <p:nvSpPr>
          <p:cNvPr id="10" name="Shape 8"/>
          <p:cNvSpPr/>
          <p:nvPr/>
        </p:nvSpPr>
        <p:spPr>
          <a:xfrm>
            <a:off x="548640" y="2038340"/>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2038340"/>
            <a:ext cx="384048" cy="384048"/>
          </a:xfrm>
          <a:prstGeom prst="rect">
            <a:avLst/>
          </a:prstGeom>
          <a:noFill/>
          <a:ln/>
        </p:spPr>
        <p:txBody>
          <a:bodyPr wrap="square" lIns="0" tIns="0" rIns="0" bIns="0" rtlCol="0" anchor="ctr"/>
          <a:lstStyle/>
          <a:p>
            <a:pPr algn="ctr" indent="0" marL="0">
              <a:buNone/>
            </a:pPr>
            <a:r>
              <a:rPr lang="en-US" sz="1352" b="1" dirty="0">
                <a:solidFill>
                  <a:srgbClr val="FFFFFF"/>
                </a:solidFill>
                <a:latin typeface="Georgia" pitchFamily="34" charset="0"/>
                <a:ea typeface="Georgia" pitchFamily="34" charset="-122"/>
                <a:cs typeface="Georgia" pitchFamily="34" charset="-120"/>
              </a:rPr>
              <a:t>2</a:t>
            </a:r>
            <a:endParaRPr lang="en-US" sz="1352" dirty="0"/>
          </a:p>
        </p:txBody>
      </p:sp>
      <p:sp>
        <p:nvSpPr>
          <p:cNvPr id="12" name="Text 10"/>
          <p:cNvSpPr txBox="1"/>
          <p:nvPr/>
        </p:nvSpPr>
        <p:spPr>
          <a:xfrm>
            <a:off x="1097280" y="2010908"/>
            <a:ext cx="10543032" cy="266517"/>
          </a:xfrm>
          <a:prstGeom prst="rect">
            <a:avLst/>
          </a:prstGeom>
          <a:noFill/>
          <a:ln/>
        </p:spPr>
        <p:txBody>
          <a:bodyPr wrap="square" lIns="0" tIns="0" rIns="0" bIns="0" rtlCol="0" anchor="ctr"/>
          <a:lstStyle/>
          <a:p>
            <a:pPr indent="0" marL="0">
              <a:buNone/>
            </a:pPr>
            <a:r>
              <a:rPr lang="en-US" sz="1248" b="1" dirty="0">
                <a:solidFill>
                  <a:srgbClr val="10283D"/>
                </a:solidFill>
                <a:latin typeface="Arial" pitchFamily="34" charset="0"/>
                <a:ea typeface="Arial" pitchFamily="34" charset="-122"/>
                <a:cs typeface="Arial" pitchFamily="34" charset="-120"/>
              </a:rPr>
              <a:t>Build prompt</a:t>
            </a:r>
            <a:endParaRPr lang="en-US" sz="1248" dirty="0"/>
          </a:p>
        </p:txBody>
      </p:sp>
      <p:sp>
        <p:nvSpPr>
          <p:cNvPr id="13" name="Text 11"/>
          <p:cNvSpPr txBox="1"/>
          <p:nvPr/>
        </p:nvSpPr>
        <p:spPr>
          <a:xfrm>
            <a:off x="1097280" y="2259137"/>
            <a:ext cx="10543032" cy="372791"/>
          </a:xfrm>
          <a:prstGeom prst="rect">
            <a:avLst/>
          </a:prstGeom>
          <a:noFill/>
          <a:ln/>
        </p:spPr>
        <p:txBody>
          <a:bodyPr wrap="square" lIns="0" tIns="0" rIns="0" bIns="0" rtlCol="0" anchor="t"/>
          <a:lstStyle/>
          <a:p>
            <a:pPr indent="0" marL="0">
              <a:buNone/>
            </a:pPr>
            <a:r>
              <a:rPr lang="en-US" sz="1144" dirty="0">
                <a:solidFill>
                  <a:srgbClr val="1B2A36"/>
                </a:solidFill>
                <a:latin typeface="Arial" pitchFamily="34" charset="0"/>
                <a:ea typeface="Arial" pitchFamily="34" charset="-122"/>
                <a:cs typeface="Arial" pitchFamily="34" charset="-120"/>
              </a:rPr>
              <a:t>Convert to sensorimotor data (wrist frame, EE pose + width, relative-EE actions). Downsample obs/proprio to ~1 Hz, keep actions at full rate, attention-pool each chunk → P = [p₀…pₙ]; cache once per rollout.</a:t>
            </a:r>
            <a:endParaRPr lang="en-US" sz="1144" dirty="0"/>
          </a:p>
        </p:txBody>
      </p:sp>
      <p:sp>
        <p:nvSpPr>
          <p:cNvPr id="14" name="Shape 12"/>
          <p:cNvSpPr/>
          <p:nvPr/>
        </p:nvSpPr>
        <p:spPr>
          <a:xfrm>
            <a:off x="1097280" y="2613640"/>
            <a:ext cx="10543032" cy="0"/>
          </a:xfrm>
          <a:prstGeom prst="line">
            <a:avLst/>
          </a:prstGeom>
          <a:noFill/>
          <a:ln w="6350">
            <a:solidFill>
              <a:srgbClr val="D7DEDB"/>
            </a:solidFill>
            <a:prstDash val="solid"/>
          </a:ln>
        </p:spPr>
      </p:sp>
      <p:sp>
        <p:nvSpPr>
          <p:cNvPr id="15" name="Shape 13"/>
          <p:cNvSpPr/>
          <p:nvPr/>
        </p:nvSpPr>
        <p:spPr>
          <a:xfrm>
            <a:off x="548640" y="2677648"/>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2677648"/>
            <a:ext cx="384048" cy="384048"/>
          </a:xfrm>
          <a:prstGeom prst="rect">
            <a:avLst/>
          </a:prstGeom>
          <a:noFill/>
          <a:ln/>
        </p:spPr>
        <p:txBody>
          <a:bodyPr wrap="square" lIns="0" tIns="0" rIns="0" bIns="0" rtlCol="0" anchor="ctr"/>
          <a:lstStyle/>
          <a:p>
            <a:pPr algn="ctr" indent="0" marL="0">
              <a:buNone/>
            </a:pPr>
            <a:r>
              <a:rPr lang="en-US" sz="1352" b="1" dirty="0">
                <a:solidFill>
                  <a:srgbClr val="FFFFFF"/>
                </a:solidFill>
                <a:latin typeface="Georgia" pitchFamily="34" charset="0"/>
                <a:ea typeface="Georgia" pitchFamily="34" charset="-122"/>
                <a:cs typeface="Georgia" pitchFamily="34" charset="-120"/>
              </a:rPr>
              <a:t>3</a:t>
            </a:r>
            <a:endParaRPr lang="en-US" sz="1352" dirty="0"/>
          </a:p>
        </p:txBody>
      </p:sp>
      <p:sp>
        <p:nvSpPr>
          <p:cNvPr id="17" name="Text 15"/>
          <p:cNvSpPr txBox="1"/>
          <p:nvPr/>
        </p:nvSpPr>
        <p:spPr>
          <a:xfrm>
            <a:off x="1097280" y="2650216"/>
            <a:ext cx="10543032" cy="266517"/>
          </a:xfrm>
          <a:prstGeom prst="rect">
            <a:avLst/>
          </a:prstGeom>
          <a:noFill/>
          <a:ln/>
        </p:spPr>
        <p:txBody>
          <a:bodyPr wrap="square" lIns="0" tIns="0" rIns="0" bIns="0" rtlCol="0" anchor="ctr"/>
          <a:lstStyle/>
          <a:p>
            <a:pPr indent="0" marL="0">
              <a:buNone/>
            </a:pPr>
            <a:r>
              <a:rPr lang="en-US" sz="1248" b="1" dirty="0">
                <a:solidFill>
                  <a:srgbClr val="10283D"/>
                </a:solidFill>
                <a:latin typeface="Arial" pitchFamily="34" charset="0"/>
                <a:ea typeface="Arial" pitchFamily="34" charset="-122"/>
                <a:cs typeface="Arial" pitchFamily="34" charset="-120"/>
              </a:rPr>
              <a:t>Match the eyes</a:t>
            </a:r>
            <a:endParaRPr lang="en-US" sz="1248" dirty="0"/>
          </a:p>
        </p:txBody>
      </p:sp>
      <p:sp>
        <p:nvSpPr>
          <p:cNvPr id="18" name="Text 16"/>
          <p:cNvSpPr txBox="1"/>
          <p:nvPr/>
        </p:nvSpPr>
        <p:spPr>
          <a:xfrm>
            <a:off x="1097280" y="2898445"/>
            <a:ext cx="10543032" cy="286979"/>
          </a:xfrm>
          <a:prstGeom prst="rect">
            <a:avLst/>
          </a:prstGeom>
          <a:noFill/>
          <a:ln/>
        </p:spPr>
        <p:txBody>
          <a:bodyPr wrap="square" lIns="0" tIns="0" rIns="0" bIns="0" rtlCol="0" anchor="t"/>
          <a:lstStyle/>
          <a:p>
            <a:pPr indent="0" marL="0">
              <a:buNone/>
            </a:pPr>
            <a:r>
              <a:rPr lang="en-US" sz="1144" dirty="0">
                <a:solidFill>
                  <a:srgbClr val="1B2A36"/>
                </a:solidFill>
                <a:latin typeface="Arial" pitchFamily="34" charset="0"/>
                <a:ea typeface="Arial" pitchFamily="34" charset="-122"/>
                <a:cs typeface="Arial" pitchFamily="34" charset="-120"/>
              </a:rPr>
              <a:t>iPhone (or camera at the iPhUMI offset) on the G1 parallel gripper, streamed as the wrist camera; gripper width calibrated to the same scalar.</a:t>
            </a:r>
            <a:endParaRPr lang="en-US" sz="1144" dirty="0"/>
          </a:p>
        </p:txBody>
      </p:sp>
      <p:sp>
        <p:nvSpPr>
          <p:cNvPr id="19" name="Shape 17"/>
          <p:cNvSpPr/>
          <p:nvPr/>
        </p:nvSpPr>
        <p:spPr>
          <a:xfrm>
            <a:off x="1097280" y="3167136"/>
            <a:ext cx="10543032" cy="0"/>
          </a:xfrm>
          <a:prstGeom prst="line">
            <a:avLst/>
          </a:prstGeom>
          <a:noFill/>
          <a:ln w="6350">
            <a:solidFill>
              <a:srgbClr val="D7DEDB"/>
            </a:solidFill>
            <a:prstDash val="solid"/>
          </a:ln>
        </p:spPr>
      </p:sp>
      <p:sp>
        <p:nvSpPr>
          <p:cNvPr id="20" name="Shape 18"/>
          <p:cNvSpPr/>
          <p:nvPr/>
        </p:nvSpPr>
        <p:spPr>
          <a:xfrm>
            <a:off x="548640" y="3231144"/>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3231144"/>
            <a:ext cx="384048" cy="384048"/>
          </a:xfrm>
          <a:prstGeom prst="rect">
            <a:avLst/>
          </a:prstGeom>
          <a:noFill/>
          <a:ln/>
        </p:spPr>
        <p:txBody>
          <a:bodyPr wrap="square" lIns="0" tIns="0" rIns="0" bIns="0" rtlCol="0" anchor="ctr"/>
          <a:lstStyle/>
          <a:p>
            <a:pPr algn="ctr" indent="0" marL="0">
              <a:buNone/>
            </a:pPr>
            <a:r>
              <a:rPr lang="en-US" sz="1352" b="1" dirty="0">
                <a:solidFill>
                  <a:srgbClr val="FFFFFF"/>
                </a:solidFill>
                <a:latin typeface="Georgia" pitchFamily="34" charset="0"/>
                <a:ea typeface="Georgia" pitchFamily="34" charset="-122"/>
                <a:cs typeface="Georgia" pitchFamily="34" charset="-120"/>
              </a:rPr>
              <a:t>4</a:t>
            </a:r>
            <a:endParaRPr lang="en-US" sz="1352" dirty="0"/>
          </a:p>
        </p:txBody>
      </p:sp>
      <p:sp>
        <p:nvSpPr>
          <p:cNvPr id="22" name="Text 20"/>
          <p:cNvSpPr txBox="1"/>
          <p:nvPr/>
        </p:nvSpPr>
        <p:spPr>
          <a:xfrm>
            <a:off x="1097280" y="3203712"/>
            <a:ext cx="10543032" cy="266517"/>
          </a:xfrm>
          <a:prstGeom prst="rect">
            <a:avLst/>
          </a:prstGeom>
          <a:noFill/>
          <a:ln/>
        </p:spPr>
        <p:txBody>
          <a:bodyPr wrap="square" lIns="0" tIns="0" rIns="0" bIns="0" rtlCol="0" anchor="ctr"/>
          <a:lstStyle/>
          <a:p>
            <a:pPr indent="0" marL="0">
              <a:buNone/>
            </a:pPr>
            <a:r>
              <a:rPr lang="en-US" sz="1248" b="1" dirty="0">
                <a:solidFill>
                  <a:srgbClr val="10283D"/>
                </a:solidFill>
                <a:latin typeface="Arial" pitchFamily="34" charset="0"/>
                <a:ea typeface="Arial" pitchFamily="34" charset="-122"/>
                <a:cs typeface="Arial" pitchFamily="34" charset="-120"/>
              </a:rPr>
              <a:t>Infer</a:t>
            </a:r>
            <a:endParaRPr lang="en-US" sz="1248" dirty="0"/>
          </a:p>
        </p:txBody>
      </p:sp>
      <p:sp>
        <p:nvSpPr>
          <p:cNvPr id="23" name="Text 21"/>
          <p:cNvSpPr txBox="1"/>
          <p:nvPr/>
        </p:nvSpPr>
        <p:spPr>
          <a:xfrm>
            <a:off x="1097280" y="3451941"/>
            <a:ext cx="10543032" cy="372791"/>
          </a:xfrm>
          <a:prstGeom prst="rect">
            <a:avLst/>
          </a:prstGeom>
          <a:noFill/>
          <a:ln/>
        </p:spPr>
        <p:txBody>
          <a:bodyPr wrap="square" lIns="0" tIns="0" rIns="0" bIns="0" rtlCol="0" anchor="t"/>
          <a:lstStyle/>
          <a:p>
            <a:pPr indent="0" marL="0">
              <a:buNone/>
            </a:pPr>
            <a:r>
              <a:rPr lang="en-US" sz="1144" dirty="0">
                <a:solidFill>
                  <a:srgbClr val="1B2A36"/>
                </a:solidFill>
                <a:latin typeface="Arial" pitchFamily="34" charset="0"/>
                <a:ea typeface="Arial" pitchFamily="34" charset="-122"/>
                <a:cs typeface="Arial" pitchFamily="34" charset="-120"/>
              </a:rPr>
              <a:t>Prompt encoder cross-attends the current observation to P; diffusion U-Net decodes a chunk of [Δpose, width] relative to the current EE pose. Gateway does IK, reach and collision checks, executes a short prefix.</a:t>
            </a:r>
            <a:endParaRPr lang="en-US" sz="1144" dirty="0"/>
          </a:p>
        </p:txBody>
      </p:sp>
      <p:sp>
        <p:nvSpPr>
          <p:cNvPr id="24" name="Shape 22"/>
          <p:cNvSpPr/>
          <p:nvPr/>
        </p:nvSpPr>
        <p:spPr>
          <a:xfrm>
            <a:off x="1097280" y="3806444"/>
            <a:ext cx="10543032" cy="0"/>
          </a:xfrm>
          <a:prstGeom prst="line">
            <a:avLst/>
          </a:prstGeom>
          <a:noFill/>
          <a:ln w="6350">
            <a:solidFill>
              <a:srgbClr val="D7DEDB"/>
            </a:solidFill>
            <a:prstDash val="solid"/>
          </a:ln>
        </p:spPr>
      </p:sp>
      <p:sp>
        <p:nvSpPr>
          <p:cNvPr id="25" name="Shape 23"/>
          <p:cNvSpPr/>
          <p:nvPr/>
        </p:nvSpPr>
        <p:spPr>
          <a:xfrm>
            <a:off x="548640" y="3870452"/>
            <a:ext cx="384048" cy="384048"/>
          </a:xfrm>
          <a:prstGeom prst="ellipse">
            <a:avLst/>
          </a:prstGeom>
          <a:solidFill>
            <a:srgbClr val="007F79"/>
          </a:solidFill>
          <a:ln w="12700">
            <a:solidFill>
              <a:srgbClr val="007F79"/>
            </a:solidFill>
            <a:prstDash val="solid"/>
          </a:ln>
        </p:spPr>
      </p:sp>
      <p:sp>
        <p:nvSpPr>
          <p:cNvPr id="26" name="Text 24"/>
          <p:cNvSpPr txBox="1"/>
          <p:nvPr/>
        </p:nvSpPr>
        <p:spPr>
          <a:xfrm>
            <a:off x="548640" y="3870452"/>
            <a:ext cx="384048" cy="384048"/>
          </a:xfrm>
          <a:prstGeom prst="rect">
            <a:avLst/>
          </a:prstGeom>
          <a:noFill/>
          <a:ln/>
        </p:spPr>
        <p:txBody>
          <a:bodyPr wrap="square" lIns="0" tIns="0" rIns="0" bIns="0" rtlCol="0" anchor="ctr"/>
          <a:lstStyle/>
          <a:p>
            <a:pPr algn="ctr" indent="0" marL="0">
              <a:buNone/>
            </a:pPr>
            <a:r>
              <a:rPr lang="en-US" sz="1352" b="1" dirty="0">
                <a:solidFill>
                  <a:srgbClr val="FFFFFF"/>
                </a:solidFill>
                <a:latin typeface="Georgia" pitchFamily="34" charset="0"/>
                <a:ea typeface="Georgia" pitchFamily="34" charset="-122"/>
                <a:cs typeface="Georgia" pitchFamily="34" charset="-120"/>
              </a:rPr>
              <a:t>5</a:t>
            </a:r>
            <a:endParaRPr lang="en-US" sz="1352" dirty="0"/>
          </a:p>
        </p:txBody>
      </p:sp>
      <p:sp>
        <p:nvSpPr>
          <p:cNvPr id="27" name="Text 25"/>
          <p:cNvSpPr txBox="1"/>
          <p:nvPr/>
        </p:nvSpPr>
        <p:spPr>
          <a:xfrm>
            <a:off x="1097280" y="3843020"/>
            <a:ext cx="10543032" cy="266517"/>
          </a:xfrm>
          <a:prstGeom prst="rect">
            <a:avLst/>
          </a:prstGeom>
          <a:noFill/>
          <a:ln/>
        </p:spPr>
        <p:txBody>
          <a:bodyPr wrap="square" lIns="0" tIns="0" rIns="0" bIns="0" rtlCol="0" anchor="ctr"/>
          <a:lstStyle/>
          <a:p>
            <a:pPr indent="0" marL="0">
              <a:buNone/>
            </a:pPr>
            <a:r>
              <a:rPr lang="en-US" sz="1248" b="1" dirty="0">
                <a:solidFill>
                  <a:srgbClr val="10283D"/>
                </a:solidFill>
                <a:latin typeface="Arial" pitchFamily="34" charset="0"/>
                <a:ea typeface="Arial" pitchFamily="34" charset="-122"/>
                <a:cs typeface="Arial" pitchFamily="34" charset="-120"/>
              </a:rPr>
              <a:t>Swap prompt</a:t>
            </a:r>
            <a:endParaRPr lang="en-US" sz="1248" dirty="0"/>
          </a:p>
        </p:txBody>
      </p:sp>
      <p:sp>
        <p:nvSpPr>
          <p:cNvPr id="28" name="Text 26"/>
          <p:cNvSpPr txBox="1"/>
          <p:nvPr/>
        </p:nvSpPr>
        <p:spPr>
          <a:xfrm>
            <a:off x="1097280" y="4091249"/>
            <a:ext cx="10543032" cy="286979"/>
          </a:xfrm>
          <a:prstGeom prst="rect">
            <a:avLst/>
          </a:prstGeom>
          <a:noFill/>
          <a:ln/>
        </p:spPr>
        <p:txBody>
          <a:bodyPr wrap="square" lIns="0" tIns="0" rIns="0" bIns="0" rtlCol="0" anchor="t"/>
          <a:lstStyle/>
          <a:p>
            <a:pPr indent="0" marL="0">
              <a:buNone/>
            </a:pPr>
            <a:r>
              <a:rPr lang="en-US" sz="1144" dirty="0">
                <a:solidFill>
                  <a:srgbClr val="1B2A36"/>
                </a:solidFill>
                <a:latin typeface="Arial" pitchFamily="34" charset="0"/>
                <a:ea typeface="Arial" pitchFamily="34" charset="-122"/>
                <a:cs typeface="Arial" pitchFamily="34" charset="-120"/>
              </a:rPr>
              <a:t>Record bowl → mug with iPhUMI; same weights, same scene, different P → different behaviour. This is the two-cup test.</a:t>
            </a:r>
            <a:endParaRPr lang="en-US" sz="1144" dirty="0"/>
          </a:p>
        </p:txBody>
      </p:sp>
      <p:sp>
        <p:nvSpPr>
          <p:cNvPr id="29" name="Shape 27"/>
          <p:cNvSpPr/>
          <p:nvPr/>
        </p:nvSpPr>
        <p:spPr>
          <a:xfrm>
            <a:off x="1097280" y="4359940"/>
            <a:ext cx="10543032" cy="0"/>
          </a:xfrm>
          <a:prstGeom prst="line">
            <a:avLst/>
          </a:prstGeom>
          <a:noFill/>
          <a:ln w="6350">
            <a:solidFill>
              <a:srgbClr val="D7DEDB"/>
            </a:solidFill>
            <a:prstDash val="solid"/>
          </a:ln>
        </p:spPr>
      </p:sp>
      <p:sp>
        <p:nvSpPr>
          <p:cNvPr id="30" name="Shape 28"/>
          <p:cNvSpPr/>
          <p:nvPr/>
        </p:nvSpPr>
        <p:spPr>
          <a:xfrm>
            <a:off x="548640" y="4423948"/>
            <a:ext cx="384048" cy="384048"/>
          </a:xfrm>
          <a:prstGeom prst="ellipse">
            <a:avLst/>
          </a:prstGeom>
          <a:solidFill>
            <a:srgbClr val="007F79"/>
          </a:solidFill>
          <a:ln w="12700">
            <a:solidFill>
              <a:srgbClr val="007F79"/>
            </a:solidFill>
            <a:prstDash val="solid"/>
          </a:ln>
        </p:spPr>
      </p:sp>
      <p:sp>
        <p:nvSpPr>
          <p:cNvPr id="31" name="Text 29"/>
          <p:cNvSpPr txBox="1"/>
          <p:nvPr/>
        </p:nvSpPr>
        <p:spPr>
          <a:xfrm>
            <a:off x="548640" y="4423948"/>
            <a:ext cx="384048" cy="384048"/>
          </a:xfrm>
          <a:prstGeom prst="rect">
            <a:avLst/>
          </a:prstGeom>
          <a:noFill/>
          <a:ln/>
        </p:spPr>
        <p:txBody>
          <a:bodyPr wrap="square" lIns="0" tIns="0" rIns="0" bIns="0" rtlCol="0" anchor="ctr"/>
          <a:lstStyle/>
          <a:p>
            <a:pPr algn="ctr" indent="0" marL="0">
              <a:buNone/>
            </a:pPr>
            <a:r>
              <a:rPr lang="en-US" sz="1352" b="1" dirty="0">
                <a:solidFill>
                  <a:srgbClr val="FFFFFF"/>
                </a:solidFill>
                <a:latin typeface="Georgia" pitchFamily="34" charset="0"/>
                <a:ea typeface="Georgia" pitchFamily="34" charset="-122"/>
                <a:cs typeface="Georgia" pitchFamily="34" charset="-120"/>
              </a:rPr>
              <a:t>6</a:t>
            </a:r>
            <a:endParaRPr lang="en-US" sz="1352" dirty="0"/>
          </a:p>
        </p:txBody>
      </p:sp>
      <p:sp>
        <p:nvSpPr>
          <p:cNvPr id="32" name="Text 30"/>
          <p:cNvSpPr txBox="1"/>
          <p:nvPr/>
        </p:nvSpPr>
        <p:spPr>
          <a:xfrm>
            <a:off x="1097280" y="4396516"/>
            <a:ext cx="10543032" cy="266517"/>
          </a:xfrm>
          <a:prstGeom prst="rect">
            <a:avLst/>
          </a:prstGeom>
          <a:noFill/>
          <a:ln/>
        </p:spPr>
        <p:txBody>
          <a:bodyPr wrap="square" lIns="0" tIns="0" rIns="0" bIns="0" rtlCol="0" anchor="ctr"/>
          <a:lstStyle/>
          <a:p>
            <a:pPr indent="0" marL="0">
              <a:buNone/>
            </a:pPr>
            <a:r>
              <a:rPr lang="en-US" sz="1248" b="1" dirty="0">
                <a:solidFill>
                  <a:srgbClr val="10283D"/>
                </a:solidFill>
                <a:latin typeface="Arial" pitchFamily="34" charset="0"/>
                <a:ea typeface="Arial" pitchFamily="34" charset="-122"/>
                <a:cs typeface="Arial" pitchFamily="34" charset="-120"/>
              </a:rPr>
              <a:t>If needed</a:t>
            </a:r>
            <a:endParaRPr lang="en-US" sz="1248" dirty="0"/>
          </a:p>
        </p:txBody>
      </p:sp>
      <p:sp>
        <p:nvSpPr>
          <p:cNvPr id="33" name="Text 31"/>
          <p:cNvSpPr txBox="1"/>
          <p:nvPr/>
        </p:nvSpPr>
        <p:spPr>
          <a:xfrm>
            <a:off x="1097280" y="4644746"/>
            <a:ext cx="10543032" cy="286979"/>
          </a:xfrm>
          <a:prstGeom prst="rect">
            <a:avLst/>
          </a:prstGeom>
          <a:noFill/>
          <a:ln/>
        </p:spPr>
        <p:txBody>
          <a:bodyPr wrap="square" lIns="0" tIns="0" rIns="0" bIns="0" rtlCol="0" anchor="t"/>
          <a:lstStyle/>
          <a:p>
            <a:pPr indent="0" marL="0">
              <a:buNone/>
            </a:pPr>
            <a:r>
              <a:rPr lang="en-US" sz="1144" dirty="0">
                <a:solidFill>
                  <a:srgbClr val="1B2A36"/>
                </a:solidFill>
                <a:latin typeface="Arial" pitchFamily="34" charset="0"/>
                <a:ea typeface="Arial" pitchFamily="34" charset="-122"/>
                <a:cs typeface="Arial" pitchFamily="34" charset="-120"/>
              </a:rPr>
              <a:t>Train on our iPhUMI data: many tasks × few demos, split by task; one demo as prompt, other demos of the same task as queries.</a:t>
            </a:r>
            <a:endParaRPr lang="en-US" sz="1144" dirty="0"/>
          </a:p>
        </p:txBody>
      </p:sp>
      <p:sp>
        <p:nvSpPr>
          <p:cNvPr id="34" name="Shape 32"/>
          <p:cNvSpPr/>
          <p:nvPr/>
        </p:nvSpPr>
        <p:spPr>
          <a:xfrm>
            <a:off x="548640" y="5270053"/>
            <a:ext cx="11091672" cy="661050"/>
          </a:xfrm>
          <a:prstGeom prst="rect">
            <a:avLst/>
          </a:prstGeom>
          <a:solidFill>
            <a:srgbClr val="FBF1DC"/>
          </a:solidFill>
          <a:ln w="12700">
            <a:solidFill>
              <a:srgbClr val="FBF1DC"/>
            </a:solidFill>
            <a:prstDash val="solid"/>
          </a:ln>
        </p:spPr>
      </p:sp>
      <p:sp>
        <p:nvSpPr>
          <p:cNvPr id="35" name="Shape 33"/>
          <p:cNvSpPr/>
          <p:nvPr/>
        </p:nvSpPr>
        <p:spPr>
          <a:xfrm>
            <a:off x="548640" y="5270053"/>
            <a:ext cx="82296" cy="661050"/>
          </a:xfrm>
          <a:prstGeom prst="rect">
            <a:avLst/>
          </a:prstGeom>
          <a:solidFill>
            <a:srgbClr val="F3BD58"/>
          </a:solidFill>
          <a:ln w="12700">
            <a:solidFill>
              <a:srgbClr val="F3BD58"/>
            </a:solidFill>
            <a:prstDash val="solid"/>
          </a:ln>
        </p:spPr>
      </p:sp>
      <p:sp>
        <p:nvSpPr>
          <p:cNvPr id="36" name="Text 34"/>
          <p:cNvSpPr txBox="1"/>
          <p:nvPr/>
        </p:nvSpPr>
        <p:spPr>
          <a:xfrm>
            <a:off x="822960" y="5270053"/>
            <a:ext cx="10543032" cy="661050"/>
          </a:xfrm>
          <a:prstGeom prst="rect">
            <a:avLst/>
          </a:prstGeom>
          <a:noFill/>
          <a:ln/>
        </p:spPr>
        <p:txBody>
          <a:bodyPr wrap="square" lIns="0" tIns="0" rIns="0" bIns="0" rtlCol="0" anchor="ctr"/>
          <a:lstStyle/>
          <a:p>
            <a:pPr indent="0" marL="0">
              <a:buNone/>
            </a:pPr>
            <a:r>
              <a:rPr lang="en-US" sz="1248" dirty="0">
                <a:solidFill>
                  <a:srgbClr val="10283D"/>
                </a:solidFill>
                <a:latin typeface="Arial" pitchFamily="34" charset="0"/>
                <a:ea typeface="Arial" pitchFamily="34" charset="-122"/>
                <a:cs typeface="Arial" pitchFamily="34" charset="-120"/>
              </a:rPr>
              <a:t>Released: MIT code, checkpoints, deployment stack and the iPhUMI app. Known limit: weak conditioning under low training diversity, and no new action primitive from a single prompt.</a:t>
            </a:r>
            <a:endParaRPr lang="en-US" sz="1248" dirty="0"/>
          </a:p>
        </p:txBody>
      </p:sp>
      <p:sp>
        <p:nvSpPr>
          <p:cNvPr id="37" name="Text 3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BPP code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iPhUMI</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Paper</a:t>
            </a:r>
            <a:endParaRPr lang="en-US" sz="900" dirty="0"/>
          </a:p>
        </p:txBody>
      </p:sp>
      <p:sp>
        <p:nvSpPr>
          <p:cNvPr id="38" name="Text 3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20 / 44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The recommended combination (revised)</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3544824" cy="2031713"/>
          </a:xfrm>
          <a:prstGeom prst="rect">
            <a:avLst/>
          </a:prstGeom>
          <a:solidFill>
            <a:srgbClr val="FFFFFF"/>
          </a:solidFill>
          <a:ln w="9525">
            <a:solidFill>
              <a:srgbClr val="D7DEDB"/>
            </a:solidFill>
            <a:prstDash val="solid"/>
          </a:ln>
        </p:spPr>
      </p:sp>
      <p:sp>
        <p:nvSpPr>
          <p:cNvPr id="6" name="Shape 4"/>
          <p:cNvSpPr/>
          <p:nvPr/>
        </p:nvSpPr>
        <p:spPr>
          <a:xfrm>
            <a:off x="548640" y="1371600"/>
            <a:ext cx="3544824"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Scaffold</a:t>
            </a:r>
            <a:endParaRPr lang="en-US" sz="1932" dirty="0"/>
          </a:p>
        </p:txBody>
      </p:sp>
      <p:sp>
        <p:nvSpPr>
          <p:cNvPr id="8" name="Text 6"/>
          <p:cNvSpPr txBox="1"/>
          <p:nvPr/>
        </p:nvSpPr>
        <p:spPr>
          <a:xfrm>
            <a:off x="731520" y="1990984"/>
            <a:ext cx="3179064" cy="132088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GPT-6 Astra as the coding agent inside ENPIRE: builds reset, verifier and a code-as-policy cup skill from demo videos; no training.</a:t>
            </a:r>
            <a:endParaRPr lang="en-US" sz="1587" dirty="0"/>
          </a:p>
        </p:txBody>
      </p:sp>
      <p:sp>
        <p:nvSpPr>
          <p:cNvPr id="9" name="Shape 7"/>
          <p:cNvSpPr/>
          <p:nvPr/>
        </p:nvSpPr>
        <p:spPr>
          <a:xfrm>
            <a:off x="4322064" y="1371600"/>
            <a:ext cx="3544824" cy="2031713"/>
          </a:xfrm>
          <a:prstGeom prst="rect">
            <a:avLst/>
          </a:prstGeom>
          <a:solidFill>
            <a:srgbClr val="FFFFFF"/>
          </a:solidFill>
          <a:ln w="9525">
            <a:solidFill>
              <a:srgbClr val="D7DEDB"/>
            </a:solidFill>
            <a:prstDash val="solid"/>
          </a:ln>
        </p:spPr>
      </p:sp>
      <p:sp>
        <p:nvSpPr>
          <p:cNvPr id="10" name="Shape 8"/>
          <p:cNvSpPr/>
          <p:nvPr/>
        </p:nvSpPr>
        <p:spPr>
          <a:xfrm>
            <a:off x="4322064" y="1371600"/>
            <a:ext cx="3544824" cy="54864"/>
          </a:xfrm>
          <a:prstGeom prst="rect">
            <a:avLst/>
          </a:prstGeom>
          <a:solidFill>
            <a:srgbClr val="007F79"/>
          </a:solidFill>
          <a:ln w="12700">
            <a:solidFill>
              <a:srgbClr val="007F79"/>
            </a:solidFill>
            <a:prstDash val="solid"/>
          </a:ln>
        </p:spPr>
      </p:sp>
      <p:sp>
        <p:nvSpPr>
          <p:cNvPr id="11" name="Text 9"/>
          <p:cNvSpPr txBox="1"/>
          <p:nvPr/>
        </p:nvSpPr>
        <p:spPr>
          <a:xfrm>
            <a:off x="4504944"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First ICL policy</a:t>
            </a:r>
            <a:endParaRPr lang="en-US" sz="1932" dirty="0"/>
          </a:p>
        </p:txBody>
      </p:sp>
      <p:sp>
        <p:nvSpPr>
          <p:cNvPr id="12" name="Text 10"/>
          <p:cNvSpPr txBox="1"/>
          <p:nvPr/>
        </p:nvSpPr>
        <p:spPr>
          <a:xfrm>
            <a:off x="4504944" y="1990984"/>
            <a:ext cx="3179064" cy="132088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BPP released checkpoint prompted by an iPhUMI demo; fine-tune on iPhUMI data if needed. ICRT only if BPP cannot be mapped to the G1.</a:t>
            </a:r>
            <a:endParaRPr lang="en-US" sz="1587" dirty="0"/>
          </a:p>
        </p:txBody>
      </p:sp>
      <p:sp>
        <p:nvSpPr>
          <p:cNvPr id="13" name="Shape 11"/>
          <p:cNvSpPr/>
          <p:nvPr/>
        </p:nvSpPr>
        <p:spPr>
          <a:xfrm>
            <a:off x="8095488" y="1371600"/>
            <a:ext cx="3544824" cy="2031713"/>
          </a:xfrm>
          <a:prstGeom prst="rect">
            <a:avLst/>
          </a:prstGeom>
          <a:solidFill>
            <a:srgbClr val="FFFFFF"/>
          </a:solidFill>
          <a:ln w="9525">
            <a:solidFill>
              <a:srgbClr val="D7DEDB"/>
            </a:solidFill>
            <a:prstDash val="solid"/>
          </a:ln>
        </p:spPr>
      </p:sp>
      <p:sp>
        <p:nvSpPr>
          <p:cNvPr id="14" name="Shape 12"/>
          <p:cNvSpPr/>
          <p:nvPr/>
        </p:nvSpPr>
        <p:spPr>
          <a:xfrm>
            <a:off x="8095488" y="1371600"/>
            <a:ext cx="3544824" cy="54864"/>
          </a:xfrm>
          <a:prstGeom prst="rect">
            <a:avLst/>
          </a:prstGeom>
          <a:solidFill>
            <a:srgbClr val="007F79"/>
          </a:solidFill>
          <a:ln w="12700">
            <a:solidFill>
              <a:srgbClr val="007F79"/>
            </a:solidFill>
            <a:prstDash val="solid"/>
          </a:ln>
        </p:spPr>
      </p:sp>
      <p:sp>
        <p:nvSpPr>
          <p:cNvPr id="15" name="Text 13"/>
          <p:cNvSpPr txBox="1"/>
          <p:nvPr/>
        </p:nvSpPr>
        <p:spPr>
          <a:xfrm>
            <a:off x="8278368"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Humanoid end state</a:t>
            </a:r>
            <a:endParaRPr lang="en-US" sz="1932" dirty="0"/>
          </a:p>
        </p:txBody>
      </p:sp>
      <p:sp>
        <p:nvSpPr>
          <p:cNvPr id="16" name="Text 14"/>
          <p:cNvSpPr txBox="1"/>
          <p:nvPr/>
        </p:nvSpPr>
        <p:spPr>
          <a:xfrm>
            <a:off x="8278368" y="1990984"/>
            <a:ext cx="3179064" cy="132088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MimicDroid trained on our human play videos; GR00T fine-tune kept as the matched non-ICL baseline.</a:t>
            </a:r>
            <a:endParaRPr lang="en-US" sz="1587" dirty="0"/>
          </a:p>
        </p:txBody>
      </p:sp>
      <p:sp>
        <p:nvSpPr>
          <p:cNvPr id="17" name="Shape 15"/>
          <p:cNvSpPr/>
          <p:nvPr/>
        </p:nvSpPr>
        <p:spPr>
          <a:xfrm>
            <a:off x="548640" y="3769073"/>
            <a:ext cx="11091672" cy="787481"/>
          </a:xfrm>
          <a:prstGeom prst="rect">
            <a:avLst/>
          </a:prstGeom>
          <a:solidFill>
            <a:srgbClr val="FBF1DC"/>
          </a:solidFill>
          <a:ln w="12700">
            <a:solidFill>
              <a:srgbClr val="FBF1DC"/>
            </a:solidFill>
            <a:prstDash val="solid"/>
          </a:ln>
        </p:spPr>
      </p:sp>
      <p:sp>
        <p:nvSpPr>
          <p:cNvPr id="18" name="Shape 16"/>
          <p:cNvSpPr/>
          <p:nvPr/>
        </p:nvSpPr>
        <p:spPr>
          <a:xfrm>
            <a:off x="548640" y="3769073"/>
            <a:ext cx="82296" cy="787481"/>
          </a:xfrm>
          <a:prstGeom prst="rect">
            <a:avLst/>
          </a:prstGeom>
          <a:solidFill>
            <a:srgbClr val="F3BD58"/>
          </a:solidFill>
          <a:ln w="12700">
            <a:solidFill>
              <a:srgbClr val="F3BD58"/>
            </a:solidFill>
            <a:prstDash val="solid"/>
          </a:ln>
        </p:spPr>
      </p:sp>
      <p:sp>
        <p:nvSpPr>
          <p:cNvPr id="19" name="Text 17"/>
          <p:cNvSpPr txBox="1"/>
          <p:nvPr/>
        </p:nvSpPr>
        <p:spPr>
          <a:xfrm>
            <a:off x="822960" y="3769073"/>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Unchanged: one commissioned G1 gateway owns arm and hand; the two-cup context test decides what we call ICL; ENPIRE candidates stay bounded.</a:t>
            </a:r>
            <a:endParaRPr lang="en-US" sz="1656" dirty="0"/>
          </a:p>
        </p:txBody>
      </p:sp>
      <p:sp>
        <p:nvSpPr>
          <p:cNvPr id="20" name="Text 18"/>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Astra</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BPP</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GR00T</a:t>
            </a:r>
            <a:endParaRPr lang="en-US" sz="900" dirty="0"/>
          </a:p>
        </p:txBody>
      </p:sp>
      <p:sp>
        <p:nvSpPr>
          <p:cNvPr id="21" name="Text 19"/>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21 / 44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Bound the first task and fill the hardware sheet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3544824" cy="1539933"/>
          </a:xfrm>
          <a:prstGeom prst="rect">
            <a:avLst/>
          </a:prstGeom>
          <a:solidFill>
            <a:srgbClr val="FFFFFF"/>
          </a:solidFill>
          <a:ln w="9525">
            <a:solidFill>
              <a:srgbClr val="D7DEDB"/>
            </a:solidFill>
            <a:prstDash val="solid"/>
          </a:ln>
        </p:spPr>
      </p:sp>
      <p:sp>
        <p:nvSpPr>
          <p:cNvPr id="6" name="Shape 4"/>
          <p:cNvSpPr/>
          <p:nvPr/>
        </p:nvSpPr>
        <p:spPr>
          <a:xfrm>
            <a:off x="548640" y="1371600"/>
            <a:ext cx="3544824"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Robot</a:t>
            </a:r>
            <a:endParaRPr lang="en-US" sz="1932" dirty="0"/>
          </a:p>
        </p:txBody>
      </p:sp>
      <p:sp>
        <p:nvSpPr>
          <p:cNvPr id="8" name="Text 6"/>
          <p:cNvSpPr txBox="1"/>
          <p:nvPr/>
        </p:nvSpPr>
        <p:spPr>
          <a:xfrm>
            <a:off x="731520"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Stationary; one arm; commissioned support or validated stance; </a:t>
            </a:r>
            <a:pPr indent="0" marL="0">
              <a:buNone/>
            </a:pPr>
            <a:r>
              <a:rPr lang="en-US" sz="1587" b="1" dirty="0">
                <a:solidFill>
                  <a:srgbClr val="1B2A36"/>
                </a:solidFill>
                <a:latin typeface="Arial" pitchFamily="34" charset="0"/>
                <a:ea typeface="Arial" pitchFamily="34" charset="-122"/>
                <a:cs typeface="Arial" pitchFamily="34" charset="-120"/>
              </a:rPr>
              <a:t>parallel gripper for v1</a:t>
            </a:r>
            <a:pPr indent="0" marL="0">
              <a:buNone/>
            </a:pPr>
            <a:r>
              <a:rPr lang="en-US" sz="1587" dirty="0">
                <a:solidFill>
                  <a:srgbClr val="1B2A36"/>
                </a:solidFill>
                <a:latin typeface="Arial" pitchFamily="34" charset="0"/>
                <a:ea typeface="Arial" pitchFamily="34" charset="-122"/>
                <a:cs typeface="Arial" pitchFamily="34" charset="-120"/>
              </a:rPr>
              <a:t>.</a:t>
            </a:r>
            <a:endParaRPr lang="en-US" sz="1587" dirty="0"/>
          </a:p>
        </p:txBody>
      </p:sp>
      <p:sp>
        <p:nvSpPr>
          <p:cNvPr id="9" name="Shape 7"/>
          <p:cNvSpPr/>
          <p:nvPr/>
        </p:nvSpPr>
        <p:spPr>
          <a:xfrm>
            <a:off x="4322064" y="1371600"/>
            <a:ext cx="3544824" cy="1539933"/>
          </a:xfrm>
          <a:prstGeom prst="rect">
            <a:avLst/>
          </a:prstGeom>
          <a:solidFill>
            <a:srgbClr val="FFFFFF"/>
          </a:solidFill>
          <a:ln w="9525">
            <a:solidFill>
              <a:srgbClr val="D7DEDB"/>
            </a:solidFill>
            <a:prstDash val="solid"/>
          </a:ln>
        </p:spPr>
      </p:sp>
      <p:sp>
        <p:nvSpPr>
          <p:cNvPr id="10" name="Shape 8"/>
          <p:cNvSpPr/>
          <p:nvPr/>
        </p:nvSpPr>
        <p:spPr>
          <a:xfrm>
            <a:off x="4322064" y="1371600"/>
            <a:ext cx="3544824" cy="54864"/>
          </a:xfrm>
          <a:prstGeom prst="rect">
            <a:avLst/>
          </a:prstGeom>
          <a:solidFill>
            <a:srgbClr val="007F79"/>
          </a:solidFill>
          <a:ln w="12700">
            <a:solidFill>
              <a:srgbClr val="007F79"/>
            </a:solidFill>
            <a:prstDash val="solid"/>
          </a:ln>
        </p:spPr>
      </p:sp>
      <p:sp>
        <p:nvSpPr>
          <p:cNvPr id="11" name="Text 9"/>
          <p:cNvSpPr txBox="1"/>
          <p:nvPr/>
        </p:nvSpPr>
        <p:spPr>
          <a:xfrm>
            <a:off x="4504944"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Object</a:t>
            </a:r>
            <a:endParaRPr lang="en-US" sz="1932" dirty="0"/>
          </a:p>
        </p:txBody>
      </p:sp>
      <p:sp>
        <p:nvSpPr>
          <p:cNvPr id="12" name="Text 10"/>
          <p:cNvSpPr txBox="1"/>
          <p:nvPr/>
        </p:nvSpPr>
        <p:spPr>
          <a:xfrm>
            <a:off x="4504944"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One empty, rigid, opaque cup; body grasp only.</a:t>
            </a:r>
            <a:endParaRPr lang="en-US" sz="1587" dirty="0"/>
          </a:p>
        </p:txBody>
      </p:sp>
      <p:sp>
        <p:nvSpPr>
          <p:cNvPr id="13" name="Shape 11"/>
          <p:cNvSpPr/>
          <p:nvPr/>
        </p:nvSpPr>
        <p:spPr>
          <a:xfrm>
            <a:off x="8095488" y="1371600"/>
            <a:ext cx="3544824" cy="1539933"/>
          </a:xfrm>
          <a:prstGeom prst="rect">
            <a:avLst/>
          </a:prstGeom>
          <a:solidFill>
            <a:srgbClr val="FFFFFF"/>
          </a:solidFill>
          <a:ln w="9525">
            <a:solidFill>
              <a:srgbClr val="D7DEDB"/>
            </a:solidFill>
            <a:prstDash val="solid"/>
          </a:ln>
        </p:spPr>
      </p:sp>
      <p:sp>
        <p:nvSpPr>
          <p:cNvPr id="14" name="Shape 12"/>
          <p:cNvSpPr/>
          <p:nvPr/>
        </p:nvSpPr>
        <p:spPr>
          <a:xfrm>
            <a:off x="8095488" y="1371600"/>
            <a:ext cx="3544824" cy="54864"/>
          </a:xfrm>
          <a:prstGeom prst="rect">
            <a:avLst/>
          </a:prstGeom>
          <a:solidFill>
            <a:srgbClr val="007F79"/>
          </a:solidFill>
          <a:ln w="12700">
            <a:solidFill>
              <a:srgbClr val="007F79"/>
            </a:solidFill>
            <a:prstDash val="solid"/>
          </a:ln>
        </p:spPr>
      </p:sp>
      <p:sp>
        <p:nvSpPr>
          <p:cNvPr id="15" name="Text 13"/>
          <p:cNvSpPr txBox="1"/>
          <p:nvPr/>
        </p:nvSpPr>
        <p:spPr>
          <a:xfrm>
            <a:off x="8278368"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Behaviour</a:t>
            </a:r>
            <a:endParaRPr lang="en-US" sz="1932" dirty="0"/>
          </a:p>
        </p:txBody>
      </p:sp>
      <p:sp>
        <p:nvSpPr>
          <p:cNvPr id="16" name="Text 14"/>
          <p:cNvSpPr txBox="1"/>
          <p:nvPr/>
        </p:nvSpPr>
        <p:spPr>
          <a:xfrm>
            <a:off x="8278368"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Grasp → lift ≥50 mm → hold 3 s → place in marked region → release.</a:t>
            </a:r>
            <a:endParaRPr lang="en-US" sz="1587"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3277293"/>
          <a:ext cx="11091672" cy="914400"/>
        </p:xfrm>
        <a:graphic>
          <a:graphicData uri="http://schemas.openxmlformats.org/drawingml/2006/table">
            <a:tbl>
              <a:tblPr/>
              <a:tblGrid>
                <a:gridCol w="5307843"/>
                <a:gridCol w="5783829"/>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Confirm before coding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Why it changes the design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Edition, DoF, firmware, developer access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Joint map and supported control mode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Installed hand and firmware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Synergy, feedback, reach and collision geometry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Cameras, mounts and clocks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Model inputs, transforms, synchronization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GPU, robot network, table and stance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Latency, policy size, reach and stability envelope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Unitree XR</a:t>
            </a:r>
            <a:endParaRPr lang="en-US" sz="900" dirty="0"/>
          </a:p>
        </p:txBody>
      </p:sp>
      <p:sp>
        <p:nvSpPr>
          <p:cNvPr id="19" name="Text 1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22 / 44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The experiment that proves ICL</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3544824" cy="1539933"/>
          </a:xfrm>
          <a:prstGeom prst="rect">
            <a:avLst/>
          </a:prstGeom>
          <a:solidFill>
            <a:srgbClr val="FFFFFF"/>
          </a:solidFill>
          <a:ln w="9525">
            <a:solidFill>
              <a:srgbClr val="D7DEDB"/>
            </a:solidFill>
            <a:prstDash val="solid"/>
          </a:ln>
        </p:spPr>
      </p:sp>
      <p:sp>
        <p:nvSpPr>
          <p:cNvPr id="6" name="Shape 4"/>
          <p:cNvSpPr/>
          <p:nvPr/>
        </p:nvSpPr>
        <p:spPr>
          <a:xfrm>
            <a:off x="548640" y="1371600"/>
            <a:ext cx="3544824"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Same scene</a:t>
            </a:r>
            <a:endParaRPr lang="en-US" sz="1932" dirty="0"/>
          </a:p>
        </p:txBody>
      </p:sp>
      <p:sp>
        <p:nvSpPr>
          <p:cNvPr id="8" name="Text 6"/>
          <p:cNvSpPr txBox="1"/>
          <p:nvPr/>
        </p:nvSpPr>
        <p:spPr>
          <a:xfrm>
            <a:off x="731520"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Two candidate cups or two destinations visible at once.</a:t>
            </a:r>
            <a:endParaRPr lang="en-US" sz="1587" dirty="0"/>
          </a:p>
        </p:txBody>
      </p:sp>
      <p:sp>
        <p:nvSpPr>
          <p:cNvPr id="9" name="Shape 7"/>
          <p:cNvSpPr/>
          <p:nvPr/>
        </p:nvSpPr>
        <p:spPr>
          <a:xfrm>
            <a:off x="4322064" y="1371600"/>
            <a:ext cx="3544824" cy="1539933"/>
          </a:xfrm>
          <a:prstGeom prst="rect">
            <a:avLst/>
          </a:prstGeom>
          <a:solidFill>
            <a:srgbClr val="FFFFFF"/>
          </a:solidFill>
          <a:ln w="9525">
            <a:solidFill>
              <a:srgbClr val="D7DEDB"/>
            </a:solidFill>
            <a:prstDash val="solid"/>
          </a:ln>
        </p:spPr>
      </p:sp>
      <p:sp>
        <p:nvSpPr>
          <p:cNvPr id="10" name="Shape 8"/>
          <p:cNvSpPr/>
          <p:nvPr/>
        </p:nvSpPr>
        <p:spPr>
          <a:xfrm>
            <a:off x="4322064" y="1371600"/>
            <a:ext cx="3544824" cy="54864"/>
          </a:xfrm>
          <a:prstGeom prst="rect">
            <a:avLst/>
          </a:prstGeom>
          <a:solidFill>
            <a:srgbClr val="007F79"/>
          </a:solidFill>
          <a:ln w="12700">
            <a:solidFill>
              <a:srgbClr val="007F79"/>
            </a:solidFill>
            <a:prstDash val="solid"/>
          </a:ln>
        </p:spPr>
      </p:sp>
      <p:sp>
        <p:nvSpPr>
          <p:cNvPr id="11" name="Text 9"/>
          <p:cNvSpPr txBox="1"/>
          <p:nvPr/>
        </p:nvSpPr>
        <p:spPr>
          <a:xfrm>
            <a:off x="4504944"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Different prompts</a:t>
            </a:r>
            <a:endParaRPr lang="en-US" sz="1932" dirty="0"/>
          </a:p>
        </p:txBody>
      </p:sp>
      <p:sp>
        <p:nvSpPr>
          <p:cNvPr id="12" name="Text 10"/>
          <p:cNvSpPr txBox="1"/>
          <p:nvPr/>
        </p:nvSpPr>
        <p:spPr>
          <a:xfrm>
            <a:off x="4504944"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Demonstrate different intended outcomes; hold language and all other inputs fixed.</a:t>
            </a:r>
            <a:endParaRPr lang="en-US" sz="1587" dirty="0"/>
          </a:p>
        </p:txBody>
      </p:sp>
      <p:sp>
        <p:nvSpPr>
          <p:cNvPr id="13" name="Shape 11"/>
          <p:cNvSpPr/>
          <p:nvPr/>
        </p:nvSpPr>
        <p:spPr>
          <a:xfrm>
            <a:off x="8095488" y="1371600"/>
            <a:ext cx="3544824" cy="1539933"/>
          </a:xfrm>
          <a:prstGeom prst="rect">
            <a:avLst/>
          </a:prstGeom>
          <a:solidFill>
            <a:srgbClr val="FFFFFF"/>
          </a:solidFill>
          <a:ln w="9525">
            <a:solidFill>
              <a:srgbClr val="D7DEDB"/>
            </a:solidFill>
            <a:prstDash val="solid"/>
          </a:ln>
        </p:spPr>
      </p:sp>
      <p:sp>
        <p:nvSpPr>
          <p:cNvPr id="14" name="Shape 12"/>
          <p:cNvSpPr/>
          <p:nvPr/>
        </p:nvSpPr>
        <p:spPr>
          <a:xfrm>
            <a:off x="8095488" y="1371600"/>
            <a:ext cx="3544824" cy="54864"/>
          </a:xfrm>
          <a:prstGeom prst="rect">
            <a:avLst/>
          </a:prstGeom>
          <a:solidFill>
            <a:srgbClr val="007F79"/>
          </a:solidFill>
          <a:ln w="12700">
            <a:solidFill>
              <a:srgbClr val="007F79"/>
            </a:solidFill>
            <a:prstDash val="solid"/>
          </a:ln>
        </p:spPr>
      </p:sp>
      <p:sp>
        <p:nvSpPr>
          <p:cNvPr id="15" name="Text 13"/>
          <p:cNvSpPr txBox="1"/>
          <p:nvPr/>
        </p:nvSpPr>
        <p:spPr>
          <a:xfrm>
            <a:off x="8278368"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Frozen weights</a:t>
            </a:r>
            <a:endParaRPr lang="en-US" sz="1932" dirty="0"/>
          </a:p>
        </p:txBody>
      </p:sp>
      <p:sp>
        <p:nvSpPr>
          <p:cNvPr id="16" name="Text 14"/>
          <p:cNvSpPr txBox="1"/>
          <p:nvPr/>
        </p:nvSpPr>
        <p:spPr>
          <a:xfrm>
            <a:off x="8278368" y="1990984"/>
            <a:ext cx="3179064" cy="82910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Correct behaviour must follow the demonstration, not the nearest object.</a:t>
            </a:r>
            <a:endParaRPr lang="en-US" sz="1587" dirty="0"/>
          </a:p>
        </p:txBody>
      </p:sp>
      <p:sp>
        <p:nvSpPr>
          <p:cNvPr id="17" name="Shape 15"/>
          <p:cNvSpPr/>
          <p:nvPr/>
        </p:nvSpPr>
        <p:spPr>
          <a:xfrm>
            <a:off x="548640" y="3277293"/>
            <a:ext cx="11091672" cy="787481"/>
          </a:xfrm>
          <a:prstGeom prst="rect">
            <a:avLst/>
          </a:prstGeom>
          <a:solidFill>
            <a:srgbClr val="FBF1DC"/>
          </a:solidFill>
          <a:ln w="12700">
            <a:solidFill>
              <a:srgbClr val="FBF1DC"/>
            </a:solidFill>
            <a:prstDash val="solid"/>
          </a:ln>
        </p:spPr>
      </p:sp>
      <p:sp>
        <p:nvSpPr>
          <p:cNvPr id="18" name="Shape 16"/>
          <p:cNvSpPr/>
          <p:nvPr/>
        </p:nvSpPr>
        <p:spPr>
          <a:xfrm>
            <a:off x="548640" y="3277293"/>
            <a:ext cx="82296" cy="787481"/>
          </a:xfrm>
          <a:prstGeom prst="rect">
            <a:avLst/>
          </a:prstGeom>
          <a:solidFill>
            <a:srgbClr val="F3BD58"/>
          </a:solidFill>
          <a:ln w="12700">
            <a:solidFill>
              <a:srgbClr val="F3BD58"/>
            </a:solidFill>
            <a:prstDash val="solid"/>
          </a:ln>
        </p:spPr>
      </p:sp>
      <p:sp>
        <p:nvSpPr>
          <p:cNvPr id="19" name="Text 17"/>
          <p:cNvSpPr txBox="1"/>
          <p:nvPr/>
        </p:nvSpPr>
        <p:spPr>
          <a:xfrm>
            <a:off x="822960" y="3277293"/>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Controls: correct prompt · no prompt · wrong-task prompt · shuffled order · retrieved prompt. A policy that always picks the nearest cup has not passed.</a:t>
            </a:r>
            <a:endParaRPr lang="en-US" sz="1656" dirty="0"/>
          </a:p>
        </p:txBody>
      </p:sp>
      <p:sp>
        <p:nvSpPr>
          <p:cNvPr id="20" name="Text 18"/>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21" name="Text 19"/>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23 / 44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Separate the fast control loop from experiments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5088636" cy="36576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Robot execution</a:t>
            </a:r>
            <a:endParaRPr lang="en-US" sz="1500" dirty="0"/>
          </a:p>
        </p:txBody>
      </p:sp>
      <p:sp>
        <p:nvSpPr>
          <p:cNvPr id="6" name="Shape 4"/>
          <p:cNvSpPr/>
          <p:nvPr/>
        </p:nvSpPr>
        <p:spPr>
          <a:xfrm>
            <a:off x="1005840" y="1874520"/>
            <a:ext cx="4174236" cy="685800"/>
          </a:xfrm>
          <a:prstGeom prst="roundRect">
            <a:avLst>
              <a:gd name="adj" fmla="val 13333"/>
            </a:avLst>
          </a:prstGeom>
          <a:solidFill>
            <a:srgbClr val="FFFFFF"/>
          </a:solidFill>
          <a:ln w="12700">
            <a:solidFill>
              <a:srgbClr val="D7DEDB"/>
            </a:solidFill>
            <a:prstDash val="solid"/>
          </a:ln>
        </p:spPr>
      </p:sp>
      <p:sp>
        <p:nvSpPr>
          <p:cNvPr id="7" name="Text 5"/>
          <p:cNvSpPr txBox="1"/>
          <p:nvPr/>
        </p:nvSpPr>
        <p:spPr>
          <a:xfrm>
            <a:off x="1097280" y="1874520"/>
            <a:ext cx="3991356" cy="685800"/>
          </a:xfrm>
          <a:prstGeom prst="rect">
            <a:avLst/>
          </a:prstGeom>
          <a:noFill/>
          <a:ln/>
        </p:spPr>
        <p:txBody>
          <a:bodyPr wrap="square" lIns="0" tIns="0" rIns="0" bIns="0" rtlCol="0" anchor="ctr"/>
          <a:lstStyle/>
          <a:p>
            <a:pPr algn="ctr" indent="0" marL="0">
              <a:buNone/>
            </a:pPr>
            <a:r>
              <a:rPr lang="en-US" sz="1250" dirty="0">
                <a:solidFill>
                  <a:srgbClr val="1B2A36"/>
                </a:solidFill>
                <a:latin typeface="Arial" pitchFamily="34" charset="0"/>
                <a:ea typeface="Arial" pitchFamily="34" charset="-122"/>
                <a:cs typeface="Arial" pitchFamily="34" charset="-120"/>
              </a:rPr>
              <a:t>Sensors + measured state</a:t>
            </a:r>
            <a:endParaRPr lang="en-US" sz="1250" dirty="0"/>
          </a:p>
        </p:txBody>
      </p:sp>
      <p:sp>
        <p:nvSpPr>
          <p:cNvPr id="8" name="Shape 6"/>
          <p:cNvSpPr/>
          <p:nvPr/>
        </p:nvSpPr>
        <p:spPr>
          <a:xfrm>
            <a:off x="2955798" y="2606040"/>
            <a:ext cx="274320" cy="320040"/>
          </a:xfrm>
          <a:prstGeom prst="downArrow">
            <a:avLst/>
          </a:prstGeom>
          <a:solidFill>
            <a:srgbClr val="007F79"/>
          </a:solidFill>
          <a:ln w="12700">
            <a:solidFill>
              <a:srgbClr val="007F79"/>
            </a:solidFill>
            <a:prstDash val="solid"/>
          </a:ln>
        </p:spPr>
      </p:sp>
      <p:sp>
        <p:nvSpPr>
          <p:cNvPr id="9" name="Shape 7"/>
          <p:cNvSpPr/>
          <p:nvPr/>
        </p:nvSpPr>
        <p:spPr>
          <a:xfrm>
            <a:off x="1005840" y="2971800"/>
            <a:ext cx="4174236" cy="685800"/>
          </a:xfrm>
          <a:prstGeom prst="roundRect">
            <a:avLst>
              <a:gd name="adj" fmla="val 13333"/>
            </a:avLst>
          </a:prstGeom>
          <a:solidFill>
            <a:srgbClr val="FFFFFF"/>
          </a:solidFill>
          <a:ln w="12700">
            <a:solidFill>
              <a:srgbClr val="D7DEDB"/>
            </a:solidFill>
            <a:prstDash val="solid"/>
          </a:ln>
        </p:spPr>
      </p:sp>
      <p:sp>
        <p:nvSpPr>
          <p:cNvPr id="10" name="Text 8"/>
          <p:cNvSpPr txBox="1"/>
          <p:nvPr/>
        </p:nvSpPr>
        <p:spPr>
          <a:xfrm>
            <a:off x="1097280" y="2971800"/>
            <a:ext cx="3991356" cy="685800"/>
          </a:xfrm>
          <a:prstGeom prst="rect">
            <a:avLst/>
          </a:prstGeom>
          <a:noFill/>
          <a:ln/>
        </p:spPr>
        <p:txBody>
          <a:bodyPr wrap="square" lIns="0" tIns="0" rIns="0" bIns="0" rtlCol="0" anchor="ctr"/>
          <a:lstStyle/>
          <a:p>
            <a:pPr algn="ctr" indent="0" marL="0">
              <a:buNone/>
            </a:pPr>
            <a:r>
              <a:rPr lang="en-US" sz="1250" dirty="0">
                <a:solidFill>
                  <a:srgbClr val="1B2A36"/>
                </a:solidFill>
                <a:latin typeface="Arial" pitchFamily="34" charset="0"/>
                <a:ea typeface="Arial" pitchFamily="34" charset="-122"/>
                <a:cs typeface="Arial" pitchFamily="34" charset="-120"/>
              </a:rPr>
              <a:t>Frozen policy server (external GPU)</a:t>
            </a:r>
            <a:endParaRPr lang="en-US" sz="1250" dirty="0"/>
          </a:p>
        </p:txBody>
      </p:sp>
      <p:sp>
        <p:nvSpPr>
          <p:cNvPr id="11" name="Shape 9"/>
          <p:cNvSpPr/>
          <p:nvPr/>
        </p:nvSpPr>
        <p:spPr>
          <a:xfrm>
            <a:off x="2955798" y="3703320"/>
            <a:ext cx="274320" cy="320040"/>
          </a:xfrm>
          <a:prstGeom prst="downArrow">
            <a:avLst/>
          </a:prstGeom>
          <a:solidFill>
            <a:srgbClr val="007F79"/>
          </a:solidFill>
          <a:ln w="12700">
            <a:solidFill>
              <a:srgbClr val="007F79"/>
            </a:solidFill>
            <a:prstDash val="solid"/>
          </a:ln>
        </p:spPr>
      </p:sp>
      <p:sp>
        <p:nvSpPr>
          <p:cNvPr id="12" name="Shape 10"/>
          <p:cNvSpPr/>
          <p:nvPr/>
        </p:nvSpPr>
        <p:spPr>
          <a:xfrm>
            <a:off x="1005840" y="4069080"/>
            <a:ext cx="4174236" cy="685800"/>
          </a:xfrm>
          <a:prstGeom prst="roundRect">
            <a:avLst>
              <a:gd name="adj" fmla="val 13333"/>
            </a:avLst>
          </a:prstGeom>
          <a:solidFill>
            <a:srgbClr val="10283D"/>
          </a:solidFill>
          <a:ln w="12700">
            <a:solidFill>
              <a:srgbClr val="10283D"/>
            </a:solidFill>
            <a:prstDash val="solid"/>
          </a:ln>
        </p:spPr>
      </p:sp>
      <p:sp>
        <p:nvSpPr>
          <p:cNvPr id="13" name="Text 11"/>
          <p:cNvSpPr txBox="1"/>
          <p:nvPr/>
        </p:nvSpPr>
        <p:spPr>
          <a:xfrm>
            <a:off x="1097280" y="4069080"/>
            <a:ext cx="3991356" cy="685800"/>
          </a:xfrm>
          <a:prstGeom prst="rect">
            <a:avLst/>
          </a:prstGeom>
          <a:noFill/>
          <a:ln/>
        </p:spPr>
        <p:txBody>
          <a:bodyPr wrap="square" lIns="0" tIns="0" rIns="0" bIns="0" rtlCol="0" anchor="ctr"/>
          <a:lstStyle/>
          <a:p>
            <a:pPr algn="ctr" indent="0" marL="0">
              <a:buNone/>
            </a:pPr>
            <a:r>
              <a:rPr lang="en-US" sz="1250" dirty="0">
                <a:solidFill>
                  <a:srgbClr val="F3BD58"/>
                </a:solidFill>
                <a:latin typeface="Arial" pitchFamily="34" charset="0"/>
                <a:ea typeface="Arial" pitchFamily="34" charset="-122"/>
                <a:cs typeface="Arial" pitchFamily="34" charset="-120"/>
              </a:rPr>
              <a:t>G1 gateway → arm + hand</a:t>
            </a:r>
            <a:endParaRPr lang="en-US" sz="1250" dirty="0"/>
          </a:p>
        </p:txBody>
      </p:sp>
      <p:sp>
        <p:nvSpPr>
          <p:cNvPr id="14" name="Text 12"/>
          <p:cNvSpPr txBox="1"/>
          <p:nvPr/>
        </p:nvSpPr>
        <p:spPr>
          <a:xfrm>
            <a:off x="6551676" y="1371600"/>
            <a:ext cx="5088636" cy="365760"/>
          </a:xfrm>
          <a:prstGeom prst="rect">
            <a:avLst/>
          </a:prstGeom>
          <a:noFill/>
          <a:ln/>
        </p:spPr>
        <p:txBody>
          <a:bodyPr wrap="square" lIns="0" tIns="0" rIns="0" bIns="0" rtlCol="0" anchor="ctr"/>
          <a:lstStyle/>
          <a:p>
            <a:pPr indent="0" marL="0">
              <a:buNone/>
            </a:pPr>
            <a:r>
              <a:rPr lang="en-US" sz="1500" b="1" dirty="0">
                <a:solidFill>
                  <a:srgbClr val="10283D"/>
                </a:solidFill>
                <a:latin typeface="Georgia" pitchFamily="34" charset="0"/>
                <a:ea typeface="Georgia" pitchFamily="34" charset="-122"/>
                <a:cs typeface="Georgia" pitchFamily="34" charset="-120"/>
              </a:rPr>
              <a:t>Between trials</a:t>
            </a:r>
            <a:endParaRPr lang="en-US" sz="1500" dirty="0"/>
          </a:p>
        </p:txBody>
      </p:sp>
      <p:sp>
        <p:nvSpPr>
          <p:cNvPr id="15" name="Shape 13"/>
          <p:cNvSpPr/>
          <p:nvPr/>
        </p:nvSpPr>
        <p:spPr>
          <a:xfrm>
            <a:off x="7008876" y="1874520"/>
            <a:ext cx="4174236" cy="685800"/>
          </a:xfrm>
          <a:prstGeom prst="roundRect">
            <a:avLst>
              <a:gd name="adj" fmla="val 13333"/>
            </a:avLst>
          </a:prstGeom>
          <a:solidFill>
            <a:srgbClr val="FFFFFF"/>
          </a:solidFill>
          <a:ln w="12700">
            <a:solidFill>
              <a:srgbClr val="D7DEDB"/>
            </a:solidFill>
            <a:prstDash val="solid"/>
          </a:ln>
        </p:spPr>
      </p:sp>
      <p:sp>
        <p:nvSpPr>
          <p:cNvPr id="16" name="Text 14"/>
          <p:cNvSpPr txBox="1"/>
          <p:nvPr/>
        </p:nvSpPr>
        <p:spPr>
          <a:xfrm>
            <a:off x="7100316" y="1874520"/>
            <a:ext cx="3991356" cy="685800"/>
          </a:xfrm>
          <a:prstGeom prst="rect">
            <a:avLst/>
          </a:prstGeom>
          <a:noFill/>
          <a:ln/>
        </p:spPr>
        <p:txBody>
          <a:bodyPr wrap="square" lIns="0" tIns="0" rIns="0" bIns="0" rtlCol="0" anchor="ctr"/>
          <a:lstStyle/>
          <a:p>
            <a:pPr algn="ctr" indent="0" marL="0">
              <a:buNone/>
            </a:pPr>
            <a:r>
              <a:rPr lang="en-US" sz="1250" dirty="0">
                <a:solidFill>
                  <a:srgbClr val="1B2A36"/>
                </a:solidFill>
                <a:latin typeface="Arial" pitchFamily="34" charset="0"/>
                <a:ea typeface="Arial" pitchFamily="34" charset="-122"/>
                <a:cs typeface="Arial" pitchFamily="34" charset="-120"/>
              </a:rPr>
              <a:t>Independent verifier + logs</a:t>
            </a:r>
            <a:endParaRPr lang="en-US" sz="1250" dirty="0"/>
          </a:p>
        </p:txBody>
      </p:sp>
      <p:sp>
        <p:nvSpPr>
          <p:cNvPr id="17" name="Shape 15"/>
          <p:cNvSpPr/>
          <p:nvPr/>
        </p:nvSpPr>
        <p:spPr>
          <a:xfrm>
            <a:off x="8958834" y="2606040"/>
            <a:ext cx="274320" cy="320040"/>
          </a:xfrm>
          <a:prstGeom prst="downArrow">
            <a:avLst/>
          </a:prstGeom>
          <a:solidFill>
            <a:srgbClr val="007F79"/>
          </a:solidFill>
          <a:ln w="12700">
            <a:solidFill>
              <a:srgbClr val="007F79"/>
            </a:solidFill>
            <a:prstDash val="solid"/>
          </a:ln>
        </p:spPr>
      </p:sp>
      <p:sp>
        <p:nvSpPr>
          <p:cNvPr id="18" name="Shape 16"/>
          <p:cNvSpPr/>
          <p:nvPr/>
        </p:nvSpPr>
        <p:spPr>
          <a:xfrm>
            <a:off x="7008876" y="2971800"/>
            <a:ext cx="4174236" cy="685800"/>
          </a:xfrm>
          <a:prstGeom prst="roundRect">
            <a:avLst>
              <a:gd name="adj" fmla="val 13333"/>
            </a:avLst>
          </a:prstGeom>
          <a:solidFill>
            <a:srgbClr val="FFFFFF"/>
          </a:solidFill>
          <a:ln w="12700">
            <a:solidFill>
              <a:srgbClr val="D7DEDB"/>
            </a:solidFill>
            <a:prstDash val="solid"/>
          </a:ln>
        </p:spPr>
      </p:sp>
      <p:sp>
        <p:nvSpPr>
          <p:cNvPr id="19" name="Text 17"/>
          <p:cNvSpPr txBox="1"/>
          <p:nvPr/>
        </p:nvSpPr>
        <p:spPr>
          <a:xfrm>
            <a:off x="7100316" y="2971800"/>
            <a:ext cx="3991356" cy="685800"/>
          </a:xfrm>
          <a:prstGeom prst="rect">
            <a:avLst/>
          </a:prstGeom>
          <a:noFill/>
          <a:ln/>
        </p:spPr>
        <p:txBody>
          <a:bodyPr wrap="square" lIns="0" tIns="0" rIns="0" bIns="0" rtlCol="0" anchor="ctr"/>
          <a:lstStyle/>
          <a:p>
            <a:pPr algn="ctr" indent="0" marL="0">
              <a:buNone/>
            </a:pPr>
            <a:r>
              <a:rPr lang="en-US" sz="1250" dirty="0">
                <a:solidFill>
                  <a:srgbClr val="1B2A36"/>
                </a:solidFill>
                <a:latin typeface="Arial" pitchFamily="34" charset="0"/>
                <a:ea typeface="Arial" pitchFamily="34" charset="-122"/>
                <a:cs typeface="Arial" pitchFamily="34" charset="-120"/>
              </a:rPr>
              <a:t>ENPIRE candidate selection</a:t>
            </a:r>
            <a:endParaRPr lang="en-US" sz="1250" dirty="0"/>
          </a:p>
        </p:txBody>
      </p:sp>
      <p:sp>
        <p:nvSpPr>
          <p:cNvPr id="20" name="Shape 18"/>
          <p:cNvSpPr/>
          <p:nvPr/>
        </p:nvSpPr>
        <p:spPr>
          <a:xfrm>
            <a:off x="8958834" y="3703320"/>
            <a:ext cx="274320" cy="320040"/>
          </a:xfrm>
          <a:prstGeom prst="downArrow">
            <a:avLst/>
          </a:prstGeom>
          <a:solidFill>
            <a:srgbClr val="007F79"/>
          </a:solidFill>
          <a:ln w="12700">
            <a:solidFill>
              <a:srgbClr val="007F79"/>
            </a:solidFill>
            <a:prstDash val="solid"/>
          </a:ln>
        </p:spPr>
      </p:sp>
      <p:sp>
        <p:nvSpPr>
          <p:cNvPr id="21" name="Shape 19"/>
          <p:cNvSpPr/>
          <p:nvPr/>
        </p:nvSpPr>
        <p:spPr>
          <a:xfrm>
            <a:off x="7008876" y="4069080"/>
            <a:ext cx="4174236" cy="685800"/>
          </a:xfrm>
          <a:prstGeom prst="roundRect">
            <a:avLst>
              <a:gd name="adj" fmla="val 13333"/>
            </a:avLst>
          </a:prstGeom>
          <a:solidFill>
            <a:srgbClr val="10283D"/>
          </a:solidFill>
          <a:ln w="12700">
            <a:solidFill>
              <a:srgbClr val="10283D"/>
            </a:solidFill>
            <a:prstDash val="solid"/>
          </a:ln>
        </p:spPr>
      </p:sp>
      <p:sp>
        <p:nvSpPr>
          <p:cNvPr id="22" name="Text 20"/>
          <p:cNvSpPr txBox="1"/>
          <p:nvPr/>
        </p:nvSpPr>
        <p:spPr>
          <a:xfrm>
            <a:off x="7100316" y="4069080"/>
            <a:ext cx="3991356" cy="685800"/>
          </a:xfrm>
          <a:prstGeom prst="rect">
            <a:avLst/>
          </a:prstGeom>
          <a:noFill/>
          <a:ln/>
        </p:spPr>
        <p:txBody>
          <a:bodyPr wrap="square" lIns="0" tIns="0" rIns="0" bIns="0" rtlCol="0" anchor="ctr"/>
          <a:lstStyle/>
          <a:p>
            <a:pPr algn="ctr" indent="0" marL="0">
              <a:buNone/>
            </a:pPr>
            <a:r>
              <a:rPr lang="en-US" sz="1250" dirty="0">
                <a:solidFill>
                  <a:srgbClr val="F3BD58"/>
                </a:solidFill>
                <a:latin typeface="Arial" pitchFamily="34" charset="0"/>
                <a:ea typeface="Arial" pitchFamily="34" charset="-122"/>
                <a:cs typeface="Arial" pitchFamily="34" charset="-120"/>
              </a:rPr>
              <a:t>Validated context configuration</a:t>
            </a:r>
            <a:endParaRPr lang="en-US" sz="1250" dirty="0"/>
          </a:p>
        </p:txBody>
      </p:sp>
      <p:sp>
        <p:nvSpPr>
          <p:cNvPr id="23" name="Text 21"/>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24" name="Text 22"/>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24 / 44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Ownership is an interface requirement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981474"/>
                <a:gridCol w="4234242"/>
                <a:gridCol w="3875957"/>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Owner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Responsibility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Must not own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Sensor service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Capture once; timestamp; fan out observations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Policy-dependent success labels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Policy server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Prompt encoding and action-chunk inference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Actuator publishing, reset, verifier edits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G1 gateway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Command lease, validation, IK, interpolation, watchdog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Neural training or unbounded code execution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Supervisor + verifier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Reset lease, trial budgets, independent outcomes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Changing metrics after seeing results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ENPIRE worker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Allowlisted candidate changes between trials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Gateway limits, test data, verifier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Text 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7"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25 / 44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Observation contract and action codec</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11091672" cy="492760"/>
          </a:xfrm>
          <a:prstGeom prst="rect">
            <a:avLst/>
          </a:prstGeom>
          <a:noFill/>
          <a:ln/>
        </p:spPr>
        <p:txBody>
          <a:bodyPr wrap="square" lIns="0" tIns="0" rIns="0" bIns="0" rtlCol="0" anchor="ctr"/>
          <a:lstStyle/>
          <a:p>
            <a:pPr indent="0" marL="0">
              <a:buNone/>
            </a:pPr>
            <a:r>
              <a:rPr lang="en-US" sz="2000" dirty="0">
                <a:solidFill>
                  <a:srgbClr val="10283D"/>
                </a:solidFill>
                <a:latin typeface="Georgia" pitchFamily="34" charset="0"/>
                <a:ea typeface="Georgia" pitchFamily="34" charset="-122"/>
                <a:cs typeface="Georgia" pitchFamily="34" charset="-120"/>
              </a:rPr>
              <a:t>a = [Δx, Δy, Δz, Δrx, Δry, Δrz, g]  ·  Ttarget = Tobserved · ΔT</a:t>
            </a:r>
            <a:endParaRPr lang="en-US" sz="2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138680"/>
          <a:ext cx="11091672" cy="914400"/>
        </p:xfrm>
        <a:graphic>
          <a:graphicData uri="http://schemas.openxmlformats.org/drawingml/2006/table">
            <a:tbl>
              <a:tblPr/>
              <a:tblGrid>
                <a:gridCol w="4305796"/>
                <a:gridCol w="6785876"/>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Data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Required metadata</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External / wrist RGB</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Capture time, validity, view identity; state interpolated to capture time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Measured joints + hand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Named ordering, SI units, missing-signal mask</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Measured TCP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Actual hand offset and base frame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Every snapshot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Episode, generation, schema and calibration hashes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8" name="Text 5"/>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26 / 44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Frames, calibration and G1 control constraints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696469"/>
                <a:gridCol w="7395203"/>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Constraint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Implementation requirement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Calibration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Intrinsics, camera-to-base, wrist-to-TCP; verify FK reprojection at many poses across the workspace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Waist / stance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Explicit controller ownership; a stationary upper-body experiment must not fight the stance controller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IK</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Regularize toward measured configuration; joint and velocity limits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Collision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Torso, head cameras, parked arm, hand, table and the held cup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Fault response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Commissioned hold/stop transition — zero torque is not a humanoid stop strategy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4150164"/>
            <a:ext cx="11091672" cy="530901"/>
          </a:xfrm>
          <a:prstGeom prst="rect">
            <a:avLst/>
          </a:prstGeom>
          <a:solidFill>
            <a:srgbClr val="FBF1DC"/>
          </a:solidFill>
          <a:ln w="12700">
            <a:solidFill>
              <a:srgbClr val="FBF1DC"/>
            </a:solidFill>
            <a:prstDash val="solid"/>
          </a:ln>
        </p:spPr>
      </p:sp>
      <p:sp>
        <p:nvSpPr>
          <p:cNvPr id="7" name="Shape 4"/>
          <p:cNvSpPr/>
          <p:nvPr/>
        </p:nvSpPr>
        <p:spPr>
          <a:xfrm>
            <a:off x="548640" y="4150164"/>
            <a:ext cx="82296" cy="530901"/>
          </a:xfrm>
          <a:prstGeom prst="rect">
            <a:avLst/>
          </a:prstGeom>
          <a:solidFill>
            <a:srgbClr val="F3BD58"/>
          </a:solidFill>
          <a:ln w="12700">
            <a:solidFill>
              <a:srgbClr val="F3BD58"/>
            </a:solidFill>
            <a:prstDash val="solid"/>
          </a:ln>
        </p:spPr>
      </p:sp>
      <p:sp>
        <p:nvSpPr>
          <p:cNvPr id="8" name="Text 5"/>
          <p:cNvSpPr txBox="1"/>
          <p:nvPr/>
        </p:nvSpPr>
        <p:spPr>
          <a:xfrm>
            <a:off x="822960" y="4150164"/>
            <a:ext cx="10543032" cy="53090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SDK example gains and poses are interface references, not station commissioning values.</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G1 SDK</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Pinocchio</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27 / 44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Baseline first: make failure diagnosable</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1734312" cy="864588"/>
          </a:xfrm>
          <a:prstGeom prst="rect">
            <a:avLst/>
          </a:prstGeom>
          <a:solidFill>
            <a:srgbClr val="E3F1EF"/>
          </a:solidFill>
          <a:ln w="12700">
            <a:solidFill>
              <a:srgbClr val="E3F1EF"/>
            </a:solidFill>
            <a:prstDash val="solid"/>
          </a:ln>
        </p:spPr>
      </p:sp>
      <p:sp>
        <p:nvSpPr>
          <p:cNvPr id="6" name="Text 4"/>
          <p:cNvSpPr txBox="1"/>
          <p:nvPr/>
        </p:nvSpPr>
        <p:spPr>
          <a:xfrm>
            <a:off x="685800" y="1463040"/>
            <a:ext cx="1459992"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01</a:t>
            </a:r>
            <a:endParaRPr lang="en-US" sz="1725" dirty="0"/>
          </a:p>
        </p:txBody>
      </p:sp>
      <p:sp>
        <p:nvSpPr>
          <p:cNvPr id="7" name="Text 5"/>
          <p:cNvSpPr txBox="1"/>
          <p:nvPr/>
        </p:nvSpPr>
        <p:spPr>
          <a:xfrm>
            <a:off x="685800" y="1783080"/>
            <a:ext cx="1459992" cy="407388"/>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Locate cup</a:t>
            </a:r>
            <a:endParaRPr lang="en-US" sz="1449" dirty="0"/>
          </a:p>
        </p:txBody>
      </p:sp>
      <p:sp>
        <p:nvSpPr>
          <p:cNvPr id="8" name="Shape 6"/>
          <p:cNvSpPr/>
          <p:nvPr/>
        </p:nvSpPr>
        <p:spPr>
          <a:xfrm>
            <a:off x="2420112" y="1371600"/>
            <a:ext cx="1734312" cy="864588"/>
          </a:xfrm>
          <a:prstGeom prst="rect">
            <a:avLst/>
          </a:prstGeom>
          <a:solidFill>
            <a:srgbClr val="E3F1EF"/>
          </a:solidFill>
          <a:ln w="12700">
            <a:solidFill>
              <a:srgbClr val="E3F1EF"/>
            </a:solidFill>
            <a:prstDash val="solid"/>
          </a:ln>
        </p:spPr>
      </p:sp>
      <p:sp>
        <p:nvSpPr>
          <p:cNvPr id="9" name="Text 7"/>
          <p:cNvSpPr txBox="1"/>
          <p:nvPr/>
        </p:nvSpPr>
        <p:spPr>
          <a:xfrm>
            <a:off x="2557272" y="1463040"/>
            <a:ext cx="1459992"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02</a:t>
            </a:r>
            <a:endParaRPr lang="en-US" sz="1725" dirty="0"/>
          </a:p>
        </p:txBody>
      </p:sp>
      <p:sp>
        <p:nvSpPr>
          <p:cNvPr id="10" name="Text 8"/>
          <p:cNvSpPr txBox="1"/>
          <p:nvPr/>
        </p:nvSpPr>
        <p:spPr>
          <a:xfrm>
            <a:off x="2557272" y="1783080"/>
            <a:ext cx="1459992" cy="407388"/>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Select grasp</a:t>
            </a:r>
            <a:endParaRPr lang="en-US" sz="1449" dirty="0"/>
          </a:p>
        </p:txBody>
      </p:sp>
      <p:sp>
        <p:nvSpPr>
          <p:cNvPr id="11" name="Shape 9"/>
          <p:cNvSpPr/>
          <p:nvPr/>
        </p:nvSpPr>
        <p:spPr>
          <a:xfrm>
            <a:off x="4291584" y="1371600"/>
            <a:ext cx="1734312" cy="864588"/>
          </a:xfrm>
          <a:prstGeom prst="rect">
            <a:avLst/>
          </a:prstGeom>
          <a:solidFill>
            <a:srgbClr val="E3F1EF"/>
          </a:solidFill>
          <a:ln w="12700">
            <a:solidFill>
              <a:srgbClr val="E3F1EF"/>
            </a:solidFill>
            <a:prstDash val="solid"/>
          </a:ln>
        </p:spPr>
      </p:sp>
      <p:sp>
        <p:nvSpPr>
          <p:cNvPr id="12" name="Text 10"/>
          <p:cNvSpPr txBox="1"/>
          <p:nvPr/>
        </p:nvSpPr>
        <p:spPr>
          <a:xfrm>
            <a:off x="4428744" y="1463040"/>
            <a:ext cx="1459992"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03</a:t>
            </a:r>
            <a:endParaRPr lang="en-US" sz="1725" dirty="0"/>
          </a:p>
        </p:txBody>
      </p:sp>
      <p:sp>
        <p:nvSpPr>
          <p:cNvPr id="13" name="Text 11"/>
          <p:cNvSpPr txBox="1"/>
          <p:nvPr/>
        </p:nvSpPr>
        <p:spPr>
          <a:xfrm>
            <a:off x="4428744" y="1783080"/>
            <a:ext cx="1459992" cy="407388"/>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Pregrasp</a:t>
            </a:r>
            <a:endParaRPr lang="en-US" sz="1449" dirty="0"/>
          </a:p>
        </p:txBody>
      </p:sp>
      <p:sp>
        <p:nvSpPr>
          <p:cNvPr id="14" name="Shape 12"/>
          <p:cNvSpPr/>
          <p:nvPr/>
        </p:nvSpPr>
        <p:spPr>
          <a:xfrm>
            <a:off x="6163056" y="1371600"/>
            <a:ext cx="1734312" cy="864588"/>
          </a:xfrm>
          <a:prstGeom prst="rect">
            <a:avLst/>
          </a:prstGeom>
          <a:solidFill>
            <a:srgbClr val="E3F1EF"/>
          </a:solidFill>
          <a:ln w="12700">
            <a:solidFill>
              <a:srgbClr val="E3F1EF"/>
            </a:solidFill>
            <a:prstDash val="solid"/>
          </a:ln>
        </p:spPr>
      </p:sp>
      <p:sp>
        <p:nvSpPr>
          <p:cNvPr id="15" name="Text 13"/>
          <p:cNvSpPr txBox="1"/>
          <p:nvPr/>
        </p:nvSpPr>
        <p:spPr>
          <a:xfrm>
            <a:off x="6300216" y="1463040"/>
            <a:ext cx="1459992"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04</a:t>
            </a:r>
            <a:endParaRPr lang="en-US" sz="1725" dirty="0"/>
          </a:p>
        </p:txBody>
      </p:sp>
      <p:sp>
        <p:nvSpPr>
          <p:cNvPr id="16" name="Text 14"/>
          <p:cNvSpPr txBox="1"/>
          <p:nvPr/>
        </p:nvSpPr>
        <p:spPr>
          <a:xfrm>
            <a:off x="6300216" y="1783080"/>
            <a:ext cx="1459992" cy="407388"/>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Approach + close</a:t>
            </a:r>
            <a:endParaRPr lang="en-US" sz="1449" dirty="0"/>
          </a:p>
        </p:txBody>
      </p:sp>
      <p:sp>
        <p:nvSpPr>
          <p:cNvPr id="17" name="Shape 15"/>
          <p:cNvSpPr/>
          <p:nvPr/>
        </p:nvSpPr>
        <p:spPr>
          <a:xfrm>
            <a:off x="8034528" y="1371600"/>
            <a:ext cx="1734312" cy="864588"/>
          </a:xfrm>
          <a:prstGeom prst="rect">
            <a:avLst/>
          </a:prstGeom>
          <a:solidFill>
            <a:srgbClr val="E3F1EF"/>
          </a:solidFill>
          <a:ln w="12700">
            <a:solidFill>
              <a:srgbClr val="E3F1EF"/>
            </a:solidFill>
            <a:prstDash val="solid"/>
          </a:ln>
        </p:spPr>
      </p:sp>
      <p:sp>
        <p:nvSpPr>
          <p:cNvPr id="18" name="Text 16"/>
          <p:cNvSpPr txBox="1"/>
          <p:nvPr/>
        </p:nvSpPr>
        <p:spPr>
          <a:xfrm>
            <a:off x="8171688" y="1463040"/>
            <a:ext cx="1459992"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05</a:t>
            </a:r>
            <a:endParaRPr lang="en-US" sz="1725" dirty="0"/>
          </a:p>
        </p:txBody>
      </p:sp>
      <p:sp>
        <p:nvSpPr>
          <p:cNvPr id="19" name="Text 17"/>
          <p:cNvSpPr txBox="1"/>
          <p:nvPr/>
        </p:nvSpPr>
        <p:spPr>
          <a:xfrm>
            <a:off x="8171688" y="1783080"/>
            <a:ext cx="1459992" cy="407388"/>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Verify + lift</a:t>
            </a:r>
            <a:endParaRPr lang="en-US" sz="1449" dirty="0"/>
          </a:p>
        </p:txBody>
      </p:sp>
      <p:sp>
        <p:nvSpPr>
          <p:cNvPr id="20" name="Shape 18"/>
          <p:cNvSpPr/>
          <p:nvPr/>
        </p:nvSpPr>
        <p:spPr>
          <a:xfrm>
            <a:off x="9906000" y="1371600"/>
            <a:ext cx="1734312" cy="864588"/>
          </a:xfrm>
          <a:prstGeom prst="rect">
            <a:avLst/>
          </a:prstGeom>
          <a:solidFill>
            <a:srgbClr val="E3F1EF"/>
          </a:solidFill>
          <a:ln w="12700">
            <a:solidFill>
              <a:srgbClr val="E3F1EF"/>
            </a:solidFill>
            <a:prstDash val="solid"/>
          </a:ln>
        </p:spPr>
      </p:sp>
      <p:sp>
        <p:nvSpPr>
          <p:cNvPr id="21" name="Text 19"/>
          <p:cNvSpPr txBox="1"/>
          <p:nvPr/>
        </p:nvSpPr>
        <p:spPr>
          <a:xfrm>
            <a:off x="10043160" y="1463040"/>
            <a:ext cx="1459992"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06</a:t>
            </a:r>
            <a:endParaRPr lang="en-US" sz="1725" dirty="0"/>
          </a:p>
        </p:txBody>
      </p:sp>
      <p:sp>
        <p:nvSpPr>
          <p:cNvPr id="22" name="Text 20"/>
          <p:cNvSpPr txBox="1"/>
          <p:nvPr/>
        </p:nvSpPr>
        <p:spPr>
          <a:xfrm>
            <a:off x="10043160" y="1783080"/>
            <a:ext cx="1459992" cy="407388"/>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Hold + place</a:t>
            </a:r>
            <a:endParaRPr lang="en-US" sz="1449" dirty="0"/>
          </a:p>
        </p:txBody>
      </p:sp>
      <p:sp>
        <p:nvSpPr>
          <p:cNvPr id="23" name="Shape 21"/>
          <p:cNvSpPr/>
          <p:nvPr/>
        </p:nvSpPr>
        <p:spPr>
          <a:xfrm>
            <a:off x="548640" y="2601948"/>
            <a:ext cx="11091672" cy="787481"/>
          </a:xfrm>
          <a:prstGeom prst="rect">
            <a:avLst/>
          </a:prstGeom>
          <a:solidFill>
            <a:srgbClr val="FBF1DC"/>
          </a:solidFill>
          <a:ln w="12700">
            <a:solidFill>
              <a:srgbClr val="FBF1DC"/>
            </a:solidFill>
            <a:prstDash val="solid"/>
          </a:ln>
        </p:spPr>
      </p:sp>
      <p:sp>
        <p:nvSpPr>
          <p:cNvPr id="24" name="Shape 22"/>
          <p:cNvSpPr/>
          <p:nvPr/>
        </p:nvSpPr>
        <p:spPr>
          <a:xfrm>
            <a:off x="548640" y="2601948"/>
            <a:ext cx="82296" cy="787481"/>
          </a:xfrm>
          <a:prstGeom prst="rect">
            <a:avLst/>
          </a:prstGeom>
          <a:solidFill>
            <a:srgbClr val="F3BD58"/>
          </a:solidFill>
          <a:ln w="12700">
            <a:solidFill>
              <a:srgbClr val="F3BD58"/>
            </a:solidFill>
            <a:prstDash val="solid"/>
          </a:ln>
        </p:spPr>
      </p:sp>
      <p:sp>
        <p:nvSpPr>
          <p:cNvPr id="25" name="Text 23"/>
          <p:cNvSpPr txBox="1"/>
          <p:nvPr/>
        </p:nvSpPr>
        <p:spPr>
          <a:xfrm>
            <a:off x="822960" y="2601948"/>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Each phase needs measured completion, a timeout and a failure code. Exit gate: repeatable grasp/place across the workspace and working abort paths.</a:t>
            </a:r>
            <a:endParaRPr lang="en-US" sz="1656" dirty="0"/>
          </a:p>
        </p:txBody>
      </p:sp>
      <p:sp>
        <p:nvSpPr>
          <p:cNvPr id="26" name="Text 24"/>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27" name="Text 25"/>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28 / 44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Data: a pipeline pilot, then a scaling track</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5271516" cy="1785823"/>
          </a:xfrm>
          <a:prstGeom prst="rect">
            <a:avLst/>
          </a:prstGeom>
          <a:solidFill>
            <a:srgbClr val="FFFFFF"/>
          </a:solidFill>
          <a:ln w="9525">
            <a:solidFill>
              <a:srgbClr val="D7DEDB"/>
            </a:solidFill>
            <a:prstDash val="solid"/>
          </a:ln>
        </p:spPr>
      </p:sp>
      <p:sp>
        <p:nvSpPr>
          <p:cNvPr id="6" name="Shape 4"/>
          <p:cNvSpPr/>
          <p:nvPr/>
        </p:nvSpPr>
        <p:spPr>
          <a:xfrm>
            <a:off x="548640" y="1371600"/>
            <a:ext cx="5271516"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Phase 1 · pilot (weeks 4–6)</a:t>
            </a:r>
            <a:endParaRPr lang="en-US" sz="1932" dirty="0"/>
          </a:p>
        </p:txBody>
      </p:sp>
      <p:sp>
        <p:nvSpPr>
          <p:cNvPr id="8" name="Text 6"/>
          <p:cNvSpPr txBox="1"/>
          <p:nvPr/>
        </p:nvSpPr>
        <p:spPr>
          <a:xfrm>
            <a:off x="731520" y="1990984"/>
            <a:ext cx="4905756" cy="107499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6 variants × 20 episodes + 2 dev variants × 10. Validates converter, codec, splits and training loop. </a:t>
            </a:r>
            <a:pPr indent="0" marL="0">
              <a:buNone/>
            </a:pPr>
            <a:r>
              <a:rPr lang="en-US" sz="1587" b="1" dirty="0">
                <a:solidFill>
                  <a:srgbClr val="1B2A36"/>
                </a:solidFill>
                <a:latin typeface="Arial" pitchFamily="34" charset="0"/>
                <a:ea typeface="Arial" pitchFamily="34" charset="-122"/>
                <a:cs typeface="Arial" pitchFamily="34" charset="-120"/>
              </a:rPr>
              <a:t>Not</a:t>
            </a:r>
            <a:pPr indent="0" marL="0">
              <a:buNone/>
            </a:pPr>
            <a:r>
              <a:rPr lang="en-US" sz="1587" dirty="0">
                <a:solidFill>
                  <a:srgbClr val="1B2A36"/>
                </a:solidFill>
                <a:latin typeface="Arial" pitchFamily="34" charset="0"/>
                <a:ea typeface="Arial" pitchFamily="34" charset="-122"/>
                <a:cs typeface="Arial" pitchFamily="34" charset="-120"/>
              </a:rPr>
              <a:t> expected to show context use.</a:t>
            </a:r>
            <a:endParaRPr lang="en-US" sz="1587" dirty="0"/>
          </a:p>
        </p:txBody>
      </p:sp>
      <p:sp>
        <p:nvSpPr>
          <p:cNvPr id="9" name="Shape 7"/>
          <p:cNvSpPr/>
          <p:nvPr/>
        </p:nvSpPr>
        <p:spPr>
          <a:xfrm>
            <a:off x="6368796" y="1371600"/>
            <a:ext cx="5271516" cy="1785823"/>
          </a:xfrm>
          <a:prstGeom prst="rect">
            <a:avLst/>
          </a:prstGeom>
          <a:solidFill>
            <a:srgbClr val="FFFFFF"/>
          </a:solidFill>
          <a:ln w="9525">
            <a:solidFill>
              <a:srgbClr val="D7DEDB"/>
            </a:solidFill>
            <a:prstDash val="solid"/>
          </a:ln>
        </p:spPr>
      </p:sp>
      <p:sp>
        <p:nvSpPr>
          <p:cNvPr id="10" name="Shape 8"/>
          <p:cNvSpPr/>
          <p:nvPr/>
        </p:nvSpPr>
        <p:spPr>
          <a:xfrm>
            <a:off x="6368796" y="1371600"/>
            <a:ext cx="5271516" cy="54864"/>
          </a:xfrm>
          <a:prstGeom prst="rect">
            <a:avLst/>
          </a:prstGeom>
          <a:solidFill>
            <a:srgbClr val="007F79"/>
          </a:solidFill>
          <a:ln w="12700">
            <a:solidFill>
              <a:srgbClr val="007F79"/>
            </a:solidFill>
            <a:prstDash val="solid"/>
          </a:ln>
        </p:spPr>
      </p:sp>
      <p:sp>
        <p:nvSpPr>
          <p:cNvPr id="11" name="Text 9"/>
          <p:cNvSpPr txBox="1"/>
          <p:nvPr/>
        </p:nvSpPr>
        <p:spPr>
          <a:xfrm>
            <a:off x="6551676"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Phase 2 · scaling (weeks 6–9)</a:t>
            </a:r>
            <a:endParaRPr lang="en-US" sz="1932" dirty="0"/>
          </a:p>
        </p:txBody>
      </p:sp>
      <p:sp>
        <p:nvSpPr>
          <p:cNvPr id="12" name="Text 10"/>
          <p:cNvSpPr txBox="1"/>
          <p:nvPr/>
        </p:nvSpPr>
        <p:spPr>
          <a:xfrm>
            <a:off x="6551676" y="1990984"/>
            <a:ext cx="4905756" cy="107499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Dozens of compositional variants (cup × destination × approach × lighting) via teleop, and/or MuJoCo pseudo-demos in the Instant Policy / SynthICL style with real demos used only as prompts.</a:t>
            </a:r>
            <a:endParaRPr lang="en-US" sz="1587" dirty="0"/>
          </a:p>
        </p:txBody>
      </p:sp>
      <p:sp>
        <p:nvSpPr>
          <p:cNvPr id="13" name="Text 11"/>
          <p:cNvSpPr txBox="1"/>
          <p:nvPr/>
        </p:nvSpPr>
        <p:spPr>
          <a:xfrm>
            <a:off x="5820156" y="1371600"/>
            <a:ext cx="548640" cy="1785823"/>
          </a:xfrm>
          <a:prstGeom prst="rect">
            <a:avLst/>
          </a:prstGeom>
          <a:noFill/>
          <a:ln/>
        </p:spPr>
        <p:txBody>
          <a:bodyPr wrap="square" lIns="0" tIns="0" rIns="0" bIns="0" rtlCol="0" anchor="ctr"/>
          <a:lstStyle/>
          <a:p>
            <a:pPr algn="ctr" indent="0" marL="0">
              <a:buNone/>
            </a:pPr>
            <a:r>
              <a:rPr lang="en-US" sz="2400" dirty="0">
                <a:solidFill>
                  <a:srgbClr val="F3BD5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3523183"/>
            <a:ext cx="11091672" cy="787481"/>
          </a:xfrm>
          <a:prstGeom prst="rect">
            <a:avLst/>
          </a:prstGeom>
          <a:solidFill>
            <a:srgbClr val="FBF1DC"/>
          </a:solidFill>
          <a:ln w="12700">
            <a:solidFill>
              <a:srgbClr val="FBF1DC"/>
            </a:solidFill>
            <a:prstDash val="solid"/>
          </a:ln>
        </p:spPr>
      </p:sp>
      <p:sp>
        <p:nvSpPr>
          <p:cNvPr id="15" name="Shape 13"/>
          <p:cNvSpPr/>
          <p:nvPr/>
        </p:nvSpPr>
        <p:spPr>
          <a:xfrm>
            <a:off x="548640" y="3523183"/>
            <a:ext cx="82296" cy="787481"/>
          </a:xfrm>
          <a:prstGeom prst="rect">
            <a:avLst/>
          </a:prstGeom>
          <a:solidFill>
            <a:srgbClr val="F3BD58"/>
          </a:solidFill>
          <a:ln w="12700">
            <a:solidFill>
              <a:srgbClr val="F3BD58"/>
            </a:solidFill>
            <a:prstDash val="solid"/>
          </a:ln>
        </p:spPr>
      </p:sp>
      <p:sp>
        <p:nvSpPr>
          <p:cNvPr id="16" name="Text 14"/>
          <p:cNvSpPr txBox="1"/>
          <p:nvPr/>
        </p:nvSpPr>
        <p:spPr>
          <a:xfrm>
            <a:off x="822960" y="3523183"/>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Split by session and task, never by neighbouring frames. Held-out prompt demos are collected only after the pipeline is frozen and never train weights or tune retrieval.</a:t>
            </a:r>
            <a:endParaRPr lang="en-US" sz="1656" dirty="0"/>
          </a:p>
        </p:txBody>
      </p:sp>
      <p:sp>
        <p:nvSpPr>
          <p:cNvPr id="17" name="Text 1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xr_teleoperate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SynthICL</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MuJoCo</a:t>
            </a:r>
            <a:endParaRPr lang="en-US" sz="900" dirty="0"/>
          </a:p>
        </p:txBody>
      </p:sp>
      <p:sp>
        <p:nvSpPr>
          <p:cNvPr id="18" name="Text 1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29 / 44</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Train and freeze the first policy</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5271516" cy="1294044"/>
          </a:xfrm>
          <a:prstGeom prst="rect">
            <a:avLst/>
          </a:prstGeom>
          <a:solidFill>
            <a:srgbClr val="FFFFFF"/>
          </a:solidFill>
          <a:ln w="9525">
            <a:solidFill>
              <a:srgbClr val="D7DEDB"/>
            </a:solidFill>
            <a:prstDash val="solid"/>
          </a:ln>
        </p:spPr>
      </p:sp>
      <p:sp>
        <p:nvSpPr>
          <p:cNvPr id="6" name="Shape 4"/>
          <p:cNvSpPr/>
          <p:nvPr/>
        </p:nvSpPr>
        <p:spPr>
          <a:xfrm>
            <a:off x="548640" y="1371600"/>
            <a:ext cx="5271516"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Support trajectory</a:t>
            </a:r>
            <a:endParaRPr lang="en-US" sz="1932" dirty="0"/>
          </a:p>
        </p:txBody>
      </p:sp>
      <p:sp>
        <p:nvSpPr>
          <p:cNvPr id="8" name="Text 6"/>
          <p:cNvSpPr txBox="1"/>
          <p:nvPr/>
        </p:nvSpPr>
        <p:spPr>
          <a:xfrm>
            <a:off x="731520" y="1990984"/>
            <a:ext cx="4905756" cy="583220"/>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Completed demonstration: observations + actions</a:t>
            </a:r>
            <a:endParaRPr lang="en-US" sz="1587" dirty="0"/>
          </a:p>
        </p:txBody>
      </p:sp>
      <p:sp>
        <p:nvSpPr>
          <p:cNvPr id="9" name="Shape 7"/>
          <p:cNvSpPr/>
          <p:nvPr/>
        </p:nvSpPr>
        <p:spPr>
          <a:xfrm>
            <a:off x="6368796" y="1371600"/>
            <a:ext cx="5271516" cy="1294044"/>
          </a:xfrm>
          <a:prstGeom prst="rect">
            <a:avLst/>
          </a:prstGeom>
          <a:solidFill>
            <a:srgbClr val="FFFFFF"/>
          </a:solidFill>
          <a:ln w="9525">
            <a:solidFill>
              <a:srgbClr val="D7DEDB"/>
            </a:solidFill>
            <a:prstDash val="solid"/>
          </a:ln>
        </p:spPr>
      </p:sp>
      <p:sp>
        <p:nvSpPr>
          <p:cNvPr id="10" name="Shape 8"/>
          <p:cNvSpPr/>
          <p:nvPr/>
        </p:nvSpPr>
        <p:spPr>
          <a:xfrm>
            <a:off x="6368796" y="1371600"/>
            <a:ext cx="5271516" cy="54864"/>
          </a:xfrm>
          <a:prstGeom prst="rect">
            <a:avLst/>
          </a:prstGeom>
          <a:solidFill>
            <a:srgbClr val="007F79"/>
          </a:solidFill>
          <a:ln w="12700">
            <a:solidFill>
              <a:srgbClr val="007F79"/>
            </a:solidFill>
            <a:prstDash val="solid"/>
          </a:ln>
        </p:spPr>
      </p:sp>
      <p:sp>
        <p:nvSpPr>
          <p:cNvPr id="11" name="Text 9"/>
          <p:cNvSpPr txBox="1"/>
          <p:nvPr/>
        </p:nvSpPr>
        <p:spPr>
          <a:xfrm>
            <a:off x="6551676"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Query trajectory</a:t>
            </a:r>
            <a:endParaRPr lang="en-US" sz="1932" dirty="0"/>
          </a:p>
        </p:txBody>
      </p:sp>
      <p:sp>
        <p:nvSpPr>
          <p:cNvPr id="12" name="Text 10"/>
          <p:cNvSpPr txBox="1"/>
          <p:nvPr/>
        </p:nvSpPr>
        <p:spPr>
          <a:xfrm>
            <a:off x="6551676" y="1990984"/>
            <a:ext cx="4905756" cy="583220"/>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A different episode with the same intent: past and current observations → predict its actions</a:t>
            </a:r>
            <a:endParaRPr lang="en-US" sz="1587" dirty="0"/>
          </a:p>
        </p:txBody>
      </p:sp>
      <p:sp>
        <p:nvSpPr>
          <p:cNvPr id="13" name="Text 11"/>
          <p:cNvSpPr txBox="1"/>
          <p:nvPr/>
        </p:nvSpPr>
        <p:spPr>
          <a:xfrm>
            <a:off x="5820156" y="1371600"/>
            <a:ext cx="548640" cy="1294044"/>
          </a:xfrm>
          <a:prstGeom prst="rect">
            <a:avLst/>
          </a:prstGeom>
          <a:noFill/>
          <a:ln/>
        </p:spPr>
        <p:txBody>
          <a:bodyPr wrap="square" lIns="0" tIns="0" rIns="0" bIns="0" rtlCol="0" anchor="ctr"/>
          <a:lstStyle/>
          <a:p>
            <a:pPr algn="ctr" indent="0" marL="0">
              <a:buNone/>
            </a:pPr>
            <a:r>
              <a:rPr lang="en-US" sz="2400" dirty="0">
                <a:solidFill>
                  <a:srgbClr val="F3BD58"/>
                </a:solidFill>
                <a:latin typeface="Georgia" pitchFamily="34" charset="0"/>
                <a:ea typeface="Georgia" pitchFamily="34" charset="-122"/>
                <a:cs typeface="Georgia" pitchFamily="34" charset="-120"/>
              </a:rPr>
              <a:t>+</a:t>
            </a:r>
            <a:endParaRPr lang="en-US" sz="2400" dirty="0"/>
          </a:p>
        </p:txBody>
      </p:sp>
      <p:sp>
        <p:nvSpPr>
          <p:cNvPr id="14" name="Text 12"/>
          <p:cNvSpPr txBox="1"/>
          <p:nvPr/>
        </p:nvSpPr>
        <p:spPr>
          <a:xfrm>
            <a:off x="548640" y="3031404"/>
            <a:ext cx="11091672" cy="1720406"/>
          </a:xfrm>
          <a:prstGeom prst="rect">
            <a:avLst/>
          </a:prstGeom>
          <a:noFill/>
          <a:ln/>
        </p:spPr>
        <p:txBody>
          <a:bodyPr wrap="square" lIns="0" tIns="0" rIns="0" bIns="0" rtlCol="0" anchor="t"/>
          <a:lstStyle/>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Reproduce the upstream offline example first; verify image order, proprioception, gripper convention and dt</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Overfit a tiny subset to debug; then train across tasks and select on the development split</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Freeze weights, preprocessing, codec and prompt bank as one hashed bundle before any held-out test</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BPP is a separate reproduction on identical splits and budgets — not ICRT with extra tokens</a:t>
            </a:r>
            <a:endParaRPr lang="en-US" sz="1725" dirty="0"/>
          </a:p>
        </p:txBody>
      </p:sp>
      <p:sp>
        <p:nvSpPr>
          <p:cNvPr id="15" name="Text 1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ICRT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BPP</a:t>
            </a:r>
            <a:endParaRPr lang="en-US" sz="900" dirty="0"/>
          </a:p>
        </p:txBody>
      </p:sp>
      <p:sp>
        <p:nvSpPr>
          <p:cNvPr id="16" name="Text 1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30 / 44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Prompt selection and latency</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317716"/>
                <a:gridCol w="7773956"/>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Stage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Context selection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1</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 manually selected successful demonstration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2</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Fixed versus random valid prompt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3</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Retrieve using legal information only: task, initial scene, object geometry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4</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ENPIRE tunes bounded retrieval settings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385200"/>
            <a:ext cx="11091672" cy="787481"/>
          </a:xfrm>
          <a:prstGeom prst="rect">
            <a:avLst/>
          </a:prstGeom>
          <a:solidFill>
            <a:srgbClr val="FBF1DC"/>
          </a:solidFill>
          <a:ln w="12700">
            <a:solidFill>
              <a:srgbClr val="FBF1DC"/>
            </a:solidFill>
            <a:prstDash val="solid"/>
          </a:ln>
        </p:spPr>
      </p:sp>
      <p:sp>
        <p:nvSpPr>
          <p:cNvPr id="7" name="Shape 4"/>
          <p:cNvSpPr/>
          <p:nvPr/>
        </p:nvSpPr>
        <p:spPr>
          <a:xfrm>
            <a:off x="548640" y="3385200"/>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3385200"/>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Latency is measured capture → accepted target (p50 / p95 / max / deadline misses). Execute a short chunk prefix and replan; do not blend chunks unless the pose representation is stated and validated.</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31 / 44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Observe the cup, not the command</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931699"/>
                <a:gridCol w="4325762"/>
                <a:gridCol w="3834211"/>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Failure code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Measured evidence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First checks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PERCEPTION_INVALID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Cup pose missing or stale image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Camera, segmentation, synchronization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REACH_REJECTED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IK / collision / workspace rejection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Grasp candidate, robot geometry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GRASP_MISS / SLIP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Closure without cup motion; cup descends after lift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TCP offset, grasp height, hand synergy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WRONG_INTENT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Correct manipulation of the wrong cup or destination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Prompt use, retrieval, task leakage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DEADLINE_MISS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Expired action or observation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Model latency, transport, cache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4150164"/>
            <a:ext cx="11091672" cy="787481"/>
          </a:xfrm>
          <a:prstGeom prst="rect">
            <a:avLst/>
          </a:prstGeom>
          <a:solidFill>
            <a:srgbClr val="FBF1DC"/>
          </a:solidFill>
          <a:ln w="12700">
            <a:solidFill>
              <a:srgbClr val="FBF1DC"/>
            </a:solidFill>
            <a:prstDash val="solid"/>
          </a:ln>
        </p:spPr>
      </p:sp>
      <p:sp>
        <p:nvSpPr>
          <p:cNvPr id="7" name="Shape 4"/>
          <p:cNvSpPr/>
          <p:nvPr/>
        </p:nvSpPr>
        <p:spPr>
          <a:xfrm>
            <a:off x="548640" y="4150164"/>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4150164"/>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Rising TCP + closed hand does not prove a grasp; a NEXT-style external-torque estimate from joint current adds the missing load signal. Indeterminate ≠ success; all initiated trials stay in the denominator.</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32 / 44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Advance through explicit gates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525284"/>
                <a:gridCol w="6566388"/>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Gate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Evidence required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G0–G1 · rights + contracts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Eligible bundle; validated schema, codec, timing, no future-label leakage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G2–G3 · simulation + shadow</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Reach and fault injection; live observations with no actuator publishing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G4 · geometric hardware baseline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Repeatable grasp/place and commissioned abort transitions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G5–G6 · learned policy + ICL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One fixed prompt, short horizon; then controlled context effect with frozen weights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G7 · ENPIRE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Bounded search; improvement survives held-out comparison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4150164"/>
            <a:ext cx="11091672" cy="787481"/>
          </a:xfrm>
          <a:prstGeom prst="rect">
            <a:avLst/>
          </a:prstGeom>
          <a:solidFill>
            <a:srgbClr val="FBF1DC"/>
          </a:solidFill>
          <a:ln w="12700">
            <a:solidFill>
              <a:srgbClr val="FBF1DC"/>
            </a:solidFill>
            <a:prstDash val="solid"/>
          </a:ln>
        </p:spPr>
      </p:sp>
      <p:sp>
        <p:nvSpPr>
          <p:cNvPr id="7" name="Shape 4"/>
          <p:cNvSpPr/>
          <p:nvPr/>
        </p:nvSpPr>
        <p:spPr>
          <a:xfrm>
            <a:off x="548640" y="4150164"/>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4150164"/>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Fault injection before policy trials: dropped frames, delayed/duplicate messages, old generations, NaN actions, unreachable targets, policy-process termination.</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MuJoCo</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33 / 44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A fair comparison needs more than a success rate</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643190"/>
                <a:gridCol w="6448482"/>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Report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Required context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Completion and lift/hold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Denominator and 95% binomial interval — 50 trials gives roughly ±14 points near 50%</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Abort / intervention / indeterminate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Actual counts; no hidden assisted successes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Cycle time and latency</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Distribution, not only average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Learning cost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Training data, prompts, search trials and compute per method</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Paired difference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Matched conditions, interleaved method order, paired bootstrap interval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3925656"/>
            <a:ext cx="11091672" cy="787481"/>
          </a:xfrm>
          <a:prstGeom prst="rect">
            <a:avLst/>
          </a:prstGeom>
          <a:solidFill>
            <a:srgbClr val="FBF1DC"/>
          </a:solidFill>
          <a:ln w="12700">
            <a:solidFill>
              <a:srgbClr val="FBF1DC"/>
            </a:solidFill>
            <a:prstDash val="solid"/>
          </a:ln>
        </p:spPr>
      </p:sp>
      <p:sp>
        <p:nvSpPr>
          <p:cNvPr id="7" name="Shape 4"/>
          <p:cNvSpPr/>
          <p:nvPr/>
        </p:nvSpPr>
        <p:spPr>
          <a:xfrm>
            <a:off x="548640" y="3925656"/>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3925656"/>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Go / no-go for ICL: correct prompts must produce the requested behaviour and beat the controls on held-out conditions.</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34 / 44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02 · ENGINEERING PLAN ON OUR G1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Work packages and the first week</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30443"/>
                <a:gridCol w="4853700"/>
                <a:gridCol w="3607529"/>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Window</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Deliverable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Owner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Weeks 1–3</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Release audit, gateway, calibration, simulation, fault matrix</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Lead + controls + perception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Weeks 2–4</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Geometric baseline and dataset recorder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Controls + operator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Weeks 4–6</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Pilot data and first frozen ICRT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Learning engineer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Weeks 6–9</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Scaling data, BPP comparison, ENPIRE adapter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Learning + systems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Weeks 9–12+</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Held-out evaluation; optional trace extension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Evaluation owner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Shape 3"/>
          <p:cNvSpPr/>
          <p:nvPr/>
        </p:nvSpPr>
        <p:spPr>
          <a:xfrm>
            <a:off x="548640" y="3925656"/>
            <a:ext cx="11091672" cy="787481"/>
          </a:xfrm>
          <a:prstGeom prst="rect">
            <a:avLst/>
          </a:prstGeom>
          <a:solidFill>
            <a:srgbClr val="FBF1DC"/>
          </a:solidFill>
          <a:ln w="12700">
            <a:solidFill>
              <a:srgbClr val="FBF1DC"/>
            </a:solidFill>
            <a:prstDash val="solid"/>
          </a:ln>
        </p:spPr>
      </p:sp>
      <p:sp>
        <p:nvSpPr>
          <p:cNvPr id="7" name="Shape 4"/>
          <p:cNvSpPr/>
          <p:nvPr/>
        </p:nvSpPr>
        <p:spPr>
          <a:xfrm>
            <a:off x="548640" y="3925656"/>
            <a:ext cx="82296" cy="787481"/>
          </a:xfrm>
          <a:prstGeom prst="rect">
            <a:avLst/>
          </a:prstGeom>
          <a:solidFill>
            <a:srgbClr val="F3BD58"/>
          </a:solidFill>
          <a:ln w="12700">
            <a:solidFill>
              <a:srgbClr val="F3BD58"/>
            </a:solidFill>
            <a:prstDash val="solid"/>
          </a:ln>
        </p:spPr>
      </p:sp>
      <p:sp>
        <p:nvSpPr>
          <p:cNvPr id="8" name="Text 5"/>
          <p:cNvSpPr txBox="1"/>
          <p:nvPr/>
        </p:nvSpPr>
        <p:spPr>
          <a:xfrm>
            <a:off x="822960" y="3925656"/>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Day 1 hardware sheet → Day 2 read-only logger → Day 3 calibration + codec tests → Day 4 leases + fault matrix → Day 5 baseline trials if gates pass.</a:t>
            </a:r>
            <a:endParaRPr lang="en-US" sz="1656" dirty="0"/>
          </a:p>
        </p:txBody>
      </p:sp>
      <p:sp>
        <p:nvSpPr>
          <p:cNvPr id="9" name="Text 6"/>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0" name="Text 7"/>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35 / 44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03 · EXTENDING AND IMPROVING</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Broader tasks: the ladder and what each rung needs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1</a:t>
            </a:r>
            <a:endParaRPr lang="en-US" sz="1794" dirty="0"/>
          </a:p>
        </p:txBody>
      </p:sp>
      <p:sp>
        <p:nvSpPr>
          <p:cNvPr id="7" name="Text 5"/>
          <p:cNvSpPr txBox="1"/>
          <p:nvPr/>
        </p:nvSpPr>
        <p:spPr>
          <a:xfrm>
            <a:off x="1097280" y="137160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New destinations</a:t>
            </a:r>
            <a:endParaRPr lang="en-US" sz="1656" dirty="0"/>
          </a:p>
        </p:txBody>
      </p:sp>
      <p:sp>
        <p:nvSpPr>
          <p:cNvPr id="8" name="Text 6"/>
          <p:cNvSpPr txBox="1"/>
          <p:nvPr/>
        </p:nvSpPr>
        <p:spPr>
          <a:xfrm>
            <a:off x="1097280" y="1683045"/>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Same policy, new prompts — the v1 claim</a:t>
            </a:r>
            <a:endParaRPr lang="en-US" sz="1518" dirty="0"/>
          </a:p>
        </p:txBody>
      </p:sp>
      <p:sp>
        <p:nvSpPr>
          <p:cNvPr id="9" name="Shape 7"/>
          <p:cNvSpPr/>
          <p:nvPr/>
        </p:nvSpPr>
        <p:spPr>
          <a:xfrm>
            <a:off x="1097280" y="2009684"/>
            <a:ext cx="10543032" cy="0"/>
          </a:xfrm>
          <a:prstGeom prst="line">
            <a:avLst/>
          </a:prstGeom>
          <a:noFill/>
          <a:ln w="6350">
            <a:solidFill>
              <a:srgbClr val="D7DEDB"/>
            </a:solidFill>
            <a:prstDash val="solid"/>
          </a:ln>
        </p:spPr>
      </p:sp>
      <p:sp>
        <p:nvSpPr>
          <p:cNvPr id="10" name="Shape 8"/>
          <p:cNvSpPr/>
          <p:nvPr/>
        </p:nvSpPr>
        <p:spPr>
          <a:xfrm>
            <a:off x="548640" y="2073692"/>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207369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2</a:t>
            </a:r>
            <a:endParaRPr lang="en-US" sz="1794" dirty="0"/>
          </a:p>
        </p:txBody>
      </p:sp>
      <p:sp>
        <p:nvSpPr>
          <p:cNvPr id="12" name="Text 10"/>
          <p:cNvSpPr txBox="1"/>
          <p:nvPr/>
        </p:nvSpPr>
        <p:spPr>
          <a:xfrm>
            <a:off x="1097280" y="204626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New objects</a:t>
            </a:r>
            <a:endParaRPr lang="en-US" sz="1656" dirty="0"/>
          </a:p>
        </p:txBody>
      </p:sp>
      <p:sp>
        <p:nvSpPr>
          <p:cNvPr id="13" name="Text 11"/>
          <p:cNvSpPr txBox="1"/>
          <p:nvPr/>
        </p:nvSpPr>
        <p:spPr>
          <a:xfrm>
            <a:off x="1097280" y="2357704"/>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Broader training variants; appearance-based correspondence in context</a:t>
            </a:r>
            <a:endParaRPr lang="en-US" sz="1518" dirty="0"/>
          </a:p>
        </p:txBody>
      </p:sp>
      <p:sp>
        <p:nvSpPr>
          <p:cNvPr id="14" name="Shape 12"/>
          <p:cNvSpPr/>
          <p:nvPr/>
        </p:nvSpPr>
        <p:spPr>
          <a:xfrm>
            <a:off x="1097280" y="2684343"/>
            <a:ext cx="10543032" cy="0"/>
          </a:xfrm>
          <a:prstGeom prst="line">
            <a:avLst/>
          </a:prstGeom>
          <a:noFill/>
          <a:ln w="6350">
            <a:solidFill>
              <a:srgbClr val="D7DEDB"/>
            </a:solidFill>
            <a:prstDash val="solid"/>
          </a:ln>
        </p:spPr>
      </p:sp>
      <p:sp>
        <p:nvSpPr>
          <p:cNvPr id="15" name="Shape 13"/>
          <p:cNvSpPr/>
          <p:nvPr/>
        </p:nvSpPr>
        <p:spPr>
          <a:xfrm>
            <a:off x="548640" y="2748351"/>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2748351"/>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3</a:t>
            </a:r>
            <a:endParaRPr lang="en-US" sz="1794" dirty="0"/>
          </a:p>
        </p:txBody>
      </p:sp>
      <p:sp>
        <p:nvSpPr>
          <p:cNvPr id="17" name="Text 15"/>
          <p:cNvSpPr txBox="1"/>
          <p:nvPr/>
        </p:nvSpPr>
        <p:spPr>
          <a:xfrm>
            <a:off x="1097280" y="2720919"/>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Handle grasps</a:t>
            </a:r>
            <a:endParaRPr lang="en-US" sz="1656" dirty="0"/>
          </a:p>
        </p:txBody>
      </p:sp>
      <p:sp>
        <p:nvSpPr>
          <p:cNvPr id="18" name="Text 16"/>
          <p:cNvSpPr txBox="1"/>
          <p:nvPr/>
        </p:nvSpPr>
        <p:spPr>
          <a:xfrm>
            <a:off x="1097280" y="3032364"/>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Richer hand action than a scalar synergy; new data and collision model</a:t>
            </a:r>
            <a:endParaRPr lang="en-US" sz="1518" dirty="0"/>
          </a:p>
        </p:txBody>
      </p:sp>
      <p:sp>
        <p:nvSpPr>
          <p:cNvPr id="19" name="Shape 17"/>
          <p:cNvSpPr/>
          <p:nvPr/>
        </p:nvSpPr>
        <p:spPr>
          <a:xfrm>
            <a:off x="1097280" y="3359003"/>
            <a:ext cx="10543032" cy="0"/>
          </a:xfrm>
          <a:prstGeom prst="line">
            <a:avLst/>
          </a:prstGeom>
          <a:noFill/>
          <a:ln w="6350">
            <a:solidFill>
              <a:srgbClr val="D7DEDB"/>
            </a:solidFill>
            <a:prstDash val="solid"/>
          </a:ln>
        </p:spPr>
      </p:sp>
      <p:sp>
        <p:nvSpPr>
          <p:cNvPr id="20" name="Shape 18"/>
          <p:cNvSpPr/>
          <p:nvPr/>
        </p:nvSpPr>
        <p:spPr>
          <a:xfrm>
            <a:off x="548640" y="3423011"/>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3423011"/>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4</a:t>
            </a:r>
            <a:endParaRPr lang="en-US" sz="1794" dirty="0"/>
          </a:p>
        </p:txBody>
      </p:sp>
      <p:sp>
        <p:nvSpPr>
          <p:cNvPr id="22" name="Text 20"/>
          <p:cNvSpPr txBox="1"/>
          <p:nvPr/>
        </p:nvSpPr>
        <p:spPr>
          <a:xfrm>
            <a:off x="1097280" y="3395579"/>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Bimanual</a:t>
            </a:r>
            <a:endParaRPr lang="en-US" sz="1656" dirty="0"/>
          </a:p>
        </p:txBody>
      </p:sp>
      <p:sp>
        <p:nvSpPr>
          <p:cNvPr id="23" name="Text 21"/>
          <p:cNvSpPr txBox="1"/>
          <p:nvPr/>
        </p:nvSpPr>
        <p:spPr>
          <a:xfrm>
            <a:off x="1097280" y="3707023"/>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Leader–follower coordination (BiCICLe-style); second-arm gateway lease</a:t>
            </a:r>
            <a:endParaRPr lang="en-US" sz="1518" dirty="0"/>
          </a:p>
        </p:txBody>
      </p:sp>
      <p:sp>
        <p:nvSpPr>
          <p:cNvPr id="24" name="Shape 22"/>
          <p:cNvSpPr/>
          <p:nvPr/>
        </p:nvSpPr>
        <p:spPr>
          <a:xfrm>
            <a:off x="1097280" y="4033662"/>
            <a:ext cx="10543032" cy="0"/>
          </a:xfrm>
          <a:prstGeom prst="line">
            <a:avLst/>
          </a:prstGeom>
          <a:noFill/>
          <a:ln w="6350">
            <a:solidFill>
              <a:srgbClr val="D7DEDB"/>
            </a:solidFill>
            <a:prstDash val="solid"/>
          </a:ln>
        </p:spPr>
      </p:sp>
      <p:sp>
        <p:nvSpPr>
          <p:cNvPr id="25" name="Shape 23"/>
          <p:cNvSpPr/>
          <p:nvPr/>
        </p:nvSpPr>
        <p:spPr>
          <a:xfrm>
            <a:off x="548640" y="4097670"/>
            <a:ext cx="384048" cy="384048"/>
          </a:xfrm>
          <a:prstGeom prst="ellipse">
            <a:avLst/>
          </a:prstGeom>
          <a:solidFill>
            <a:srgbClr val="007F79"/>
          </a:solidFill>
          <a:ln w="12700">
            <a:solidFill>
              <a:srgbClr val="007F79"/>
            </a:solidFill>
            <a:prstDash val="solid"/>
          </a:ln>
        </p:spPr>
      </p:sp>
      <p:sp>
        <p:nvSpPr>
          <p:cNvPr id="26" name="Text 24"/>
          <p:cNvSpPr txBox="1"/>
          <p:nvPr/>
        </p:nvSpPr>
        <p:spPr>
          <a:xfrm>
            <a:off x="548640" y="4097670"/>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5</a:t>
            </a:r>
            <a:endParaRPr lang="en-US" sz="1794" dirty="0"/>
          </a:p>
        </p:txBody>
      </p:sp>
      <p:sp>
        <p:nvSpPr>
          <p:cNvPr id="27" name="Text 25"/>
          <p:cNvSpPr txBox="1"/>
          <p:nvPr/>
        </p:nvSpPr>
        <p:spPr>
          <a:xfrm>
            <a:off x="1097280" y="4070238"/>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Loco-manipulation</a:t>
            </a:r>
            <a:endParaRPr lang="en-US" sz="1656" dirty="0"/>
          </a:p>
        </p:txBody>
      </p:sp>
      <p:sp>
        <p:nvSpPr>
          <p:cNvPr id="28" name="Text 26"/>
          <p:cNvSpPr txBox="1"/>
          <p:nvPr/>
        </p:nvSpPr>
        <p:spPr>
          <a:xfrm>
            <a:off x="1097280" y="4381683"/>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Whole-body controller ownership (e.g. GR00T SONIC); stance and balance re-validation</a:t>
            </a:r>
            <a:endParaRPr lang="en-US" sz="1518" dirty="0"/>
          </a:p>
        </p:txBody>
      </p:sp>
      <p:sp>
        <p:nvSpPr>
          <p:cNvPr id="29" name="Text 27"/>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BiCICLe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GR00T</a:t>
            </a:r>
            <a:endParaRPr lang="en-US" sz="900" dirty="0"/>
          </a:p>
        </p:txBody>
      </p:sp>
      <p:sp>
        <p:nvSpPr>
          <p:cNvPr id="30" name="Text 28"/>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36 / 44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03 · EXTENDING AND IMPROVING</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Improving context use on the same rig</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977466"/>
                <a:gridCol w="2334937"/>
                <a:gridCol w="4779269"/>
              </a:tblGrid>
              <a:tr h="384048">
                <a:tc>
                  <a:txBody>
                    <a:bodyPr/>
                    <a:lstStyle/>
                    <a:p>
                      <a:pPr indent="0" marL="0">
                        <a:buNone/>
                      </a:pPr>
                      <a:r>
                        <a:rPr lang="en-US" sz="1449" b="1" dirty="0">
                          <a:solidFill>
                            <a:srgbClr val="FFFFFF"/>
                          </a:solidFill>
                          <a:latin typeface="Arial" pitchFamily="34" charset="0"/>
                          <a:ea typeface="Arial" pitchFamily="34" charset="-122"/>
                          <a:cs typeface="Arial" pitchFamily="34" charset="-120"/>
                        </a:rPr>
                        <a:t>Lever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Source</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c>
                  <a:txBody>
                    <a:bodyPr/>
                    <a:lstStyle/>
                    <a:p>
                      <a:pPr indent="0" marL="0">
                        <a:buNone/>
                      </a:pPr>
                      <a:r>
                        <a:rPr lang="en-US" sz="1449" b="1" dirty="0">
                          <a:solidFill>
                            <a:srgbClr val="FFFFFF"/>
                          </a:solidFill>
                          <a:latin typeface="Arial" pitchFamily="34" charset="0"/>
                          <a:ea typeface="Arial" pitchFamily="34" charset="-122"/>
                          <a:cs typeface="Arial" pitchFamily="34" charset="-120"/>
                        </a:rPr>
                        <a:t>Ablation we can run</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10283D"/>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Retrieval instead of a fixed prompt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RICL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Fixed vs retrieved prompts on held-out conditions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540456">
                <a:tc>
                  <a:txBody>
                    <a:bodyPr/>
                    <a:lstStyle/>
                    <a:p>
                      <a:pPr indent="0" marL="0">
                        <a:buNone/>
                      </a:pPr>
                      <a:r>
                        <a:rPr lang="en-US" sz="1449" dirty="0">
                          <a:solidFill>
                            <a:srgbClr val="1B2A36"/>
                          </a:solidFill>
                          <a:latin typeface="Arial" pitchFamily="34" charset="0"/>
                          <a:ea typeface="Arial" pitchFamily="34" charset="-122"/>
                          <a:cs typeface="Arial" pitchFamily="34" charset="-120"/>
                        </a:rPr>
                        <a:t>More task diversity in training</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BPP</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Success vs number of training variants at fixed episode count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Compress demos into fewer tokens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HiST-AT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Prompt count 1 / 2 / 4 at fixed latency budget</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Test-time search with a VLM scorer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SAIL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Success vs inference compute per trial</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FFFFF"/>
                    </a:solidFill>
                  </a:tcPr>
                </a:tc>
              </a:tr>
              <a:tr h="315948">
                <a:tc>
                  <a:txBody>
                    <a:bodyPr/>
                    <a:lstStyle/>
                    <a:p>
                      <a:pPr indent="0" marL="0">
                        <a:buNone/>
                      </a:pPr>
                      <a:r>
                        <a:rPr lang="en-US" sz="1449" dirty="0">
                          <a:solidFill>
                            <a:srgbClr val="1B2A36"/>
                          </a:solidFill>
                          <a:latin typeface="Arial" pitchFamily="34" charset="0"/>
                          <a:ea typeface="Arial" pitchFamily="34" charset="-122"/>
                          <a:cs typeface="Arial" pitchFamily="34" charset="-120"/>
                        </a:rPr>
                        <a:t>Predicted visual traces before actions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ICLR</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c>
                  <a:txBody>
                    <a:bodyPr/>
                    <a:lstStyle/>
                    <a:p>
                      <a:pPr indent="0" marL="0">
                        <a:buNone/>
                      </a:pPr>
                      <a:r>
                        <a:rPr lang="en-US" sz="1449" dirty="0">
                          <a:solidFill>
                            <a:srgbClr val="1B2A36"/>
                          </a:solidFill>
                          <a:latin typeface="Arial" pitchFamily="34" charset="0"/>
                          <a:ea typeface="Arial" pitchFamily="34" charset="-122"/>
                          <a:cs typeface="Arial" pitchFamily="34" charset="-120"/>
                        </a:rPr>
                        <a:t>Action-only vs action + trace, matched budgets</a:t>
                      </a:r>
                      <a:endParaRPr lang="en-US" sz="1449" dirty="0">
                        <a:latin typeface="Arial" charset="0"/>
                        <a:ea typeface="Arial" charset="0"/>
                        <a:cs typeface="Arial" charset="0"/>
                      </a:endParaRPr>
                    </a:p>
                  </a:txBody>
                  <a:tcPr marL="54864" marR="54864" marT="54864" marB="54864" anchor="ctr">
                    <a:lnL w="9525" cap="flat" cmpd="sng" algn="ctr">
                      <a:solidFill>
                        <a:srgbClr val="D7DEDB"/>
                      </a:solidFill>
                      <a:prstDash val="solid"/>
                      <a:round/>
                      <a:headEnd type="none" w="med" len="med"/>
                      <a:tailEnd type="none" w="med" len="med"/>
                    </a:lnL>
                    <a:lnR w="9525" cap="flat" cmpd="sng" algn="ctr">
                      <a:solidFill>
                        <a:srgbClr val="D7DEDB"/>
                      </a:solidFill>
                      <a:prstDash val="solid"/>
                      <a:round/>
                      <a:headEnd type="none" w="med" len="med"/>
                      <a:tailEnd type="none" w="med" len="med"/>
                    </a:lnR>
                    <a:lnT w="9525" cap="flat" cmpd="sng" algn="ctr">
                      <a:solidFill>
                        <a:srgbClr val="D7DEDB"/>
                      </a:solidFill>
                      <a:prstDash val="solid"/>
                      <a:round/>
                      <a:headEnd type="none" w="med" len="med"/>
                      <a:tailEnd type="none" w="med" len="med"/>
                    </a:lnT>
                    <a:lnB w="9525" cap="flat" cmpd="sng" algn="ctr">
                      <a:solidFill>
                        <a:srgbClr val="D7DEDB"/>
                      </a:solidFill>
                      <a:prstDash val="solid"/>
                      <a:round/>
                      <a:headEnd type="none" w="med" len="med"/>
                      <a:tailEnd type="none" w="med" len="med"/>
                    </a:lnB>
                    <a:solidFill>
                      <a:srgbClr val="F7F7F0"/>
                    </a:solidFill>
                  </a:tcPr>
                </a:tc>
              </a:tr>
            </a:tbl>
          </a:graphicData>
        </a:graphic>
      </p:graphicFrame>
      <p:sp>
        <p:nvSpPr>
          <p:cNvPr id="6" name="Text 3"/>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RICL</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HiST-AT</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SAIL</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ICLR</a:t>
            </a:r>
            <a:endParaRPr lang="en-US" sz="900" dirty="0"/>
          </a:p>
        </p:txBody>
      </p:sp>
      <p:sp>
        <p:nvSpPr>
          <p:cNvPr id="7"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37 / 44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03 · EXTENDING AND IMPROVING</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Phase 3: human video as the prompt</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3544824" cy="1785823"/>
          </a:xfrm>
          <a:prstGeom prst="rect">
            <a:avLst/>
          </a:prstGeom>
          <a:solidFill>
            <a:srgbClr val="FFFFFF"/>
          </a:solidFill>
          <a:ln w="9525">
            <a:solidFill>
              <a:srgbClr val="D7DEDB"/>
            </a:solidFill>
            <a:prstDash val="solid"/>
          </a:ln>
        </p:spPr>
      </p:sp>
      <p:sp>
        <p:nvSpPr>
          <p:cNvPr id="6" name="Shape 4"/>
          <p:cNvSpPr/>
          <p:nvPr/>
        </p:nvSpPr>
        <p:spPr>
          <a:xfrm>
            <a:off x="548640" y="1371600"/>
            <a:ext cx="3544824"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Today</a:t>
            </a:r>
            <a:endParaRPr lang="en-US" sz="1932" dirty="0"/>
          </a:p>
        </p:txBody>
      </p:sp>
      <p:sp>
        <p:nvSpPr>
          <p:cNvPr id="8" name="Text 6"/>
          <p:cNvSpPr txBox="1"/>
          <p:nvPr/>
        </p:nvSpPr>
        <p:spPr>
          <a:xfrm>
            <a:off x="731520" y="1990984"/>
            <a:ext cx="3179064" cy="107499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Teleoperated demos through a VR headset — minutes per demonstration.</a:t>
            </a:r>
            <a:endParaRPr lang="en-US" sz="1587" dirty="0"/>
          </a:p>
        </p:txBody>
      </p:sp>
      <p:sp>
        <p:nvSpPr>
          <p:cNvPr id="9" name="Shape 7"/>
          <p:cNvSpPr/>
          <p:nvPr/>
        </p:nvSpPr>
        <p:spPr>
          <a:xfrm>
            <a:off x="4322064" y="1371600"/>
            <a:ext cx="3544824" cy="1785823"/>
          </a:xfrm>
          <a:prstGeom prst="rect">
            <a:avLst/>
          </a:prstGeom>
          <a:solidFill>
            <a:srgbClr val="FFFFFF"/>
          </a:solidFill>
          <a:ln w="9525">
            <a:solidFill>
              <a:srgbClr val="D7DEDB"/>
            </a:solidFill>
            <a:prstDash val="solid"/>
          </a:ln>
        </p:spPr>
      </p:sp>
      <p:sp>
        <p:nvSpPr>
          <p:cNvPr id="10" name="Shape 8"/>
          <p:cNvSpPr/>
          <p:nvPr/>
        </p:nvSpPr>
        <p:spPr>
          <a:xfrm>
            <a:off x="4322064" y="1371600"/>
            <a:ext cx="3544824" cy="54864"/>
          </a:xfrm>
          <a:prstGeom prst="rect">
            <a:avLst/>
          </a:prstGeom>
          <a:solidFill>
            <a:srgbClr val="007F79"/>
          </a:solidFill>
          <a:ln w="12700">
            <a:solidFill>
              <a:srgbClr val="007F79"/>
            </a:solidFill>
            <a:prstDash val="solid"/>
          </a:ln>
        </p:spPr>
      </p:sp>
      <p:sp>
        <p:nvSpPr>
          <p:cNvPr id="11" name="Text 9"/>
          <p:cNvSpPr txBox="1"/>
          <p:nvPr/>
        </p:nvSpPr>
        <p:spPr>
          <a:xfrm>
            <a:off x="4504944"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MimicDroid</a:t>
            </a:r>
            <a:endParaRPr lang="en-US" sz="1932" dirty="0"/>
          </a:p>
        </p:txBody>
      </p:sp>
      <p:sp>
        <p:nvSpPr>
          <p:cNvPr id="12" name="Text 10"/>
          <p:cNvSpPr txBox="1"/>
          <p:nvPr/>
        </p:nvSpPr>
        <p:spPr>
          <a:xfrm>
            <a:off x="4504944" y="1990984"/>
            <a:ext cx="3179064" cy="107499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ICL trained from human play videos; RGB wrist poses retargeted to the humanoid; patch masking closes the visual gap.</a:t>
            </a:r>
            <a:endParaRPr lang="en-US" sz="1587" dirty="0"/>
          </a:p>
        </p:txBody>
      </p:sp>
      <p:sp>
        <p:nvSpPr>
          <p:cNvPr id="13" name="Shape 11"/>
          <p:cNvSpPr/>
          <p:nvPr/>
        </p:nvSpPr>
        <p:spPr>
          <a:xfrm>
            <a:off x="8095488" y="1371600"/>
            <a:ext cx="3544824" cy="1785823"/>
          </a:xfrm>
          <a:prstGeom prst="rect">
            <a:avLst/>
          </a:prstGeom>
          <a:solidFill>
            <a:srgbClr val="FFFFFF"/>
          </a:solidFill>
          <a:ln w="9525">
            <a:solidFill>
              <a:srgbClr val="D7DEDB"/>
            </a:solidFill>
            <a:prstDash val="solid"/>
          </a:ln>
        </p:spPr>
      </p:sp>
      <p:sp>
        <p:nvSpPr>
          <p:cNvPr id="14" name="Shape 12"/>
          <p:cNvSpPr/>
          <p:nvPr/>
        </p:nvSpPr>
        <p:spPr>
          <a:xfrm>
            <a:off x="8095488" y="1371600"/>
            <a:ext cx="3544824" cy="54864"/>
          </a:xfrm>
          <a:prstGeom prst="rect">
            <a:avLst/>
          </a:prstGeom>
          <a:solidFill>
            <a:srgbClr val="007F79"/>
          </a:solidFill>
          <a:ln w="12700">
            <a:solidFill>
              <a:srgbClr val="007F79"/>
            </a:solidFill>
            <a:prstDash val="solid"/>
          </a:ln>
        </p:spPr>
      </p:sp>
      <p:sp>
        <p:nvSpPr>
          <p:cNvPr id="15" name="Text 13"/>
          <p:cNvSpPr txBox="1"/>
          <p:nvPr/>
        </p:nvSpPr>
        <p:spPr>
          <a:xfrm>
            <a:off x="8278368" y="1463040"/>
            <a:ext cx="3179064"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For us</a:t>
            </a:r>
            <a:endParaRPr lang="en-US" sz="1932" dirty="0"/>
          </a:p>
        </p:txBody>
      </p:sp>
      <p:sp>
        <p:nvSpPr>
          <p:cNvPr id="16" name="Text 14"/>
          <p:cNvSpPr txBox="1"/>
          <p:nvPr/>
        </p:nvSpPr>
        <p:spPr>
          <a:xfrm>
            <a:off x="8278368" y="1990984"/>
            <a:ext cx="3179064" cy="107499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Demonstration cost drops to "film a person". Requires the embodiment-gap work to be validated on our G1.</a:t>
            </a:r>
            <a:endParaRPr lang="en-US" sz="1587" dirty="0"/>
          </a:p>
        </p:txBody>
      </p:sp>
      <p:sp>
        <p:nvSpPr>
          <p:cNvPr id="17" name="Shape 15"/>
          <p:cNvSpPr/>
          <p:nvPr/>
        </p:nvSpPr>
        <p:spPr>
          <a:xfrm>
            <a:off x="548640" y="3523183"/>
            <a:ext cx="11091672" cy="787481"/>
          </a:xfrm>
          <a:prstGeom prst="rect">
            <a:avLst/>
          </a:prstGeom>
          <a:solidFill>
            <a:srgbClr val="FBF1DC"/>
          </a:solidFill>
          <a:ln w="12700">
            <a:solidFill>
              <a:srgbClr val="FBF1DC"/>
            </a:solidFill>
            <a:prstDash val="solid"/>
          </a:ln>
        </p:spPr>
      </p:sp>
      <p:sp>
        <p:nvSpPr>
          <p:cNvPr id="18" name="Shape 16"/>
          <p:cNvSpPr/>
          <p:nvPr/>
        </p:nvSpPr>
        <p:spPr>
          <a:xfrm>
            <a:off x="548640" y="3523183"/>
            <a:ext cx="82296" cy="787481"/>
          </a:xfrm>
          <a:prstGeom prst="rect">
            <a:avLst/>
          </a:prstGeom>
          <a:solidFill>
            <a:srgbClr val="F3BD58"/>
          </a:solidFill>
          <a:ln w="12700">
            <a:solidFill>
              <a:srgbClr val="F3BD58"/>
            </a:solidFill>
            <a:prstDash val="solid"/>
          </a:ln>
        </p:spPr>
      </p:sp>
      <p:sp>
        <p:nvSpPr>
          <p:cNvPr id="19" name="Text 17"/>
          <p:cNvSpPr txBox="1"/>
          <p:nvPr/>
        </p:nvSpPr>
        <p:spPr>
          <a:xfrm>
            <a:off x="822960" y="3523183"/>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This is the long-term reason ICL matters for a humanoid, and the strongest argument for building the frozen-policy rig now.</a:t>
            </a:r>
            <a:endParaRPr lang="en-US" sz="1656" dirty="0"/>
          </a:p>
        </p:txBody>
      </p:sp>
      <p:sp>
        <p:nvSpPr>
          <p:cNvPr id="20" name="Text 18"/>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Benchmark</a:t>
            </a:r>
            <a:endParaRPr lang="en-US" sz="900" dirty="0"/>
          </a:p>
        </p:txBody>
      </p:sp>
      <p:sp>
        <p:nvSpPr>
          <p:cNvPr id="21" name="Text 19"/>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38 / 44</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03 · EXTENDING AND IMPROVING</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ENPIRE as the outer loop: two labelled tracks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5271516" cy="2031713"/>
          </a:xfrm>
          <a:prstGeom prst="rect">
            <a:avLst/>
          </a:prstGeom>
          <a:solidFill>
            <a:srgbClr val="FFFFFF"/>
          </a:solidFill>
          <a:ln w="9525">
            <a:solidFill>
              <a:srgbClr val="D7DEDB"/>
            </a:solidFill>
            <a:prstDash val="solid"/>
          </a:ln>
        </p:spPr>
      </p:sp>
      <p:sp>
        <p:nvSpPr>
          <p:cNvPr id="6" name="Shape 4"/>
          <p:cNvSpPr/>
          <p:nvPr/>
        </p:nvSpPr>
        <p:spPr>
          <a:xfrm>
            <a:off x="548640" y="1371600"/>
            <a:ext cx="5271516" cy="54864"/>
          </a:xfrm>
          <a:prstGeom prst="rect">
            <a:avLst/>
          </a:prstGeom>
          <a:solidFill>
            <a:srgbClr val="007F79"/>
          </a:solidFill>
          <a:ln w="12700">
            <a:solidFill>
              <a:srgbClr val="007F79"/>
            </a:solidFill>
            <a:prstDash val="solid"/>
          </a:ln>
        </p:spPr>
      </p:sp>
      <p:sp>
        <p:nvSpPr>
          <p:cNvPr id="7" name="Text 5"/>
          <p:cNvSpPr txBox="1"/>
          <p:nvPr/>
        </p:nvSpPr>
        <p:spPr>
          <a:xfrm>
            <a:off x="731520"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Track A · context selection</a:t>
            </a:r>
            <a:endParaRPr lang="en-US" sz="1932" dirty="0"/>
          </a:p>
        </p:txBody>
      </p:sp>
      <p:sp>
        <p:nvSpPr>
          <p:cNvPr id="8" name="Text 6"/>
          <p:cNvSpPr txBox="1"/>
          <p:nvPr/>
        </p:nvSpPr>
        <p:spPr>
          <a:xfrm>
            <a:off x="731520" y="1990984"/>
            <a:ext cx="4905756" cy="132088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Weights, codec, normalization, reset, verifier and split stay </a:t>
            </a:r>
            <a:pPr indent="0" marL="0">
              <a:buNone/>
            </a:pPr>
            <a:r>
              <a:rPr lang="en-US" sz="1587" b="1" dirty="0">
                <a:solidFill>
                  <a:srgbClr val="1B2A36"/>
                </a:solidFill>
                <a:latin typeface="Arial" pitchFamily="34" charset="0"/>
                <a:ea typeface="Arial" pitchFamily="34" charset="-122"/>
                <a:cs typeface="Arial" pitchFamily="34" charset="-120"/>
              </a:rPr>
              <a:t>fixed</a:t>
            </a:r>
            <a:pPr indent="0" marL="0">
              <a:buNone/>
            </a:pPr>
            <a:r>
              <a:rPr lang="en-US" sz="1587" dirty="0">
                <a:solidFill>
                  <a:srgbClr val="1B2A36"/>
                </a:solidFill>
                <a:latin typeface="Arial" pitchFamily="34" charset="0"/>
                <a:ea typeface="Arial" pitchFamily="34" charset="-122"/>
                <a:cs typeface="Arial" pitchFamily="34" charset="-120"/>
              </a:rPr>
              <a:t>. Candidates change only prompt IDs, retrieval weights, prompt count and segmentation. Measures better context use under a fixed policy.</a:t>
            </a:r>
            <a:endParaRPr lang="en-US" sz="1587" dirty="0"/>
          </a:p>
        </p:txBody>
      </p:sp>
      <p:sp>
        <p:nvSpPr>
          <p:cNvPr id="9" name="Shape 7"/>
          <p:cNvSpPr/>
          <p:nvPr/>
        </p:nvSpPr>
        <p:spPr>
          <a:xfrm>
            <a:off x="6368796" y="1371600"/>
            <a:ext cx="5271516" cy="2031713"/>
          </a:xfrm>
          <a:prstGeom prst="rect">
            <a:avLst/>
          </a:prstGeom>
          <a:solidFill>
            <a:srgbClr val="FFFFFF"/>
          </a:solidFill>
          <a:ln w="9525">
            <a:solidFill>
              <a:srgbClr val="D7DEDB"/>
            </a:solidFill>
            <a:prstDash val="solid"/>
          </a:ln>
        </p:spPr>
      </p:sp>
      <p:sp>
        <p:nvSpPr>
          <p:cNvPr id="10" name="Shape 8"/>
          <p:cNvSpPr/>
          <p:nvPr/>
        </p:nvSpPr>
        <p:spPr>
          <a:xfrm>
            <a:off x="6368796" y="1371600"/>
            <a:ext cx="5271516" cy="54864"/>
          </a:xfrm>
          <a:prstGeom prst="rect">
            <a:avLst/>
          </a:prstGeom>
          <a:solidFill>
            <a:srgbClr val="007F79"/>
          </a:solidFill>
          <a:ln w="12700">
            <a:solidFill>
              <a:srgbClr val="007F79"/>
            </a:solidFill>
            <a:prstDash val="solid"/>
          </a:ln>
        </p:spPr>
      </p:sp>
      <p:sp>
        <p:nvSpPr>
          <p:cNvPr id="11" name="Text 9"/>
          <p:cNvSpPr txBox="1"/>
          <p:nvPr/>
        </p:nvSpPr>
        <p:spPr>
          <a:xfrm>
            <a:off x="6551676" y="1463040"/>
            <a:ext cx="4905756" cy="436504"/>
          </a:xfrm>
          <a:prstGeom prst="rect">
            <a:avLst/>
          </a:prstGeom>
          <a:noFill/>
          <a:ln/>
        </p:spPr>
        <p:txBody>
          <a:bodyPr wrap="square" lIns="0" tIns="0" rIns="0" bIns="0" rtlCol="0" anchor="ctr"/>
          <a:lstStyle/>
          <a:p>
            <a:pPr indent="0" marL="0">
              <a:buNone/>
            </a:pPr>
            <a:r>
              <a:rPr lang="en-US" sz="1932" b="1" dirty="0">
                <a:solidFill>
                  <a:srgbClr val="10283D"/>
                </a:solidFill>
                <a:latin typeface="Georgia" pitchFamily="34" charset="0"/>
                <a:ea typeface="Georgia" pitchFamily="34" charset="-122"/>
                <a:cs typeface="Georgia" pitchFamily="34" charset="-120"/>
              </a:rPr>
              <a:t>Track B · baseline and reset scripts</a:t>
            </a:r>
            <a:endParaRPr lang="en-US" sz="1932" dirty="0"/>
          </a:p>
        </p:txBody>
      </p:sp>
      <p:sp>
        <p:nvSpPr>
          <p:cNvPr id="12" name="Text 10"/>
          <p:cNvSpPr txBox="1"/>
          <p:nvPr/>
        </p:nvSpPr>
        <p:spPr>
          <a:xfrm>
            <a:off x="6551676" y="1990984"/>
            <a:ext cx="4905756" cy="1320889"/>
          </a:xfrm>
          <a:prstGeom prst="rect">
            <a:avLst/>
          </a:prstGeom>
          <a:noFill/>
          <a:ln/>
        </p:spPr>
        <p:txBody>
          <a:bodyPr wrap="square" lIns="0" tIns="0" rIns="0" bIns="0" rtlCol="0" anchor="t"/>
          <a:lstStyle/>
          <a:p>
            <a:pPr indent="0" marL="0">
              <a:buNone/>
            </a:pPr>
            <a:r>
              <a:rPr lang="en-US" sz="1587" dirty="0">
                <a:solidFill>
                  <a:srgbClr val="1B2A36"/>
                </a:solidFill>
                <a:latin typeface="Arial" pitchFamily="34" charset="0"/>
                <a:ea typeface="Arial" pitchFamily="34" charset="-122"/>
                <a:cs typeface="Arial" pitchFamily="34" charset="-120"/>
              </a:rPr>
              <a:t>Agent improves the geometric state machine and reset routines — the use case ENPIRE was validated on. Also yields more varied episodes for the learning track.</a:t>
            </a:r>
            <a:endParaRPr lang="en-US" sz="1587" dirty="0"/>
          </a:p>
        </p:txBody>
      </p:sp>
      <p:sp>
        <p:nvSpPr>
          <p:cNvPr id="13" name="Text 11"/>
          <p:cNvSpPr txBox="1"/>
          <p:nvPr/>
        </p:nvSpPr>
        <p:spPr>
          <a:xfrm>
            <a:off x="5820156" y="1371600"/>
            <a:ext cx="548640" cy="2031713"/>
          </a:xfrm>
          <a:prstGeom prst="rect">
            <a:avLst/>
          </a:prstGeom>
          <a:noFill/>
          <a:ln/>
        </p:spPr>
        <p:txBody>
          <a:bodyPr wrap="square" lIns="0" tIns="0" rIns="0" bIns="0" rtlCol="0" anchor="ctr"/>
          <a:lstStyle/>
          <a:p>
            <a:pPr algn="ctr" indent="0" marL="0">
              <a:buNone/>
            </a:pPr>
            <a:r>
              <a:rPr lang="en-US" sz="2400" dirty="0">
                <a:solidFill>
                  <a:srgbClr val="F3BD5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3769073"/>
            <a:ext cx="11091672" cy="787481"/>
          </a:xfrm>
          <a:prstGeom prst="rect">
            <a:avLst/>
          </a:prstGeom>
          <a:solidFill>
            <a:srgbClr val="FBF1DC"/>
          </a:solidFill>
          <a:ln w="12700">
            <a:solidFill>
              <a:srgbClr val="FBF1DC"/>
            </a:solidFill>
            <a:prstDash val="solid"/>
          </a:ln>
        </p:spPr>
      </p:sp>
      <p:sp>
        <p:nvSpPr>
          <p:cNvPr id="15" name="Shape 13"/>
          <p:cNvSpPr/>
          <p:nvPr/>
        </p:nvSpPr>
        <p:spPr>
          <a:xfrm>
            <a:off x="548640" y="3769073"/>
            <a:ext cx="82296" cy="787481"/>
          </a:xfrm>
          <a:prstGeom prst="rect">
            <a:avLst/>
          </a:prstGeom>
          <a:solidFill>
            <a:srgbClr val="F3BD58"/>
          </a:solidFill>
          <a:ln w="12700">
            <a:solidFill>
              <a:srgbClr val="F3BD58"/>
            </a:solidFill>
            <a:prstDash val="solid"/>
          </a:ln>
        </p:spPr>
      </p:sp>
      <p:sp>
        <p:nvSpPr>
          <p:cNvPr id="16" name="Text 14"/>
          <p:cNvSpPr txBox="1"/>
          <p:nvPr/>
        </p:nvSpPr>
        <p:spPr>
          <a:xfrm>
            <a:off x="822960" y="3769073"/>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Keep the claims separate: Track A is in-context adaptation; Track B is engineered-policy improvement. A retrained checkpoint is a third track.</a:t>
            </a:r>
            <a:endParaRPr lang="en-US" sz="1656" dirty="0"/>
          </a:p>
        </p:txBody>
      </p:sp>
      <p:sp>
        <p:nvSpPr>
          <p:cNvPr id="17" name="Text 1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ENPIRE</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Paper</a:t>
            </a:r>
            <a:pPr indent="0" marL="0">
              <a:buNone/>
            </a:pPr>
            <a:r>
              <a:rPr lang="en-US" sz="900" dirty="0">
                <a:solidFill>
                  <a:srgbClr val="526575"/>
                </a:solidFill>
                <a:latin typeface="Arial" pitchFamily="34" charset="0"/>
                <a:ea typeface="Arial" pitchFamily="34" charset="-122"/>
                <a:cs typeface="Arial" pitchFamily="34" charset="-120"/>
              </a:rPr>
              <a:t>  ·  </a:t>
            </a:r>
            <a:pPr indent="0" marL="0">
              <a:buNone/>
            </a:pPr>
            <a:r>
              <a:rPr lang="en-US" sz="900"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Qwen</a:t>
            </a:r>
            <a:endParaRPr lang="en-US" sz="900" dirty="0"/>
          </a:p>
        </p:txBody>
      </p:sp>
      <p:sp>
        <p:nvSpPr>
          <p:cNvPr id="18" name="Text 1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39 / 44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03 · EXTENDING AND IMPROVING</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Candidate lifecycle and boundaries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99032"/>
            <a:ext cx="384048" cy="384048"/>
          </a:xfrm>
          <a:prstGeom prst="ellipse">
            <a:avLst/>
          </a:prstGeom>
          <a:solidFill>
            <a:srgbClr val="007F79"/>
          </a:solidFill>
          <a:ln w="12700">
            <a:solidFill>
              <a:srgbClr val="007F79"/>
            </a:solidFill>
            <a:prstDash val="solid"/>
          </a:ln>
        </p:spPr>
      </p:sp>
      <p:sp>
        <p:nvSpPr>
          <p:cNvPr id="6" name="Text 4"/>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1</a:t>
            </a:r>
            <a:endParaRPr lang="en-US" sz="1794" dirty="0"/>
          </a:p>
        </p:txBody>
      </p:sp>
      <p:sp>
        <p:nvSpPr>
          <p:cNvPr id="7" name="Text 5"/>
          <p:cNvSpPr txBox="1"/>
          <p:nvPr/>
        </p:nvSpPr>
        <p:spPr>
          <a:xfrm>
            <a:off x="1097280" y="137160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Propose</a:t>
            </a:r>
            <a:endParaRPr lang="en-US" sz="1656" dirty="0"/>
          </a:p>
        </p:txBody>
      </p:sp>
      <p:sp>
        <p:nvSpPr>
          <p:cNvPr id="8" name="Text 6"/>
          <p:cNvSpPr txBox="1"/>
          <p:nvPr/>
        </p:nvSpPr>
        <p:spPr>
          <a:xfrm>
            <a:off x="1097280" y="1683045"/>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One bounded change with a falsifiable hypothesis</a:t>
            </a:r>
            <a:endParaRPr lang="en-US" sz="1518" dirty="0"/>
          </a:p>
        </p:txBody>
      </p:sp>
      <p:sp>
        <p:nvSpPr>
          <p:cNvPr id="9" name="Shape 7"/>
          <p:cNvSpPr/>
          <p:nvPr/>
        </p:nvSpPr>
        <p:spPr>
          <a:xfrm>
            <a:off x="1097280" y="2009684"/>
            <a:ext cx="10543032" cy="0"/>
          </a:xfrm>
          <a:prstGeom prst="line">
            <a:avLst/>
          </a:prstGeom>
          <a:noFill/>
          <a:ln w="6350">
            <a:solidFill>
              <a:srgbClr val="D7DEDB"/>
            </a:solidFill>
            <a:prstDash val="solid"/>
          </a:ln>
        </p:spPr>
      </p:sp>
      <p:sp>
        <p:nvSpPr>
          <p:cNvPr id="10" name="Shape 8"/>
          <p:cNvSpPr/>
          <p:nvPr/>
        </p:nvSpPr>
        <p:spPr>
          <a:xfrm>
            <a:off x="548640" y="2073692"/>
            <a:ext cx="384048" cy="384048"/>
          </a:xfrm>
          <a:prstGeom prst="ellipse">
            <a:avLst/>
          </a:prstGeom>
          <a:solidFill>
            <a:srgbClr val="007F79"/>
          </a:solidFill>
          <a:ln w="12700">
            <a:solidFill>
              <a:srgbClr val="007F79"/>
            </a:solidFill>
            <a:prstDash val="solid"/>
          </a:ln>
        </p:spPr>
      </p:sp>
      <p:sp>
        <p:nvSpPr>
          <p:cNvPr id="11" name="Text 9"/>
          <p:cNvSpPr txBox="1"/>
          <p:nvPr/>
        </p:nvSpPr>
        <p:spPr>
          <a:xfrm>
            <a:off x="548640" y="2073692"/>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2</a:t>
            </a:r>
            <a:endParaRPr lang="en-US" sz="1794" dirty="0"/>
          </a:p>
        </p:txBody>
      </p:sp>
      <p:sp>
        <p:nvSpPr>
          <p:cNvPr id="12" name="Text 10"/>
          <p:cNvSpPr txBox="1"/>
          <p:nvPr/>
        </p:nvSpPr>
        <p:spPr>
          <a:xfrm>
            <a:off x="1097280" y="2046260"/>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Validate</a:t>
            </a:r>
            <a:endParaRPr lang="en-US" sz="1656" dirty="0"/>
          </a:p>
        </p:txBody>
      </p:sp>
      <p:sp>
        <p:nvSpPr>
          <p:cNvPr id="13" name="Text 11"/>
          <p:cNvSpPr txBox="1"/>
          <p:nvPr/>
        </p:nvSpPr>
        <p:spPr>
          <a:xfrm>
            <a:off x="1097280" y="2357704"/>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Allowed diff, offline checks, shadow replay</a:t>
            </a:r>
            <a:endParaRPr lang="en-US" sz="1518" dirty="0"/>
          </a:p>
        </p:txBody>
      </p:sp>
      <p:sp>
        <p:nvSpPr>
          <p:cNvPr id="14" name="Shape 12"/>
          <p:cNvSpPr/>
          <p:nvPr/>
        </p:nvSpPr>
        <p:spPr>
          <a:xfrm>
            <a:off x="1097280" y="2684343"/>
            <a:ext cx="10543032" cy="0"/>
          </a:xfrm>
          <a:prstGeom prst="line">
            <a:avLst/>
          </a:prstGeom>
          <a:noFill/>
          <a:ln w="6350">
            <a:solidFill>
              <a:srgbClr val="D7DEDB"/>
            </a:solidFill>
            <a:prstDash val="solid"/>
          </a:ln>
        </p:spPr>
      </p:sp>
      <p:sp>
        <p:nvSpPr>
          <p:cNvPr id="15" name="Shape 13"/>
          <p:cNvSpPr/>
          <p:nvPr/>
        </p:nvSpPr>
        <p:spPr>
          <a:xfrm>
            <a:off x="548640" y="2748351"/>
            <a:ext cx="384048" cy="384048"/>
          </a:xfrm>
          <a:prstGeom prst="ellipse">
            <a:avLst/>
          </a:prstGeom>
          <a:solidFill>
            <a:srgbClr val="007F79"/>
          </a:solidFill>
          <a:ln w="12700">
            <a:solidFill>
              <a:srgbClr val="007F79"/>
            </a:solidFill>
            <a:prstDash val="solid"/>
          </a:ln>
        </p:spPr>
      </p:sp>
      <p:sp>
        <p:nvSpPr>
          <p:cNvPr id="16" name="Text 14"/>
          <p:cNvSpPr txBox="1"/>
          <p:nvPr/>
        </p:nvSpPr>
        <p:spPr>
          <a:xfrm>
            <a:off x="548640" y="2748351"/>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3</a:t>
            </a:r>
            <a:endParaRPr lang="en-US" sz="1794" dirty="0"/>
          </a:p>
        </p:txBody>
      </p:sp>
      <p:sp>
        <p:nvSpPr>
          <p:cNvPr id="17" name="Text 15"/>
          <p:cNvSpPr txBox="1"/>
          <p:nvPr/>
        </p:nvSpPr>
        <p:spPr>
          <a:xfrm>
            <a:off x="1097280" y="2720919"/>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Evaluate</a:t>
            </a:r>
            <a:endParaRPr lang="en-US" sz="1656" dirty="0"/>
          </a:p>
        </p:txBody>
      </p:sp>
      <p:sp>
        <p:nvSpPr>
          <p:cNvPr id="18" name="Text 16"/>
          <p:cNvSpPr txBox="1"/>
          <p:nvPr/>
        </p:nvSpPr>
        <p:spPr>
          <a:xfrm>
            <a:off x="1097280" y="3032364"/>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Development conditions, independent verifier, predeclared budget</a:t>
            </a:r>
            <a:endParaRPr lang="en-US" sz="1518" dirty="0"/>
          </a:p>
        </p:txBody>
      </p:sp>
      <p:sp>
        <p:nvSpPr>
          <p:cNvPr id="19" name="Shape 17"/>
          <p:cNvSpPr/>
          <p:nvPr/>
        </p:nvSpPr>
        <p:spPr>
          <a:xfrm>
            <a:off x="1097280" y="3359003"/>
            <a:ext cx="10543032" cy="0"/>
          </a:xfrm>
          <a:prstGeom prst="line">
            <a:avLst/>
          </a:prstGeom>
          <a:noFill/>
          <a:ln w="6350">
            <a:solidFill>
              <a:srgbClr val="D7DEDB"/>
            </a:solidFill>
            <a:prstDash val="solid"/>
          </a:ln>
        </p:spPr>
      </p:sp>
      <p:sp>
        <p:nvSpPr>
          <p:cNvPr id="20" name="Shape 18"/>
          <p:cNvSpPr/>
          <p:nvPr/>
        </p:nvSpPr>
        <p:spPr>
          <a:xfrm>
            <a:off x="548640" y="3423011"/>
            <a:ext cx="384048" cy="384048"/>
          </a:xfrm>
          <a:prstGeom prst="ellipse">
            <a:avLst/>
          </a:prstGeom>
          <a:solidFill>
            <a:srgbClr val="007F79"/>
          </a:solidFill>
          <a:ln w="12700">
            <a:solidFill>
              <a:srgbClr val="007F79"/>
            </a:solidFill>
            <a:prstDash val="solid"/>
          </a:ln>
        </p:spPr>
      </p:sp>
      <p:sp>
        <p:nvSpPr>
          <p:cNvPr id="21" name="Text 19"/>
          <p:cNvSpPr txBox="1"/>
          <p:nvPr/>
        </p:nvSpPr>
        <p:spPr>
          <a:xfrm>
            <a:off x="548640" y="3423011"/>
            <a:ext cx="384048" cy="384048"/>
          </a:xfrm>
          <a:prstGeom prst="rect">
            <a:avLst/>
          </a:prstGeom>
          <a:noFill/>
          <a:ln/>
        </p:spPr>
        <p:txBody>
          <a:bodyPr wrap="square" lIns="0" tIns="0" rIns="0" bIns="0" rtlCol="0" anchor="ctr"/>
          <a:lstStyle/>
          <a:p>
            <a:pPr algn="ctr" indent="0" marL="0">
              <a:buNone/>
            </a:pPr>
            <a:r>
              <a:rPr lang="en-US" sz="1794" b="1" dirty="0">
                <a:solidFill>
                  <a:srgbClr val="FFFFFF"/>
                </a:solidFill>
                <a:latin typeface="Georgia" pitchFamily="34" charset="0"/>
                <a:ea typeface="Georgia" pitchFamily="34" charset="-122"/>
                <a:cs typeface="Georgia" pitchFamily="34" charset="-120"/>
              </a:rPr>
              <a:t>4</a:t>
            </a:r>
            <a:endParaRPr lang="en-US" sz="1794" dirty="0"/>
          </a:p>
        </p:txBody>
      </p:sp>
      <p:sp>
        <p:nvSpPr>
          <p:cNvPr id="22" name="Text 20"/>
          <p:cNvSpPr txBox="1"/>
          <p:nvPr/>
        </p:nvSpPr>
        <p:spPr>
          <a:xfrm>
            <a:off x="1097280" y="3395579"/>
            <a:ext cx="10543032" cy="329733"/>
          </a:xfrm>
          <a:prstGeom prst="rect">
            <a:avLst/>
          </a:prstGeom>
          <a:noFill/>
          <a:ln/>
        </p:spPr>
        <p:txBody>
          <a:bodyPr wrap="square" lIns="0" tIns="0" rIns="0" bIns="0" rtlCol="0" anchor="ctr"/>
          <a:lstStyle/>
          <a:p>
            <a:pPr indent="0" marL="0">
              <a:buNone/>
            </a:pPr>
            <a:r>
              <a:rPr lang="en-US" sz="1656" b="1" dirty="0">
                <a:solidFill>
                  <a:srgbClr val="10283D"/>
                </a:solidFill>
                <a:latin typeface="Arial" pitchFamily="34" charset="0"/>
                <a:ea typeface="Arial" pitchFamily="34" charset="-122"/>
                <a:cs typeface="Arial" pitchFamily="34" charset="-120"/>
              </a:rPr>
              <a:t>Accept or revert</a:t>
            </a:r>
            <a:endParaRPr lang="en-US" sz="1656" dirty="0"/>
          </a:p>
        </p:txBody>
      </p:sp>
      <p:sp>
        <p:nvSpPr>
          <p:cNvPr id="23" name="Text 21"/>
          <p:cNvSpPr txBox="1"/>
          <p:nvPr/>
        </p:nvSpPr>
        <p:spPr>
          <a:xfrm>
            <a:off x="1097280" y="3707023"/>
            <a:ext cx="10543032" cy="344927"/>
          </a:xfrm>
          <a:prstGeom prst="rect">
            <a:avLst/>
          </a:prstGeom>
          <a:noFill/>
          <a:ln/>
        </p:spPr>
        <p:txBody>
          <a:bodyPr wrap="square" lIns="0" tIns="0" rIns="0" bIns="0" rtlCol="0" anchor="t"/>
          <a:lstStyle/>
          <a:p>
            <a:pPr indent="0" marL="0">
              <a:buNone/>
            </a:pPr>
            <a:r>
              <a:rPr lang="en-US" sz="1518" dirty="0">
                <a:solidFill>
                  <a:srgbClr val="1B2A36"/>
                </a:solidFill>
                <a:latin typeface="Arial" pitchFamily="34" charset="0"/>
                <a:ea typeface="Arial" pitchFamily="34" charset="-122"/>
                <a:cs typeface="Arial" pitchFamily="34" charset="-120"/>
              </a:rPr>
              <a:t>Archive evidence; rollback the whole bundle — prompt index and preprocessing included</a:t>
            </a:r>
            <a:endParaRPr lang="en-US" sz="1518" dirty="0"/>
          </a:p>
        </p:txBody>
      </p:sp>
      <p:sp>
        <p:nvSpPr>
          <p:cNvPr id="24" name="Shape 22"/>
          <p:cNvSpPr/>
          <p:nvPr/>
        </p:nvSpPr>
        <p:spPr>
          <a:xfrm>
            <a:off x="548640" y="4390278"/>
            <a:ext cx="11091672" cy="787481"/>
          </a:xfrm>
          <a:prstGeom prst="rect">
            <a:avLst/>
          </a:prstGeom>
          <a:solidFill>
            <a:srgbClr val="FBF1DC"/>
          </a:solidFill>
          <a:ln w="12700">
            <a:solidFill>
              <a:srgbClr val="FBF1DC"/>
            </a:solidFill>
            <a:prstDash val="solid"/>
          </a:ln>
        </p:spPr>
      </p:sp>
      <p:sp>
        <p:nvSpPr>
          <p:cNvPr id="25" name="Shape 23"/>
          <p:cNvSpPr/>
          <p:nvPr/>
        </p:nvSpPr>
        <p:spPr>
          <a:xfrm>
            <a:off x="548640" y="4390278"/>
            <a:ext cx="82296" cy="787481"/>
          </a:xfrm>
          <a:prstGeom prst="rect">
            <a:avLst/>
          </a:prstGeom>
          <a:solidFill>
            <a:srgbClr val="F3BD58"/>
          </a:solidFill>
          <a:ln w="12700">
            <a:solidFill>
              <a:srgbClr val="F3BD58"/>
            </a:solidFill>
            <a:prstDash val="solid"/>
          </a:ln>
        </p:spPr>
      </p:sp>
      <p:sp>
        <p:nvSpPr>
          <p:cNvPr id="26" name="Text 24"/>
          <p:cNvSpPr txBox="1"/>
          <p:nvPr/>
        </p:nvSpPr>
        <p:spPr>
          <a:xfrm>
            <a:off x="822960" y="4390278"/>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The worker never edits the verifier, gateway limits or held-out data. Held-out evaluation runs once, after candidate selection is frozen.</a:t>
            </a:r>
            <a:endParaRPr lang="en-US" sz="1656" dirty="0"/>
          </a:p>
        </p:txBody>
      </p:sp>
      <p:sp>
        <p:nvSpPr>
          <p:cNvPr id="27" name="Text 25"/>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28" name="Text 26"/>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40 / 44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04 · DECISION</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What we are asking for, and what each outcome means</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Shape 3"/>
          <p:cNvSpPr/>
          <p:nvPr/>
        </p:nvSpPr>
        <p:spPr>
          <a:xfrm>
            <a:off x="548640" y="1371600"/>
            <a:ext cx="3605784" cy="1313604"/>
          </a:xfrm>
          <a:prstGeom prst="rect">
            <a:avLst/>
          </a:prstGeom>
          <a:solidFill>
            <a:srgbClr val="E3F1EF"/>
          </a:solidFill>
          <a:ln w="12700">
            <a:solidFill>
              <a:srgbClr val="E3F1EF"/>
            </a:solidFill>
            <a:prstDash val="solid"/>
          </a:ln>
        </p:spPr>
      </p:sp>
      <p:sp>
        <p:nvSpPr>
          <p:cNvPr id="6" name="Text 4"/>
          <p:cNvSpPr txBox="1"/>
          <p:nvPr/>
        </p:nvSpPr>
        <p:spPr>
          <a:xfrm>
            <a:off x="685800" y="1463040"/>
            <a:ext cx="3331464"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Ask</a:t>
            </a:r>
            <a:endParaRPr lang="en-US" sz="1725" dirty="0"/>
          </a:p>
        </p:txBody>
      </p:sp>
      <p:sp>
        <p:nvSpPr>
          <p:cNvPr id="7" name="Text 5"/>
          <p:cNvSpPr txBox="1"/>
          <p:nvPr/>
        </p:nvSpPr>
        <p:spPr>
          <a:xfrm>
            <a:off x="685800" y="1783080"/>
            <a:ext cx="3331464" cy="856404"/>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GPU workstation, VR teleop headset, table fixture, one operator, 10–12 weeks</a:t>
            </a:r>
            <a:endParaRPr lang="en-US" sz="1449" dirty="0"/>
          </a:p>
        </p:txBody>
      </p:sp>
      <p:sp>
        <p:nvSpPr>
          <p:cNvPr id="8" name="Shape 6"/>
          <p:cNvSpPr/>
          <p:nvPr/>
        </p:nvSpPr>
        <p:spPr>
          <a:xfrm>
            <a:off x="4291584" y="1371600"/>
            <a:ext cx="3605784" cy="1313604"/>
          </a:xfrm>
          <a:prstGeom prst="rect">
            <a:avLst/>
          </a:prstGeom>
          <a:solidFill>
            <a:srgbClr val="E3F1EF"/>
          </a:solidFill>
          <a:ln w="12700">
            <a:solidFill>
              <a:srgbClr val="E3F1EF"/>
            </a:solidFill>
            <a:prstDash val="solid"/>
          </a:ln>
        </p:spPr>
      </p:sp>
      <p:sp>
        <p:nvSpPr>
          <p:cNvPr id="9" name="Text 7"/>
          <p:cNvSpPr txBox="1"/>
          <p:nvPr/>
        </p:nvSpPr>
        <p:spPr>
          <a:xfrm>
            <a:off x="4428744" y="1463040"/>
            <a:ext cx="3331464"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Go / no-go</a:t>
            </a:r>
            <a:endParaRPr lang="en-US" sz="1725" dirty="0"/>
          </a:p>
        </p:txBody>
      </p:sp>
      <p:sp>
        <p:nvSpPr>
          <p:cNvPr id="10" name="Text 8"/>
          <p:cNvSpPr txBox="1"/>
          <p:nvPr/>
        </p:nvSpPr>
        <p:spPr>
          <a:xfrm>
            <a:off x="4428744" y="1783080"/>
            <a:ext cx="3331464" cy="856404"/>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Week 10: correct prompts beat controls on held-out conditions with a paired interval excluding zero</a:t>
            </a:r>
            <a:endParaRPr lang="en-US" sz="1449" dirty="0"/>
          </a:p>
        </p:txBody>
      </p:sp>
      <p:sp>
        <p:nvSpPr>
          <p:cNvPr id="11" name="Shape 9"/>
          <p:cNvSpPr/>
          <p:nvPr/>
        </p:nvSpPr>
        <p:spPr>
          <a:xfrm>
            <a:off x="8034528" y="1371600"/>
            <a:ext cx="3605784" cy="1313604"/>
          </a:xfrm>
          <a:prstGeom prst="rect">
            <a:avLst/>
          </a:prstGeom>
          <a:solidFill>
            <a:srgbClr val="E3F1EF"/>
          </a:solidFill>
          <a:ln w="12700">
            <a:solidFill>
              <a:srgbClr val="E3F1EF"/>
            </a:solidFill>
            <a:prstDash val="solid"/>
          </a:ln>
        </p:spPr>
      </p:sp>
      <p:sp>
        <p:nvSpPr>
          <p:cNvPr id="12" name="Text 10"/>
          <p:cNvSpPr txBox="1"/>
          <p:nvPr/>
        </p:nvSpPr>
        <p:spPr>
          <a:xfrm>
            <a:off x="8171688" y="1463040"/>
            <a:ext cx="3331464"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If ICL works</a:t>
            </a:r>
            <a:endParaRPr lang="en-US" sz="1725" dirty="0"/>
          </a:p>
        </p:txBody>
      </p:sp>
      <p:sp>
        <p:nvSpPr>
          <p:cNvPr id="13" name="Text 11"/>
          <p:cNvSpPr txBox="1"/>
          <p:nvPr/>
        </p:nvSpPr>
        <p:spPr>
          <a:xfrm>
            <a:off x="8171688" y="1783080"/>
            <a:ext cx="3331464" cy="856404"/>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Scale variants, add retrieval, plan phase 3 human-video prompting</a:t>
            </a:r>
            <a:endParaRPr lang="en-US" sz="1449" dirty="0"/>
          </a:p>
        </p:txBody>
      </p:sp>
      <p:sp>
        <p:nvSpPr>
          <p:cNvPr id="14" name="Shape 12"/>
          <p:cNvSpPr/>
          <p:nvPr/>
        </p:nvSpPr>
        <p:spPr>
          <a:xfrm>
            <a:off x="548640" y="3050964"/>
            <a:ext cx="3605784" cy="1313604"/>
          </a:xfrm>
          <a:prstGeom prst="rect">
            <a:avLst/>
          </a:prstGeom>
          <a:solidFill>
            <a:srgbClr val="E3F1EF"/>
          </a:solidFill>
          <a:ln w="12700">
            <a:solidFill>
              <a:srgbClr val="E3F1EF"/>
            </a:solidFill>
            <a:prstDash val="solid"/>
          </a:ln>
        </p:spPr>
      </p:sp>
      <p:sp>
        <p:nvSpPr>
          <p:cNvPr id="15" name="Text 13"/>
          <p:cNvSpPr txBox="1"/>
          <p:nvPr/>
        </p:nvSpPr>
        <p:spPr>
          <a:xfrm>
            <a:off x="685800" y="3142404"/>
            <a:ext cx="3331464"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If ICL fails</a:t>
            </a:r>
            <a:endParaRPr lang="en-US" sz="1725" dirty="0"/>
          </a:p>
        </p:txBody>
      </p:sp>
      <p:sp>
        <p:nvSpPr>
          <p:cNvPr id="16" name="Text 14"/>
          <p:cNvSpPr txBox="1"/>
          <p:nvPr/>
        </p:nvSpPr>
        <p:spPr>
          <a:xfrm>
            <a:off x="685800" y="3462444"/>
            <a:ext cx="3331464" cy="856404"/>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Keep the geometric baseline; diagnose data diversity, leakage, prompt format, embodiment gap</a:t>
            </a:r>
            <a:endParaRPr lang="en-US" sz="1449" dirty="0"/>
          </a:p>
        </p:txBody>
      </p:sp>
      <p:sp>
        <p:nvSpPr>
          <p:cNvPr id="17" name="Shape 15"/>
          <p:cNvSpPr/>
          <p:nvPr/>
        </p:nvSpPr>
        <p:spPr>
          <a:xfrm>
            <a:off x="4291584" y="3050964"/>
            <a:ext cx="3605784" cy="1313604"/>
          </a:xfrm>
          <a:prstGeom prst="rect">
            <a:avLst/>
          </a:prstGeom>
          <a:solidFill>
            <a:srgbClr val="E3F1EF"/>
          </a:solidFill>
          <a:ln w="12700">
            <a:solidFill>
              <a:srgbClr val="E3F1EF"/>
            </a:solidFill>
            <a:prstDash val="solid"/>
          </a:ln>
        </p:spPr>
      </p:sp>
      <p:sp>
        <p:nvSpPr>
          <p:cNvPr id="18" name="Text 16"/>
          <p:cNvSpPr txBox="1"/>
          <p:nvPr/>
        </p:nvSpPr>
        <p:spPr>
          <a:xfrm>
            <a:off x="4428744" y="3142404"/>
            <a:ext cx="3331464"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If blocked</a:t>
            </a:r>
            <a:endParaRPr lang="en-US" sz="1725" dirty="0"/>
          </a:p>
        </p:txBody>
      </p:sp>
      <p:sp>
        <p:nvSpPr>
          <p:cNvPr id="19" name="Text 17"/>
          <p:cNvSpPr txBox="1"/>
          <p:nvPr/>
        </p:nvSpPr>
        <p:spPr>
          <a:xfrm>
            <a:off x="4428744" y="3462444"/>
            <a:ext cx="3331464" cy="856404"/>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Hand or calibration fix first — no neural motion until G4 passes</a:t>
            </a:r>
            <a:endParaRPr lang="en-US" sz="1449" dirty="0"/>
          </a:p>
        </p:txBody>
      </p:sp>
      <p:sp>
        <p:nvSpPr>
          <p:cNvPr id="20" name="Shape 18"/>
          <p:cNvSpPr/>
          <p:nvPr/>
        </p:nvSpPr>
        <p:spPr>
          <a:xfrm>
            <a:off x="8034528" y="3050964"/>
            <a:ext cx="3605784" cy="1313604"/>
          </a:xfrm>
          <a:prstGeom prst="rect">
            <a:avLst/>
          </a:prstGeom>
          <a:solidFill>
            <a:srgbClr val="E3F1EF"/>
          </a:solidFill>
          <a:ln w="12700">
            <a:solidFill>
              <a:srgbClr val="E3F1EF"/>
            </a:solidFill>
            <a:prstDash val="solid"/>
          </a:ln>
        </p:spPr>
      </p:sp>
      <p:sp>
        <p:nvSpPr>
          <p:cNvPr id="21" name="Text 19"/>
          <p:cNvSpPr txBox="1"/>
          <p:nvPr/>
        </p:nvSpPr>
        <p:spPr>
          <a:xfrm>
            <a:off x="8171688" y="3142404"/>
            <a:ext cx="3331464" cy="320040"/>
          </a:xfrm>
          <a:prstGeom prst="rect">
            <a:avLst/>
          </a:prstGeom>
          <a:noFill/>
          <a:ln/>
        </p:spPr>
        <p:txBody>
          <a:bodyPr wrap="square" lIns="0" tIns="0" rIns="0" bIns="0" rtlCol="0" anchor="ctr"/>
          <a:lstStyle/>
          <a:p>
            <a:pPr indent="0" marL="0">
              <a:buNone/>
            </a:pPr>
            <a:r>
              <a:rPr lang="en-US" sz="1725" b="1" dirty="0">
                <a:solidFill>
                  <a:srgbClr val="007F79"/>
                </a:solidFill>
                <a:latin typeface="Georgia" pitchFamily="34" charset="0"/>
                <a:ea typeface="Georgia" pitchFamily="34" charset="-122"/>
                <a:cs typeface="Georgia" pitchFamily="34" charset="-120"/>
              </a:rPr>
              <a:t>Either way</a:t>
            </a:r>
            <a:endParaRPr lang="en-US" sz="1725" dirty="0"/>
          </a:p>
        </p:txBody>
      </p:sp>
      <p:sp>
        <p:nvSpPr>
          <p:cNvPr id="22" name="Text 20"/>
          <p:cNvSpPr txBox="1"/>
          <p:nvPr/>
        </p:nvSpPr>
        <p:spPr>
          <a:xfrm>
            <a:off x="8171688" y="3462444"/>
            <a:ext cx="3331464" cy="856404"/>
          </a:xfrm>
          <a:prstGeom prst="rect">
            <a:avLst/>
          </a:prstGeom>
          <a:noFill/>
          <a:ln/>
        </p:spPr>
        <p:txBody>
          <a:bodyPr wrap="square" lIns="0" tIns="0" rIns="0" bIns="0" rtlCol="0" anchor="t"/>
          <a:lstStyle/>
          <a:p>
            <a:pPr indent="0" marL="0">
              <a:buNone/>
            </a:pPr>
            <a:r>
              <a:rPr lang="en-US" sz="1449" dirty="0">
                <a:solidFill>
                  <a:srgbClr val="1B2A36"/>
                </a:solidFill>
                <a:latin typeface="Arial" pitchFamily="34" charset="0"/>
                <a:ea typeface="Arial" pitchFamily="34" charset="-122"/>
                <a:cs typeface="Arial" pitchFamily="34" charset="-120"/>
              </a:rPr>
              <a:t>First measured, reproducible ICL result on a G1</a:t>
            </a:r>
            <a:endParaRPr lang="en-US" sz="1449" dirty="0"/>
          </a:p>
        </p:txBody>
      </p:sp>
      <p:sp>
        <p:nvSpPr>
          <p:cNvPr id="23" name="Text 21"/>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24" name="Text 22"/>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41 / 44</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04 · DECISION</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400" b="1" dirty="0">
                <a:solidFill>
                  <a:srgbClr val="10283D"/>
                </a:solidFill>
                <a:latin typeface="Georgia" pitchFamily="34" charset="0"/>
                <a:ea typeface="Georgia" pitchFamily="34" charset="-122"/>
                <a:cs typeface="Georgia" pitchFamily="34" charset="-120"/>
              </a:rPr>
              <a:t>What the technical review must be able to reproduce</a:t>
            </a:r>
            <a:endParaRPr lang="en-US" sz="24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11091672" cy="1453134"/>
          </a:xfrm>
          <a:prstGeom prst="rect">
            <a:avLst/>
          </a:prstGeom>
          <a:noFill/>
          <a:ln/>
        </p:spPr>
        <p:txBody>
          <a:bodyPr wrap="square" lIns="0" tIns="0" rIns="0" bIns="0" rtlCol="0" anchor="t"/>
          <a:lstStyle/>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Exact environments and the complete policy bundle from the manifest</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Observation replay and every coordinate conversion</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The baseline grasp, fault handling and independent scoring</a:t>
            </a:r>
            <a:endParaRPr lang="en-US" sz="1725" dirty="0"/>
          </a:p>
          <a:p>
            <a:pPr marL="228600" indent="-228600">
              <a:spcAft>
                <a:spcPts val="600"/>
              </a:spcAft>
              <a:buSzPct val="100000"/>
              <a:buChar char="•"/>
            </a:pPr>
            <a:r>
              <a:rPr lang="en-US" sz="1725" dirty="0">
                <a:solidFill>
                  <a:srgbClr val="1B2A36"/>
                </a:solidFill>
                <a:latin typeface="Arial" pitchFamily="34" charset="0"/>
                <a:ea typeface="Arial" pitchFamily="34" charset="-122"/>
                <a:cs typeface="Arial" pitchFamily="34" charset="-120"/>
              </a:rPr>
              <a:t>Frozen-policy context experiments and the ENPIRE candidate history</a:t>
            </a:r>
            <a:endParaRPr lang="en-US" sz="1725" dirty="0"/>
          </a:p>
        </p:txBody>
      </p:sp>
      <p:sp>
        <p:nvSpPr>
          <p:cNvPr id="6" name="Shape 4"/>
          <p:cNvSpPr/>
          <p:nvPr/>
        </p:nvSpPr>
        <p:spPr>
          <a:xfrm>
            <a:off x="548640" y="3099054"/>
            <a:ext cx="11091672" cy="787481"/>
          </a:xfrm>
          <a:prstGeom prst="rect">
            <a:avLst/>
          </a:prstGeom>
          <a:solidFill>
            <a:srgbClr val="FBF1DC"/>
          </a:solidFill>
          <a:ln w="12700">
            <a:solidFill>
              <a:srgbClr val="FBF1DC"/>
            </a:solidFill>
            <a:prstDash val="solid"/>
          </a:ln>
        </p:spPr>
      </p:sp>
      <p:sp>
        <p:nvSpPr>
          <p:cNvPr id="7" name="Shape 5"/>
          <p:cNvSpPr/>
          <p:nvPr/>
        </p:nvSpPr>
        <p:spPr>
          <a:xfrm>
            <a:off x="548640" y="3099054"/>
            <a:ext cx="82296" cy="787481"/>
          </a:xfrm>
          <a:prstGeom prst="rect">
            <a:avLst/>
          </a:prstGeom>
          <a:solidFill>
            <a:srgbClr val="F3BD58"/>
          </a:solidFill>
          <a:ln w="12700">
            <a:solidFill>
              <a:srgbClr val="F3BD58"/>
            </a:solidFill>
            <a:prstDash val="solid"/>
          </a:ln>
        </p:spPr>
      </p:sp>
      <p:sp>
        <p:nvSpPr>
          <p:cNvPr id="8" name="Text 6"/>
          <p:cNvSpPr txBox="1"/>
          <p:nvPr/>
        </p:nvSpPr>
        <p:spPr>
          <a:xfrm>
            <a:off x="822960" y="3099054"/>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Claim success only when context helps on held-out conditions. A successful robot video is not evidence of ICL.</a:t>
            </a:r>
            <a:endParaRPr lang="en-US" sz="1656" dirty="0"/>
          </a:p>
        </p:txBody>
      </p:sp>
      <p:sp>
        <p:nvSpPr>
          <p:cNvPr id="9" name="Text 7"/>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Team presentation · proposed engineering design</a:t>
            </a:r>
            <a:endParaRPr lang="en-US" sz="900" dirty="0"/>
          </a:p>
        </p:txBody>
      </p:sp>
      <p:sp>
        <p:nvSpPr>
          <p:cNvPr id="10" name="Text 8"/>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42 / 44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REFERENCES · POLICY LITERATURE</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Primary sources</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One-Shot Imitation Learning</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Duan et al. • NeurIPS 2017</a:t>
            </a:r>
            <a:endParaRPr lang="en-US" sz="1150" dirty="0"/>
          </a:p>
        </p:txBody>
      </p:sp>
      <p:sp>
        <p:nvSpPr>
          <p:cNvPr id="6" name="Text 4"/>
          <p:cNvSpPr txBox="1"/>
          <p:nvPr/>
        </p:nvSpPr>
        <p:spPr>
          <a:xfrm>
            <a:off x="4306824" y="137160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ICRT</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Next-token imitation • ICRA 2025</a:t>
            </a:r>
            <a:endParaRPr lang="en-US" sz="1150" dirty="0"/>
          </a:p>
        </p:txBody>
      </p:sp>
      <p:sp>
        <p:nvSpPr>
          <p:cNvPr id="7" name="Text 5"/>
          <p:cNvSpPr txBox="1"/>
          <p:nvPr/>
        </p:nvSpPr>
        <p:spPr>
          <a:xfrm>
            <a:off x="8065008" y="137160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Instant Policy</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Graph diffusion • ICLR 2025</a:t>
            </a:r>
            <a:endParaRPr lang="en-US" sz="1150" dirty="0"/>
          </a:p>
        </p:txBody>
      </p:sp>
      <p:sp>
        <p:nvSpPr>
          <p:cNvPr id="8" name="Text 6"/>
          <p:cNvSpPr txBox="1"/>
          <p:nvPr/>
        </p:nvSpPr>
        <p:spPr>
          <a:xfrm>
            <a:off x="548640" y="2029968"/>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Thousand Tasks in a Day</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Dreczkowski et al. • Science Robotics 2025</a:t>
            </a:r>
            <a:endParaRPr lang="en-US" sz="1150" dirty="0"/>
          </a:p>
        </p:txBody>
      </p:sp>
      <p:sp>
        <p:nvSpPr>
          <p:cNvPr id="9" name="Text 7"/>
          <p:cNvSpPr txBox="1"/>
          <p:nvPr/>
        </p:nvSpPr>
        <p:spPr>
          <a:xfrm>
            <a:off x="4306824" y="2029968"/>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RICL</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Retrieved-context VLA • CoRL 2025</a:t>
            </a:r>
            <a:endParaRPr lang="en-US" sz="1150" dirty="0"/>
          </a:p>
        </p:txBody>
      </p:sp>
      <p:sp>
        <p:nvSpPr>
          <p:cNvPr id="10" name="Text 8"/>
          <p:cNvSpPr txBox="1"/>
          <p:nvPr/>
        </p:nvSpPr>
        <p:spPr>
          <a:xfrm>
            <a:off x="8065008" y="2029968"/>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BPP</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Behavior prompting • 2026</a:t>
            </a:r>
            <a:endParaRPr lang="en-US" sz="1150" dirty="0"/>
          </a:p>
        </p:txBody>
      </p:sp>
      <p:sp>
        <p:nvSpPr>
          <p:cNvPr id="11" name="Text 9"/>
          <p:cNvSpPr txBox="1"/>
          <p:nvPr/>
        </p:nvSpPr>
        <p:spPr>
          <a:xfrm>
            <a:off x="548640" y="2688336"/>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MimicDroid</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Human-play humanoid ICL • ICRA 2026</a:t>
            </a:r>
            <a:endParaRPr lang="en-US" sz="1150" dirty="0"/>
          </a:p>
        </p:txBody>
      </p:sp>
      <p:sp>
        <p:nvSpPr>
          <p:cNvPr id="12" name="Text 10"/>
          <p:cNvSpPr txBox="1"/>
          <p:nvPr/>
        </p:nvSpPr>
        <p:spPr>
          <a:xfrm>
            <a:off x="4306824" y="2688336"/>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SAIL</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Test-time scaling • 2026</a:t>
            </a:r>
            <a:endParaRPr lang="en-US" sz="1150" dirty="0"/>
          </a:p>
        </p:txBody>
      </p:sp>
      <p:sp>
        <p:nvSpPr>
          <p:cNvPr id="13" name="Text 11"/>
          <p:cNvSpPr txBox="1"/>
          <p:nvPr/>
        </p:nvSpPr>
        <p:spPr>
          <a:xfrm>
            <a:off x="8065008" y="2688336"/>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HiST-AT</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Hierarchical action tokenizer • 2026</a:t>
            </a:r>
            <a:endParaRPr lang="en-US" sz="1150" dirty="0"/>
          </a:p>
        </p:txBody>
      </p:sp>
      <p:sp>
        <p:nvSpPr>
          <p:cNvPr id="14" name="Text 12"/>
          <p:cNvSpPr txBox="1"/>
          <p:nvPr/>
        </p:nvSpPr>
        <p:spPr>
          <a:xfrm>
            <a:off x="548640" y="3346704"/>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ICLR</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Visual trace reasoning • 2026</a:t>
            </a:r>
            <a:endParaRPr lang="en-US" sz="1150" dirty="0"/>
          </a:p>
        </p:txBody>
      </p:sp>
      <p:sp>
        <p:nvSpPr>
          <p:cNvPr id="15" name="Text 13"/>
          <p:cNvSpPr txBox="1"/>
          <p:nvPr/>
        </p:nvSpPr>
        <p:spPr>
          <a:xfrm>
            <a:off x="4306824" y="3346704"/>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BiCICLe</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Bimanual multi-agent ICL • 2026</a:t>
            </a:r>
            <a:endParaRPr lang="en-US" sz="1150" dirty="0"/>
          </a:p>
        </p:txBody>
      </p:sp>
      <p:sp>
        <p:nvSpPr>
          <p:cNvPr id="16" name="Text 14"/>
          <p:cNvSpPr txBox="1"/>
          <p:nvPr/>
        </p:nvSpPr>
        <p:spPr>
          <a:xfrm>
            <a:off x="8065008" y="3346704"/>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SynthICL</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Synthetic-data ICIL • 2026</a:t>
            </a:r>
            <a:endParaRPr lang="en-US" sz="1150" dirty="0"/>
          </a:p>
        </p:txBody>
      </p:sp>
      <p:sp>
        <p:nvSpPr>
          <p:cNvPr id="17" name="Text 15"/>
          <p:cNvSpPr txBox="1"/>
          <p:nvPr/>
        </p:nvSpPr>
        <p:spPr>
          <a:xfrm>
            <a:off x="548640" y="4005072"/>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KAT</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Keypoint tokens • RSS 2024</a:t>
            </a:r>
            <a:endParaRPr lang="en-US" sz="1150" dirty="0"/>
          </a:p>
        </p:txBody>
      </p:sp>
      <p:sp>
        <p:nvSpPr>
          <p:cNvPr id="18" name="Text 16"/>
          <p:cNvSpPr txBox="1"/>
          <p:nvPr/>
        </p:nvSpPr>
        <p:spPr>
          <a:xfrm>
            <a:off x="4306824" y="4005072"/>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Algorithm Distillation</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In-context RL • ICLR 2023</a:t>
            </a:r>
            <a:endParaRPr lang="en-US" sz="1150" dirty="0"/>
          </a:p>
        </p:txBody>
      </p:sp>
      <p:sp>
        <p:nvSpPr>
          <p:cNvPr id="19" name="Text 17"/>
          <p:cNvSpPr txBox="1"/>
          <p:nvPr/>
        </p:nvSpPr>
        <p:spPr>
          <a:xfrm>
            <a:off x="8065008" y="4005072"/>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LocoFormer</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Long-context in-context RL for locomotion • CoRL 2025</a:t>
            </a:r>
            <a:endParaRPr lang="en-US" sz="1150" dirty="0"/>
          </a:p>
        </p:txBody>
      </p:sp>
      <p:sp>
        <p:nvSpPr>
          <p:cNvPr id="20" name="Text 18"/>
          <p:cNvSpPr txBox="1"/>
          <p:nvPr/>
        </p:nvSpPr>
        <p:spPr>
          <a:xfrm>
            <a:off x="548640" y="466344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Skild S1</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GEN-1.5</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RoboTTT</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Closed / concurrent one-shot manipulation references</a:t>
            </a:r>
            <a:endParaRPr lang="en-US" sz="1150" dirty="0"/>
          </a:p>
        </p:txBody>
      </p:sp>
      <p:sp>
        <p:nvSpPr>
          <p:cNvPr id="21" name="Text 19"/>
          <p:cNvSpPr txBox="1"/>
          <p:nvPr/>
        </p:nvSpPr>
        <p:spPr>
          <a:xfrm>
            <a:off x="4306824" y="466344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FACTR 2</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20" invalidUrl="" action="" tgtFrame="" tooltip="" history="1" highlightClick="0" endSnd="0">
                  <a:extLst>
                    <a:ext uri="{A12FA001-AC4F-418D-AE19-62706E023703}">
                      <ahyp:hlinkClr xmlns:ahyp="http://schemas.microsoft.com/office/drawing/2018/hyperlinkcolor" val="tx"/>
                    </a:ext>
                  </a:extLst>
                </a:hlinkClick>
              </a:rPr>
              <a:t>code</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NEXT torque estimation + FIRST re-sampling • 2026</a:t>
            </a:r>
            <a:endParaRPr lang="en-US" sz="1150" dirty="0"/>
          </a:p>
        </p:txBody>
      </p:sp>
      <p:sp>
        <p:nvSpPr>
          <p:cNvPr id="22" name="Text 20"/>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Companion literature review</a:t>
            </a:r>
            <a:endParaRPr lang="en-US" sz="900" dirty="0"/>
          </a:p>
        </p:txBody>
      </p:sp>
      <p:sp>
        <p:nvSpPr>
          <p:cNvPr id="23" name="Text 21"/>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43 / 44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7F0"/>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007F79"/>
                </a:solidFill>
                <a:latin typeface="Arial" pitchFamily="34" charset="0"/>
                <a:ea typeface="Arial" pitchFamily="34" charset="-122"/>
                <a:cs typeface="Arial" pitchFamily="34" charset="-120"/>
              </a:rPr>
              <a:t>REFERENCES · ENGINEERING SOURCES</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800" b="1" dirty="0">
                <a:solidFill>
                  <a:srgbClr val="10283D"/>
                </a:solidFill>
                <a:latin typeface="Georgia" pitchFamily="34" charset="0"/>
                <a:ea typeface="Georgia" pitchFamily="34" charset="-122"/>
                <a:cs typeface="Georgia" pitchFamily="34" charset="-120"/>
              </a:rPr>
              <a:t>Implementation references and claim boundary</a:t>
            </a:r>
            <a:endParaRPr lang="en-US" sz="2800" dirty="0"/>
          </a:p>
        </p:txBody>
      </p:sp>
      <p:sp>
        <p:nvSpPr>
          <p:cNvPr id="4" name="Shape 2"/>
          <p:cNvSpPr/>
          <p:nvPr/>
        </p:nvSpPr>
        <p:spPr>
          <a:xfrm>
            <a:off x="548640" y="1280160"/>
            <a:ext cx="1097280" cy="0"/>
          </a:xfrm>
          <a:prstGeom prst="line">
            <a:avLst/>
          </a:prstGeom>
          <a:noFill/>
          <a:ln w="31750">
            <a:solidFill>
              <a:srgbClr val="F3BD58"/>
            </a:solidFill>
            <a:prstDash val="solid"/>
          </a:ln>
        </p:spPr>
      </p:sp>
      <p:sp>
        <p:nvSpPr>
          <p:cNvPr id="5" name="Text 3"/>
          <p:cNvSpPr txBox="1"/>
          <p:nvPr/>
        </p:nvSpPr>
        <p:spPr>
          <a:xfrm>
            <a:off x="548640" y="137160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ENPIRE</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paper</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Experiment harness; custom G1 port required</a:t>
            </a:r>
            <a:endParaRPr lang="en-US" sz="1150" dirty="0"/>
          </a:p>
        </p:txBody>
      </p:sp>
      <p:sp>
        <p:nvSpPr>
          <p:cNvPr id="6" name="Text 4"/>
          <p:cNvSpPr txBox="1"/>
          <p:nvPr/>
        </p:nvSpPr>
        <p:spPr>
          <a:xfrm>
            <a:off x="4306824" y="137160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G1 SDK</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Arm interface reference</a:t>
            </a:r>
            <a:endParaRPr lang="en-US" sz="1150" dirty="0"/>
          </a:p>
        </p:txBody>
      </p:sp>
      <p:sp>
        <p:nvSpPr>
          <p:cNvPr id="7" name="Text 5"/>
          <p:cNvSpPr txBox="1"/>
          <p:nvPr/>
        </p:nvSpPr>
        <p:spPr>
          <a:xfrm>
            <a:off x="8065008" y="1371600"/>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Unitree XR</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Teleoperation reference configurations</a:t>
            </a:r>
            <a:endParaRPr lang="en-US" sz="1150" dirty="0"/>
          </a:p>
        </p:txBody>
      </p:sp>
      <p:sp>
        <p:nvSpPr>
          <p:cNvPr id="8" name="Text 6"/>
          <p:cNvSpPr txBox="1"/>
          <p:nvPr/>
        </p:nvSpPr>
        <p:spPr>
          <a:xfrm>
            <a:off x="548640" y="2029968"/>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GR00T</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G1 teleop dataset</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Fine-tune workhorse; CC BY-4.0 data</a:t>
            </a:r>
            <a:endParaRPr lang="en-US" sz="1150" dirty="0"/>
          </a:p>
        </p:txBody>
      </p:sp>
      <p:sp>
        <p:nvSpPr>
          <p:cNvPr id="9" name="Text 7"/>
          <p:cNvSpPr txBox="1"/>
          <p:nvPr/>
        </p:nvSpPr>
        <p:spPr>
          <a:xfrm>
            <a:off x="4306824" y="2029968"/>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UnifoLM-VLA-0</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Unitree VLA; CC BY-NC-SA</a:t>
            </a:r>
            <a:endParaRPr lang="en-US" sz="1150" dirty="0"/>
          </a:p>
        </p:txBody>
      </p:sp>
      <p:sp>
        <p:nvSpPr>
          <p:cNvPr id="10" name="Text 8"/>
          <p:cNvSpPr txBox="1"/>
          <p:nvPr/>
        </p:nvSpPr>
        <p:spPr>
          <a:xfrm>
            <a:off x="8065008" y="2029968"/>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openpi</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LeRobot</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π0 / π0.5; Apache-2.0</a:t>
            </a:r>
            <a:endParaRPr lang="en-US" sz="1150" dirty="0"/>
          </a:p>
        </p:txBody>
      </p:sp>
      <p:sp>
        <p:nvSpPr>
          <p:cNvPr id="11" name="Text 9"/>
          <p:cNvSpPr txBox="1"/>
          <p:nvPr/>
        </p:nvSpPr>
        <p:spPr>
          <a:xfrm>
            <a:off x="548640" y="2688336"/>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Pinocchio</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Kinematics building block</a:t>
            </a:r>
            <a:endParaRPr lang="en-US" sz="1150" dirty="0"/>
          </a:p>
        </p:txBody>
      </p:sp>
      <p:sp>
        <p:nvSpPr>
          <p:cNvPr id="12" name="Text 10"/>
          <p:cNvSpPr txBox="1"/>
          <p:nvPr/>
        </p:nvSpPr>
        <p:spPr>
          <a:xfrm>
            <a:off x="4306824" y="2688336"/>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MuJoCo</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Simulation, contract testing, pseudo-demos</a:t>
            </a:r>
            <a:endParaRPr lang="en-US" sz="1150" dirty="0"/>
          </a:p>
        </p:txBody>
      </p:sp>
      <p:sp>
        <p:nvSpPr>
          <p:cNvPr id="13" name="Text 11"/>
          <p:cNvSpPr txBox="1"/>
          <p:nvPr/>
        </p:nvSpPr>
        <p:spPr>
          <a:xfrm>
            <a:off x="8065008" y="2688336"/>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Qwen2.5-Coder</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Optional local coding assistant</a:t>
            </a:r>
            <a:endParaRPr lang="en-US" sz="1150" dirty="0"/>
          </a:p>
        </p:txBody>
      </p:sp>
      <p:sp>
        <p:nvSpPr>
          <p:cNvPr id="14" name="Text 12"/>
          <p:cNvSpPr txBox="1"/>
          <p:nvPr/>
        </p:nvSpPr>
        <p:spPr>
          <a:xfrm>
            <a:off x="548640" y="3346704"/>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GPT-6 Astra</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Robocurve</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StationeryBench</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Closed model; third-party robot-arm results</a:t>
            </a:r>
            <a:endParaRPr lang="en-US" sz="1150" dirty="0"/>
          </a:p>
        </p:txBody>
      </p:sp>
      <p:sp>
        <p:nvSpPr>
          <p:cNvPr id="15" name="Text 13"/>
          <p:cNvSpPr txBox="1"/>
          <p:nvPr/>
        </p:nvSpPr>
        <p:spPr>
          <a:xfrm>
            <a:off x="4306824" y="3346704"/>
            <a:ext cx="3575304" cy="621792"/>
          </a:xfrm>
          <a:prstGeom prst="rect">
            <a:avLst/>
          </a:prstGeom>
          <a:noFill/>
          <a:ln/>
        </p:spPr>
        <p:txBody>
          <a:bodyPr wrap="square" lIns="0" tIns="0" rIns="0" bIns="0" rtlCol="0" anchor="t"/>
          <a:lstStyle/>
          <a:p>
            <a:pPr indent="0" marL="0">
              <a:buNone/>
            </a:pPr>
            <a:r>
              <a:rPr lang="en-US" sz="1150" b="1" u="sng" dirty="0">
                <a:solidFill>
                  <a:srgbClr val="007F79"/>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iPhUMI</a:t>
            </a:r>
            <a:pPr indent="0" marL="0">
              <a:buNone/>
            </a:pPr>
            <a:r>
              <a:rPr lang="en-US" sz="1150" dirty="0">
                <a:solidFill>
                  <a:srgbClr val="526575"/>
                </a:solidFill>
                <a:latin typeface="Arial" pitchFamily="34" charset="0"/>
                <a:ea typeface="Arial" pitchFamily="34" charset="-122"/>
                <a:cs typeface="Arial" pitchFamily="34" charset="-120"/>
              </a:rPr>
              <a:t> · </a:t>
            </a:r>
            <a:pPr indent="0" marL="0">
              <a:buNone/>
            </a:pPr>
            <a:r>
              <a:rPr lang="en-US" sz="1150" b="1" u="sng" dirty="0">
                <a:solidFill>
                  <a:srgbClr val="007F79"/>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Gated Memory Policy</a:t>
            </a:r>
            <a:pPr indent="0" marL="0">
              <a:buNone/>
            </a:pPr>
            <a:endParaRPr lang="en-US" sz="1150" dirty="0"/>
          </a:p>
          <a:p>
            <a:pPr indent="0" marL="0">
              <a:buNone/>
            </a:pPr>
            <a:r>
              <a:rPr lang="en-US" sz="950" dirty="0">
                <a:solidFill>
                  <a:srgbClr val="526575"/>
                </a:solidFill>
                <a:latin typeface="Arial" pitchFamily="34" charset="0"/>
                <a:ea typeface="Arial" pitchFamily="34" charset="-122"/>
                <a:cs typeface="Arial" pitchFamily="34" charset="-120"/>
              </a:rPr>
              <a:t>Handheld prompt interface; in-the-wild cup checkpoint</a:t>
            </a:r>
            <a:endParaRPr lang="en-US" sz="1150" dirty="0"/>
          </a:p>
        </p:txBody>
      </p:sp>
      <p:sp>
        <p:nvSpPr>
          <p:cNvPr id="16" name="Shape 14"/>
          <p:cNvSpPr/>
          <p:nvPr/>
        </p:nvSpPr>
        <p:spPr>
          <a:xfrm>
            <a:off x="548640" y="4370832"/>
            <a:ext cx="11091672" cy="787481"/>
          </a:xfrm>
          <a:prstGeom prst="rect">
            <a:avLst/>
          </a:prstGeom>
          <a:solidFill>
            <a:srgbClr val="FBF1DC"/>
          </a:solidFill>
          <a:ln w="12700">
            <a:solidFill>
              <a:srgbClr val="FBF1DC"/>
            </a:solidFill>
            <a:prstDash val="solid"/>
          </a:ln>
        </p:spPr>
      </p:sp>
      <p:sp>
        <p:nvSpPr>
          <p:cNvPr id="17" name="Shape 15"/>
          <p:cNvSpPr/>
          <p:nvPr/>
        </p:nvSpPr>
        <p:spPr>
          <a:xfrm>
            <a:off x="548640" y="4370832"/>
            <a:ext cx="82296" cy="787481"/>
          </a:xfrm>
          <a:prstGeom prst="rect">
            <a:avLst/>
          </a:prstGeom>
          <a:solidFill>
            <a:srgbClr val="F3BD58"/>
          </a:solidFill>
          <a:ln w="12700">
            <a:solidFill>
              <a:srgbClr val="F3BD58"/>
            </a:solidFill>
            <a:prstDash val="solid"/>
          </a:ln>
        </p:spPr>
      </p:sp>
      <p:sp>
        <p:nvSpPr>
          <p:cNvPr id="18" name="Text 16"/>
          <p:cNvSpPr txBox="1"/>
          <p:nvPr/>
        </p:nvSpPr>
        <p:spPr>
          <a:xfrm>
            <a:off x="822960" y="4370832"/>
            <a:ext cx="10543032" cy="787481"/>
          </a:xfrm>
          <a:prstGeom prst="rect">
            <a:avLst/>
          </a:prstGeom>
          <a:noFill/>
          <a:ln/>
        </p:spPr>
        <p:txBody>
          <a:bodyPr wrap="square" lIns="0" tIns="0" rIns="0" bIns="0" rtlCol="0" anchor="ctr"/>
          <a:lstStyle/>
          <a:p>
            <a:pPr indent="0" marL="0">
              <a:buNone/>
            </a:pPr>
            <a:r>
              <a:rPr lang="en-US" sz="1656" dirty="0">
                <a:solidFill>
                  <a:srgbClr val="10283D"/>
                </a:solidFill>
                <a:latin typeface="Arial" pitchFamily="34" charset="0"/>
                <a:ea typeface="Arial" pitchFamily="34" charset="-122"/>
                <a:cs typeface="Arial" pitchFamily="34" charset="-120"/>
              </a:rPr>
              <a:t>All schemas, budgets, rates and schedules are proposed. No G1 hardware validation was performed for this presentation.</a:t>
            </a:r>
            <a:endParaRPr lang="en-US" sz="1656" dirty="0"/>
          </a:p>
        </p:txBody>
      </p:sp>
      <p:sp>
        <p:nvSpPr>
          <p:cNvPr id="19" name="Text 17"/>
          <p:cNvSpPr txBox="1"/>
          <p:nvPr/>
        </p:nvSpPr>
        <p:spPr>
          <a:xfrm>
            <a:off x="548640" y="6400800"/>
            <a:ext cx="9144000" cy="274320"/>
          </a:xfrm>
          <a:prstGeom prst="rect">
            <a:avLst/>
          </a:prstGeom>
          <a:noFill/>
          <a:ln/>
        </p:spPr>
        <p:txBody>
          <a:bodyPr wrap="square" lIns="0" tIns="0" rIns="0" bIns="0" rtlCol="0" anchor="ctr"/>
          <a:lstStyle/>
          <a:p>
            <a:pPr indent="0" marL="0">
              <a:buNone/>
            </a:pPr>
            <a:r>
              <a:rPr lang="en-US" sz="900" dirty="0">
                <a:solidFill>
                  <a:srgbClr val="526575"/>
                </a:solidFill>
                <a:latin typeface="Arial" pitchFamily="34" charset="0"/>
                <a:ea typeface="Arial" pitchFamily="34" charset="-122"/>
                <a:cs typeface="Arial" pitchFamily="34" charset="-120"/>
              </a:rPr>
              <a:t>Companion engineering guide</a:t>
            </a:r>
            <a:endParaRPr lang="en-US" sz="900" dirty="0"/>
          </a:p>
        </p:txBody>
      </p:sp>
      <p:sp>
        <p:nvSpPr>
          <p:cNvPr id="20" name="Text 18"/>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26575"/>
                </a:solidFill>
                <a:latin typeface="Arial" pitchFamily="34" charset="0"/>
                <a:ea typeface="Arial" pitchFamily="34" charset="-122"/>
                <a:cs typeface="Arial" pitchFamily="34" charset="-120"/>
              </a:rPr>
              <a:t>44 / 44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2026-09-17T17:59:28Z</dcterms:created>
  <dcterms:modified xsi:type="dcterms:W3CDTF">2026-09-17T17:59:28Z</dcterms:modified>
</cp:coreProperties>
</file>