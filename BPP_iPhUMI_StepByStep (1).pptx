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Standalone walkthrough of the BPP + iPhUMI route from the team deck. Numbers are from the paper (arXiv:2606.30457) and the repos; G1-specific values are proposals to validate, not measured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BPP is a diffusion policy with one extra input: a behavior prompt, a single demonstration in the robot's own sensorimotor space. iPhUMI is the handheld UMI-style gripper with an iPhone that records exactly that. The weights stay frozen; only the prompt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devices: the handheld iPhUMI for recording prompts and training data, and a matched wrist camera on the G1's parallel gripper. The G1 side is our proposal; the paper deploys on an ARX arm and a bimanual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One-time gripper calibration first: ~10 s clip opening and closing the gripper in calibration mode; the ultrawide camera reads the finger ArUco tags to learn min/max width. Then demonstrate cup → coaster once in a different scene layout than the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Observations and proprioception are downsampled to about 1 Hz for compute; actions are kept at full rate so the motion is complete. Each chunk = one observation + proprio + the Δt actions up to the next chunk, attention-pooled into a single embedding. Ablations: aggressive downsampling below 1 Hz hurts; including actions helps; attention pooling beats separate per-modality tokens.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policy only works if the live observation has the same form as the prompt: same camera placement relative to the fingers, same width scalar, same action convention. This is the transfer risk for the G1 and should be validated with codec tests before any powered motion.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encoder: transformer decoder, 6 layers, hidden 768, 8 heads, ~57M params; current observation tokens (one per entry per history step) cross-attend to the prompt chunks with learned positional embeddings. Action decoder: CNN U-Net diffusion with FiLM, down dims [256,512,1024], kernel 5, ~151M params. Prompt information is extracted once per inference step, then many denoising steps run without touching the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policy never talks to actuators. The gateway integrates the relative targets from the measured TCP, solves IK with joint and velocity limits, checks reach and collision, executes a short prefix of the chunk, then the loop re-observes and re-infers with the same cached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experiment that separates in-context learning from a policy that has simply learned the cup task. Same weights, same scene, two candidate outcomes visible; only the demonstration changes. A policy that always picks the nearest cup has not passed. Wrong-prompt stress tests run in simulation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is standard diffusion-policy behaviour cloning with one extra input. Each step: sample one demo as the prompt, then a batch of receding-horizon observations and future action chunks from other demos of the same task. No spatial or temporal correspondence labels are needed. Task groupings define what a prompt can control: two grasp strategies for one object must be two task groups.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BPP's own limitation section: substantial training-task diversity is required, and weak task conditioning appears when diversity is low. So the collection plan is many small task groups, not many demos of one task. iPhUMI makes this cheap because no robot time is consumed.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Independent verifier watches the cup, not the command. Fifty held-out conditions per method as a starting budget; the 95% interval at 50 trials is roughly ±14 points near 50%, so lean on paired, interleaved designs. Report counts of aborts, interventions and indeterminate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numbers from arXiv:2606.30457. DrawAnything and LIBERO-Gen are the authors' own benchmarks. The laundry case study is the honest negative: with only three training tasks, language conditioning beat BPP because the prompt's extra spatial and temporal variation made task identification harder.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Ordering follows the team deck: the pilot dataset validates the pipeline; the released checkpoint is tried before any training; ICRT is the fallback if the UMI-style action space cannot be reproduced on the G1 gripper.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team deck and the engineering guide for the surrounding architecture, gates and statistics.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arxiv.org/abs/2606.30457" TargetMode="External"/><Relationship Id="rId2" Type="http://schemas.openxmlformats.org/officeDocument/2006/relationships/hyperlink" Target="https://github.com/real-stanford/behavior_prompting" TargetMode="External"/><Relationship Id="rId3" Type="http://schemas.openxmlformats.org/officeDocument/2006/relationships/hyperlink" Target="https://github.com/real-stanford/iPhUMI" TargetMode="External"/><Relationship Id="rId4" Type="http://schemas.openxmlformats.org/officeDocument/2006/relationships/hyperlink" Target="https://behavior-prompting.github.io/" TargetMode="External"/><Relationship Id="rId5" Type="http://schemas.openxmlformats.org/officeDocument/2006/relationships/hyperlink" Target="https://arxiv.org/abs/2402.10329" TargetMode="External"/><Relationship Id="rId6" Type="http://schemas.openxmlformats.org/officeDocument/2006/relationships/hyperlink" Target="https://arxiv.org/abs/2303.04137" TargetMode="External"/><Relationship Id="rId7" Type="http://schemas.openxmlformats.org/officeDocument/2006/relationships/hyperlink" Target="https://arxiv.org/abs/2408.15980" TargetMode="External"/><Relationship Id="rId8" Type="http://schemas.openxmlformats.org/officeDocument/2006/relationships/hyperlink" Target="https://github.com/real-stanford/gated-memory-policy/" TargetMode="External"/><Relationship Id="rId9" Type="http://schemas.openxmlformats.org/officeDocument/2006/relationships/slideLayout" Target="../slideLayouts/slideLayout1.xml"/><Relationship Id="rId10"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83D"/>
        </a:solidFill>
      </p:bgPr>
    </p:bg>
    <p:spTree>
      <p:nvGrpSpPr>
        <p:cNvPr id="1" name=""/>
        <p:cNvGrpSpPr/>
        <p:nvPr/>
      </p:nvGrpSpPr>
      <p:grpSpPr>
        <a:xfrm>
          <a:off x="0" y="0"/>
          <a:ext cx="0" cy="0"/>
          <a:chOff x="0" y="0"/>
          <a:chExt cx="0" cy="0"/>
        </a:xfrm>
      </p:grpSpPr>
      <p:sp>
        <p:nvSpPr>
          <p:cNvPr id="2" name="Text 0"/>
          <p:cNvSpPr txBox="1"/>
          <p:nvPr/>
        </p:nvSpPr>
        <p:spPr>
          <a:xfrm>
            <a:off x="548640" y="640080"/>
            <a:ext cx="10058400" cy="365760"/>
          </a:xfrm>
          <a:prstGeom prst="rect">
            <a:avLst/>
          </a:prstGeom>
          <a:noFill/>
          <a:ln/>
        </p:spPr>
        <p:txBody>
          <a:bodyPr wrap="square" lIns="0" tIns="0" rIns="0" bIns="0" rtlCol="0" anchor="ctr"/>
          <a:lstStyle/>
          <a:p>
            <a:pPr indent="0" marL="0">
              <a:buNone/>
            </a:pPr>
            <a:r>
              <a:rPr lang="en-US" sz="1200" b="1" spc="200" kern="0" dirty="0">
                <a:solidFill>
                  <a:srgbClr val="F3BD58"/>
                </a:solidFill>
                <a:latin typeface="Arial" pitchFamily="34" charset="0"/>
                <a:ea typeface="Arial" pitchFamily="34" charset="-122"/>
                <a:cs typeface="Arial" pitchFamily="34" charset="-120"/>
              </a:rPr>
              <a:t>METHOD WALKTHROUGH · 18 SEPTEMBER 2026</a:t>
            </a:r>
            <a:endParaRPr lang="en-US" sz="1200" dirty="0"/>
          </a:p>
        </p:txBody>
      </p:sp>
      <p:sp>
        <p:nvSpPr>
          <p:cNvPr id="3" name="Text 1"/>
          <p:cNvSpPr txBox="1"/>
          <p:nvPr/>
        </p:nvSpPr>
        <p:spPr>
          <a:xfrm>
            <a:off x="548640" y="1188720"/>
            <a:ext cx="10972800" cy="91440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BPP + iPhUMI, step by step</a:t>
            </a:r>
            <a:endParaRPr lang="en-US" sz="4000" dirty="0"/>
          </a:p>
        </p:txBody>
      </p:sp>
      <p:sp>
        <p:nvSpPr>
          <p:cNvPr id="4" name="Text 2"/>
          <p:cNvSpPr txBox="1"/>
          <p:nvPr/>
        </p:nvSpPr>
        <p:spPr>
          <a:xfrm>
            <a:off x="548640" y="2286000"/>
            <a:ext cx="10972800" cy="1463040"/>
          </a:xfrm>
          <a:prstGeom prst="rect">
            <a:avLst/>
          </a:prstGeom>
          <a:noFill/>
          <a:ln/>
        </p:spPr>
        <p:txBody>
          <a:bodyPr wrap="square" lIns="0" tIns="0" rIns="0" bIns="0" rtlCol="0" anchor="t"/>
          <a:lstStyle/>
          <a:p>
            <a:pPr indent="0" marL="0">
              <a:buNone/>
            </a:pPr>
            <a:r>
              <a:rPr lang="en-US" sz="3000" dirty="0">
                <a:solidFill>
                  <a:srgbClr val="FFFFFF"/>
                </a:solidFill>
                <a:latin typeface="Georgia" pitchFamily="34" charset="0"/>
                <a:ea typeface="Georgia" pitchFamily="34" charset="-122"/>
                <a:cs typeface="Georgia" pitchFamily="34" charset="-120"/>
              </a:rPr>
              <a:t>One handheld demonstration in,</a:t>
            </a:r>
            <a:endParaRPr lang="en-US" sz="3000" dirty="0"/>
          </a:p>
          <a:p>
            <a:pPr indent="0" marL="0">
              <a:buNone/>
            </a:pPr>
            <a:r>
              <a:rPr lang="en-US" sz="3000" dirty="0">
                <a:solidFill>
                  <a:srgbClr val="FFFFFF"/>
                </a:solidFill>
                <a:latin typeface="Georgia" pitchFamily="34" charset="0"/>
                <a:ea typeface="Georgia" pitchFamily="34" charset="-122"/>
                <a:cs typeface="Georgia" pitchFamily="34" charset="-120"/>
              </a:rPr>
              <a:t>robot actions out — no weight updates</a:t>
            </a:r>
            <a:endParaRPr lang="en-US" sz="3000" dirty="0"/>
          </a:p>
        </p:txBody>
      </p:sp>
      <p:sp>
        <p:nvSpPr>
          <p:cNvPr id="5" name="Text 3"/>
          <p:cNvSpPr txBox="1"/>
          <p:nvPr/>
        </p:nvSpPr>
        <p:spPr>
          <a:xfrm>
            <a:off x="548640" y="3931920"/>
            <a:ext cx="10972800" cy="457200"/>
          </a:xfrm>
          <a:prstGeom prst="rect">
            <a:avLst/>
          </a:prstGeom>
          <a:noFill/>
          <a:ln/>
        </p:spPr>
        <p:txBody>
          <a:bodyPr wrap="square" lIns="0" tIns="0" rIns="0" bIns="0" rtlCol="0" anchor="ctr"/>
          <a:lstStyle/>
          <a:p>
            <a:pPr indent="0" marL="0">
              <a:buNone/>
            </a:pPr>
            <a:r>
              <a:rPr lang="en-US" sz="1600" dirty="0">
                <a:solidFill>
                  <a:srgbClr val="F3BD58"/>
                </a:solidFill>
                <a:latin typeface="Arial" pitchFamily="34" charset="0"/>
                <a:ea typeface="Arial" pitchFamily="34" charset="-122"/>
                <a:cs typeface="Arial" pitchFamily="34" charset="-120"/>
              </a:rPr>
              <a:t>Behavior Prompting Policy (Patel, Pekarek, Castro Hernandez &amp; Song, Stanford, 2026) applied to the Unitree G1 cup task</a:t>
            </a:r>
            <a:endParaRPr lang="en-US" sz="1600" dirty="0"/>
          </a:p>
        </p:txBody>
      </p:sp>
      <p:sp>
        <p:nvSpPr>
          <p:cNvPr id="6" name="Text 4"/>
          <p:cNvSpPr txBox="1"/>
          <p:nvPr/>
        </p:nvSpPr>
        <p:spPr>
          <a:xfrm>
            <a:off x="548640" y="4572000"/>
            <a:ext cx="10972800" cy="457200"/>
          </a:xfrm>
          <a:prstGeom prst="rect">
            <a:avLst/>
          </a:prstGeom>
          <a:noFill/>
          <a:ln/>
        </p:spPr>
        <p:txBody>
          <a:bodyPr wrap="square" lIns="0" tIns="0" rIns="0" bIns="0" rtlCol="0" anchor="ctr"/>
          <a:lstStyle/>
          <a:p>
            <a:pPr indent="0" marL="0">
              <a:buNone/>
            </a:pPr>
            <a:r>
              <a:rPr lang="en-US" sz="1300" dirty="0">
                <a:solidFill>
                  <a:srgbClr val="B8C4CC"/>
                </a:solidFill>
                <a:latin typeface="Arial" pitchFamily="34" charset="0"/>
                <a:ea typeface="Arial" pitchFamily="34" charset="-122"/>
                <a:cs typeface="Arial" pitchFamily="34" charset="-120"/>
              </a:rPr>
              <a:t>Record → build prompt → match the eyes → infer → execute → swap prompt → (train if needed) → evaluate</a:t>
            </a:r>
            <a:endParaRPr lang="en-US" sz="1300" dirty="0"/>
          </a:p>
        </p:txBody>
      </p:sp>
      <p:sp>
        <p:nvSpPr>
          <p:cNvPr id="7" name="Text 5"/>
          <p:cNvSpPr txBox="1"/>
          <p:nvPr/>
        </p:nvSpPr>
        <p:spPr>
          <a:xfrm>
            <a:off x="548640" y="6126480"/>
            <a:ext cx="10972800" cy="274320"/>
          </a:xfrm>
          <a:prstGeom prst="rect">
            <a:avLst/>
          </a:prstGeom>
          <a:noFill/>
          <a:ln/>
        </p:spPr>
        <p:txBody>
          <a:bodyPr wrap="square" lIns="0" tIns="0" rIns="0" bIns="0" rtlCol="0" anchor="ctr"/>
          <a:lstStyle/>
          <a:p>
            <a:pPr indent="0" marL="0">
              <a:buNone/>
            </a:pPr>
            <a:r>
              <a:rPr lang="en-US" sz="900" dirty="0">
                <a:solidFill>
                  <a:srgbClr val="8A9AA6"/>
                </a:solidFill>
                <a:latin typeface="Arial" pitchFamily="34" charset="0"/>
                <a:ea typeface="Arial" pitchFamily="34" charset="-122"/>
                <a:cs typeface="Arial" pitchFamily="34" charset="-120"/>
              </a:rPr>
              <a:t>Sources: arXiv:2606.30457 · github.com/real-stanford/behavior_prompting · github.com/real-stanford/iPhUMI · MIT licence</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0"/>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007F79"/>
                </a:solidFill>
                <a:latin typeface="Arial" pitchFamily="34" charset="0"/>
                <a:ea typeface="Arial" pitchFamily="34" charset="-122"/>
                <a:cs typeface="Arial" pitchFamily="34" charset="-120"/>
              </a:rPr>
              <a:t>OVERVIEW</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800" b="1" dirty="0">
                <a:solidFill>
                  <a:srgbClr val="10283D"/>
                </a:solidFill>
                <a:latin typeface="Georgia" pitchFamily="34" charset="0"/>
                <a:ea typeface="Georgia" pitchFamily="34" charset="-122"/>
                <a:cs typeface="Georgia" pitchFamily="34" charset="-120"/>
              </a:rPr>
              <a:t>What BPP + iPhUMI is, in one picture</a:t>
            </a:r>
            <a:endParaRPr lang="en-US" sz="2800" dirty="0"/>
          </a:p>
        </p:txBody>
      </p:sp>
      <p:sp>
        <p:nvSpPr>
          <p:cNvPr id="4" name="Shape 2"/>
          <p:cNvSpPr/>
          <p:nvPr/>
        </p:nvSpPr>
        <p:spPr>
          <a:xfrm>
            <a:off x="548640" y="1280160"/>
            <a:ext cx="1097280" cy="0"/>
          </a:xfrm>
          <a:prstGeom prst="line">
            <a:avLst/>
          </a:prstGeom>
          <a:noFill/>
          <a:ln w="31750">
            <a:solidFill>
              <a:srgbClr val="F3BD58"/>
            </a:solidFill>
            <a:prstDash val="solid"/>
          </a:ln>
        </p:spPr>
      </p:sp>
      <p:sp>
        <p:nvSpPr>
          <p:cNvPr id="5" name="Text 3"/>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900" dirty="0">
                <a:solidFill>
                  <a:srgbClr val="526575"/>
                </a:solidFill>
                <a:latin typeface="Arial" pitchFamily="34" charset="0"/>
                <a:ea typeface="Arial" pitchFamily="34" charset="-122"/>
                <a:cs typeface="Arial" pitchFamily="34" charset="-120"/>
              </a:rPr>
              <a:t>BPP + iPhUMI on the Unitree G1 · step by step</a:t>
            </a:r>
            <a:endParaRPr lang="en-US" sz="900" dirty="0"/>
          </a:p>
        </p:txBody>
      </p:sp>
      <p:sp>
        <p:nvSpPr>
          <p:cNvPr id="6" name="Text 4"/>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26575"/>
                </a:solidFill>
                <a:latin typeface="Arial" pitchFamily="34" charset="0"/>
                <a:ea typeface="Arial" pitchFamily="34" charset="-122"/>
                <a:cs typeface="Arial" pitchFamily="34" charset="-120"/>
              </a:rPr>
              <a:t>02 / 15</a:t>
            </a:r>
            <a:endParaRPr lang="en-US" sz="900" dirty="0"/>
          </a:p>
        </p:txBody>
      </p:sp>
      <p:sp>
        <p:nvSpPr>
          <p:cNvPr id="8" name="Shape 5"/>
          <p:cNvSpPr/>
          <p:nvPr/>
        </p:nvSpPr>
        <p:spPr>
          <a:xfrm>
            <a:off x="548640" y="1737360"/>
            <a:ext cx="1965960" cy="1188720"/>
          </a:xfrm>
          <a:prstGeom prst="roundRect">
            <a:avLst>
              <a:gd name="adj" fmla="val 7692"/>
            </a:avLst>
          </a:prstGeom>
          <a:solidFill>
            <a:srgbClr val="F3BD58"/>
          </a:solidFill>
          <a:ln w="12700">
            <a:solidFill>
              <a:srgbClr val="D7DEDB"/>
            </a:solidFill>
            <a:prstDash val="solid"/>
          </a:ln>
        </p:spPr>
      </p:sp>
      <p:sp>
        <p:nvSpPr>
          <p:cNvPr id="9" name="Text 6"/>
          <p:cNvSpPr txBox="1"/>
          <p:nvPr/>
        </p:nvSpPr>
        <p:spPr>
          <a:xfrm>
            <a:off x="640080" y="1810512"/>
            <a:ext cx="1783080" cy="502920"/>
          </a:xfrm>
          <a:prstGeom prst="rect">
            <a:avLst/>
          </a:prstGeom>
          <a:noFill/>
          <a:ln/>
        </p:spPr>
        <p:txBody>
          <a:bodyPr wrap="square" lIns="0" tIns="0" rIns="0" bIns="0" rtlCol="0" anchor="ctr"/>
          <a:lstStyle/>
          <a:p>
            <a:pPr algn="ctr" indent="0" marL="0">
              <a:buNone/>
            </a:pPr>
            <a:r>
              <a:rPr lang="en-US" sz="1500" b="1" dirty="0">
                <a:solidFill>
                  <a:srgbClr val="10283D"/>
                </a:solidFill>
                <a:latin typeface="Georgia" pitchFamily="34" charset="0"/>
                <a:ea typeface="Georgia" pitchFamily="34" charset="-122"/>
                <a:cs typeface="Georgia" pitchFamily="34" charset="-120"/>
              </a:rPr>
              <a:t>iPhUMI demo</a:t>
            </a:r>
            <a:endParaRPr lang="en-US" sz="1500" dirty="0"/>
          </a:p>
        </p:txBody>
      </p:sp>
      <p:sp>
        <p:nvSpPr>
          <p:cNvPr id="10" name="Text 7"/>
          <p:cNvSpPr txBox="1"/>
          <p:nvPr/>
        </p:nvSpPr>
        <p:spPr>
          <a:xfrm>
            <a:off x="640080" y="2286000"/>
            <a:ext cx="1783080" cy="548640"/>
          </a:xfrm>
          <a:prstGeom prst="rect">
            <a:avLst/>
          </a:prstGeom>
          <a:noFill/>
          <a:ln/>
        </p:spPr>
        <p:txBody>
          <a:bodyPr wrap="square" lIns="0" tIns="0" rIns="0" bIns="0" rtlCol="0" anchor="t"/>
          <a:lstStyle/>
          <a:p>
            <a:pPr algn="ctr" indent="0" marL="0">
              <a:buNone/>
            </a:pPr>
            <a:r>
              <a:rPr lang="en-US" sz="1100" dirty="0">
                <a:solidFill>
                  <a:srgbClr val="526575"/>
                </a:solidFill>
                <a:latin typeface="Arial" pitchFamily="34" charset="0"/>
                <a:ea typeface="Arial" pitchFamily="34" charset="-122"/>
                <a:cs typeface="Arial" pitchFamily="34" charset="-120"/>
              </a:rPr>
              <a:t>wrist RGB · 6-DoF pose · width</a:t>
            </a:r>
            <a:endParaRPr lang="en-US" sz="1100" dirty="0"/>
          </a:p>
        </p:txBody>
      </p:sp>
      <p:sp>
        <p:nvSpPr>
          <p:cNvPr id="11" name="Shape 8"/>
          <p:cNvSpPr/>
          <p:nvPr/>
        </p:nvSpPr>
        <p:spPr>
          <a:xfrm>
            <a:off x="2560320" y="2194560"/>
            <a:ext cx="224028" cy="320040"/>
          </a:xfrm>
          <a:prstGeom prst="rightArrow">
            <a:avLst/>
          </a:prstGeom>
          <a:solidFill>
            <a:srgbClr val="007F79"/>
          </a:solidFill>
          <a:ln w="12700">
            <a:solidFill>
              <a:srgbClr val="007F79"/>
            </a:solidFill>
            <a:prstDash val="solid"/>
          </a:ln>
        </p:spPr>
      </p:sp>
      <p:sp>
        <p:nvSpPr>
          <p:cNvPr id="12" name="Shape 9"/>
          <p:cNvSpPr/>
          <p:nvPr/>
        </p:nvSpPr>
        <p:spPr>
          <a:xfrm>
            <a:off x="2830068" y="1737360"/>
            <a:ext cx="1965960" cy="1188720"/>
          </a:xfrm>
          <a:prstGeom prst="roundRect">
            <a:avLst>
              <a:gd name="adj" fmla="val 7692"/>
            </a:avLst>
          </a:prstGeom>
          <a:solidFill>
            <a:srgbClr val="FFFFFF"/>
          </a:solidFill>
          <a:ln w="12700">
            <a:solidFill>
              <a:srgbClr val="D7DEDB"/>
            </a:solidFill>
            <a:prstDash val="solid"/>
          </a:ln>
        </p:spPr>
      </p:sp>
      <p:sp>
        <p:nvSpPr>
          <p:cNvPr id="13" name="Text 10"/>
          <p:cNvSpPr txBox="1"/>
          <p:nvPr/>
        </p:nvSpPr>
        <p:spPr>
          <a:xfrm>
            <a:off x="2921508" y="1810512"/>
            <a:ext cx="1783080" cy="502920"/>
          </a:xfrm>
          <a:prstGeom prst="rect">
            <a:avLst/>
          </a:prstGeom>
          <a:noFill/>
          <a:ln/>
        </p:spPr>
        <p:txBody>
          <a:bodyPr wrap="square" lIns="0" tIns="0" rIns="0" bIns="0" rtlCol="0" anchor="ctr"/>
          <a:lstStyle/>
          <a:p>
            <a:pPr algn="ctr" indent="0" marL="0">
              <a:buNone/>
            </a:pPr>
            <a:r>
              <a:rPr lang="en-US" sz="1500" b="1" dirty="0">
                <a:solidFill>
                  <a:srgbClr val="10283D"/>
                </a:solidFill>
                <a:latin typeface="Georgia" pitchFamily="34" charset="0"/>
                <a:ea typeface="Georgia" pitchFamily="34" charset="-122"/>
                <a:cs typeface="Georgia" pitchFamily="34" charset="-120"/>
              </a:rPr>
              <a:t>Prompt chunks</a:t>
            </a:r>
            <a:endParaRPr lang="en-US" sz="1500" dirty="0"/>
          </a:p>
        </p:txBody>
      </p:sp>
      <p:sp>
        <p:nvSpPr>
          <p:cNvPr id="14" name="Text 11"/>
          <p:cNvSpPr txBox="1"/>
          <p:nvPr/>
        </p:nvSpPr>
        <p:spPr>
          <a:xfrm>
            <a:off x="2921508" y="2286000"/>
            <a:ext cx="1783080" cy="548640"/>
          </a:xfrm>
          <a:prstGeom prst="rect">
            <a:avLst/>
          </a:prstGeom>
          <a:noFill/>
          <a:ln/>
        </p:spPr>
        <p:txBody>
          <a:bodyPr wrap="square" lIns="0" tIns="0" rIns="0" bIns="0" rtlCol="0" anchor="t"/>
          <a:lstStyle/>
          <a:p>
            <a:pPr algn="ctr" indent="0" marL="0">
              <a:buNone/>
            </a:pPr>
            <a:r>
              <a:rPr lang="en-US" sz="1100" dirty="0">
                <a:solidFill>
                  <a:srgbClr val="526575"/>
                </a:solidFill>
                <a:latin typeface="Arial" pitchFamily="34" charset="0"/>
                <a:ea typeface="Arial" pitchFamily="34" charset="-122"/>
                <a:cs typeface="Arial" pitchFamily="34" charset="-120"/>
              </a:rPr>
              <a:t>1 Hz obs + full-rate actions</a:t>
            </a:r>
            <a:endParaRPr lang="en-US" sz="1100" dirty="0"/>
          </a:p>
        </p:txBody>
      </p:sp>
      <p:sp>
        <p:nvSpPr>
          <p:cNvPr id="15" name="Shape 12"/>
          <p:cNvSpPr/>
          <p:nvPr/>
        </p:nvSpPr>
        <p:spPr>
          <a:xfrm>
            <a:off x="4841748" y="2194560"/>
            <a:ext cx="224028" cy="320040"/>
          </a:xfrm>
          <a:prstGeom prst="rightArrow">
            <a:avLst/>
          </a:prstGeom>
          <a:solidFill>
            <a:srgbClr val="007F79"/>
          </a:solidFill>
          <a:ln w="12700">
            <a:solidFill>
              <a:srgbClr val="007F79"/>
            </a:solidFill>
            <a:prstDash val="solid"/>
          </a:ln>
        </p:spPr>
      </p:sp>
      <p:sp>
        <p:nvSpPr>
          <p:cNvPr id="16" name="Shape 13"/>
          <p:cNvSpPr/>
          <p:nvPr/>
        </p:nvSpPr>
        <p:spPr>
          <a:xfrm>
            <a:off x="5111496" y="1737360"/>
            <a:ext cx="1965960" cy="1188720"/>
          </a:xfrm>
          <a:prstGeom prst="roundRect">
            <a:avLst>
              <a:gd name="adj" fmla="val 7692"/>
            </a:avLst>
          </a:prstGeom>
          <a:solidFill>
            <a:srgbClr val="FFFFFF"/>
          </a:solidFill>
          <a:ln w="12700">
            <a:solidFill>
              <a:srgbClr val="D7DEDB"/>
            </a:solidFill>
            <a:prstDash val="solid"/>
          </a:ln>
        </p:spPr>
      </p:sp>
      <p:sp>
        <p:nvSpPr>
          <p:cNvPr id="17" name="Text 14"/>
          <p:cNvSpPr txBox="1"/>
          <p:nvPr/>
        </p:nvSpPr>
        <p:spPr>
          <a:xfrm>
            <a:off x="5202936" y="1810512"/>
            <a:ext cx="1783080" cy="502920"/>
          </a:xfrm>
          <a:prstGeom prst="rect">
            <a:avLst/>
          </a:prstGeom>
          <a:noFill/>
          <a:ln/>
        </p:spPr>
        <p:txBody>
          <a:bodyPr wrap="square" lIns="0" tIns="0" rIns="0" bIns="0" rtlCol="0" anchor="ctr"/>
          <a:lstStyle/>
          <a:p>
            <a:pPr algn="ctr" indent="0" marL="0">
              <a:buNone/>
            </a:pPr>
            <a:r>
              <a:rPr lang="en-US" sz="1500" b="1" dirty="0">
                <a:solidFill>
                  <a:srgbClr val="10283D"/>
                </a:solidFill>
                <a:latin typeface="Georgia" pitchFamily="34" charset="0"/>
                <a:ea typeface="Georgia" pitchFamily="34" charset="-122"/>
                <a:cs typeface="Georgia" pitchFamily="34" charset="-120"/>
              </a:rPr>
              <a:t>Prompt encoder</a:t>
            </a:r>
            <a:endParaRPr lang="en-US" sz="1500" dirty="0"/>
          </a:p>
        </p:txBody>
      </p:sp>
      <p:sp>
        <p:nvSpPr>
          <p:cNvPr id="18" name="Text 15"/>
          <p:cNvSpPr txBox="1"/>
          <p:nvPr/>
        </p:nvSpPr>
        <p:spPr>
          <a:xfrm>
            <a:off x="5202936" y="2286000"/>
            <a:ext cx="1783080" cy="548640"/>
          </a:xfrm>
          <a:prstGeom prst="rect">
            <a:avLst/>
          </a:prstGeom>
          <a:noFill/>
          <a:ln/>
        </p:spPr>
        <p:txBody>
          <a:bodyPr wrap="square" lIns="0" tIns="0" rIns="0" bIns="0" rtlCol="0" anchor="t"/>
          <a:lstStyle/>
          <a:p>
            <a:pPr algn="ctr" indent="0" marL="0">
              <a:buNone/>
            </a:pPr>
            <a:r>
              <a:rPr lang="en-US" sz="1100" dirty="0">
                <a:solidFill>
                  <a:srgbClr val="526575"/>
                </a:solidFill>
                <a:latin typeface="Arial" pitchFamily="34" charset="0"/>
                <a:ea typeface="Arial" pitchFamily="34" charset="-122"/>
                <a:cs typeface="Arial" pitchFamily="34" charset="-120"/>
              </a:rPr>
              <a:t>cross-attention to live obs</a:t>
            </a:r>
            <a:endParaRPr lang="en-US" sz="1100" dirty="0"/>
          </a:p>
        </p:txBody>
      </p:sp>
      <p:sp>
        <p:nvSpPr>
          <p:cNvPr id="19" name="Shape 16"/>
          <p:cNvSpPr/>
          <p:nvPr/>
        </p:nvSpPr>
        <p:spPr>
          <a:xfrm>
            <a:off x="7123176" y="2194560"/>
            <a:ext cx="224028" cy="320040"/>
          </a:xfrm>
          <a:prstGeom prst="rightArrow">
            <a:avLst/>
          </a:prstGeom>
          <a:solidFill>
            <a:srgbClr val="007F79"/>
          </a:solidFill>
          <a:ln w="12700">
            <a:solidFill>
              <a:srgbClr val="007F79"/>
            </a:solidFill>
            <a:prstDash val="solid"/>
          </a:ln>
        </p:spPr>
      </p:sp>
      <p:sp>
        <p:nvSpPr>
          <p:cNvPr id="20" name="Shape 17"/>
          <p:cNvSpPr/>
          <p:nvPr/>
        </p:nvSpPr>
        <p:spPr>
          <a:xfrm>
            <a:off x="7392924" y="1737360"/>
            <a:ext cx="1965960" cy="1188720"/>
          </a:xfrm>
          <a:prstGeom prst="roundRect">
            <a:avLst>
              <a:gd name="adj" fmla="val 7692"/>
            </a:avLst>
          </a:prstGeom>
          <a:solidFill>
            <a:srgbClr val="FFFFFF"/>
          </a:solidFill>
          <a:ln w="12700">
            <a:solidFill>
              <a:srgbClr val="D7DEDB"/>
            </a:solidFill>
            <a:prstDash val="solid"/>
          </a:ln>
        </p:spPr>
      </p:sp>
      <p:sp>
        <p:nvSpPr>
          <p:cNvPr id="21" name="Text 18"/>
          <p:cNvSpPr txBox="1"/>
          <p:nvPr/>
        </p:nvSpPr>
        <p:spPr>
          <a:xfrm>
            <a:off x="7484364" y="1810512"/>
            <a:ext cx="1783080" cy="502920"/>
          </a:xfrm>
          <a:prstGeom prst="rect">
            <a:avLst/>
          </a:prstGeom>
          <a:noFill/>
          <a:ln/>
        </p:spPr>
        <p:txBody>
          <a:bodyPr wrap="square" lIns="0" tIns="0" rIns="0" bIns="0" rtlCol="0" anchor="ctr"/>
          <a:lstStyle/>
          <a:p>
            <a:pPr algn="ctr" indent="0" marL="0">
              <a:buNone/>
            </a:pPr>
            <a:r>
              <a:rPr lang="en-US" sz="1500" b="1" dirty="0">
                <a:solidFill>
                  <a:srgbClr val="10283D"/>
                </a:solidFill>
                <a:latin typeface="Georgia" pitchFamily="34" charset="0"/>
                <a:ea typeface="Georgia" pitchFamily="34" charset="-122"/>
                <a:cs typeface="Georgia" pitchFamily="34" charset="-120"/>
              </a:rPr>
              <a:t>Action decoder</a:t>
            </a:r>
            <a:endParaRPr lang="en-US" sz="1500" dirty="0"/>
          </a:p>
        </p:txBody>
      </p:sp>
      <p:sp>
        <p:nvSpPr>
          <p:cNvPr id="22" name="Text 19"/>
          <p:cNvSpPr txBox="1"/>
          <p:nvPr/>
        </p:nvSpPr>
        <p:spPr>
          <a:xfrm>
            <a:off x="7484364" y="2286000"/>
            <a:ext cx="1783080" cy="548640"/>
          </a:xfrm>
          <a:prstGeom prst="rect">
            <a:avLst/>
          </a:prstGeom>
          <a:noFill/>
          <a:ln/>
        </p:spPr>
        <p:txBody>
          <a:bodyPr wrap="square" lIns="0" tIns="0" rIns="0" bIns="0" rtlCol="0" anchor="t"/>
          <a:lstStyle/>
          <a:p>
            <a:pPr algn="ctr" indent="0" marL="0">
              <a:buNone/>
            </a:pPr>
            <a:r>
              <a:rPr lang="en-US" sz="1100" dirty="0">
                <a:solidFill>
                  <a:srgbClr val="526575"/>
                </a:solidFill>
                <a:latin typeface="Arial" pitchFamily="34" charset="0"/>
                <a:ea typeface="Arial" pitchFamily="34" charset="-122"/>
                <a:cs typeface="Arial" pitchFamily="34" charset="-120"/>
              </a:rPr>
              <a:t>diffusion U-Net</a:t>
            </a:r>
            <a:endParaRPr lang="en-US" sz="1100" dirty="0"/>
          </a:p>
        </p:txBody>
      </p:sp>
      <p:sp>
        <p:nvSpPr>
          <p:cNvPr id="23" name="Shape 20"/>
          <p:cNvSpPr/>
          <p:nvPr/>
        </p:nvSpPr>
        <p:spPr>
          <a:xfrm>
            <a:off x="9404604" y="2194560"/>
            <a:ext cx="224028" cy="320040"/>
          </a:xfrm>
          <a:prstGeom prst="rightArrow">
            <a:avLst/>
          </a:prstGeom>
          <a:solidFill>
            <a:srgbClr val="007F79"/>
          </a:solidFill>
          <a:ln w="12700">
            <a:solidFill>
              <a:srgbClr val="007F79"/>
            </a:solidFill>
            <a:prstDash val="solid"/>
          </a:ln>
        </p:spPr>
      </p:sp>
      <p:sp>
        <p:nvSpPr>
          <p:cNvPr id="24" name="Shape 21"/>
          <p:cNvSpPr/>
          <p:nvPr/>
        </p:nvSpPr>
        <p:spPr>
          <a:xfrm>
            <a:off x="9674352" y="1737360"/>
            <a:ext cx="1965960" cy="1188720"/>
          </a:xfrm>
          <a:prstGeom prst="roundRect">
            <a:avLst>
              <a:gd name="adj" fmla="val 7692"/>
            </a:avLst>
          </a:prstGeom>
          <a:solidFill>
            <a:srgbClr val="10283D"/>
          </a:solidFill>
          <a:ln w="12700">
            <a:solidFill>
              <a:srgbClr val="10283D"/>
            </a:solidFill>
            <a:prstDash val="solid"/>
          </a:ln>
        </p:spPr>
      </p:sp>
      <p:sp>
        <p:nvSpPr>
          <p:cNvPr id="25" name="Text 22"/>
          <p:cNvSpPr txBox="1"/>
          <p:nvPr/>
        </p:nvSpPr>
        <p:spPr>
          <a:xfrm>
            <a:off x="9765792" y="1810512"/>
            <a:ext cx="1783080" cy="502920"/>
          </a:xfrm>
          <a:prstGeom prst="rect">
            <a:avLst/>
          </a:prstGeom>
          <a:noFill/>
          <a:ln/>
        </p:spPr>
        <p:txBody>
          <a:bodyPr wrap="square" lIns="0" tIns="0" rIns="0" bIns="0" rtlCol="0" anchor="ctr"/>
          <a:lstStyle/>
          <a:p>
            <a:pPr algn="ctr" indent="0" marL="0">
              <a:buNone/>
            </a:pPr>
            <a:r>
              <a:rPr lang="en-US" sz="1500" b="1" dirty="0">
                <a:solidFill>
                  <a:srgbClr val="F3BD58"/>
                </a:solidFill>
                <a:latin typeface="Georgia" pitchFamily="34" charset="0"/>
                <a:ea typeface="Georgia" pitchFamily="34" charset="-122"/>
                <a:cs typeface="Georgia" pitchFamily="34" charset="-120"/>
              </a:rPr>
              <a:t>Action chunk</a:t>
            </a:r>
            <a:endParaRPr lang="en-US" sz="1500" dirty="0"/>
          </a:p>
        </p:txBody>
      </p:sp>
      <p:sp>
        <p:nvSpPr>
          <p:cNvPr id="26" name="Text 23"/>
          <p:cNvSpPr txBox="1"/>
          <p:nvPr/>
        </p:nvSpPr>
        <p:spPr>
          <a:xfrm>
            <a:off x="9765792" y="2286000"/>
            <a:ext cx="1783080" cy="548640"/>
          </a:xfrm>
          <a:prstGeom prst="rect">
            <a:avLst/>
          </a:prstGeom>
          <a:noFill/>
          <a:ln/>
        </p:spPr>
        <p:txBody>
          <a:bodyPr wrap="square" lIns="0" tIns="0" rIns="0" bIns="0" rtlCol="0" anchor="t"/>
          <a:lstStyle/>
          <a:p>
            <a:pPr algn="ctr" indent="0" marL="0">
              <a:buNone/>
            </a:pPr>
            <a:r>
              <a:rPr lang="en-US" sz="1100" dirty="0">
                <a:solidFill>
                  <a:srgbClr val="E8EEF2"/>
                </a:solidFill>
                <a:latin typeface="Arial" pitchFamily="34" charset="0"/>
                <a:ea typeface="Arial" pitchFamily="34" charset="-122"/>
                <a:cs typeface="Arial" pitchFamily="34" charset="-120"/>
              </a:rPr>
              <a:t>Δpose + gripper width</a:t>
            </a:r>
            <a:endParaRPr lang="en-US" sz="1100" dirty="0"/>
          </a:p>
        </p:txBody>
      </p:sp>
      <p:sp>
        <p:nvSpPr>
          <p:cNvPr id="27" name="Shape 24"/>
          <p:cNvSpPr/>
          <p:nvPr/>
        </p:nvSpPr>
        <p:spPr>
          <a:xfrm>
            <a:off x="548640" y="3291840"/>
            <a:ext cx="3566160" cy="2331720"/>
          </a:xfrm>
          <a:prstGeom prst="rect">
            <a:avLst/>
          </a:prstGeom>
          <a:solidFill>
            <a:srgbClr val="FFFFFF"/>
          </a:solidFill>
          <a:ln w="9525">
            <a:solidFill>
              <a:srgbClr val="D7DEDB"/>
            </a:solidFill>
            <a:prstDash val="solid"/>
          </a:ln>
        </p:spPr>
      </p:sp>
      <p:sp>
        <p:nvSpPr>
          <p:cNvPr id="28" name="Shape 25"/>
          <p:cNvSpPr/>
          <p:nvPr/>
        </p:nvSpPr>
        <p:spPr>
          <a:xfrm>
            <a:off x="548640" y="3291840"/>
            <a:ext cx="3566160" cy="54864"/>
          </a:xfrm>
          <a:prstGeom prst="rect">
            <a:avLst/>
          </a:prstGeom>
          <a:solidFill>
            <a:srgbClr val="007F79"/>
          </a:solidFill>
          <a:ln w="12700">
            <a:solidFill>
              <a:srgbClr val="007F79"/>
            </a:solidFill>
            <a:prstDash val="solid"/>
          </a:ln>
        </p:spPr>
      </p:sp>
      <p:sp>
        <p:nvSpPr>
          <p:cNvPr id="29" name="Text 26"/>
          <p:cNvSpPr txBox="1"/>
          <p:nvPr/>
        </p:nvSpPr>
        <p:spPr>
          <a:xfrm>
            <a:off x="749808" y="3429000"/>
            <a:ext cx="3163824" cy="411480"/>
          </a:xfrm>
          <a:prstGeom prst="rect">
            <a:avLst/>
          </a:prstGeom>
          <a:noFill/>
          <a:ln/>
        </p:spPr>
        <p:txBody>
          <a:bodyPr wrap="square" lIns="0" tIns="0" rIns="0" bIns="0" rtlCol="0" anchor="ctr"/>
          <a:lstStyle/>
          <a:p>
            <a:pPr indent="0" marL="0">
              <a:buNone/>
            </a:pPr>
            <a:r>
              <a:rPr lang="en-US" sz="1500" b="1" dirty="0">
                <a:solidFill>
                  <a:srgbClr val="10283D"/>
                </a:solidFill>
                <a:latin typeface="Georgia" pitchFamily="34" charset="0"/>
                <a:ea typeface="Georgia" pitchFamily="34" charset="-122"/>
                <a:cs typeface="Georgia" pitchFamily="34" charset="-120"/>
              </a:rPr>
              <a:t>The prompt</a:t>
            </a:r>
            <a:endParaRPr lang="en-US" sz="1500" dirty="0"/>
          </a:p>
        </p:txBody>
      </p:sp>
      <p:sp>
        <p:nvSpPr>
          <p:cNvPr id="30" name="Text 27"/>
          <p:cNvSpPr txBox="1"/>
          <p:nvPr/>
        </p:nvSpPr>
        <p:spPr>
          <a:xfrm>
            <a:off x="749808" y="3886200"/>
            <a:ext cx="3163824" cy="1554480"/>
          </a:xfrm>
          <a:prstGeom prst="rect">
            <a:avLst/>
          </a:prstGeom>
          <a:noFill/>
          <a:ln/>
        </p:spPr>
        <p:txBody>
          <a:bodyPr wrap="square" lIns="0" tIns="0" rIns="0" bIns="0" rtlCol="0" anchor="t"/>
          <a:lstStyle/>
          <a:p>
            <a:pPr indent="0" marL="0">
              <a:spcAft>
                <a:spcPts val="600"/>
              </a:spcAft>
              <a:buNone/>
            </a:pPr>
            <a:r>
              <a:rPr lang="en-US" sz="1200" dirty="0">
                <a:solidFill>
                  <a:srgbClr val="1B2A36"/>
                </a:solidFill>
                <a:latin typeface="Arial" pitchFamily="34" charset="0"/>
                <a:ea typeface="Arial" pitchFamily="34" charset="-122"/>
                <a:cs typeface="Arial" pitchFamily="34" charset="-120"/>
              </a:rPr>
              <a:t>A single demonstration of the task in a different scene layout: a sequence of observations, proprioception and actions in the same sensorimotor space the robot executes in. It says what the task is and shows one way to do it.</a:t>
            </a:r>
            <a:endParaRPr lang="en-US" sz="1200" dirty="0"/>
          </a:p>
        </p:txBody>
      </p:sp>
      <p:sp>
        <p:nvSpPr>
          <p:cNvPr id="31" name="Shape 28"/>
          <p:cNvSpPr/>
          <p:nvPr/>
        </p:nvSpPr>
        <p:spPr>
          <a:xfrm>
            <a:off x="4297680" y="3291840"/>
            <a:ext cx="3566160" cy="2331720"/>
          </a:xfrm>
          <a:prstGeom prst="rect">
            <a:avLst/>
          </a:prstGeom>
          <a:solidFill>
            <a:srgbClr val="FFFFFF"/>
          </a:solidFill>
          <a:ln w="9525">
            <a:solidFill>
              <a:srgbClr val="D7DEDB"/>
            </a:solidFill>
            <a:prstDash val="solid"/>
          </a:ln>
        </p:spPr>
      </p:sp>
      <p:sp>
        <p:nvSpPr>
          <p:cNvPr id="32" name="Shape 29"/>
          <p:cNvSpPr/>
          <p:nvPr/>
        </p:nvSpPr>
        <p:spPr>
          <a:xfrm>
            <a:off x="4297680" y="3291840"/>
            <a:ext cx="3566160" cy="54864"/>
          </a:xfrm>
          <a:prstGeom prst="rect">
            <a:avLst/>
          </a:prstGeom>
          <a:solidFill>
            <a:srgbClr val="007F79"/>
          </a:solidFill>
          <a:ln w="12700">
            <a:solidFill>
              <a:srgbClr val="007F79"/>
            </a:solidFill>
            <a:prstDash val="solid"/>
          </a:ln>
        </p:spPr>
      </p:sp>
      <p:sp>
        <p:nvSpPr>
          <p:cNvPr id="33" name="Text 30"/>
          <p:cNvSpPr txBox="1"/>
          <p:nvPr/>
        </p:nvSpPr>
        <p:spPr>
          <a:xfrm>
            <a:off x="4498848" y="3429000"/>
            <a:ext cx="3163824" cy="411480"/>
          </a:xfrm>
          <a:prstGeom prst="rect">
            <a:avLst/>
          </a:prstGeom>
          <a:noFill/>
          <a:ln/>
        </p:spPr>
        <p:txBody>
          <a:bodyPr wrap="square" lIns="0" tIns="0" rIns="0" bIns="0" rtlCol="0" anchor="ctr"/>
          <a:lstStyle/>
          <a:p>
            <a:pPr indent="0" marL="0">
              <a:buNone/>
            </a:pPr>
            <a:r>
              <a:rPr lang="en-US" sz="1500" b="1" dirty="0">
                <a:solidFill>
                  <a:srgbClr val="10283D"/>
                </a:solidFill>
                <a:latin typeface="Georgia" pitchFamily="34" charset="0"/>
                <a:ea typeface="Georgia" pitchFamily="34" charset="-122"/>
                <a:cs typeface="Georgia" pitchFamily="34" charset="-120"/>
              </a:rPr>
              <a:t>The policy</a:t>
            </a:r>
            <a:endParaRPr lang="en-US" sz="1500" dirty="0"/>
          </a:p>
        </p:txBody>
      </p:sp>
      <p:sp>
        <p:nvSpPr>
          <p:cNvPr id="34" name="Text 31"/>
          <p:cNvSpPr txBox="1"/>
          <p:nvPr/>
        </p:nvSpPr>
        <p:spPr>
          <a:xfrm>
            <a:off x="4498848" y="3886200"/>
            <a:ext cx="3163824" cy="1554480"/>
          </a:xfrm>
          <a:prstGeom prst="rect">
            <a:avLst/>
          </a:prstGeom>
          <a:noFill/>
          <a:ln/>
        </p:spPr>
        <p:txBody>
          <a:bodyPr wrap="square" lIns="0" tIns="0" rIns="0" bIns="0" rtlCol="0" anchor="t"/>
          <a:lstStyle/>
          <a:p>
            <a:pPr indent="0" marL="0">
              <a:spcAft>
                <a:spcPts val="600"/>
              </a:spcAft>
              <a:buNone/>
            </a:pPr>
            <a:r>
              <a:rPr lang="en-US" sz="1200" dirty="0">
                <a:solidFill>
                  <a:srgbClr val="1B2A36"/>
                </a:solidFill>
                <a:latin typeface="Arial" pitchFamily="34" charset="0"/>
                <a:ea typeface="Arial" pitchFamily="34" charset="-122"/>
                <a:cs typeface="Arial" pitchFamily="34" charset="-120"/>
              </a:rPr>
              <a:t>Prompt encoder (6-layer transformer decoder, ~57M params) extracts the relevant part of the prompt for the current observation; a CNN U-Net diffusion decoder (~151M) denoises an action chunk. Weights frozen at test time.</a:t>
            </a:r>
            <a:endParaRPr lang="en-US" sz="1200" dirty="0"/>
          </a:p>
        </p:txBody>
      </p:sp>
      <p:sp>
        <p:nvSpPr>
          <p:cNvPr id="35" name="Shape 32"/>
          <p:cNvSpPr/>
          <p:nvPr/>
        </p:nvSpPr>
        <p:spPr>
          <a:xfrm>
            <a:off x="8046720" y="3291840"/>
            <a:ext cx="3566160" cy="2331720"/>
          </a:xfrm>
          <a:prstGeom prst="rect">
            <a:avLst/>
          </a:prstGeom>
          <a:solidFill>
            <a:srgbClr val="FFFFFF"/>
          </a:solidFill>
          <a:ln w="9525">
            <a:solidFill>
              <a:srgbClr val="D7DEDB"/>
            </a:solidFill>
            <a:prstDash val="solid"/>
          </a:ln>
        </p:spPr>
      </p:sp>
      <p:sp>
        <p:nvSpPr>
          <p:cNvPr id="36" name="Shape 33"/>
          <p:cNvSpPr/>
          <p:nvPr/>
        </p:nvSpPr>
        <p:spPr>
          <a:xfrm>
            <a:off x="8046720" y="3291840"/>
            <a:ext cx="3566160" cy="54864"/>
          </a:xfrm>
          <a:prstGeom prst="rect">
            <a:avLst/>
          </a:prstGeom>
          <a:solidFill>
            <a:srgbClr val="007F79"/>
          </a:solidFill>
          <a:ln w="12700">
            <a:solidFill>
              <a:srgbClr val="007F79"/>
            </a:solidFill>
            <a:prstDash val="solid"/>
          </a:ln>
        </p:spPr>
      </p:sp>
      <p:sp>
        <p:nvSpPr>
          <p:cNvPr id="37" name="Text 34"/>
          <p:cNvSpPr txBox="1"/>
          <p:nvPr/>
        </p:nvSpPr>
        <p:spPr>
          <a:xfrm>
            <a:off x="8247888" y="3429000"/>
            <a:ext cx="3163824" cy="411480"/>
          </a:xfrm>
          <a:prstGeom prst="rect">
            <a:avLst/>
          </a:prstGeom>
          <a:noFill/>
          <a:ln/>
        </p:spPr>
        <p:txBody>
          <a:bodyPr wrap="square" lIns="0" tIns="0" rIns="0" bIns="0" rtlCol="0" anchor="ctr"/>
          <a:lstStyle/>
          <a:p>
            <a:pPr indent="0" marL="0">
              <a:buNone/>
            </a:pPr>
            <a:r>
              <a:rPr lang="en-US" sz="1500" b="1" dirty="0">
                <a:solidFill>
                  <a:srgbClr val="10283D"/>
                </a:solidFill>
                <a:latin typeface="Georgia" pitchFamily="34" charset="0"/>
                <a:ea typeface="Georgia" pitchFamily="34" charset="-122"/>
                <a:cs typeface="Georgia" pitchFamily="34" charset="-120"/>
              </a:rPr>
              <a:t>The interface</a:t>
            </a:r>
            <a:endParaRPr lang="en-US" sz="1500" dirty="0"/>
          </a:p>
        </p:txBody>
      </p:sp>
      <p:sp>
        <p:nvSpPr>
          <p:cNvPr id="38" name="Text 35"/>
          <p:cNvSpPr txBox="1"/>
          <p:nvPr/>
        </p:nvSpPr>
        <p:spPr>
          <a:xfrm>
            <a:off x="8247888" y="3886200"/>
            <a:ext cx="3163824" cy="1554480"/>
          </a:xfrm>
          <a:prstGeom prst="rect">
            <a:avLst/>
          </a:prstGeom>
          <a:noFill/>
          <a:ln/>
        </p:spPr>
        <p:txBody>
          <a:bodyPr wrap="square" lIns="0" tIns="0" rIns="0" bIns="0" rtlCol="0" anchor="t"/>
          <a:lstStyle/>
          <a:p>
            <a:pPr indent="0" marL="0">
              <a:spcAft>
                <a:spcPts val="600"/>
              </a:spcAft>
              <a:buNone/>
            </a:pPr>
            <a:r>
              <a:rPr lang="en-US" sz="1200" dirty="0">
                <a:solidFill>
                  <a:srgbClr val="1B2A36"/>
                </a:solidFill>
                <a:latin typeface="Arial" pitchFamily="34" charset="0"/>
                <a:ea typeface="Arial" pitchFamily="34" charset="-122"/>
                <a:cs typeface="Arial" pitchFamily="34" charset="-120"/>
              </a:rPr>
              <a:t>iPhUMI: UMI gripper with an iPhone 15 Pro instead of a GoPro. ARKit SLAM gives instant 6-DoF localisation with no mapping step, and the app sends a demo wirelessly to the policy at test time.</a:t>
            </a:r>
            <a:endParaRPr lang="en-US" sz="1200" dirty="0"/>
          </a:p>
        </p:txBody>
      </p:sp>
      <p:sp>
        <p:nvSpPr>
          <p:cNvPr id="39" name="Shape 36"/>
          <p:cNvSpPr/>
          <p:nvPr/>
        </p:nvSpPr>
        <p:spPr>
          <a:xfrm>
            <a:off x="548640" y="5760720"/>
            <a:ext cx="11091672" cy="457200"/>
          </a:xfrm>
          <a:prstGeom prst="rect">
            <a:avLst/>
          </a:prstGeom>
          <a:solidFill>
            <a:srgbClr val="FBF1DC"/>
          </a:solidFill>
          <a:ln w="12700">
            <a:solidFill>
              <a:srgbClr val="FBF1DC"/>
            </a:solidFill>
            <a:prstDash val="solid"/>
          </a:ln>
        </p:spPr>
      </p:sp>
      <p:sp>
        <p:nvSpPr>
          <p:cNvPr id="40" name="Shape 37"/>
          <p:cNvSpPr/>
          <p:nvPr/>
        </p:nvSpPr>
        <p:spPr>
          <a:xfrm>
            <a:off x="548640" y="5760720"/>
            <a:ext cx="82296" cy="457200"/>
          </a:xfrm>
          <a:prstGeom prst="rect">
            <a:avLst/>
          </a:prstGeom>
          <a:solidFill>
            <a:srgbClr val="F3BD58"/>
          </a:solidFill>
          <a:ln w="12700">
            <a:solidFill>
              <a:srgbClr val="F3BD58"/>
            </a:solidFill>
            <a:prstDash val="solid"/>
          </a:ln>
        </p:spPr>
      </p:sp>
      <p:sp>
        <p:nvSpPr>
          <p:cNvPr id="41" name="Text 38"/>
          <p:cNvSpPr txBox="1"/>
          <p:nvPr/>
        </p:nvSpPr>
        <p:spPr>
          <a:xfrm>
            <a:off x="822960" y="5760720"/>
            <a:ext cx="10543032" cy="457200"/>
          </a:xfrm>
          <a:prstGeom prst="rect">
            <a:avLst/>
          </a:prstGeom>
          <a:noFill/>
          <a:ln/>
        </p:spPr>
        <p:txBody>
          <a:bodyPr wrap="square" lIns="0" tIns="0" rIns="0" bIns="0" rtlCol="0" anchor="ctr"/>
          <a:lstStyle/>
          <a:p>
            <a:pPr indent="0" marL="0">
              <a:buNone/>
            </a:pPr>
            <a:r>
              <a:rPr lang="en-US" sz="1250" dirty="0">
                <a:solidFill>
                  <a:srgbClr val="10283D"/>
                </a:solidFill>
                <a:latin typeface="Arial" pitchFamily="34" charset="0"/>
                <a:ea typeface="Arial" pitchFamily="34" charset="-122"/>
                <a:cs typeface="Arial" pitchFamily="34" charset="-120"/>
              </a:rPr>
              <a:t>Same weights, different demo → different behaviour. That is the whole claim we will test on the G1.</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0"/>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007F79"/>
                </a:solidFill>
                <a:latin typeface="Arial" pitchFamily="34" charset="0"/>
                <a:ea typeface="Arial" pitchFamily="34" charset="-122"/>
                <a:cs typeface="Arial" pitchFamily="34" charset="-120"/>
              </a:rPr>
              <a:t>SETUP</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800" b="1" dirty="0">
                <a:solidFill>
                  <a:srgbClr val="10283D"/>
                </a:solidFill>
                <a:latin typeface="Georgia" pitchFamily="34" charset="0"/>
                <a:ea typeface="Georgia" pitchFamily="34" charset="-122"/>
                <a:cs typeface="Georgia" pitchFamily="34" charset="-120"/>
              </a:rPr>
              <a:t>What you need on the bench before step 1</a:t>
            </a:r>
            <a:endParaRPr lang="en-US" sz="2800" dirty="0"/>
          </a:p>
        </p:txBody>
      </p:sp>
      <p:sp>
        <p:nvSpPr>
          <p:cNvPr id="4" name="Shape 2"/>
          <p:cNvSpPr/>
          <p:nvPr/>
        </p:nvSpPr>
        <p:spPr>
          <a:xfrm>
            <a:off x="548640" y="1280160"/>
            <a:ext cx="1097280" cy="0"/>
          </a:xfrm>
          <a:prstGeom prst="line">
            <a:avLst/>
          </a:prstGeom>
          <a:noFill/>
          <a:ln w="31750">
            <a:solidFill>
              <a:srgbClr val="F3BD58"/>
            </a:solidFill>
            <a:prstDash val="solid"/>
          </a:ln>
        </p:spPr>
      </p:sp>
      <p:sp>
        <p:nvSpPr>
          <p:cNvPr id="5" name="Text 3"/>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900" dirty="0">
                <a:solidFill>
                  <a:srgbClr val="526575"/>
                </a:solidFill>
                <a:latin typeface="Arial" pitchFamily="34" charset="0"/>
                <a:ea typeface="Arial" pitchFamily="34" charset="-122"/>
                <a:cs typeface="Arial" pitchFamily="34" charset="-120"/>
              </a:rPr>
              <a:t>BPP + iPhUMI on the Unitree G1 · step by step</a:t>
            </a:r>
            <a:endParaRPr lang="en-US" sz="900" dirty="0"/>
          </a:p>
        </p:txBody>
      </p:sp>
      <p:sp>
        <p:nvSpPr>
          <p:cNvPr id="6" name="Text 4"/>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26575"/>
                </a:solidFill>
                <a:latin typeface="Arial" pitchFamily="34" charset="0"/>
                <a:ea typeface="Arial" pitchFamily="34" charset="-122"/>
                <a:cs typeface="Arial" pitchFamily="34" charset="-120"/>
              </a:rPr>
              <a:t>03 / 15</a:t>
            </a:r>
            <a:endParaRPr lang="en-US" sz="900" dirty="0"/>
          </a:p>
        </p:txBody>
      </p:sp>
      <p:sp>
        <p:nvSpPr>
          <p:cNvPr id="8" name="Shape 5"/>
          <p:cNvSpPr/>
          <p:nvPr/>
        </p:nvSpPr>
        <p:spPr>
          <a:xfrm>
            <a:off x="548640" y="1508760"/>
            <a:ext cx="5440680" cy="2834640"/>
          </a:xfrm>
          <a:prstGeom prst="rect">
            <a:avLst/>
          </a:prstGeom>
          <a:solidFill>
            <a:srgbClr val="FFFFFF"/>
          </a:solidFill>
          <a:ln w="9525">
            <a:solidFill>
              <a:srgbClr val="D7DEDB"/>
            </a:solidFill>
            <a:prstDash val="solid"/>
          </a:ln>
        </p:spPr>
      </p:sp>
      <p:sp>
        <p:nvSpPr>
          <p:cNvPr id="9" name="Shape 6"/>
          <p:cNvSpPr/>
          <p:nvPr/>
        </p:nvSpPr>
        <p:spPr>
          <a:xfrm>
            <a:off x="548640" y="1508760"/>
            <a:ext cx="5440680" cy="54864"/>
          </a:xfrm>
          <a:prstGeom prst="rect">
            <a:avLst/>
          </a:prstGeom>
          <a:solidFill>
            <a:srgbClr val="007F79"/>
          </a:solidFill>
          <a:ln w="12700">
            <a:solidFill>
              <a:srgbClr val="007F79"/>
            </a:solidFill>
            <a:prstDash val="solid"/>
          </a:ln>
        </p:spPr>
      </p:sp>
      <p:sp>
        <p:nvSpPr>
          <p:cNvPr id="10" name="Text 7"/>
          <p:cNvSpPr txBox="1"/>
          <p:nvPr/>
        </p:nvSpPr>
        <p:spPr>
          <a:xfrm>
            <a:off x="749808" y="1645920"/>
            <a:ext cx="5038344" cy="411480"/>
          </a:xfrm>
          <a:prstGeom prst="rect">
            <a:avLst/>
          </a:prstGeom>
          <a:noFill/>
          <a:ln/>
        </p:spPr>
        <p:txBody>
          <a:bodyPr wrap="square" lIns="0" tIns="0" rIns="0" bIns="0" rtlCol="0" anchor="ctr"/>
          <a:lstStyle/>
          <a:p>
            <a:pPr indent="0" marL="0">
              <a:buNone/>
            </a:pPr>
            <a:r>
              <a:rPr lang="en-US" sz="1500" b="1" dirty="0">
                <a:solidFill>
                  <a:srgbClr val="10283D"/>
                </a:solidFill>
                <a:latin typeface="Georgia" pitchFamily="34" charset="0"/>
                <a:ea typeface="Georgia" pitchFamily="34" charset="-122"/>
                <a:cs typeface="Georgia" pitchFamily="34" charset="-120"/>
              </a:rPr>
              <a:t>iPhUMI (handheld, no robot)</a:t>
            </a:r>
            <a:endParaRPr lang="en-US" sz="1500" dirty="0"/>
          </a:p>
        </p:txBody>
      </p:sp>
      <p:sp>
        <p:nvSpPr>
          <p:cNvPr id="11" name="Text 8"/>
          <p:cNvSpPr txBox="1"/>
          <p:nvPr/>
        </p:nvSpPr>
        <p:spPr>
          <a:xfrm>
            <a:off x="749808" y="2103120"/>
            <a:ext cx="5038344" cy="2057400"/>
          </a:xfrm>
          <a:prstGeom prst="rect">
            <a:avLst/>
          </a:prstGeom>
          <a:noFill/>
          <a:ln/>
        </p:spPr>
        <p:txBody>
          <a:bodyPr wrap="square" lIns="0" tIns="0" rIns="0" bIns="0" rtlCol="0" anchor="t"/>
          <a:lstStyle/>
          <a:p>
            <a:pPr indent="0" marL="0">
              <a:spcAft>
                <a:spcPts val="600"/>
              </a:spcAft>
              <a:buNone/>
            </a:pPr>
            <a:r>
              <a:rPr lang="en-US" sz="1150" dirty="0">
                <a:solidFill>
                  <a:srgbClr val="1B2A36"/>
                </a:solidFill>
                <a:latin typeface="Arial" pitchFamily="34" charset="0"/>
                <a:ea typeface="Arial" pitchFamily="34" charset="-122"/>
                <a:cs typeface="Arial" pitchFamily="34" charset="-120"/>
              </a:rPr>
              <a:t>• 3D-printed UMI-style gripper with an iPhone 15 Pro mount and ArUco tags on the fingers</a:t>
            </a:r>
            <a:endParaRPr lang="en-US" sz="1150" dirty="0"/>
          </a:p>
          <a:p>
            <a:pPr indent="0" marL="0">
              <a:spcAft>
                <a:spcPts val="600"/>
              </a:spcAft>
              <a:buNone/>
            </a:pPr>
            <a:r>
              <a:rPr lang="en-US" sz="1150" dirty="0">
                <a:solidFill>
                  <a:srgbClr val="1B2A36"/>
                </a:solidFill>
                <a:latin typeface="Arial" pitchFamily="34" charset="0"/>
                <a:ea typeface="Arial" pitchFamily="34" charset="-122"/>
                <a:cs typeface="Arial" pitchFamily="34" charset="-120"/>
              </a:rPr>
              <a:t>• Open-source iOS app: records main camera 1920×1440 @ 60 Hz, ultrawide 640×480 @ 10 Hz, LiDAR depth, 6-DoF pose @ 60 Hz, gripper width @ 10 Hz</a:t>
            </a:r>
            <a:endParaRPr lang="en-US" sz="1150" dirty="0"/>
          </a:p>
          <a:p>
            <a:pPr indent="0" marL="0">
              <a:spcAft>
                <a:spcPts val="600"/>
              </a:spcAft>
              <a:buNone/>
            </a:pPr>
            <a:r>
              <a:rPr lang="en-US" sz="1150" dirty="0">
                <a:solidFill>
                  <a:srgbClr val="1B2A36"/>
                </a:solidFill>
                <a:latin typeface="Arial" pitchFamily="34" charset="0"/>
                <a:ea typeface="Arial" pitchFamily="34" charset="-122"/>
                <a:cs typeface="Arial" pitchFamily="34" charset="-120"/>
              </a:rPr>
              <a:t>• Export via USB-C to SD card, or wireless transfer in prompting mode</a:t>
            </a:r>
            <a:endParaRPr lang="en-US" sz="1150" dirty="0"/>
          </a:p>
          <a:p>
            <a:pPr indent="0" marL="0">
              <a:spcAft>
                <a:spcPts val="600"/>
              </a:spcAft>
              <a:buNone/>
            </a:pPr>
            <a:r>
              <a:rPr lang="en-US" sz="1150" dirty="0">
                <a:solidFill>
                  <a:srgbClr val="1B2A36"/>
                </a:solidFill>
                <a:latin typeface="Arial" pitchFamily="34" charset="0"/>
                <a:ea typeface="Arial" pitchFamily="34" charset="-122"/>
                <a:cs typeface="Arial" pitchFamily="34" charset="-120"/>
              </a:rPr>
              <a:t>• Optional: contact microphone, bimanual and head-mounted phones sharing one ARKit frame</a:t>
            </a:r>
            <a:endParaRPr lang="en-US" sz="1150" dirty="0"/>
          </a:p>
        </p:txBody>
      </p:sp>
      <p:sp>
        <p:nvSpPr>
          <p:cNvPr id="12" name="Shape 9"/>
          <p:cNvSpPr/>
          <p:nvPr/>
        </p:nvSpPr>
        <p:spPr>
          <a:xfrm>
            <a:off x="6172200" y="1508760"/>
            <a:ext cx="5440680" cy="2834640"/>
          </a:xfrm>
          <a:prstGeom prst="rect">
            <a:avLst/>
          </a:prstGeom>
          <a:solidFill>
            <a:srgbClr val="FFFFFF"/>
          </a:solidFill>
          <a:ln w="9525">
            <a:solidFill>
              <a:srgbClr val="D7DEDB"/>
            </a:solidFill>
            <a:prstDash val="solid"/>
          </a:ln>
        </p:spPr>
      </p:sp>
      <p:sp>
        <p:nvSpPr>
          <p:cNvPr id="13" name="Shape 10"/>
          <p:cNvSpPr/>
          <p:nvPr/>
        </p:nvSpPr>
        <p:spPr>
          <a:xfrm>
            <a:off x="6172200" y="1508760"/>
            <a:ext cx="5440680" cy="54864"/>
          </a:xfrm>
          <a:prstGeom prst="rect">
            <a:avLst/>
          </a:prstGeom>
          <a:solidFill>
            <a:srgbClr val="007F79"/>
          </a:solidFill>
          <a:ln w="12700">
            <a:solidFill>
              <a:srgbClr val="007F79"/>
            </a:solidFill>
            <a:prstDash val="solid"/>
          </a:ln>
        </p:spPr>
      </p:sp>
      <p:sp>
        <p:nvSpPr>
          <p:cNvPr id="14" name="Text 11"/>
          <p:cNvSpPr txBox="1"/>
          <p:nvPr/>
        </p:nvSpPr>
        <p:spPr>
          <a:xfrm>
            <a:off x="6373368" y="1645920"/>
            <a:ext cx="5038344" cy="411480"/>
          </a:xfrm>
          <a:prstGeom prst="rect">
            <a:avLst/>
          </a:prstGeom>
          <a:noFill/>
          <a:ln/>
        </p:spPr>
        <p:txBody>
          <a:bodyPr wrap="square" lIns="0" tIns="0" rIns="0" bIns="0" rtlCol="0" anchor="ctr"/>
          <a:lstStyle/>
          <a:p>
            <a:pPr indent="0" marL="0">
              <a:buNone/>
            </a:pPr>
            <a:r>
              <a:rPr lang="en-US" sz="1500" b="1" dirty="0">
                <a:solidFill>
                  <a:srgbClr val="10283D"/>
                </a:solidFill>
                <a:latin typeface="Georgia" pitchFamily="34" charset="0"/>
                <a:ea typeface="Georgia" pitchFamily="34" charset="-122"/>
                <a:cs typeface="Georgia" pitchFamily="34" charset="-120"/>
              </a:rPr>
              <a:t>Unitree G1 side (proposed)</a:t>
            </a:r>
            <a:endParaRPr lang="en-US" sz="1500" dirty="0"/>
          </a:p>
        </p:txBody>
      </p:sp>
      <p:sp>
        <p:nvSpPr>
          <p:cNvPr id="15" name="Text 12"/>
          <p:cNvSpPr txBox="1"/>
          <p:nvPr/>
        </p:nvSpPr>
        <p:spPr>
          <a:xfrm>
            <a:off x="6373368" y="2103120"/>
            <a:ext cx="5038344" cy="2057400"/>
          </a:xfrm>
          <a:prstGeom prst="rect">
            <a:avLst/>
          </a:prstGeom>
          <a:noFill/>
          <a:ln/>
        </p:spPr>
        <p:txBody>
          <a:bodyPr wrap="square" lIns="0" tIns="0" rIns="0" bIns="0" rtlCol="0" anchor="t"/>
          <a:lstStyle/>
          <a:p>
            <a:pPr indent="0" marL="0">
              <a:spcAft>
                <a:spcPts val="600"/>
              </a:spcAft>
              <a:buNone/>
            </a:pPr>
            <a:r>
              <a:rPr lang="en-US" sz="1150" dirty="0">
                <a:solidFill>
                  <a:srgbClr val="1B2A36"/>
                </a:solidFill>
                <a:latin typeface="Arial" pitchFamily="34" charset="0"/>
                <a:ea typeface="Arial" pitchFamily="34" charset="-122"/>
                <a:cs typeface="Arial" pitchFamily="34" charset="-120"/>
              </a:rPr>
              <a:t>• Parallel gripper on one arm; hand width calibrated to the same [0,1] scalar as iPhUMI</a:t>
            </a:r>
            <a:endParaRPr lang="en-US" sz="1150" dirty="0"/>
          </a:p>
          <a:p>
            <a:pPr indent="0" marL="0">
              <a:spcAft>
                <a:spcPts val="600"/>
              </a:spcAft>
              <a:buNone/>
            </a:pPr>
            <a:r>
              <a:rPr lang="en-US" sz="1150" dirty="0">
                <a:solidFill>
                  <a:srgbClr val="1B2A36"/>
                </a:solidFill>
                <a:latin typeface="Arial" pitchFamily="34" charset="0"/>
                <a:ea typeface="Arial" pitchFamily="34" charset="-122"/>
                <a:cs typeface="Arial" pitchFamily="34" charset="-120"/>
              </a:rPr>
              <a:t>• iPhone (or camera at the identical iPhUMI offset) mounted on the gripper, streamed 960×720 @ 60 Hz over USB/Ethernet using the iPhUMI deployment mode</a:t>
            </a:r>
            <a:endParaRPr lang="en-US" sz="1150" dirty="0"/>
          </a:p>
          <a:p>
            <a:pPr indent="0" marL="0">
              <a:spcAft>
                <a:spcPts val="600"/>
              </a:spcAft>
              <a:buNone/>
            </a:pPr>
            <a:r>
              <a:rPr lang="en-US" sz="1150" dirty="0">
                <a:solidFill>
                  <a:srgbClr val="1B2A36"/>
                </a:solidFill>
                <a:latin typeface="Arial" pitchFamily="34" charset="0"/>
                <a:ea typeface="Arial" pitchFamily="34" charset="-122"/>
                <a:cs typeface="Arial" pitchFamily="34" charset="-120"/>
              </a:rPr>
              <a:t>• Workstation GPU running the policy server; G1 gateway owns IK, limits and actuation</a:t>
            </a:r>
            <a:endParaRPr lang="en-US" sz="1150" dirty="0"/>
          </a:p>
          <a:p>
            <a:pPr indent="0" marL="0">
              <a:spcAft>
                <a:spcPts val="600"/>
              </a:spcAft>
              <a:buNone/>
            </a:pPr>
            <a:r>
              <a:rPr lang="en-US" sz="1150" dirty="0">
                <a:solidFill>
                  <a:srgbClr val="1B2A36"/>
                </a:solidFill>
                <a:latin typeface="Arial" pitchFamily="34" charset="0"/>
                <a:ea typeface="Arial" pitchFamily="34" charset="-122"/>
                <a:cs typeface="Arial" pitchFamily="34" charset="-120"/>
              </a:rPr>
              <a:t>• Calibrated wrist-to-TCP and gripper geometry (guide Sections 7–9)</a:t>
            </a:r>
            <a:endParaRPr lang="en-US" sz="11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4526280"/>
          <a:ext cx="11091672" cy="914400"/>
        </p:xfrm>
        <a:graphic>
          <a:graphicData uri="http://schemas.openxmlformats.org/drawingml/2006/table">
            <a:tbl>
              <a:tblPr/>
              <a:tblGrid>
                <a:gridCol w="3291840"/>
                <a:gridCol w="7799832"/>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Item</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Why it matters</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r>
              <a:tr h="0">
                <a:tc>
                  <a:txBody>
                    <a:bodyPr/>
                    <a:lstStyle/>
                    <a:p>
                      <a:pPr indent="0" marL="0">
                        <a:buNone/>
                      </a:pPr>
                      <a:r>
                        <a:rPr lang="en-US" sz="1100" dirty="0">
                          <a:solidFill>
                            <a:srgbClr val="1B2A36"/>
                          </a:solidFill>
                          <a:latin typeface="Arial" pitchFamily="34" charset="0"/>
                          <a:ea typeface="Arial" pitchFamily="34" charset="-122"/>
                          <a:cs typeface="Arial" pitchFamily="34" charset="-120"/>
                        </a:rPr>
                        <a:t>Wrist-camera offset matches iPhUMI</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100" dirty="0">
                          <a:solidFill>
                            <a:srgbClr val="1B2A36"/>
                          </a:solidFill>
                          <a:latin typeface="Arial" pitchFamily="34" charset="0"/>
                          <a:ea typeface="Arial" pitchFamily="34" charset="-122"/>
                          <a:cs typeface="Arial" pitchFamily="34" charset="-120"/>
                        </a:rPr>
                        <a:t>The policy's visual prior is tied to where the camera sits relative to the fingers</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r>
              <a:tr h="0">
                <a:tc>
                  <a:txBody>
                    <a:bodyPr/>
                    <a:lstStyle/>
                    <a:p>
                      <a:pPr indent="0" marL="0">
                        <a:buNone/>
                      </a:pPr>
                      <a:r>
                        <a:rPr lang="en-US" sz="1100" dirty="0">
                          <a:solidFill>
                            <a:srgbClr val="1B2A36"/>
                          </a:solidFill>
                          <a:latin typeface="Arial" pitchFamily="34" charset="0"/>
                          <a:ea typeface="Arial" pitchFamily="34" charset="-122"/>
                          <a:cs typeface="Arial" pitchFamily="34" charset="-120"/>
                        </a:rPr>
                        <a:t>Gripper width scalar matches</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100" dirty="0">
                          <a:solidFill>
                            <a:srgbClr val="1B2A36"/>
                          </a:solidFill>
                          <a:latin typeface="Arial" pitchFamily="34" charset="0"/>
                          <a:ea typeface="Arial" pitchFamily="34" charset="-122"/>
                          <a:cs typeface="Arial" pitchFamily="34" charset="-120"/>
                        </a:rPr>
                        <a:t>Actions carry a width command; mismatch means wrong grasp timing</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B2A36"/>
                          </a:solidFill>
                          <a:latin typeface="Arial" pitchFamily="34" charset="0"/>
                          <a:ea typeface="Arial" pitchFamily="34" charset="-122"/>
                          <a:cs typeface="Arial" pitchFamily="34" charset="-120"/>
                        </a:rPr>
                        <a:t>Relative end-effector actions</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100" dirty="0">
                          <a:solidFill>
                            <a:srgbClr val="1B2A36"/>
                          </a:solidFill>
                          <a:latin typeface="Arial" pitchFamily="34" charset="0"/>
                          <a:ea typeface="Arial" pitchFamily="34" charset="-122"/>
                          <a:cs typeface="Arial" pitchFamily="34" charset="-120"/>
                        </a:rPr>
                        <a:t>BPP outputs UMI-style Δpose; the gateway must integrate them from the measured TCP</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r>
              <a:tr h="0">
                <a:tc>
                  <a:txBody>
                    <a:bodyPr/>
                    <a:lstStyle/>
                    <a:p>
                      <a:pPr indent="0" marL="0">
                        <a:buNone/>
                      </a:pPr>
                      <a:r>
                        <a:rPr lang="en-US" sz="1100" dirty="0">
                          <a:solidFill>
                            <a:srgbClr val="1B2A36"/>
                          </a:solidFill>
                          <a:latin typeface="Arial" pitchFamily="34" charset="0"/>
                          <a:ea typeface="Arial" pitchFamily="34" charset="-122"/>
                          <a:cs typeface="Arial" pitchFamily="34" charset="-120"/>
                        </a:rPr>
                        <a:t>Same task family in training data</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100" dirty="0">
                          <a:solidFill>
                            <a:srgbClr val="1B2A36"/>
                          </a:solidFill>
                          <a:latin typeface="Arial" pitchFamily="34" charset="0"/>
                          <a:ea typeface="Arial" pitchFamily="34" charset="-122"/>
                          <a:cs typeface="Arial" pitchFamily="34" charset="-120"/>
                        </a:rPr>
                        <a:t>BPP recombines known primitives; a cup body-grasp must exist in training</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0"/>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007F79"/>
                </a:solidFill>
                <a:latin typeface="Arial" pitchFamily="34" charset="0"/>
                <a:ea typeface="Arial" pitchFamily="34" charset="-122"/>
                <a:cs typeface="Arial" pitchFamily="34" charset="-120"/>
              </a:rPr>
              <a:t>STEP 1</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800" b="1" dirty="0">
                <a:solidFill>
                  <a:srgbClr val="10283D"/>
                </a:solidFill>
                <a:latin typeface="Georgia" pitchFamily="34" charset="0"/>
                <a:ea typeface="Georgia" pitchFamily="34" charset="-122"/>
                <a:cs typeface="Georgia" pitchFamily="34" charset="-120"/>
              </a:rPr>
              <a:t>Record the prompt with iPhUMI — no robot involved</a:t>
            </a:r>
            <a:endParaRPr lang="en-US" sz="2800" dirty="0"/>
          </a:p>
        </p:txBody>
      </p:sp>
      <p:sp>
        <p:nvSpPr>
          <p:cNvPr id="4" name="Shape 2"/>
          <p:cNvSpPr/>
          <p:nvPr/>
        </p:nvSpPr>
        <p:spPr>
          <a:xfrm>
            <a:off x="548640" y="1280160"/>
            <a:ext cx="1097280" cy="0"/>
          </a:xfrm>
          <a:prstGeom prst="line">
            <a:avLst/>
          </a:prstGeom>
          <a:noFill/>
          <a:ln w="31750">
            <a:solidFill>
              <a:srgbClr val="F3BD58"/>
            </a:solidFill>
            <a:prstDash val="solid"/>
          </a:ln>
        </p:spPr>
      </p:sp>
      <p:sp>
        <p:nvSpPr>
          <p:cNvPr id="5" name="Text 3"/>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900" dirty="0">
                <a:solidFill>
                  <a:srgbClr val="526575"/>
                </a:solidFill>
                <a:latin typeface="Arial" pitchFamily="34" charset="0"/>
                <a:ea typeface="Arial" pitchFamily="34" charset="-122"/>
                <a:cs typeface="Arial" pitchFamily="34" charset="-120"/>
              </a:rPr>
              <a:t>BPP + iPhUMI on the Unitree G1 · step by step</a:t>
            </a:r>
            <a:endParaRPr lang="en-US" sz="900" dirty="0"/>
          </a:p>
        </p:txBody>
      </p:sp>
      <p:sp>
        <p:nvSpPr>
          <p:cNvPr id="6" name="Text 4"/>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26575"/>
                </a:solidFill>
                <a:latin typeface="Arial" pitchFamily="34" charset="0"/>
                <a:ea typeface="Arial" pitchFamily="34" charset="-122"/>
                <a:cs typeface="Arial" pitchFamily="34" charset="-120"/>
              </a:rPr>
              <a:t>04 / 15</a:t>
            </a:r>
            <a:endParaRPr lang="en-US" sz="900" dirty="0"/>
          </a:p>
        </p:txBody>
      </p:sp>
      <p:sp>
        <p:nvSpPr>
          <p:cNvPr id="8" name="Shape 5"/>
          <p:cNvSpPr/>
          <p:nvPr/>
        </p:nvSpPr>
        <p:spPr>
          <a:xfrm>
            <a:off x="548640" y="1554480"/>
            <a:ext cx="548640" cy="548640"/>
          </a:xfrm>
          <a:prstGeom prst="ellipse">
            <a:avLst/>
          </a:prstGeom>
          <a:solidFill>
            <a:srgbClr val="007F79"/>
          </a:solidFill>
          <a:ln w="12700">
            <a:solidFill>
              <a:srgbClr val="007F79"/>
            </a:solidFill>
            <a:prstDash val="solid"/>
          </a:ln>
        </p:spPr>
      </p:sp>
      <p:sp>
        <p:nvSpPr>
          <p:cNvPr id="9" name="Text 6"/>
          <p:cNvSpPr txBox="1"/>
          <p:nvPr/>
        </p:nvSpPr>
        <p:spPr>
          <a:xfrm>
            <a:off x="548640" y="155448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1</a:t>
            </a:r>
            <a:endParaRPr lang="en-US" sz="2000" dirty="0"/>
          </a:p>
        </p:txBody>
      </p:sp>
      <p:sp>
        <p:nvSpPr>
          <p:cNvPr id="10" name="Text 7"/>
          <p:cNvSpPr txBox="1"/>
          <p:nvPr/>
        </p:nvSpPr>
        <p:spPr>
          <a:xfrm>
            <a:off x="1280160" y="1554480"/>
            <a:ext cx="10058400" cy="548640"/>
          </a:xfrm>
          <a:prstGeom prst="rect">
            <a:avLst/>
          </a:prstGeom>
          <a:noFill/>
          <a:ln/>
        </p:spPr>
        <p:txBody>
          <a:bodyPr wrap="square" lIns="0" tIns="0" rIns="0" bIns="0" rtlCol="0" anchor="ctr"/>
          <a:lstStyle/>
          <a:p>
            <a:pPr indent="0" marL="0">
              <a:buNone/>
            </a:pPr>
            <a:r>
              <a:rPr lang="en-US" sz="1800" dirty="0">
                <a:solidFill>
                  <a:srgbClr val="10283D"/>
                </a:solidFill>
                <a:latin typeface="Georgia" pitchFamily="34" charset="0"/>
                <a:ea typeface="Georgia" pitchFamily="34" charset="-122"/>
                <a:cs typeface="Georgia" pitchFamily="34" charset="-120"/>
              </a:rPr>
              <a:t>Pick up the gripper, tap record, do cup → coaster once, stop.</a:t>
            </a:r>
            <a:endParaRPr lang="en-US" sz="1800" dirty="0"/>
          </a:p>
        </p:txBody>
      </p:sp>
      <p:sp>
        <p:nvSpPr>
          <p:cNvPr id="11" name="Shape 8"/>
          <p:cNvSpPr/>
          <p:nvPr/>
        </p:nvSpPr>
        <p:spPr>
          <a:xfrm>
            <a:off x="548640" y="2286000"/>
            <a:ext cx="6583680" cy="2377440"/>
          </a:xfrm>
          <a:prstGeom prst="rect">
            <a:avLst/>
          </a:prstGeom>
          <a:solidFill>
            <a:srgbClr val="10283D"/>
          </a:solidFill>
          <a:ln w="12700">
            <a:solidFill>
              <a:srgbClr val="10283D"/>
            </a:solidFill>
            <a:prstDash val="solid"/>
          </a:ln>
        </p:spPr>
      </p:sp>
      <p:sp>
        <p:nvSpPr>
          <p:cNvPr id="12" name="Text 9"/>
          <p:cNvSpPr txBox="1"/>
          <p:nvPr/>
        </p:nvSpPr>
        <p:spPr>
          <a:xfrm>
            <a:off x="731520" y="2423160"/>
            <a:ext cx="6217920" cy="2103120"/>
          </a:xfrm>
          <a:prstGeom prst="rect">
            <a:avLst/>
          </a:prstGeom>
          <a:noFill/>
          <a:ln/>
        </p:spPr>
        <p:txBody>
          <a:bodyPr wrap="square" lIns="0" tIns="0" rIns="0" bIns="0" rtlCol="0" anchor="t"/>
          <a:lstStyle/>
          <a:p>
            <a:pPr indent="0" marL="0">
              <a:buNone/>
            </a:pPr>
            <a:r>
              <a:rPr lang="en-US" sz="1150" dirty="0">
                <a:solidFill>
                  <a:srgbClr val="E8EEF2"/>
                </a:solidFill>
                <a:latin typeface="Courier New" pitchFamily="34" charset="0"/>
                <a:ea typeface="Courier New" pitchFamily="34" charset="-122"/>
                <a:cs typeface="Courier New" pitchFamily="34" charset="-120"/>
              </a:rPr>
              <a:t>iPhUMI recording (one demo, ~8 s)</a:t>
            </a:r>
            <a:endParaRPr lang="en-US" sz="1150" dirty="0"/>
          </a:p>
          <a:p>
            <a:pPr indent="0" marL="0">
              <a:buNone/>
            </a:pPr>
            <a:endParaRPr lang="en-US" sz="1150" dirty="0"/>
          </a:p>
          <a:p>
            <a:pPr indent="0" marL="0">
              <a:buNone/>
            </a:pPr>
            <a:r>
              <a:rPr lang="en-US" sz="1150" dirty="0">
                <a:solidFill>
                  <a:srgbClr val="E8EEF2"/>
                </a:solidFill>
                <a:latin typeface="Courier New" pitchFamily="34" charset="0"/>
                <a:ea typeface="Courier New" pitchFamily="34" charset="-122"/>
                <a:cs typeface="Courier New" pitchFamily="34" charset="-120"/>
              </a:rPr>
              <a:t>  main camera    1920x1440 @ 60 Hz    wrist view</a:t>
            </a:r>
            <a:endParaRPr lang="en-US" sz="1150" dirty="0"/>
          </a:p>
          <a:p>
            <a:pPr indent="0" marL="0">
              <a:buNone/>
            </a:pPr>
            <a:r>
              <a:rPr lang="en-US" sz="1150" dirty="0">
                <a:solidFill>
                  <a:srgbClr val="E8EEF2"/>
                </a:solidFill>
                <a:latin typeface="Courier New" pitchFamily="34" charset="0"/>
                <a:ea typeface="Courier New" pitchFamily="34" charset="-122"/>
                <a:cs typeface="Courier New" pitchFamily="34" charset="-120"/>
              </a:rPr>
              <a:t>  ultrawide      640x480   @ 10 Hz    context</a:t>
            </a:r>
            <a:endParaRPr lang="en-US" sz="1150" dirty="0"/>
          </a:p>
          <a:p>
            <a:pPr indent="0" marL="0">
              <a:buNone/>
            </a:pPr>
            <a:r>
              <a:rPr lang="en-US" sz="1150" dirty="0">
                <a:solidFill>
                  <a:srgbClr val="E8EEF2"/>
                </a:solidFill>
                <a:latin typeface="Courier New" pitchFamily="34" charset="0"/>
                <a:ea typeface="Courier New" pitchFamily="34" charset="-122"/>
                <a:cs typeface="Courier New" pitchFamily="34" charset="-120"/>
              </a:rPr>
              <a:t>  gripper pose   6-DoF     @ 60 Hz    ARKit SLAM, world frame</a:t>
            </a:r>
            <a:endParaRPr lang="en-US" sz="1150" dirty="0"/>
          </a:p>
          <a:p>
            <a:pPr indent="0" marL="0">
              <a:buNone/>
            </a:pPr>
            <a:r>
              <a:rPr lang="en-US" sz="1150" dirty="0">
                <a:solidFill>
                  <a:srgbClr val="E8EEF2"/>
                </a:solidFill>
                <a:latin typeface="Courier New" pitchFamily="34" charset="0"/>
                <a:ea typeface="Courier New" pitchFamily="34" charset="-122"/>
                <a:cs typeface="Courier New" pitchFamily="34" charset="-120"/>
              </a:rPr>
              <a:t>  gripper width  scalar    @ 10 Hz    ArUco tags on fingers</a:t>
            </a:r>
            <a:endParaRPr lang="en-US" sz="1150" dirty="0"/>
          </a:p>
          <a:p>
            <a:pPr indent="0" marL="0">
              <a:buNone/>
            </a:pPr>
            <a:r>
              <a:rPr lang="en-US" sz="1150" dirty="0">
                <a:solidFill>
                  <a:srgbClr val="E8EEF2"/>
                </a:solidFill>
                <a:latin typeface="Courier New" pitchFamily="34" charset="0"/>
                <a:ea typeface="Courier New" pitchFamily="34" charset="-122"/>
                <a:cs typeface="Courier New" pitchFamily="34" charset="-120"/>
              </a:rPr>
              <a:t>  task label     "cup_to_coaster"      typed or spoken (speech-to-text)</a:t>
            </a:r>
            <a:endParaRPr lang="en-US" sz="1150" dirty="0"/>
          </a:p>
        </p:txBody>
      </p:sp>
      <p:sp>
        <p:nvSpPr>
          <p:cNvPr id="13" name="Shape 10"/>
          <p:cNvSpPr/>
          <p:nvPr/>
        </p:nvSpPr>
        <p:spPr>
          <a:xfrm>
            <a:off x="7315200" y="2286000"/>
            <a:ext cx="4325112" cy="2377440"/>
          </a:xfrm>
          <a:prstGeom prst="rect">
            <a:avLst/>
          </a:prstGeom>
          <a:solidFill>
            <a:srgbClr val="FFFFFF"/>
          </a:solidFill>
          <a:ln w="9525">
            <a:solidFill>
              <a:srgbClr val="D7DEDB"/>
            </a:solidFill>
            <a:prstDash val="solid"/>
          </a:ln>
        </p:spPr>
      </p:sp>
      <p:sp>
        <p:nvSpPr>
          <p:cNvPr id="14" name="Shape 11"/>
          <p:cNvSpPr/>
          <p:nvPr/>
        </p:nvSpPr>
        <p:spPr>
          <a:xfrm>
            <a:off x="7315200" y="2286000"/>
            <a:ext cx="4325112" cy="54864"/>
          </a:xfrm>
          <a:prstGeom prst="rect">
            <a:avLst/>
          </a:prstGeom>
          <a:solidFill>
            <a:srgbClr val="007F79"/>
          </a:solidFill>
          <a:ln w="12700">
            <a:solidFill>
              <a:srgbClr val="007F79"/>
            </a:solidFill>
            <a:prstDash val="solid"/>
          </a:ln>
        </p:spPr>
      </p:sp>
      <p:sp>
        <p:nvSpPr>
          <p:cNvPr id="15" name="Text 12"/>
          <p:cNvSpPr txBox="1"/>
          <p:nvPr/>
        </p:nvSpPr>
        <p:spPr>
          <a:xfrm>
            <a:off x="7516368" y="2423160"/>
            <a:ext cx="3922776" cy="411480"/>
          </a:xfrm>
          <a:prstGeom prst="rect">
            <a:avLst/>
          </a:prstGeom>
          <a:noFill/>
          <a:ln/>
        </p:spPr>
        <p:txBody>
          <a:bodyPr wrap="square" lIns="0" tIns="0" rIns="0" bIns="0" rtlCol="0" anchor="ctr"/>
          <a:lstStyle/>
          <a:p>
            <a:pPr indent="0" marL="0">
              <a:buNone/>
            </a:pPr>
            <a:r>
              <a:rPr lang="en-US" sz="1500" b="1" dirty="0">
                <a:solidFill>
                  <a:srgbClr val="10283D"/>
                </a:solidFill>
                <a:latin typeface="Georgia" pitchFamily="34" charset="0"/>
                <a:ea typeface="Georgia" pitchFamily="34" charset="-122"/>
                <a:cs typeface="Georgia" pitchFamily="34" charset="-120"/>
              </a:rPr>
              <a:t>Before the first demo</a:t>
            </a:r>
            <a:endParaRPr lang="en-US" sz="1500" dirty="0"/>
          </a:p>
        </p:txBody>
      </p:sp>
      <p:sp>
        <p:nvSpPr>
          <p:cNvPr id="16" name="Text 13"/>
          <p:cNvSpPr txBox="1"/>
          <p:nvPr/>
        </p:nvSpPr>
        <p:spPr>
          <a:xfrm>
            <a:off x="7516368" y="2880360"/>
            <a:ext cx="3922776" cy="1600200"/>
          </a:xfrm>
          <a:prstGeom prst="rect">
            <a:avLst/>
          </a:prstGeom>
          <a:noFill/>
          <a:ln/>
        </p:spPr>
        <p:txBody>
          <a:bodyPr wrap="square" lIns="0" tIns="0" rIns="0" bIns="0" rtlCol="0" anchor="t"/>
          <a:lstStyle/>
          <a:p>
            <a:pPr indent="0" marL="0">
              <a:spcAft>
                <a:spcPts val="600"/>
              </a:spcAft>
              <a:buNone/>
            </a:pPr>
            <a:r>
              <a:rPr lang="en-US" sz="1150" dirty="0">
                <a:solidFill>
                  <a:srgbClr val="1B2A36"/>
                </a:solidFill>
                <a:latin typeface="Arial" pitchFamily="34" charset="0"/>
                <a:ea typeface="Arial" pitchFamily="34" charset="-122"/>
                <a:cs typeface="Arial" pitchFamily="34" charset="-120"/>
              </a:rPr>
              <a:t>• Calibrate gripper width once (~10 s open/close clip)</a:t>
            </a:r>
            <a:endParaRPr lang="en-US" sz="1150" dirty="0"/>
          </a:p>
          <a:p>
            <a:pPr indent="0" marL="0">
              <a:spcAft>
                <a:spcPts val="600"/>
              </a:spcAft>
              <a:buNone/>
            </a:pPr>
            <a:r>
              <a:rPr lang="en-US" sz="1150" dirty="0">
                <a:solidFill>
                  <a:srgbClr val="1B2A36"/>
                </a:solidFill>
                <a:latin typeface="Arial" pitchFamily="34" charset="0"/>
                <a:ea typeface="Arial" pitchFamily="34" charset="-122"/>
                <a:cs typeface="Arial" pitchFamily="34" charset="-120"/>
              </a:rPr>
              <a:t>• Start the app; ARKit initialises a world frame — no mapping walk</a:t>
            </a:r>
            <a:endParaRPr lang="en-US" sz="1150" dirty="0"/>
          </a:p>
          <a:p>
            <a:pPr indent="0" marL="0">
              <a:spcAft>
                <a:spcPts val="600"/>
              </a:spcAft>
              <a:buNone/>
            </a:pPr>
            <a:r>
              <a:rPr lang="en-US" sz="1150" dirty="0">
                <a:solidFill>
                  <a:srgbClr val="1B2A36"/>
                </a:solidFill>
                <a:latin typeface="Arial" pitchFamily="34" charset="0"/>
                <a:ea typeface="Arial" pitchFamily="34" charset="-122"/>
                <a:cs typeface="Arial" pitchFamily="34" charset="-120"/>
              </a:rPr>
              <a:t>• Use a scene layout that differs from the test scene</a:t>
            </a:r>
            <a:endParaRPr lang="en-US" sz="1150" dirty="0"/>
          </a:p>
          <a:p>
            <a:pPr indent="0" marL="0">
              <a:spcAft>
                <a:spcPts val="600"/>
              </a:spcAft>
              <a:buNone/>
            </a:pPr>
            <a:r>
              <a:rPr lang="en-US" sz="1150" dirty="0">
                <a:solidFill>
                  <a:srgbClr val="1B2A36"/>
                </a:solidFill>
                <a:latin typeface="Arial" pitchFamily="34" charset="0"/>
                <a:ea typeface="Arial" pitchFamily="34" charset="-122"/>
                <a:cs typeface="Arial" pitchFamily="34" charset="-120"/>
              </a:rPr>
              <a:t>• Review the clip in the app; swipe to delete bad takes</a:t>
            </a:r>
            <a:endParaRPr lang="en-US" sz="1150" dirty="0"/>
          </a:p>
        </p:txBody>
      </p:sp>
      <p:sp>
        <p:nvSpPr>
          <p:cNvPr id="17" name="Shape 14"/>
          <p:cNvSpPr/>
          <p:nvPr/>
        </p:nvSpPr>
        <p:spPr>
          <a:xfrm>
            <a:off x="548640" y="4937760"/>
            <a:ext cx="11091672" cy="548640"/>
          </a:xfrm>
          <a:prstGeom prst="rect">
            <a:avLst/>
          </a:prstGeom>
          <a:solidFill>
            <a:srgbClr val="FBF1DC"/>
          </a:solidFill>
          <a:ln w="12700">
            <a:solidFill>
              <a:srgbClr val="FBF1DC"/>
            </a:solidFill>
            <a:prstDash val="solid"/>
          </a:ln>
        </p:spPr>
      </p:sp>
      <p:sp>
        <p:nvSpPr>
          <p:cNvPr id="18" name="Shape 15"/>
          <p:cNvSpPr/>
          <p:nvPr/>
        </p:nvSpPr>
        <p:spPr>
          <a:xfrm>
            <a:off x="548640" y="4937760"/>
            <a:ext cx="82296" cy="548640"/>
          </a:xfrm>
          <a:prstGeom prst="rect">
            <a:avLst/>
          </a:prstGeom>
          <a:solidFill>
            <a:srgbClr val="F3BD58"/>
          </a:solidFill>
          <a:ln w="12700">
            <a:solidFill>
              <a:srgbClr val="F3BD58"/>
            </a:solidFill>
            <a:prstDash val="solid"/>
          </a:ln>
        </p:spPr>
      </p:sp>
      <p:sp>
        <p:nvSpPr>
          <p:cNvPr id="19" name="Text 16"/>
          <p:cNvSpPr txBox="1"/>
          <p:nvPr/>
        </p:nvSpPr>
        <p:spPr>
          <a:xfrm>
            <a:off x="822960" y="4937760"/>
            <a:ext cx="10543032" cy="548640"/>
          </a:xfrm>
          <a:prstGeom prst="rect">
            <a:avLst/>
          </a:prstGeom>
          <a:noFill/>
          <a:ln/>
        </p:spPr>
        <p:txBody>
          <a:bodyPr wrap="square" lIns="0" tIns="0" rIns="0" bIns="0" rtlCol="0" anchor="ctr"/>
          <a:lstStyle/>
          <a:p>
            <a:pPr indent="0" marL="0">
              <a:buNone/>
            </a:pPr>
            <a:r>
              <a:rPr lang="en-US" sz="1250" dirty="0">
                <a:solidFill>
                  <a:srgbClr val="10283D"/>
                </a:solidFill>
                <a:latin typeface="Arial" pitchFamily="34" charset="0"/>
                <a:ea typeface="Arial" pitchFamily="34" charset="-122"/>
                <a:cs typeface="Arial" pitchFamily="34" charset="-120"/>
              </a:rPr>
              <a:t>Output of step 1: one exported demo folder (videos, pose log, width log, label). Nothing has been trained; the robot has not moved.</a:t>
            </a:r>
            <a:endParaRPr lang="en-US" sz="1250" dirty="0"/>
          </a:p>
        </p:txBody>
      </p:sp>
      <p:sp>
        <p:nvSpPr>
          <p:cNvPr id="20" name="Text 17"/>
          <p:cNvSpPr txBox="1"/>
          <p:nvPr/>
        </p:nvSpPr>
        <p:spPr>
          <a:xfrm>
            <a:off x="548640" y="5623560"/>
            <a:ext cx="11091672" cy="457200"/>
          </a:xfrm>
          <a:prstGeom prst="rect">
            <a:avLst/>
          </a:prstGeom>
          <a:noFill/>
          <a:ln/>
        </p:spPr>
        <p:txBody>
          <a:bodyPr wrap="square" lIns="0" tIns="0" rIns="0" bIns="0" rtlCol="0" anchor="ctr"/>
          <a:lstStyle/>
          <a:p>
            <a:pPr indent="0" marL="0">
              <a:buNone/>
            </a:pPr>
            <a:r>
              <a:rPr lang="en-US" sz="1150" i="1" dirty="0">
                <a:solidFill>
                  <a:srgbClr val="526575"/>
                </a:solidFill>
                <a:latin typeface="Arial" pitchFamily="34" charset="0"/>
                <a:ea typeface="Arial" pitchFamily="34" charset="-122"/>
                <a:cs typeface="Arial" pitchFamily="34" charset="-120"/>
              </a:rPr>
              <a:t>Held-out prompts for the final evaluation are recorded only after the pipeline is frozen, and are never used to train weights or tune retrieval.</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0"/>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007F79"/>
                </a:solidFill>
                <a:latin typeface="Arial" pitchFamily="34" charset="0"/>
                <a:ea typeface="Arial" pitchFamily="34" charset="-122"/>
                <a:cs typeface="Arial" pitchFamily="34" charset="-120"/>
              </a:rPr>
              <a:t>STEP 2</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800" b="1" dirty="0">
                <a:solidFill>
                  <a:srgbClr val="10283D"/>
                </a:solidFill>
                <a:latin typeface="Georgia" pitchFamily="34" charset="0"/>
                <a:ea typeface="Georgia" pitchFamily="34" charset="-122"/>
                <a:cs typeface="Georgia" pitchFamily="34" charset="-120"/>
              </a:rPr>
              <a:t>Turn the recording into a behavior prompt</a:t>
            </a:r>
            <a:endParaRPr lang="en-US" sz="2800" dirty="0"/>
          </a:p>
        </p:txBody>
      </p:sp>
      <p:sp>
        <p:nvSpPr>
          <p:cNvPr id="4" name="Shape 2"/>
          <p:cNvSpPr/>
          <p:nvPr/>
        </p:nvSpPr>
        <p:spPr>
          <a:xfrm>
            <a:off x="548640" y="1280160"/>
            <a:ext cx="1097280" cy="0"/>
          </a:xfrm>
          <a:prstGeom prst="line">
            <a:avLst/>
          </a:prstGeom>
          <a:noFill/>
          <a:ln w="31750">
            <a:solidFill>
              <a:srgbClr val="F3BD58"/>
            </a:solidFill>
            <a:prstDash val="solid"/>
          </a:ln>
        </p:spPr>
      </p:sp>
      <p:sp>
        <p:nvSpPr>
          <p:cNvPr id="5" name="Text 3"/>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900" dirty="0">
                <a:solidFill>
                  <a:srgbClr val="526575"/>
                </a:solidFill>
                <a:latin typeface="Arial" pitchFamily="34" charset="0"/>
                <a:ea typeface="Arial" pitchFamily="34" charset="-122"/>
                <a:cs typeface="Arial" pitchFamily="34" charset="-120"/>
              </a:rPr>
              <a:t>BPP + iPhUMI on the Unitree G1 · step by step</a:t>
            </a:r>
            <a:endParaRPr lang="en-US" sz="900" dirty="0"/>
          </a:p>
        </p:txBody>
      </p:sp>
      <p:sp>
        <p:nvSpPr>
          <p:cNvPr id="6" name="Text 4"/>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26575"/>
                </a:solidFill>
                <a:latin typeface="Arial" pitchFamily="34" charset="0"/>
                <a:ea typeface="Arial" pitchFamily="34" charset="-122"/>
                <a:cs typeface="Arial" pitchFamily="34" charset="-120"/>
              </a:rPr>
              <a:t>05 / 15</a:t>
            </a:r>
            <a:endParaRPr lang="en-US" sz="900" dirty="0"/>
          </a:p>
        </p:txBody>
      </p:sp>
      <p:sp>
        <p:nvSpPr>
          <p:cNvPr id="8" name="Shape 5"/>
          <p:cNvSpPr/>
          <p:nvPr/>
        </p:nvSpPr>
        <p:spPr>
          <a:xfrm>
            <a:off x="548640" y="1554480"/>
            <a:ext cx="548640" cy="548640"/>
          </a:xfrm>
          <a:prstGeom prst="ellipse">
            <a:avLst/>
          </a:prstGeom>
          <a:solidFill>
            <a:srgbClr val="007F79"/>
          </a:solidFill>
          <a:ln w="12700">
            <a:solidFill>
              <a:srgbClr val="007F79"/>
            </a:solidFill>
            <a:prstDash val="solid"/>
          </a:ln>
        </p:spPr>
      </p:sp>
      <p:sp>
        <p:nvSpPr>
          <p:cNvPr id="9" name="Text 6"/>
          <p:cNvSpPr txBox="1"/>
          <p:nvPr/>
        </p:nvSpPr>
        <p:spPr>
          <a:xfrm>
            <a:off x="548640" y="155448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2</a:t>
            </a:r>
            <a:endParaRPr lang="en-US" sz="2000" dirty="0"/>
          </a:p>
        </p:txBody>
      </p:sp>
      <p:sp>
        <p:nvSpPr>
          <p:cNvPr id="10" name="Text 7"/>
          <p:cNvSpPr txBox="1"/>
          <p:nvPr/>
        </p:nvSpPr>
        <p:spPr>
          <a:xfrm>
            <a:off x="1280160" y="1554480"/>
            <a:ext cx="10058400" cy="548640"/>
          </a:xfrm>
          <a:prstGeom prst="rect">
            <a:avLst/>
          </a:prstGeom>
          <a:noFill/>
          <a:ln/>
        </p:spPr>
        <p:txBody>
          <a:bodyPr wrap="square" lIns="0" tIns="0" rIns="0" bIns="0" rtlCol="0" anchor="ctr"/>
          <a:lstStyle/>
          <a:p>
            <a:pPr indent="0" marL="0">
              <a:buNone/>
            </a:pPr>
            <a:r>
              <a:rPr lang="en-US" sz="1800" dirty="0">
                <a:solidFill>
                  <a:srgbClr val="10283D"/>
                </a:solidFill>
                <a:latin typeface="Georgia" pitchFamily="34" charset="0"/>
                <a:ea typeface="Georgia" pitchFamily="34" charset="-122"/>
                <a:cs typeface="Georgia" pitchFamily="34" charset="-120"/>
              </a:rPr>
              <a:t>Convert to sensorimotor data, then chunk and pool.</a:t>
            </a:r>
            <a:endParaRPr lang="en-US" sz="1800" dirty="0"/>
          </a:p>
        </p:txBody>
      </p:sp>
      <p:sp>
        <p:nvSpPr>
          <p:cNvPr id="11" name="Shape 8"/>
          <p:cNvSpPr/>
          <p:nvPr/>
        </p:nvSpPr>
        <p:spPr>
          <a:xfrm>
            <a:off x="548640" y="2286000"/>
            <a:ext cx="6583680" cy="3383280"/>
          </a:xfrm>
          <a:prstGeom prst="rect">
            <a:avLst/>
          </a:prstGeom>
          <a:solidFill>
            <a:srgbClr val="10283D"/>
          </a:solidFill>
          <a:ln w="12700">
            <a:solidFill>
              <a:srgbClr val="10283D"/>
            </a:solidFill>
            <a:prstDash val="solid"/>
          </a:ln>
        </p:spPr>
      </p:sp>
      <p:sp>
        <p:nvSpPr>
          <p:cNvPr id="12" name="Text 9"/>
          <p:cNvSpPr txBox="1"/>
          <p:nvPr/>
        </p:nvSpPr>
        <p:spPr>
          <a:xfrm>
            <a:off x="731520" y="2423160"/>
            <a:ext cx="6217920" cy="3108960"/>
          </a:xfrm>
          <a:prstGeom prst="rect">
            <a:avLst/>
          </a:prstGeom>
          <a:noFill/>
          <a:ln/>
        </p:spPr>
        <p:txBody>
          <a:bodyPr wrap="square" lIns="0" tIns="0" rIns="0" bIns="0" rtlCol="0" anchor="t"/>
          <a:lstStyle/>
          <a:p>
            <a:pPr indent="0" marL="0">
              <a:buNone/>
            </a:pPr>
            <a:r>
              <a:rPr lang="en-US" sz="1150" dirty="0">
                <a:solidFill>
                  <a:srgbClr val="E8EEF2"/>
                </a:solidFill>
                <a:latin typeface="Courier New" pitchFamily="34" charset="0"/>
                <a:ea typeface="Courier New" pitchFamily="34" charset="-122"/>
                <a:cs typeface="Courier New" pitchFamily="34" charset="-120"/>
              </a:rPr>
              <a:t>per step t:</a:t>
            </a:r>
            <a:endParaRPr lang="en-US" sz="1150" dirty="0"/>
          </a:p>
          <a:p>
            <a:pPr indent="0" marL="0">
              <a:buNone/>
            </a:pPr>
            <a:r>
              <a:rPr lang="en-US" sz="1150" dirty="0">
                <a:solidFill>
                  <a:srgbClr val="E8EEF2"/>
                </a:solidFill>
                <a:latin typeface="Courier New" pitchFamily="34" charset="0"/>
                <a:ea typeface="Courier New" pitchFamily="34" charset="-122"/>
                <a:cs typeface="Courier New" pitchFamily="34" charset="-120"/>
              </a:rPr>
              <a:t>  o_t  wrist RGB frame</a:t>
            </a:r>
            <a:endParaRPr lang="en-US" sz="1150" dirty="0"/>
          </a:p>
          <a:p>
            <a:pPr indent="0" marL="0">
              <a:buNone/>
            </a:pPr>
            <a:r>
              <a:rPr lang="en-US" sz="1150" dirty="0">
                <a:solidFill>
                  <a:srgbClr val="E8EEF2"/>
                </a:solidFill>
                <a:latin typeface="Courier New" pitchFamily="34" charset="0"/>
                <a:ea typeface="Courier New" pitchFamily="34" charset="-122"/>
                <a:cs typeface="Courier New" pitchFamily="34" charset="-120"/>
              </a:rPr>
              <a:t>  q_t  EE pose + gripper width</a:t>
            </a:r>
            <a:endParaRPr lang="en-US" sz="1150" dirty="0"/>
          </a:p>
          <a:p>
            <a:pPr indent="0" marL="0">
              <a:buNone/>
            </a:pPr>
            <a:r>
              <a:rPr lang="en-US" sz="1150" dirty="0">
                <a:solidFill>
                  <a:srgbClr val="E8EEF2"/>
                </a:solidFill>
                <a:latin typeface="Courier New" pitchFamily="34" charset="0"/>
                <a:ea typeface="Courier New" pitchFamily="34" charset="-122"/>
                <a:cs typeface="Courier New" pitchFamily="34" charset="-120"/>
              </a:rPr>
              <a:t>  a_t  relative EE pose to next step + width</a:t>
            </a:r>
            <a:endParaRPr lang="en-US" sz="1150" dirty="0"/>
          </a:p>
          <a:p>
            <a:pPr indent="0" marL="0">
              <a:buNone/>
            </a:pPr>
            <a:endParaRPr lang="en-US" sz="1150" dirty="0"/>
          </a:p>
          <a:p>
            <a:pPr indent="0" marL="0">
              <a:buNone/>
            </a:pPr>
            <a:r>
              <a:rPr lang="en-US" sz="1150" dirty="0">
                <a:solidFill>
                  <a:srgbClr val="E8EEF2"/>
                </a:solidFill>
                <a:latin typeface="Courier New" pitchFamily="34" charset="0"/>
                <a:ea typeface="Courier New" pitchFamily="34" charset="-122"/>
                <a:cs typeface="Courier New" pitchFamily="34" charset="-120"/>
              </a:rPr>
              <a:t>chunks (obs/proprio ~1 Hz, actions full rate):</a:t>
            </a:r>
            <a:endParaRPr lang="en-US" sz="1150" dirty="0"/>
          </a:p>
          <a:p>
            <a:pPr indent="0" marL="0">
              <a:buNone/>
            </a:pPr>
            <a:r>
              <a:rPr lang="en-US" sz="1150" dirty="0">
                <a:solidFill>
                  <a:srgbClr val="E8EEF2"/>
                </a:solidFill>
                <a:latin typeface="Courier New" pitchFamily="34" charset="0"/>
                <a:ea typeface="Courier New" pitchFamily="34" charset="-122"/>
                <a:cs typeface="Courier New" pitchFamily="34" charset="-120"/>
              </a:rPr>
              <a:t>  chunk_0 = { o_0.0s, q_0.0s, [a_0.00 ... a_0.95] }</a:t>
            </a:r>
            <a:endParaRPr lang="en-US" sz="1150" dirty="0"/>
          </a:p>
          <a:p>
            <a:pPr indent="0" marL="0">
              <a:buNone/>
            </a:pPr>
            <a:r>
              <a:rPr lang="en-US" sz="1150" dirty="0">
                <a:solidFill>
                  <a:srgbClr val="E8EEF2"/>
                </a:solidFill>
                <a:latin typeface="Courier New" pitchFamily="34" charset="0"/>
                <a:ea typeface="Courier New" pitchFamily="34" charset="-122"/>
                <a:cs typeface="Courier New" pitchFamily="34" charset="-120"/>
              </a:rPr>
              <a:t>  chunk_1 = { o_1.0s, q_1.0s, [a_1.00 ... a_1.95] }</a:t>
            </a:r>
            <a:endParaRPr lang="en-US" sz="1150" dirty="0"/>
          </a:p>
          <a:p>
            <a:pPr indent="0" marL="0">
              <a:buNone/>
            </a:pPr>
            <a:r>
              <a:rPr lang="en-US" sz="1150" dirty="0">
                <a:solidFill>
                  <a:srgbClr val="E8EEF2"/>
                </a:solidFill>
                <a:latin typeface="Courier New" pitchFamily="34" charset="0"/>
                <a:ea typeface="Courier New" pitchFamily="34" charset="-122"/>
                <a:cs typeface="Courier New" pitchFamily="34" charset="-120"/>
              </a:rPr>
              <a:t>  ...</a:t>
            </a:r>
            <a:endParaRPr lang="en-US" sz="1150" dirty="0"/>
          </a:p>
          <a:p>
            <a:pPr indent="0" marL="0">
              <a:buNone/>
            </a:pPr>
            <a:r>
              <a:rPr lang="en-US" sz="1150" dirty="0">
                <a:solidFill>
                  <a:srgbClr val="E8EEF2"/>
                </a:solidFill>
                <a:latin typeface="Courier New" pitchFamily="34" charset="0"/>
                <a:ea typeface="Courier New" pitchFamily="34" charset="-122"/>
                <a:cs typeface="Courier New" pitchFamily="34" charset="-120"/>
              </a:rPr>
              <a:t>  chunk_7 = { o_7.0s, q_7.0s, [a_7.00 ... a_7.95] }   release</a:t>
            </a:r>
            <a:endParaRPr lang="en-US" sz="1150" dirty="0"/>
          </a:p>
          <a:p>
            <a:pPr indent="0" marL="0">
              <a:buNone/>
            </a:pPr>
            <a:endParaRPr lang="en-US" sz="1150" dirty="0"/>
          </a:p>
          <a:p>
            <a:pPr indent="0" marL="0">
              <a:buNone/>
            </a:pPr>
            <a:r>
              <a:rPr lang="en-US" sz="1150" dirty="0">
                <a:solidFill>
                  <a:srgbClr val="E8EEF2"/>
                </a:solidFill>
                <a:latin typeface="Courier New" pitchFamily="34" charset="0"/>
                <a:ea typeface="Courier New" pitchFamily="34" charset="-122"/>
                <a:cs typeface="Courier New" pitchFamily="34" charset="-120"/>
              </a:rPr>
              <a:t>attention pooling: {o,q,a} -&gt; p_i</a:t>
            </a:r>
            <a:endParaRPr lang="en-US" sz="1150" dirty="0"/>
          </a:p>
          <a:p>
            <a:pPr indent="0" marL="0">
              <a:buNone/>
            </a:pPr>
            <a:r>
              <a:rPr lang="en-US" sz="1150" dirty="0">
                <a:solidFill>
                  <a:srgbClr val="E8EEF2"/>
                </a:solidFill>
                <a:latin typeface="Courier New" pitchFamily="34" charset="0"/>
                <a:ea typeface="Courier New" pitchFamily="34" charset="-122"/>
                <a:cs typeface="Courier New" pitchFamily="34" charset="-120"/>
              </a:rPr>
              <a:t>P = [p_0, p_1, ..., p_7]      cached once per rollout</a:t>
            </a:r>
            <a:endParaRPr lang="en-US" sz="1150" dirty="0"/>
          </a:p>
        </p:txBody>
      </p:sp>
      <p:sp>
        <p:nvSpPr>
          <p:cNvPr id="13" name="Shape 10"/>
          <p:cNvSpPr/>
          <p:nvPr/>
        </p:nvSpPr>
        <p:spPr>
          <a:xfrm>
            <a:off x="7315200" y="2286000"/>
            <a:ext cx="4325112" cy="3383280"/>
          </a:xfrm>
          <a:prstGeom prst="rect">
            <a:avLst/>
          </a:prstGeom>
          <a:solidFill>
            <a:srgbClr val="FFFFFF"/>
          </a:solidFill>
          <a:ln w="9525">
            <a:solidFill>
              <a:srgbClr val="D7DEDB"/>
            </a:solidFill>
            <a:prstDash val="solid"/>
          </a:ln>
        </p:spPr>
      </p:sp>
      <p:sp>
        <p:nvSpPr>
          <p:cNvPr id="14" name="Shape 11"/>
          <p:cNvSpPr/>
          <p:nvPr/>
        </p:nvSpPr>
        <p:spPr>
          <a:xfrm>
            <a:off x="7315200" y="2286000"/>
            <a:ext cx="4325112" cy="54864"/>
          </a:xfrm>
          <a:prstGeom prst="rect">
            <a:avLst/>
          </a:prstGeom>
          <a:solidFill>
            <a:srgbClr val="007F79"/>
          </a:solidFill>
          <a:ln w="12700">
            <a:solidFill>
              <a:srgbClr val="007F79"/>
            </a:solidFill>
            <a:prstDash val="solid"/>
          </a:ln>
        </p:spPr>
      </p:sp>
      <p:sp>
        <p:nvSpPr>
          <p:cNvPr id="15" name="Text 12"/>
          <p:cNvSpPr txBox="1"/>
          <p:nvPr/>
        </p:nvSpPr>
        <p:spPr>
          <a:xfrm>
            <a:off x="7516368" y="2423160"/>
            <a:ext cx="3922776" cy="411480"/>
          </a:xfrm>
          <a:prstGeom prst="rect">
            <a:avLst/>
          </a:prstGeom>
          <a:noFill/>
          <a:ln/>
        </p:spPr>
        <p:txBody>
          <a:bodyPr wrap="square" lIns="0" tIns="0" rIns="0" bIns="0" rtlCol="0" anchor="ctr"/>
          <a:lstStyle/>
          <a:p>
            <a:pPr indent="0" marL="0">
              <a:buNone/>
            </a:pPr>
            <a:r>
              <a:rPr lang="en-US" sz="1500" b="1" dirty="0">
                <a:solidFill>
                  <a:srgbClr val="10283D"/>
                </a:solidFill>
                <a:latin typeface="Georgia" pitchFamily="34" charset="0"/>
                <a:ea typeface="Georgia" pitchFamily="34" charset="-122"/>
                <a:cs typeface="Georgia" pitchFamily="34" charset="-120"/>
              </a:rPr>
              <a:t>Why this format</a:t>
            </a:r>
            <a:endParaRPr lang="en-US" sz="1500" dirty="0"/>
          </a:p>
        </p:txBody>
      </p:sp>
      <p:sp>
        <p:nvSpPr>
          <p:cNvPr id="16" name="Text 13"/>
          <p:cNvSpPr txBox="1"/>
          <p:nvPr/>
        </p:nvSpPr>
        <p:spPr>
          <a:xfrm>
            <a:off x="7516368" y="2880360"/>
            <a:ext cx="3922776" cy="2606040"/>
          </a:xfrm>
          <a:prstGeom prst="rect">
            <a:avLst/>
          </a:prstGeom>
          <a:noFill/>
          <a:ln/>
        </p:spPr>
        <p:txBody>
          <a:bodyPr wrap="square" lIns="0" tIns="0" rIns="0" bIns="0" rtlCol="0" anchor="t"/>
          <a:lstStyle/>
          <a:p>
            <a:pPr indent="0" marL="0">
              <a:spcAft>
                <a:spcPts val="600"/>
              </a:spcAft>
              <a:buNone/>
            </a:pPr>
            <a:r>
              <a:rPr lang="en-US" sz="1150" dirty="0">
                <a:solidFill>
                  <a:srgbClr val="1B2A36"/>
                </a:solidFill>
                <a:latin typeface="Arial" pitchFamily="34" charset="0"/>
                <a:ea typeface="Arial" pitchFamily="34" charset="-122"/>
                <a:cs typeface="Arial" pitchFamily="34" charset="-120"/>
              </a:rPr>
              <a:t>• Observations anchor the prompt lookup ("where am I in the task")</a:t>
            </a:r>
            <a:endParaRPr lang="en-US" sz="1150" dirty="0"/>
          </a:p>
          <a:p>
            <a:pPr indent="0" marL="0">
              <a:spcAft>
                <a:spcPts val="600"/>
              </a:spcAft>
              <a:buNone/>
            </a:pPr>
            <a:r>
              <a:rPr lang="en-US" sz="1150" dirty="0">
                <a:solidFill>
                  <a:srgbClr val="1B2A36"/>
                </a:solidFill>
                <a:latin typeface="Arial" pitchFamily="34" charset="0"/>
                <a:ea typeface="Arial" pitchFamily="34" charset="-122"/>
                <a:cs typeface="Arial" pitchFamily="34" charset="-120"/>
              </a:rPr>
              <a:t>• Actions give temporal transitions between the sparse frames</a:t>
            </a:r>
            <a:endParaRPr lang="en-US" sz="1150" dirty="0"/>
          </a:p>
          <a:p>
            <a:pPr indent="0" marL="0">
              <a:spcAft>
                <a:spcPts val="600"/>
              </a:spcAft>
              <a:buNone/>
            </a:pPr>
            <a:r>
              <a:rPr lang="en-US" sz="1150" dirty="0">
                <a:solidFill>
                  <a:srgbClr val="1B2A36"/>
                </a:solidFill>
                <a:latin typeface="Arial" pitchFamily="34" charset="0"/>
                <a:ea typeface="Arial" pitchFamily="34" charset="-122"/>
                <a:cs typeface="Arial" pitchFamily="34" charset="-120"/>
              </a:rPr>
              <a:t>• Pooling halves the sequence length and ties modalities from the same instant together</a:t>
            </a:r>
            <a:endParaRPr lang="en-US" sz="1150" dirty="0"/>
          </a:p>
          <a:p>
            <a:pPr indent="0" marL="0">
              <a:spcAft>
                <a:spcPts val="600"/>
              </a:spcAft>
              <a:buNone/>
            </a:pPr>
            <a:r>
              <a:rPr lang="en-US" sz="1150" dirty="0">
                <a:solidFill>
                  <a:srgbClr val="1B2A36"/>
                </a:solidFill>
                <a:latin typeface="Arial" pitchFamily="34" charset="0"/>
                <a:ea typeface="Arial" pitchFamily="34" charset="-122"/>
                <a:cs typeface="Arial" pitchFamily="34" charset="-120"/>
              </a:rPr>
              <a:t>• Computed once per rollout, so prompt cost is paid up front, not per control step</a:t>
            </a:r>
            <a:endParaRPr lang="en-US" sz="1150" dirty="0"/>
          </a:p>
        </p:txBody>
      </p:sp>
      <p:sp>
        <p:nvSpPr>
          <p:cNvPr id="17" name="Shape 14"/>
          <p:cNvSpPr/>
          <p:nvPr/>
        </p:nvSpPr>
        <p:spPr>
          <a:xfrm>
            <a:off x="548640" y="5806440"/>
            <a:ext cx="11091672" cy="457200"/>
          </a:xfrm>
          <a:prstGeom prst="rect">
            <a:avLst/>
          </a:prstGeom>
          <a:solidFill>
            <a:srgbClr val="FBF1DC"/>
          </a:solidFill>
          <a:ln w="12700">
            <a:solidFill>
              <a:srgbClr val="FBF1DC"/>
            </a:solidFill>
            <a:prstDash val="solid"/>
          </a:ln>
        </p:spPr>
      </p:sp>
      <p:sp>
        <p:nvSpPr>
          <p:cNvPr id="18" name="Shape 15"/>
          <p:cNvSpPr/>
          <p:nvPr/>
        </p:nvSpPr>
        <p:spPr>
          <a:xfrm>
            <a:off x="548640" y="5806440"/>
            <a:ext cx="82296" cy="457200"/>
          </a:xfrm>
          <a:prstGeom prst="rect">
            <a:avLst/>
          </a:prstGeom>
          <a:solidFill>
            <a:srgbClr val="F3BD58"/>
          </a:solidFill>
          <a:ln w="12700">
            <a:solidFill>
              <a:srgbClr val="F3BD58"/>
            </a:solidFill>
            <a:prstDash val="solid"/>
          </a:ln>
        </p:spPr>
      </p:sp>
      <p:sp>
        <p:nvSpPr>
          <p:cNvPr id="19" name="Text 16"/>
          <p:cNvSpPr txBox="1"/>
          <p:nvPr/>
        </p:nvSpPr>
        <p:spPr>
          <a:xfrm>
            <a:off x="822960" y="5806440"/>
            <a:ext cx="10543032" cy="457200"/>
          </a:xfrm>
          <a:prstGeom prst="rect">
            <a:avLst/>
          </a:prstGeom>
          <a:noFill/>
          <a:ln/>
        </p:spPr>
        <p:txBody>
          <a:bodyPr wrap="square" lIns="0" tIns="0" rIns="0" bIns="0" rtlCol="0" anchor="ctr"/>
          <a:lstStyle/>
          <a:p>
            <a:pPr indent="0" marL="0">
              <a:buNone/>
            </a:pPr>
            <a:r>
              <a:rPr lang="en-US" sz="1250" dirty="0">
                <a:solidFill>
                  <a:srgbClr val="10283D"/>
                </a:solidFill>
                <a:latin typeface="Arial" pitchFamily="34" charset="0"/>
                <a:ea typeface="Arial" pitchFamily="34" charset="-122"/>
                <a:cs typeface="Arial" pitchFamily="34" charset="-120"/>
              </a:rPr>
              <a:t>Output of step 2: P, a short sequence of chunk embeddings. The same code path is used for training demos and for test-time prompts.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0"/>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007F79"/>
                </a:solidFill>
                <a:latin typeface="Arial" pitchFamily="34" charset="0"/>
                <a:ea typeface="Arial" pitchFamily="34" charset="-122"/>
                <a:cs typeface="Arial" pitchFamily="34" charset="-120"/>
              </a:rPr>
              <a:t>STEP 3</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800" b="1" dirty="0">
                <a:solidFill>
                  <a:srgbClr val="10283D"/>
                </a:solidFill>
                <a:latin typeface="Georgia" pitchFamily="34" charset="0"/>
                <a:ea typeface="Georgia" pitchFamily="34" charset="-122"/>
                <a:cs typeface="Georgia" pitchFamily="34" charset="-120"/>
              </a:rPr>
              <a:t>Put the same eyes and hand on the G1</a:t>
            </a:r>
            <a:endParaRPr lang="en-US" sz="2800" dirty="0"/>
          </a:p>
        </p:txBody>
      </p:sp>
      <p:sp>
        <p:nvSpPr>
          <p:cNvPr id="4" name="Shape 2"/>
          <p:cNvSpPr/>
          <p:nvPr/>
        </p:nvSpPr>
        <p:spPr>
          <a:xfrm>
            <a:off x="548640" y="1280160"/>
            <a:ext cx="1097280" cy="0"/>
          </a:xfrm>
          <a:prstGeom prst="line">
            <a:avLst/>
          </a:prstGeom>
          <a:noFill/>
          <a:ln w="31750">
            <a:solidFill>
              <a:srgbClr val="F3BD58"/>
            </a:solidFill>
            <a:prstDash val="solid"/>
          </a:ln>
        </p:spPr>
      </p:sp>
      <p:sp>
        <p:nvSpPr>
          <p:cNvPr id="5" name="Text 3"/>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900" dirty="0">
                <a:solidFill>
                  <a:srgbClr val="526575"/>
                </a:solidFill>
                <a:latin typeface="Arial" pitchFamily="34" charset="0"/>
                <a:ea typeface="Arial" pitchFamily="34" charset="-122"/>
                <a:cs typeface="Arial" pitchFamily="34" charset="-120"/>
              </a:rPr>
              <a:t>BPP + iPhUMI on the Unitree G1 · step by step</a:t>
            </a:r>
            <a:endParaRPr lang="en-US" sz="900" dirty="0"/>
          </a:p>
        </p:txBody>
      </p:sp>
      <p:sp>
        <p:nvSpPr>
          <p:cNvPr id="6" name="Text 4"/>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26575"/>
                </a:solidFill>
                <a:latin typeface="Arial" pitchFamily="34" charset="0"/>
                <a:ea typeface="Arial" pitchFamily="34" charset="-122"/>
                <a:cs typeface="Arial" pitchFamily="34" charset="-120"/>
              </a:rPr>
              <a:t>06 / 15</a:t>
            </a:r>
            <a:endParaRPr lang="en-US" sz="900" dirty="0"/>
          </a:p>
        </p:txBody>
      </p:sp>
      <p:sp>
        <p:nvSpPr>
          <p:cNvPr id="8" name="Shape 5"/>
          <p:cNvSpPr/>
          <p:nvPr/>
        </p:nvSpPr>
        <p:spPr>
          <a:xfrm>
            <a:off x="548640" y="1554480"/>
            <a:ext cx="548640" cy="548640"/>
          </a:xfrm>
          <a:prstGeom prst="ellipse">
            <a:avLst/>
          </a:prstGeom>
          <a:solidFill>
            <a:srgbClr val="007F79"/>
          </a:solidFill>
          <a:ln w="12700">
            <a:solidFill>
              <a:srgbClr val="007F79"/>
            </a:solidFill>
            <a:prstDash val="solid"/>
          </a:ln>
        </p:spPr>
      </p:sp>
      <p:sp>
        <p:nvSpPr>
          <p:cNvPr id="9" name="Text 6"/>
          <p:cNvSpPr txBox="1"/>
          <p:nvPr/>
        </p:nvSpPr>
        <p:spPr>
          <a:xfrm>
            <a:off x="548640" y="155448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3</a:t>
            </a:r>
            <a:endParaRPr lang="en-US" sz="2000" dirty="0"/>
          </a:p>
        </p:txBody>
      </p:sp>
      <p:sp>
        <p:nvSpPr>
          <p:cNvPr id="10" name="Text 7"/>
          <p:cNvSpPr txBox="1"/>
          <p:nvPr/>
        </p:nvSpPr>
        <p:spPr>
          <a:xfrm>
            <a:off x="1280160" y="1554480"/>
            <a:ext cx="10058400" cy="548640"/>
          </a:xfrm>
          <a:prstGeom prst="rect">
            <a:avLst/>
          </a:prstGeom>
          <a:noFill/>
          <a:ln/>
        </p:spPr>
        <p:txBody>
          <a:bodyPr wrap="square" lIns="0" tIns="0" rIns="0" bIns="0" rtlCol="0" anchor="ctr"/>
          <a:lstStyle/>
          <a:p>
            <a:pPr indent="0" marL="0">
              <a:buNone/>
            </a:pPr>
            <a:r>
              <a:rPr lang="en-US" sz="1800" dirty="0">
                <a:solidFill>
                  <a:srgbClr val="10283D"/>
                </a:solidFill>
                <a:latin typeface="Georgia" pitchFamily="34" charset="0"/>
                <a:ea typeface="Georgia" pitchFamily="34" charset="-122"/>
                <a:cs typeface="Georgia" pitchFamily="34" charset="-120"/>
              </a:rPr>
              <a:t>Make the live observation look like the prompt.</a:t>
            </a:r>
            <a:endParaRPr lang="en-US" sz="1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2286000"/>
          <a:ext cx="11091672" cy="914400"/>
        </p:xfrm>
        <a:graphic>
          <a:graphicData uri="http://schemas.openxmlformats.org/drawingml/2006/table">
            <a:tbl>
              <a:tblPr/>
              <a:tblGrid>
                <a:gridCol w="1463040"/>
                <a:gridCol w="2834640"/>
                <a:gridCol w="3383280"/>
                <a:gridCol w="3410712"/>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Signal</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iPhUMI (prompt)</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G1 (live)</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Check before motion</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r>
              <a:tr h="0">
                <a:tc>
                  <a:txBody>
                    <a:bodyPr/>
                    <a:lstStyle/>
                    <a:p>
                      <a:pPr indent="0" marL="0">
                        <a:buNone/>
                      </a:pPr>
                      <a:r>
                        <a:rPr lang="en-US" sz="1100" dirty="0">
                          <a:solidFill>
                            <a:srgbClr val="1B2A36"/>
                          </a:solidFill>
                          <a:latin typeface="Arial" pitchFamily="34" charset="0"/>
                          <a:ea typeface="Arial" pitchFamily="34" charset="-122"/>
                          <a:cs typeface="Arial" pitchFamily="34" charset="-120"/>
                        </a:rPr>
                        <a:t>Wrist RGB</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100" dirty="0">
                          <a:solidFill>
                            <a:srgbClr val="1B2A36"/>
                          </a:solidFill>
                          <a:latin typeface="Arial" pitchFamily="34" charset="0"/>
                          <a:ea typeface="Arial" pitchFamily="34" charset="-122"/>
                          <a:cs typeface="Arial" pitchFamily="34" charset="-120"/>
                        </a:rPr>
                        <a:t>iPhone main camera on the UMI mount</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100" dirty="0">
                          <a:solidFill>
                            <a:srgbClr val="1B2A36"/>
                          </a:solidFill>
                          <a:latin typeface="Arial" pitchFamily="34" charset="0"/>
                          <a:ea typeface="Arial" pitchFamily="34" charset="-122"/>
                          <a:cs typeface="Arial" pitchFamily="34" charset="-120"/>
                        </a:rPr>
                        <a:t>iPhone or matched camera on the gripper, 960×720 @ 60 Hz stream</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100" dirty="0">
                          <a:solidFill>
                            <a:srgbClr val="1B2A36"/>
                          </a:solidFill>
                          <a:latin typeface="Arial" pitchFamily="34" charset="0"/>
                          <a:ea typeface="Arial" pitchFamily="34" charset="-122"/>
                          <a:cs typeface="Arial" pitchFamily="34" charset="-120"/>
                        </a:rPr>
                        <a:t>Overlay a still cup from both devices at the same TCP pose</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r>
              <a:tr h="0">
                <a:tc>
                  <a:txBody>
                    <a:bodyPr/>
                    <a:lstStyle/>
                    <a:p>
                      <a:pPr indent="0" marL="0">
                        <a:buNone/>
                      </a:pPr>
                      <a:r>
                        <a:rPr lang="en-US" sz="1100" dirty="0">
                          <a:solidFill>
                            <a:srgbClr val="1B2A36"/>
                          </a:solidFill>
                          <a:latin typeface="Arial" pitchFamily="34" charset="0"/>
                          <a:ea typeface="Arial" pitchFamily="34" charset="-122"/>
                          <a:cs typeface="Arial" pitchFamily="34" charset="-120"/>
                        </a:rPr>
                        <a:t>EE pose</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100" dirty="0">
                          <a:solidFill>
                            <a:srgbClr val="1B2A36"/>
                          </a:solidFill>
                          <a:latin typeface="Arial" pitchFamily="34" charset="0"/>
                          <a:ea typeface="Arial" pitchFamily="34" charset="-122"/>
                          <a:cs typeface="Arial" pitchFamily="34" charset="-120"/>
                        </a:rPr>
                        <a:t>ARKit 6-DoF in world frame</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100" dirty="0">
                          <a:solidFill>
                            <a:srgbClr val="1B2A36"/>
                          </a:solidFill>
                          <a:latin typeface="Arial" pitchFamily="34" charset="0"/>
                          <a:ea typeface="Arial" pitchFamily="34" charset="-122"/>
                          <a:cs typeface="Arial" pitchFamily="34" charset="-120"/>
                        </a:rPr>
                        <a:t>Measured TCP from FK in base frame</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100" dirty="0">
                          <a:solidFill>
                            <a:srgbClr val="1B2A36"/>
                          </a:solidFill>
                          <a:latin typeface="Arial" pitchFamily="34" charset="0"/>
                          <a:ea typeface="Arial" pitchFamily="34" charset="-122"/>
                          <a:cs typeface="Arial" pitchFamily="34" charset="-120"/>
                        </a:rPr>
                        <a:t>Round-trip pose through the codec within tolerance</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B2A36"/>
                          </a:solidFill>
                          <a:latin typeface="Arial" pitchFamily="34" charset="0"/>
                          <a:ea typeface="Arial" pitchFamily="34" charset="-122"/>
                          <a:cs typeface="Arial" pitchFamily="34" charset="-120"/>
                        </a:rPr>
                        <a:t>Gripper width</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100" dirty="0">
                          <a:solidFill>
                            <a:srgbClr val="1B2A36"/>
                          </a:solidFill>
                          <a:latin typeface="Arial" pitchFamily="34" charset="0"/>
                          <a:ea typeface="Arial" pitchFamily="34" charset="-122"/>
                          <a:cs typeface="Arial" pitchFamily="34" charset="-120"/>
                        </a:rPr>
                        <a:t>ArUco-calibrated [min,max] → scalar</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100" dirty="0">
                          <a:solidFill>
                            <a:srgbClr val="1B2A36"/>
                          </a:solidFill>
                          <a:latin typeface="Arial" pitchFamily="34" charset="0"/>
                          <a:ea typeface="Arial" pitchFamily="34" charset="-122"/>
                          <a:cs typeface="Arial" pitchFamily="34" charset="-120"/>
                        </a:rPr>
                        <a:t>Hand synergy calibrated to the same scalar</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100" dirty="0">
                          <a:solidFill>
                            <a:srgbClr val="1B2A36"/>
                          </a:solidFill>
                          <a:latin typeface="Arial" pitchFamily="34" charset="0"/>
                          <a:ea typeface="Arial" pitchFamily="34" charset="-122"/>
                          <a:cs typeface="Arial" pitchFamily="34" charset="-120"/>
                        </a:rPr>
                        <a:t>Command 0 / 0.5 / 1 and measure finger gap</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r>
              <a:tr h="0">
                <a:tc>
                  <a:txBody>
                    <a:bodyPr/>
                    <a:lstStyle/>
                    <a:p>
                      <a:pPr indent="0" marL="0">
                        <a:buNone/>
                      </a:pPr>
                      <a:r>
                        <a:rPr lang="en-US" sz="1100" dirty="0">
                          <a:solidFill>
                            <a:srgbClr val="1B2A36"/>
                          </a:solidFill>
                          <a:latin typeface="Arial" pitchFamily="34" charset="0"/>
                          <a:ea typeface="Arial" pitchFamily="34" charset="-122"/>
                          <a:cs typeface="Arial" pitchFamily="34" charset="-120"/>
                        </a:rPr>
                        <a:t>Action</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100" dirty="0">
                          <a:solidFill>
                            <a:srgbClr val="1B2A36"/>
                          </a:solidFill>
                          <a:latin typeface="Arial" pitchFamily="34" charset="0"/>
                          <a:ea typeface="Arial" pitchFamily="34" charset="-122"/>
                          <a:cs typeface="Arial" pitchFamily="34" charset="-120"/>
                        </a:rPr>
                        <a:t>Relative EE pose + width, UMI convention</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100" dirty="0">
                          <a:solidFill>
                            <a:srgbClr val="1B2A36"/>
                          </a:solidFill>
                          <a:latin typeface="Arial" pitchFamily="34" charset="0"/>
                          <a:ea typeface="Arial" pitchFamily="34" charset="-122"/>
                          <a:cs typeface="Arial" pitchFamily="34" charset="-120"/>
                        </a:rPr>
                        <a:t>Δpose integrated from measured TCP, then IK in the gateway</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100" dirty="0">
                          <a:solidFill>
                            <a:srgbClr val="1B2A36"/>
                          </a:solidFill>
                          <a:latin typeface="Arial" pitchFamily="34" charset="0"/>
                          <a:ea typeface="Arial" pitchFamily="34" charset="-122"/>
                          <a:cs typeface="Arial" pitchFamily="34" charset="-120"/>
                        </a:rPr>
                        <a:t>Identity action → no motion; +x moves along observed TCP x</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r>
            </a:tbl>
          </a:graphicData>
        </a:graphic>
      </p:graphicFrame>
      <p:sp>
        <p:nvSpPr>
          <p:cNvPr id="12" name="Shape 8"/>
          <p:cNvSpPr/>
          <p:nvPr/>
        </p:nvSpPr>
        <p:spPr>
          <a:xfrm>
            <a:off x="548640" y="5074920"/>
            <a:ext cx="11091672" cy="548640"/>
          </a:xfrm>
          <a:prstGeom prst="rect">
            <a:avLst/>
          </a:prstGeom>
          <a:solidFill>
            <a:srgbClr val="FBF1DC"/>
          </a:solidFill>
          <a:ln w="12700">
            <a:solidFill>
              <a:srgbClr val="FBF1DC"/>
            </a:solidFill>
            <a:prstDash val="solid"/>
          </a:ln>
        </p:spPr>
      </p:sp>
      <p:sp>
        <p:nvSpPr>
          <p:cNvPr id="13" name="Shape 9"/>
          <p:cNvSpPr/>
          <p:nvPr/>
        </p:nvSpPr>
        <p:spPr>
          <a:xfrm>
            <a:off x="548640" y="5074920"/>
            <a:ext cx="82296" cy="548640"/>
          </a:xfrm>
          <a:prstGeom prst="rect">
            <a:avLst/>
          </a:prstGeom>
          <a:solidFill>
            <a:srgbClr val="F3BD58"/>
          </a:solidFill>
          <a:ln w="12700">
            <a:solidFill>
              <a:srgbClr val="F3BD58"/>
            </a:solidFill>
            <a:prstDash val="solid"/>
          </a:ln>
        </p:spPr>
      </p:sp>
      <p:sp>
        <p:nvSpPr>
          <p:cNvPr id="14" name="Text 10"/>
          <p:cNvSpPr txBox="1"/>
          <p:nvPr/>
        </p:nvSpPr>
        <p:spPr>
          <a:xfrm>
            <a:off x="822960" y="5074920"/>
            <a:ext cx="10543032" cy="548640"/>
          </a:xfrm>
          <a:prstGeom prst="rect">
            <a:avLst/>
          </a:prstGeom>
          <a:noFill/>
          <a:ln/>
        </p:spPr>
        <p:txBody>
          <a:bodyPr wrap="square" lIns="0" tIns="0" rIns="0" bIns="0" rtlCol="0" anchor="ctr"/>
          <a:lstStyle/>
          <a:p>
            <a:pPr indent="0" marL="0">
              <a:buNone/>
            </a:pPr>
            <a:r>
              <a:rPr lang="en-US" sz="1250" dirty="0">
                <a:solidFill>
                  <a:srgbClr val="10283D"/>
                </a:solidFill>
                <a:latin typeface="Arial" pitchFamily="34" charset="0"/>
                <a:ea typeface="Arial" pitchFamily="34" charset="-122"/>
                <a:cs typeface="Arial" pitchFamily="34" charset="-120"/>
              </a:rPr>
              <a:t>Output of step 3: a live observation stream in the prompt's format, and a passed codec sign test. No neural action has been executed yet.</a:t>
            </a:r>
            <a:endParaRPr lang="en-US" sz="1250" dirty="0"/>
          </a:p>
        </p:txBody>
      </p:sp>
      <p:sp>
        <p:nvSpPr>
          <p:cNvPr id="15" name="Text 11"/>
          <p:cNvSpPr txBox="1"/>
          <p:nvPr/>
        </p:nvSpPr>
        <p:spPr>
          <a:xfrm>
            <a:off x="548640" y="5760720"/>
            <a:ext cx="11091672" cy="411480"/>
          </a:xfrm>
          <a:prstGeom prst="rect">
            <a:avLst/>
          </a:prstGeom>
          <a:noFill/>
          <a:ln/>
        </p:spPr>
        <p:txBody>
          <a:bodyPr wrap="square" lIns="0" tIns="0" rIns="0" bIns="0" rtlCol="0" anchor="ctr"/>
          <a:lstStyle/>
          <a:p>
            <a:pPr indent="0" marL="0">
              <a:buNone/>
            </a:pPr>
            <a:r>
              <a:rPr lang="en-US" sz="1150" i="1" dirty="0">
                <a:solidFill>
                  <a:srgbClr val="526575"/>
                </a:solidFill>
                <a:latin typeface="Arial" pitchFamily="34" charset="0"/>
                <a:ea typeface="Arial" pitchFamily="34" charset="-122"/>
                <a:cs typeface="Arial" pitchFamily="34" charset="-120"/>
              </a:rPr>
              <a:t>If the released checkpoint's camera or gripper cannot be matched, step 7 (train on our own iPhUMI data) becomes mandatory rather than optional.</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0"/>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007F79"/>
                </a:solidFill>
                <a:latin typeface="Arial" pitchFamily="34" charset="0"/>
                <a:ea typeface="Arial" pitchFamily="34" charset="-122"/>
                <a:cs typeface="Arial" pitchFamily="34" charset="-120"/>
              </a:rPr>
              <a:t>STEP 4</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800" b="1" dirty="0">
                <a:solidFill>
                  <a:srgbClr val="10283D"/>
                </a:solidFill>
                <a:latin typeface="Georgia" pitchFamily="34" charset="0"/>
                <a:ea typeface="Georgia" pitchFamily="34" charset="-122"/>
                <a:cs typeface="Georgia" pitchFamily="34" charset="-120"/>
              </a:rPr>
              <a:t>Inference at one control step</a:t>
            </a:r>
            <a:endParaRPr lang="en-US" sz="2800" dirty="0"/>
          </a:p>
        </p:txBody>
      </p:sp>
      <p:sp>
        <p:nvSpPr>
          <p:cNvPr id="4" name="Shape 2"/>
          <p:cNvSpPr/>
          <p:nvPr/>
        </p:nvSpPr>
        <p:spPr>
          <a:xfrm>
            <a:off x="548640" y="1280160"/>
            <a:ext cx="1097280" cy="0"/>
          </a:xfrm>
          <a:prstGeom prst="line">
            <a:avLst/>
          </a:prstGeom>
          <a:noFill/>
          <a:ln w="31750">
            <a:solidFill>
              <a:srgbClr val="F3BD58"/>
            </a:solidFill>
            <a:prstDash val="solid"/>
          </a:ln>
        </p:spPr>
      </p:sp>
      <p:sp>
        <p:nvSpPr>
          <p:cNvPr id="5" name="Text 3"/>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900" dirty="0">
                <a:solidFill>
                  <a:srgbClr val="526575"/>
                </a:solidFill>
                <a:latin typeface="Arial" pitchFamily="34" charset="0"/>
                <a:ea typeface="Arial" pitchFamily="34" charset="-122"/>
                <a:cs typeface="Arial" pitchFamily="34" charset="-120"/>
              </a:rPr>
              <a:t>BPP + iPhUMI on the Unitree G1 · step by step</a:t>
            </a:r>
            <a:endParaRPr lang="en-US" sz="900" dirty="0"/>
          </a:p>
        </p:txBody>
      </p:sp>
      <p:sp>
        <p:nvSpPr>
          <p:cNvPr id="6" name="Text 4"/>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26575"/>
                </a:solidFill>
                <a:latin typeface="Arial" pitchFamily="34" charset="0"/>
                <a:ea typeface="Arial" pitchFamily="34" charset="-122"/>
                <a:cs typeface="Arial" pitchFamily="34" charset="-120"/>
              </a:rPr>
              <a:t>07 / 15</a:t>
            </a:r>
            <a:endParaRPr lang="en-US" sz="900" dirty="0"/>
          </a:p>
        </p:txBody>
      </p:sp>
      <p:sp>
        <p:nvSpPr>
          <p:cNvPr id="8" name="Shape 5"/>
          <p:cNvSpPr/>
          <p:nvPr/>
        </p:nvSpPr>
        <p:spPr>
          <a:xfrm>
            <a:off x="548640" y="1554480"/>
            <a:ext cx="548640" cy="548640"/>
          </a:xfrm>
          <a:prstGeom prst="ellipse">
            <a:avLst/>
          </a:prstGeom>
          <a:solidFill>
            <a:srgbClr val="007F79"/>
          </a:solidFill>
          <a:ln w="12700">
            <a:solidFill>
              <a:srgbClr val="007F79"/>
            </a:solidFill>
            <a:prstDash val="solid"/>
          </a:ln>
        </p:spPr>
      </p:sp>
      <p:sp>
        <p:nvSpPr>
          <p:cNvPr id="9" name="Text 6"/>
          <p:cNvSpPr txBox="1"/>
          <p:nvPr/>
        </p:nvSpPr>
        <p:spPr>
          <a:xfrm>
            <a:off x="548640" y="155448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4</a:t>
            </a:r>
            <a:endParaRPr lang="en-US" sz="2000" dirty="0"/>
          </a:p>
        </p:txBody>
      </p:sp>
      <p:sp>
        <p:nvSpPr>
          <p:cNvPr id="10" name="Text 7"/>
          <p:cNvSpPr txBox="1"/>
          <p:nvPr/>
        </p:nvSpPr>
        <p:spPr>
          <a:xfrm>
            <a:off x="1280160" y="1554480"/>
            <a:ext cx="10332720" cy="548640"/>
          </a:xfrm>
          <a:prstGeom prst="rect">
            <a:avLst/>
          </a:prstGeom>
          <a:noFill/>
          <a:ln/>
        </p:spPr>
        <p:txBody>
          <a:bodyPr wrap="square" lIns="0" tIns="0" rIns="0" bIns="0" rtlCol="0" anchor="ctr"/>
          <a:lstStyle/>
          <a:p>
            <a:pPr indent="0" marL="0">
              <a:buNone/>
            </a:pPr>
            <a:r>
              <a:rPr lang="en-US" sz="1700" dirty="0">
                <a:solidFill>
                  <a:srgbClr val="10283D"/>
                </a:solidFill>
                <a:latin typeface="Georgia" pitchFamily="34" charset="0"/>
                <a:ea typeface="Georgia" pitchFamily="34" charset="-122"/>
                <a:cs typeface="Georgia" pitchFamily="34" charset="-120"/>
              </a:rPr>
              <a:t>INPUT = P (cached) + current wrist frame, EE pose, width  →  OUTPUT = action chunk</a:t>
            </a:r>
            <a:endParaRPr lang="en-US" sz="1700" dirty="0"/>
          </a:p>
        </p:txBody>
      </p:sp>
      <p:sp>
        <p:nvSpPr>
          <p:cNvPr id="11" name="Shape 8"/>
          <p:cNvSpPr/>
          <p:nvPr/>
        </p:nvSpPr>
        <p:spPr>
          <a:xfrm>
            <a:off x="548640" y="2377440"/>
            <a:ext cx="2377440" cy="1371600"/>
          </a:xfrm>
          <a:prstGeom prst="roundRect">
            <a:avLst>
              <a:gd name="adj" fmla="val 6667"/>
            </a:avLst>
          </a:prstGeom>
          <a:solidFill>
            <a:srgbClr val="F3BD58"/>
          </a:solidFill>
          <a:ln w="12700">
            <a:solidFill>
              <a:srgbClr val="F3BD58"/>
            </a:solidFill>
            <a:prstDash val="solid"/>
          </a:ln>
        </p:spPr>
      </p:sp>
      <p:sp>
        <p:nvSpPr>
          <p:cNvPr id="12" name="Text 9"/>
          <p:cNvSpPr txBox="1"/>
          <p:nvPr/>
        </p:nvSpPr>
        <p:spPr>
          <a:xfrm>
            <a:off x="640080" y="2468880"/>
            <a:ext cx="2194560" cy="457200"/>
          </a:xfrm>
          <a:prstGeom prst="rect">
            <a:avLst/>
          </a:prstGeom>
          <a:noFill/>
          <a:ln/>
        </p:spPr>
        <p:txBody>
          <a:bodyPr wrap="square" lIns="0" tIns="0" rIns="0" bIns="0" rtlCol="0" anchor="ctr"/>
          <a:lstStyle/>
          <a:p>
            <a:pPr algn="ctr" indent="0" marL="0">
              <a:buNone/>
            </a:pPr>
            <a:r>
              <a:rPr lang="en-US" sz="1500" b="1" dirty="0">
                <a:solidFill>
                  <a:srgbClr val="10283D"/>
                </a:solidFill>
                <a:latin typeface="Georgia" pitchFamily="34" charset="0"/>
                <a:ea typeface="Georgia" pitchFamily="34" charset="-122"/>
                <a:cs typeface="Georgia" pitchFamily="34" charset="-120"/>
              </a:rPr>
              <a:t>Prompt chunks P</a:t>
            </a:r>
            <a:endParaRPr lang="en-US" sz="1500" dirty="0"/>
          </a:p>
        </p:txBody>
      </p:sp>
      <p:sp>
        <p:nvSpPr>
          <p:cNvPr id="13" name="Text 10"/>
          <p:cNvSpPr txBox="1"/>
          <p:nvPr/>
        </p:nvSpPr>
        <p:spPr>
          <a:xfrm>
            <a:off x="640080" y="2926080"/>
            <a:ext cx="2194560" cy="731520"/>
          </a:xfrm>
          <a:prstGeom prst="rect">
            <a:avLst/>
          </a:prstGeom>
          <a:noFill/>
          <a:ln/>
        </p:spPr>
        <p:txBody>
          <a:bodyPr wrap="square" lIns="0" tIns="0" rIns="0" bIns="0" rtlCol="0" anchor="t"/>
          <a:lstStyle/>
          <a:p>
            <a:pPr algn="ctr" indent="0" marL="0">
              <a:buNone/>
            </a:pPr>
            <a:r>
              <a:rPr lang="en-US" sz="1100" dirty="0">
                <a:solidFill>
                  <a:srgbClr val="526575"/>
                </a:solidFill>
                <a:latin typeface="Arial" pitchFamily="34" charset="0"/>
                <a:ea typeface="Arial" pitchFamily="34" charset="-122"/>
                <a:cs typeface="Arial" pitchFamily="34" charset="-120"/>
              </a:rPr>
              <a:t>cached per rollout</a:t>
            </a:r>
            <a:endParaRPr lang="en-US" sz="1100" dirty="0"/>
          </a:p>
        </p:txBody>
      </p:sp>
      <p:sp>
        <p:nvSpPr>
          <p:cNvPr id="14" name="Shape 11"/>
          <p:cNvSpPr/>
          <p:nvPr/>
        </p:nvSpPr>
        <p:spPr>
          <a:xfrm>
            <a:off x="2971800" y="2880360"/>
            <a:ext cx="320040" cy="365760"/>
          </a:xfrm>
          <a:prstGeom prst="rightArrow">
            <a:avLst/>
          </a:prstGeom>
          <a:solidFill>
            <a:srgbClr val="007F79"/>
          </a:solidFill>
          <a:ln w="12700">
            <a:solidFill>
              <a:srgbClr val="007F79"/>
            </a:solidFill>
            <a:prstDash val="solid"/>
          </a:ln>
        </p:spPr>
      </p:sp>
      <p:sp>
        <p:nvSpPr>
          <p:cNvPr id="15" name="Shape 12"/>
          <p:cNvSpPr/>
          <p:nvPr/>
        </p:nvSpPr>
        <p:spPr>
          <a:xfrm>
            <a:off x="3337560" y="2377440"/>
            <a:ext cx="2377440" cy="1371600"/>
          </a:xfrm>
          <a:prstGeom prst="roundRect">
            <a:avLst>
              <a:gd name="adj" fmla="val 6667"/>
            </a:avLst>
          </a:prstGeom>
          <a:solidFill>
            <a:srgbClr val="FFFFFF"/>
          </a:solidFill>
          <a:ln w="12700">
            <a:solidFill>
              <a:srgbClr val="D7DEDB"/>
            </a:solidFill>
            <a:prstDash val="solid"/>
          </a:ln>
        </p:spPr>
      </p:sp>
      <p:sp>
        <p:nvSpPr>
          <p:cNvPr id="16" name="Text 13"/>
          <p:cNvSpPr txBox="1"/>
          <p:nvPr/>
        </p:nvSpPr>
        <p:spPr>
          <a:xfrm>
            <a:off x="3429000" y="2468880"/>
            <a:ext cx="2194560" cy="457200"/>
          </a:xfrm>
          <a:prstGeom prst="rect">
            <a:avLst/>
          </a:prstGeom>
          <a:noFill/>
          <a:ln/>
        </p:spPr>
        <p:txBody>
          <a:bodyPr wrap="square" lIns="0" tIns="0" rIns="0" bIns="0" rtlCol="0" anchor="ctr"/>
          <a:lstStyle/>
          <a:p>
            <a:pPr algn="ctr" indent="0" marL="0">
              <a:buNone/>
            </a:pPr>
            <a:r>
              <a:rPr lang="en-US" sz="1500" b="1" dirty="0">
                <a:solidFill>
                  <a:srgbClr val="10283D"/>
                </a:solidFill>
                <a:latin typeface="Georgia" pitchFamily="34" charset="0"/>
                <a:ea typeface="Georgia" pitchFamily="34" charset="-122"/>
                <a:cs typeface="Georgia" pitchFamily="34" charset="-120"/>
              </a:rPr>
              <a:t>Prompt encoder</a:t>
            </a:r>
            <a:endParaRPr lang="en-US" sz="1500" dirty="0"/>
          </a:p>
        </p:txBody>
      </p:sp>
      <p:sp>
        <p:nvSpPr>
          <p:cNvPr id="17" name="Text 14"/>
          <p:cNvSpPr txBox="1"/>
          <p:nvPr/>
        </p:nvSpPr>
        <p:spPr>
          <a:xfrm>
            <a:off x="3429000" y="2926080"/>
            <a:ext cx="2194560" cy="731520"/>
          </a:xfrm>
          <a:prstGeom prst="rect">
            <a:avLst/>
          </a:prstGeom>
          <a:noFill/>
          <a:ln/>
        </p:spPr>
        <p:txBody>
          <a:bodyPr wrap="square" lIns="0" tIns="0" rIns="0" bIns="0" rtlCol="0" anchor="t"/>
          <a:lstStyle/>
          <a:p>
            <a:pPr algn="ctr" indent="0" marL="0">
              <a:buNone/>
            </a:pPr>
            <a:r>
              <a:rPr lang="en-US" sz="1100" dirty="0">
                <a:solidFill>
                  <a:srgbClr val="526575"/>
                </a:solidFill>
                <a:latin typeface="Arial" pitchFamily="34" charset="0"/>
                <a:ea typeface="Arial" pitchFamily="34" charset="-122"/>
                <a:cs typeface="Arial" pitchFamily="34" charset="-120"/>
              </a:rPr>
              <a:t>cross-attention: what part of the demo matches now?</a:t>
            </a:r>
            <a:endParaRPr lang="en-US" sz="1100" dirty="0"/>
          </a:p>
        </p:txBody>
      </p:sp>
      <p:sp>
        <p:nvSpPr>
          <p:cNvPr id="18" name="Shape 15"/>
          <p:cNvSpPr/>
          <p:nvPr/>
        </p:nvSpPr>
        <p:spPr>
          <a:xfrm>
            <a:off x="5760720" y="2880360"/>
            <a:ext cx="320040" cy="365760"/>
          </a:xfrm>
          <a:prstGeom prst="rightArrow">
            <a:avLst/>
          </a:prstGeom>
          <a:solidFill>
            <a:srgbClr val="007F79"/>
          </a:solidFill>
          <a:ln w="12700">
            <a:solidFill>
              <a:srgbClr val="007F79"/>
            </a:solidFill>
            <a:prstDash val="solid"/>
          </a:ln>
        </p:spPr>
      </p:sp>
      <p:sp>
        <p:nvSpPr>
          <p:cNvPr id="19" name="Shape 16"/>
          <p:cNvSpPr/>
          <p:nvPr/>
        </p:nvSpPr>
        <p:spPr>
          <a:xfrm>
            <a:off x="6126480" y="2377440"/>
            <a:ext cx="2377440" cy="1371600"/>
          </a:xfrm>
          <a:prstGeom prst="roundRect">
            <a:avLst>
              <a:gd name="adj" fmla="val 6667"/>
            </a:avLst>
          </a:prstGeom>
          <a:solidFill>
            <a:srgbClr val="FFFFFF"/>
          </a:solidFill>
          <a:ln w="12700">
            <a:solidFill>
              <a:srgbClr val="D7DEDB"/>
            </a:solidFill>
            <a:prstDash val="solid"/>
          </a:ln>
        </p:spPr>
      </p:sp>
      <p:sp>
        <p:nvSpPr>
          <p:cNvPr id="20" name="Text 17"/>
          <p:cNvSpPr txBox="1"/>
          <p:nvPr/>
        </p:nvSpPr>
        <p:spPr>
          <a:xfrm>
            <a:off x="6217920" y="2468880"/>
            <a:ext cx="2194560" cy="457200"/>
          </a:xfrm>
          <a:prstGeom prst="rect">
            <a:avLst/>
          </a:prstGeom>
          <a:noFill/>
          <a:ln/>
        </p:spPr>
        <p:txBody>
          <a:bodyPr wrap="square" lIns="0" tIns="0" rIns="0" bIns="0" rtlCol="0" anchor="ctr"/>
          <a:lstStyle/>
          <a:p>
            <a:pPr algn="ctr" indent="0" marL="0">
              <a:buNone/>
            </a:pPr>
            <a:r>
              <a:rPr lang="en-US" sz="1500" b="1" dirty="0">
                <a:solidFill>
                  <a:srgbClr val="10283D"/>
                </a:solidFill>
                <a:latin typeface="Georgia" pitchFamily="34" charset="0"/>
                <a:ea typeface="Georgia" pitchFamily="34" charset="-122"/>
                <a:cs typeface="Georgia" pitchFamily="34" charset="-120"/>
              </a:rPr>
              <a:t>Action decoder</a:t>
            </a:r>
            <a:endParaRPr lang="en-US" sz="1500" dirty="0"/>
          </a:p>
        </p:txBody>
      </p:sp>
      <p:sp>
        <p:nvSpPr>
          <p:cNvPr id="21" name="Text 18"/>
          <p:cNvSpPr txBox="1"/>
          <p:nvPr/>
        </p:nvSpPr>
        <p:spPr>
          <a:xfrm>
            <a:off x="6217920" y="2926080"/>
            <a:ext cx="2194560" cy="731520"/>
          </a:xfrm>
          <a:prstGeom prst="rect">
            <a:avLst/>
          </a:prstGeom>
          <a:noFill/>
          <a:ln/>
        </p:spPr>
        <p:txBody>
          <a:bodyPr wrap="square" lIns="0" tIns="0" rIns="0" bIns="0" rtlCol="0" anchor="t"/>
          <a:lstStyle/>
          <a:p>
            <a:pPr algn="ctr" indent="0" marL="0">
              <a:buNone/>
            </a:pPr>
            <a:r>
              <a:rPr lang="en-US" sz="1100" dirty="0">
                <a:solidFill>
                  <a:srgbClr val="526575"/>
                </a:solidFill>
                <a:latin typeface="Arial" pitchFamily="34" charset="0"/>
                <a:ea typeface="Arial" pitchFamily="34" charset="-122"/>
                <a:cs typeface="Arial" pitchFamily="34" charset="-120"/>
              </a:rPr>
              <a:t>diffusion U-Net, K denoising steps</a:t>
            </a:r>
            <a:endParaRPr lang="en-US" sz="1100" dirty="0"/>
          </a:p>
        </p:txBody>
      </p:sp>
      <p:sp>
        <p:nvSpPr>
          <p:cNvPr id="22" name="Shape 19"/>
          <p:cNvSpPr/>
          <p:nvPr/>
        </p:nvSpPr>
        <p:spPr>
          <a:xfrm>
            <a:off x="8549640" y="2880360"/>
            <a:ext cx="320040" cy="365760"/>
          </a:xfrm>
          <a:prstGeom prst="rightArrow">
            <a:avLst/>
          </a:prstGeom>
          <a:solidFill>
            <a:srgbClr val="007F79"/>
          </a:solidFill>
          <a:ln w="12700">
            <a:solidFill>
              <a:srgbClr val="007F79"/>
            </a:solidFill>
            <a:prstDash val="solid"/>
          </a:ln>
        </p:spPr>
      </p:sp>
      <p:sp>
        <p:nvSpPr>
          <p:cNvPr id="23" name="Shape 20"/>
          <p:cNvSpPr/>
          <p:nvPr/>
        </p:nvSpPr>
        <p:spPr>
          <a:xfrm>
            <a:off x="8915400" y="2377440"/>
            <a:ext cx="2377440" cy="1371600"/>
          </a:xfrm>
          <a:prstGeom prst="roundRect">
            <a:avLst>
              <a:gd name="adj" fmla="val 6667"/>
            </a:avLst>
          </a:prstGeom>
          <a:solidFill>
            <a:srgbClr val="10283D"/>
          </a:solidFill>
          <a:ln w="12700">
            <a:solidFill>
              <a:srgbClr val="10283D"/>
            </a:solidFill>
            <a:prstDash val="solid"/>
          </a:ln>
        </p:spPr>
      </p:sp>
      <p:sp>
        <p:nvSpPr>
          <p:cNvPr id="24" name="Text 21"/>
          <p:cNvSpPr txBox="1"/>
          <p:nvPr/>
        </p:nvSpPr>
        <p:spPr>
          <a:xfrm>
            <a:off x="9006840" y="2468880"/>
            <a:ext cx="2194560" cy="457200"/>
          </a:xfrm>
          <a:prstGeom prst="rect">
            <a:avLst/>
          </a:prstGeom>
          <a:noFill/>
          <a:ln/>
        </p:spPr>
        <p:txBody>
          <a:bodyPr wrap="square" lIns="0" tIns="0" rIns="0" bIns="0" rtlCol="0" anchor="ctr"/>
          <a:lstStyle/>
          <a:p>
            <a:pPr algn="ctr" indent="0" marL="0">
              <a:buNone/>
            </a:pPr>
            <a:r>
              <a:rPr lang="en-US" sz="1500" b="1" dirty="0">
                <a:solidFill>
                  <a:srgbClr val="F3BD58"/>
                </a:solidFill>
                <a:latin typeface="Georgia" pitchFamily="34" charset="0"/>
                <a:ea typeface="Georgia" pitchFamily="34" charset="-122"/>
                <a:cs typeface="Georgia" pitchFamily="34" charset="-120"/>
              </a:rPr>
              <a:t>Action chunk</a:t>
            </a:r>
            <a:endParaRPr lang="en-US" sz="1500" dirty="0"/>
          </a:p>
        </p:txBody>
      </p:sp>
      <p:sp>
        <p:nvSpPr>
          <p:cNvPr id="25" name="Text 22"/>
          <p:cNvSpPr txBox="1"/>
          <p:nvPr/>
        </p:nvSpPr>
        <p:spPr>
          <a:xfrm>
            <a:off x="9006840" y="2926080"/>
            <a:ext cx="2194560" cy="731520"/>
          </a:xfrm>
          <a:prstGeom prst="rect">
            <a:avLst/>
          </a:prstGeom>
          <a:noFill/>
          <a:ln/>
        </p:spPr>
        <p:txBody>
          <a:bodyPr wrap="square" lIns="0" tIns="0" rIns="0" bIns="0" rtlCol="0" anchor="t"/>
          <a:lstStyle/>
          <a:p>
            <a:pPr algn="ctr" indent="0" marL="0">
              <a:buNone/>
            </a:pPr>
            <a:r>
              <a:rPr lang="en-US" sz="1100" dirty="0">
                <a:solidFill>
                  <a:srgbClr val="E8EEF2"/>
                </a:solidFill>
                <a:latin typeface="Arial" pitchFamily="34" charset="0"/>
                <a:ea typeface="Arial" pitchFamily="34" charset="-122"/>
                <a:cs typeface="Arial" pitchFamily="34" charset="-120"/>
              </a:rPr>
              <a:t>e.g. 16 × [Δx Δy Δz Δrx Δry Δrz g]</a:t>
            </a:r>
            <a:endParaRPr lang="en-US" sz="1100" dirty="0"/>
          </a:p>
        </p:txBody>
      </p:sp>
      <p:sp>
        <p:nvSpPr>
          <p:cNvPr id="26" name="Shape 23"/>
          <p:cNvSpPr/>
          <p:nvPr/>
        </p:nvSpPr>
        <p:spPr>
          <a:xfrm>
            <a:off x="3337560" y="3977640"/>
            <a:ext cx="2377440" cy="640080"/>
          </a:xfrm>
          <a:prstGeom prst="roundRect">
            <a:avLst>
              <a:gd name="adj" fmla="val 14286"/>
            </a:avLst>
          </a:prstGeom>
          <a:solidFill>
            <a:srgbClr val="E3F1EF"/>
          </a:solidFill>
          <a:ln w="12700">
            <a:solidFill>
              <a:srgbClr val="E3F1EF"/>
            </a:solidFill>
            <a:prstDash val="solid"/>
          </a:ln>
        </p:spPr>
      </p:sp>
      <p:sp>
        <p:nvSpPr>
          <p:cNvPr id="27" name="Text 24"/>
          <p:cNvSpPr txBox="1"/>
          <p:nvPr/>
        </p:nvSpPr>
        <p:spPr>
          <a:xfrm>
            <a:off x="3337560" y="3977640"/>
            <a:ext cx="2377440" cy="640080"/>
          </a:xfrm>
          <a:prstGeom prst="rect">
            <a:avLst/>
          </a:prstGeom>
          <a:noFill/>
          <a:ln/>
        </p:spPr>
        <p:txBody>
          <a:bodyPr wrap="square" lIns="0" tIns="0" rIns="0" bIns="0" rtlCol="0" anchor="ctr"/>
          <a:lstStyle/>
          <a:p>
            <a:pPr algn="ctr" indent="0" marL="0">
              <a:buNone/>
            </a:pPr>
            <a:r>
              <a:rPr lang="en-US" sz="1100" dirty="0">
                <a:solidFill>
                  <a:srgbClr val="007F79"/>
                </a:solidFill>
                <a:latin typeface="Arial" pitchFamily="34" charset="0"/>
                <a:ea typeface="Arial" pitchFamily="34" charset="-122"/>
                <a:cs typeface="Arial" pitchFamily="34" charset="-120"/>
              </a:rPr>
              <a:t>current observation</a:t>
            </a:r>
            <a:endParaRPr lang="en-US" sz="1100" dirty="0"/>
          </a:p>
          <a:p>
            <a:pPr algn="ctr" indent="0" marL="0">
              <a:buNone/>
            </a:pPr>
            <a:r>
              <a:rPr lang="en-US" sz="1100" dirty="0">
                <a:solidFill>
                  <a:srgbClr val="007F79"/>
                </a:solidFill>
                <a:latin typeface="Arial" pitchFamily="34" charset="0"/>
                <a:ea typeface="Arial" pitchFamily="34" charset="-122"/>
                <a:cs typeface="Arial" pitchFamily="34" charset="-120"/>
              </a:rPr>
              <a:t>(wrist RGB, EE pose, width)</a:t>
            </a:r>
            <a:endParaRPr lang="en-US" sz="1100" dirty="0"/>
          </a:p>
        </p:txBody>
      </p:sp>
      <p:sp>
        <p:nvSpPr>
          <p:cNvPr id="28" name="Shape 25"/>
          <p:cNvSpPr/>
          <p:nvPr/>
        </p:nvSpPr>
        <p:spPr>
          <a:xfrm>
            <a:off x="4389120" y="3767328"/>
            <a:ext cx="274320" cy="201168"/>
          </a:xfrm>
          <a:prstGeom prst="upArrow">
            <a:avLst/>
          </a:prstGeom>
          <a:solidFill>
            <a:srgbClr val="007F79"/>
          </a:solidFill>
          <a:ln w="12700">
            <a:solidFill>
              <a:srgbClr val="007F79"/>
            </a:solidFill>
            <a:prstDash val="solid"/>
          </a:ln>
        </p:spPr>
      </p:sp>
      <p:sp>
        <p:nvSpPr>
          <p:cNvPr id="29" name="Shape 26"/>
          <p:cNvSpPr/>
          <p:nvPr/>
        </p:nvSpPr>
        <p:spPr>
          <a:xfrm>
            <a:off x="6126480" y="3886200"/>
            <a:ext cx="5166360" cy="1508760"/>
          </a:xfrm>
          <a:prstGeom prst="rect">
            <a:avLst/>
          </a:prstGeom>
          <a:solidFill>
            <a:srgbClr val="FFFFFF"/>
          </a:solidFill>
          <a:ln w="9525">
            <a:solidFill>
              <a:srgbClr val="D7DEDB"/>
            </a:solidFill>
            <a:prstDash val="solid"/>
          </a:ln>
        </p:spPr>
      </p:sp>
      <p:sp>
        <p:nvSpPr>
          <p:cNvPr id="30" name="Shape 27"/>
          <p:cNvSpPr/>
          <p:nvPr/>
        </p:nvSpPr>
        <p:spPr>
          <a:xfrm>
            <a:off x="6126480" y="3886200"/>
            <a:ext cx="5166360" cy="54864"/>
          </a:xfrm>
          <a:prstGeom prst="rect">
            <a:avLst/>
          </a:prstGeom>
          <a:solidFill>
            <a:srgbClr val="007F79"/>
          </a:solidFill>
          <a:ln w="12700">
            <a:solidFill>
              <a:srgbClr val="007F79"/>
            </a:solidFill>
            <a:prstDash val="solid"/>
          </a:ln>
        </p:spPr>
      </p:sp>
      <p:sp>
        <p:nvSpPr>
          <p:cNvPr id="31" name="Text 28"/>
          <p:cNvSpPr txBox="1"/>
          <p:nvPr/>
        </p:nvSpPr>
        <p:spPr>
          <a:xfrm>
            <a:off x="6327648" y="4023360"/>
            <a:ext cx="4764024" cy="411480"/>
          </a:xfrm>
          <a:prstGeom prst="rect">
            <a:avLst/>
          </a:prstGeom>
          <a:noFill/>
          <a:ln/>
        </p:spPr>
        <p:txBody>
          <a:bodyPr wrap="square" lIns="0" tIns="0" rIns="0" bIns="0" rtlCol="0" anchor="ctr"/>
          <a:lstStyle/>
          <a:p>
            <a:pPr indent="0" marL="0">
              <a:buNone/>
            </a:pPr>
            <a:r>
              <a:rPr lang="en-US" sz="1500" b="1" dirty="0">
                <a:solidFill>
                  <a:srgbClr val="10283D"/>
                </a:solidFill>
                <a:latin typeface="Georgia" pitchFamily="34" charset="0"/>
                <a:ea typeface="Georgia" pitchFamily="34" charset="-122"/>
                <a:cs typeface="Georgia" pitchFamily="34" charset="-120"/>
              </a:rPr>
              <a:t>What the attention does</a:t>
            </a:r>
            <a:endParaRPr lang="en-US" sz="1500" dirty="0"/>
          </a:p>
        </p:txBody>
      </p:sp>
      <p:sp>
        <p:nvSpPr>
          <p:cNvPr id="32" name="Text 29"/>
          <p:cNvSpPr txBox="1"/>
          <p:nvPr/>
        </p:nvSpPr>
        <p:spPr>
          <a:xfrm>
            <a:off x="6327648" y="4480560"/>
            <a:ext cx="4764024" cy="731520"/>
          </a:xfrm>
          <a:prstGeom prst="rect">
            <a:avLst/>
          </a:prstGeom>
          <a:noFill/>
          <a:ln/>
        </p:spPr>
        <p:txBody>
          <a:bodyPr wrap="square" lIns="0" tIns="0" rIns="0" bIns="0" rtlCol="0" anchor="t"/>
          <a:lstStyle/>
          <a:p>
            <a:pPr indent="0" marL="0">
              <a:spcAft>
                <a:spcPts val="600"/>
              </a:spcAft>
              <a:buNone/>
            </a:pPr>
            <a:r>
              <a:rPr lang="en-US" sz="1100" dirty="0">
                <a:solidFill>
                  <a:srgbClr val="1B2A36"/>
                </a:solidFill>
                <a:latin typeface="Arial" pitchFamily="34" charset="0"/>
                <a:ea typeface="Arial" pitchFamily="34" charset="-122"/>
                <a:cs typeface="Arial" pitchFamily="34" charset="-120"/>
              </a:rPr>
              <a:t>On tabletop tasks the prompt encoder's attention tracks discrete milestones — next object to touch, where to place — rather than every frame. On drawing tasks it tracks the demo continuously. Either way BPP adapts by dense sub-goal conditioning on the prompt.</a:t>
            </a:r>
            <a:endParaRPr lang="en-US" sz="1100" dirty="0"/>
          </a:p>
        </p:txBody>
      </p:sp>
      <p:sp>
        <p:nvSpPr>
          <p:cNvPr id="33" name="Shape 30"/>
          <p:cNvSpPr/>
          <p:nvPr/>
        </p:nvSpPr>
        <p:spPr>
          <a:xfrm>
            <a:off x="548640" y="5623560"/>
            <a:ext cx="11091672" cy="502920"/>
          </a:xfrm>
          <a:prstGeom prst="rect">
            <a:avLst/>
          </a:prstGeom>
          <a:solidFill>
            <a:srgbClr val="FBF1DC"/>
          </a:solidFill>
          <a:ln w="12700">
            <a:solidFill>
              <a:srgbClr val="FBF1DC"/>
            </a:solidFill>
            <a:prstDash val="solid"/>
          </a:ln>
        </p:spPr>
      </p:sp>
      <p:sp>
        <p:nvSpPr>
          <p:cNvPr id="34" name="Shape 31"/>
          <p:cNvSpPr/>
          <p:nvPr/>
        </p:nvSpPr>
        <p:spPr>
          <a:xfrm>
            <a:off x="548640" y="5623560"/>
            <a:ext cx="82296" cy="502920"/>
          </a:xfrm>
          <a:prstGeom prst="rect">
            <a:avLst/>
          </a:prstGeom>
          <a:solidFill>
            <a:srgbClr val="F3BD58"/>
          </a:solidFill>
          <a:ln w="12700">
            <a:solidFill>
              <a:srgbClr val="F3BD58"/>
            </a:solidFill>
            <a:prstDash val="solid"/>
          </a:ln>
        </p:spPr>
      </p:sp>
      <p:sp>
        <p:nvSpPr>
          <p:cNvPr id="35" name="Text 32"/>
          <p:cNvSpPr txBox="1"/>
          <p:nvPr/>
        </p:nvSpPr>
        <p:spPr>
          <a:xfrm>
            <a:off x="822960" y="5623560"/>
            <a:ext cx="10543032" cy="502920"/>
          </a:xfrm>
          <a:prstGeom prst="rect">
            <a:avLst/>
          </a:prstGeom>
          <a:noFill/>
          <a:ln/>
        </p:spPr>
        <p:txBody>
          <a:bodyPr wrap="square" lIns="0" tIns="0" rIns="0" bIns="0" rtlCol="0" anchor="ctr"/>
          <a:lstStyle/>
          <a:p>
            <a:pPr indent="0" marL="0">
              <a:buNone/>
            </a:pPr>
            <a:r>
              <a:rPr lang="en-US" sz="1250" dirty="0">
                <a:solidFill>
                  <a:srgbClr val="10283D"/>
                </a:solidFill>
                <a:latin typeface="Arial" pitchFamily="34" charset="0"/>
                <a:ea typeface="Arial" pitchFamily="34" charset="-122"/>
                <a:cs typeface="Arial" pitchFamily="34" charset="-120"/>
              </a:rPr>
              <a:t>Output of step 4: a short chunk of relative end-effector targets plus a width command, in the prompt's action convention.</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0"/>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007F79"/>
                </a:solidFill>
                <a:latin typeface="Arial" pitchFamily="34" charset="0"/>
                <a:ea typeface="Arial" pitchFamily="34" charset="-122"/>
                <a:cs typeface="Arial" pitchFamily="34" charset="-120"/>
              </a:rPr>
              <a:t>STEP 5</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800" b="1" dirty="0">
                <a:solidFill>
                  <a:srgbClr val="10283D"/>
                </a:solidFill>
                <a:latin typeface="Georgia" pitchFamily="34" charset="0"/>
                <a:ea typeface="Georgia" pitchFamily="34" charset="-122"/>
                <a:cs typeface="Georgia" pitchFamily="34" charset="-120"/>
              </a:rPr>
              <a:t>Execute through the G1 gateway and re-observe</a:t>
            </a:r>
            <a:endParaRPr lang="en-US" sz="2800" dirty="0"/>
          </a:p>
        </p:txBody>
      </p:sp>
      <p:sp>
        <p:nvSpPr>
          <p:cNvPr id="4" name="Shape 2"/>
          <p:cNvSpPr/>
          <p:nvPr/>
        </p:nvSpPr>
        <p:spPr>
          <a:xfrm>
            <a:off x="548640" y="1280160"/>
            <a:ext cx="1097280" cy="0"/>
          </a:xfrm>
          <a:prstGeom prst="line">
            <a:avLst/>
          </a:prstGeom>
          <a:noFill/>
          <a:ln w="31750">
            <a:solidFill>
              <a:srgbClr val="F3BD58"/>
            </a:solidFill>
            <a:prstDash val="solid"/>
          </a:ln>
        </p:spPr>
      </p:sp>
      <p:sp>
        <p:nvSpPr>
          <p:cNvPr id="5" name="Text 3"/>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900" dirty="0">
                <a:solidFill>
                  <a:srgbClr val="526575"/>
                </a:solidFill>
                <a:latin typeface="Arial" pitchFamily="34" charset="0"/>
                <a:ea typeface="Arial" pitchFamily="34" charset="-122"/>
                <a:cs typeface="Arial" pitchFamily="34" charset="-120"/>
              </a:rPr>
              <a:t>BPP + iPhUMI on the Unitree G1 · step by step</a:t>
            </a:r>
            <a:endParaRPr lang="en-US" sz="900" dirty="0"/>
          </a:p>
        </p:txBody>
      </p:sp>
      <p:sp>
        <p:nvSpPr>
          <p:cNvPr id="6" name="Text 4"/>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26575"/>
                </a:solidFill>
                <a:latin typeface="Arial" pitchFamily="34" charset="0"/>
                <a:ea typeface="Arial" pitchFamily="34" charset="-122"/>
                <a:cs typeface="Arial" pitchFamily="34" charset="-120"/>
              </a:rPr>
              <a:t>08 / 15</a:t>
            </a:r>
            <a:endParaRPr lang="en-US" sz="900" dirty="0"/>
          </a:p>
        </p:txBody>
      </p:sp>
      <p:sp>
        <p:nvSpPr>
          <p:cNvPr id="8" name="Shape 5"/>
          <p:cNvSpPr/>
          <p:nvPr/>
        </p:nvSpPr>
        <p:spPr>
          <a:xfrm>
            <a:off x="548640" y="1554480"/>
            <a:ext cx="548640" cy="548640"/>
          </a:xfrm>
          <a:prstGeom prst="ellipse">
            <a:avLst/>
          </a:prstGeom>
          <a:solidFill>
            <a:srgbClr val="007F79"/>
          </a:solidFill>
          <a:ln w="12700">
            <a:solidFill>
              <a:srgbClr val="007F79"/>
            </a:solidFill>
            <a:prstDash val="solid"/>
          </a:ln>
        </p:spPr>
      </p:sp>
      <p:sp>
        <p:nvSpPr>
          <p:cNvPr id="9" name="Text 6"/>
          <p:cNvSpPr txBox="1"/>
          <p:nvPr/>
        </p:nvSpPr>
        <p:spPr>
          <a:xfrm>
            <a:off x="548640" y="155448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5</a:t>
            </a:r>
            <a:endParaRPr lang="en-US" sz="2000" dirty="0"/>
          </a:p>
        </p:txBody>
      </p:sp>
      <p:sp>
        <p:nvSpPr>
          <p:cNvPr id="10" name="Text 7"/>
          <p:cNvSpPr txBox="1"/>
          <p:nvPr/>
        </p:nvSpPr>
        <p:spPr>
          <a:xfrm>
            <a:off x="1280160" y="1554480"/>
            <a:ext cx="10332720" cy="548640"/>
          </a:xfrm>
          <a:prstGeom prst="rect">
            <a:avLst/>
          </a:prstGeom>
          <a:noFill/>
          <a:ln/>
        </p:spPr>
        <p:txBody>
          <a:bodyPr wrap="square" lIns="0" tIns="0" rIns="0" bIns="0" rtlCol="0" anchor="ctr"/>
          <a:lstStyle/>
          <a:p>
            <a:pPr indent="0" marL="0">
              <a:buNone/>
            </a:pPr>
            <a:r>
              <a:rPr lang="en-US" sz="1800" dirty="0">
                <a:solidFill>
                  <a:srgbClr val="10283D"/>
                </a:solidFill>
                <a:latin typeface="Georgia" pitchFamily="34" charset="0"/>
                <a:ea typeface="Georgia" pitchFamily="34" charset="-122"/>
                <a:cs typeface="Georgia" pitchFamily="34" charset="-120"/>
              </a:rPr>
              <a:t>Closed loop: execute a prefix, observe again, infer again — same P every time.</a:t>
            </a:r>
            <a:endParaRPr lang="en-US" sz="1800" dirty="0"/>
          </a:p>
        </p:txBody>
      </p:sp>
      <p:sp>
        <p:nvSpPr>
          <p:cNvPr id="11" name="Shape 8"/>
          <p:cNvSpPr/>
          <p:nvPr/>
        </p:nvSpPr>
        <p:spPr>
          <a:xfrm>
            <a:off x="548640" y="2377440"/>
            <a:ext cx="2072030" cy="1737360"/>
          </a:xfrm>
          <a:prstGeom prst="rect">
            <a:avLst/>
          </a:prstGeom>
          <a:solidFill>
            <a:srgbClr val="FFFFFF"/>
          </a:solidFill>
          <a:ln w="9525">
            <a:solidFill>
              <a:srgbClr val="D7DEDB"/>
            </a:solidFill>
            <a:prstDash val="solid"/>
          </a:ln>
        </p:spPr>
      </p:sp>
      <p:sp>
        <p:nvSpPr>
          <p:cNvPr id="12" name="Shape 9"/>
          <p:cNvSpPr/>
          <p:nvPr/>
        </p:nvSpPr>
        <p:spPr>
          <a:xfrm>
            <a:off x="548640" y="2377440"/>
            <a:ext cx="2072030" cy="54864"/>
          </a:xfrm>
          <a:prstGeom prst="rect">
            <a:avLst/>
          </a:prstGeom>
          <a:solidFill>
            <a:srgbClr val="007F79"/>
          </a:solidFill>
          <a:ln w="12700">
            <a:solidFill>
              <a:srgbClr val="007F79"/>
            </a:solidFill>
            <a:prstDash val="solid"/>
          </a:ln>
        </p:spPr>
      </p:sp>
      <p:sp>
        <p:nvSpPr>
          <p:cNvPr id="13" name="Text 10"/>
          <p:cNvSpPr txBox="1"/>
          <p:nvPr/>
        </p:nvSpPr>
        <p:spPr>
          <a:xfrm>
            <a:off x="685800" y="2487168"/>
            <a:ext cx="1797710" cy="365760"/>
          </a:xfrm>
          <a:prstGeom prst="rect">
            <a:avLst/>
          </a:prstGeom>
          <a:noFill/>
          <a:ln/>
        </p:spPr>
        <p:txBody>
          <a:bodyPr wrap="square" lIns="0" tIns="0" rIns="0" bIns="0" rtlCol="0" anchor="ctr"/>
          <a:lstStyle/>
          <a:p>
            <a:pPr indent="0" marL="0">
              <a:buNone/>
            </a:pPr>
            <a:r>
              <a:rPr lang="en-US" sz="1400" b="1" dirty="0">
                <a:solidFill>
                  <a:srgbClr val="10283D"/>
                </a:solidFill>
                <a:latin typeface="Georgia" pitchFamily="34" charset="0"/>
                <a:ea typeface="Georgia" pitchFamily="34" charset="-122"/>
                <a:cs typeface="Georgia" pitchFamily="34" charset="-120"/>
              </a:rPr>
              <a:t>Integrate</a:t>
            </a:r>
            <a:endParaRPr lang="en-US" sz="1400" dirty="0"/>
          </a:p>
        </p:txBody>
      </p:sp>
      <p:sp>
        <p:nvSpPr>
          <p:cNvPr id="14" name="Text 11"/>
          <p:cNvSpPr txBox="1"/>
          <p:nvPr/>
        </p:nvSpPr>
        <p:spPr>
          <a:xfrm>
            <a:off x="685800" y="2880360"/>
            <a:ext cx="1797710" cy="1188720"/>
          </a:xfrm>
          <a:prstGeom prst="rect">
            <a:avLst/>
          </a:prstGeom>
          <a:noFill/>
          <a:ln/>
        </p:spPr>
        <p:txBody>
          <a:bodyPr wrap="square" lIns="0" tIns="0" rIns="0" bIns="0" rtlCol="0" anchor="t"/>
          <a:lstStyle/>
          <a:p>
            <a:pPr indent="0" marL="0">
              <a:buNone/>
            </a:pPr>
            <a:r>
              <a:rPr lang="en-US" sz="1100" dirty="0">
                <a:solidFill>
                  <a:srgbClr val="1B2A36"/>
                </a:solidFill>
                <a:latin typeface="Arial" pitchFamily="34" charset="0"/>
                <a:ea typeface="Arial" pitchFamily="34" charset="-122"/>
                <a:cs typeface="Arial" pitchFamily="34" charset="-120"/>
              </a:rPr>
              <a:t>T_target = T_observed · ΔT per step of the chunk</a:t>
            </a:r>
            <a:endParaRPr lang="en-US" sz="1100" dirty="0"/>
          </a:p>
        </p:txBody>
      </p:sp>
      <p:sp>
        <p:nvSpPr>
          <p:cNvPr id="15" name="Shape 12"/>
          <p:cNvSpPr/>
          <p:nvPr/>
        </p:nvSpPr>
        <p:spPr>
          <a:xfrm>
            <a:off x="2638958" y="3063240"/>
            <a:ext cx="146304" cy="320040"/>
          </a:xfrm>
          <a:prstGeom prst="rightArrow">
            <a:avLst/>
          </a:prstGeom>
          <a:solidFill>
            <a:srgbClr val="F3BD58"/>
          </a:solidFill>
          <a:ln w="12700">
            <a:solidFill>
              <a:srgbClr val="F3BD58"/>
            </a:solidFill>
            <a:prstDash val="solid"/>
          </a:ln>
        </p:spPr>
      </p:sp>
      <p:sp>
        <p:nvSpPr>
          <p:cNvPr id="16" name="Shape 13"/>
          <p:cNvSpPr/>
          <p:nvPr/>
        </p:nvSpPr>
        <p:spPr>
          <a:xfrm>
            <a:off x="2803550" y="2377440"/>
            <a:ext cx="2072030" cy="1737360"/>
          </a:xfrm>
          <a:prstGeom prst="rect">
            <a:avLst/>
          </a:prstGeom>
          <a:solidFill>
            <a:srgbClr val="FFFFFF"/>
          </a:solidFill>
          <a:ln w="9525">
            <a:solidFill>
              <a:srgbClr val="D7DEDB"/>
            </a:solidFill>
            <a:prstDash val="solid"/>
          </a:ln>
        </p:spPr>
      </p:sp>
      <p:sp>
        <p:nvSpPr>
          <p:cNvPr id="17" name="Shape 14"/>
          <p:cNvSpPr/>
          <p:nvPr/>
        </p:nvSpPr>
        <p:spPr>
          <a:xfrm>
            <a:off x="2803550" y="2377440"/>
            <a:ext cx="2072030" cy="54864"/>
          </a:xfrm>
          <a:prstGeom prst="rect">
            <a:avLst/>
          </a:prstGeom>
          <a:solidFill>
            <a:srgbClr val="007F79"/>
          </a:solidFill>
          <a:ln w="12700">
            <a:solidFill>
              <a:srgbClr val="007F79"/>
            </a:solidFill>
            <a:prstDash val="solid"/>
          </a:ln>
        </p:spPr>
      </p:sp>
      <p:sp>
        <p:nvSpPr>
          <p:cNvPr id="18" name="Text 15"/>
          <p:cNvSpPr txBox="1"/>
          <p:nvPr/>
        </p:nvSpPr>
        <p:spPr>
          <a:xfrm>
            <a:off x="2940710" y="2487168"/>
            <a:ext cx="1797710" cy="365760"/>
          </a:xfrm>
          <a:prstGeom prst="rect">
            <a:avLst/>
          </a:prstGeom>
          <a:noFill/>
          <a:ln/>
        </p:spPr>
        <p:txBody>
          <a:bodyPr wrap="square" lIns="0" tIns="0" rIns="0" bIns="0" rtlCol="0" anchor="ctr"/>
          <a:lstStyle/>
          <a:p>
            <a:pPr indent="0" marL="0">
              <a:buNone/>
            </a:pPr>
            <a:r>
              <a:rPr lang="en-US" sz="1400" b="1" dirty="0">
                <a:solidFill>
                  <a:srgbClr val="10283D"/>
                </a:solidFill>
                <a:latin typeface="Georgia" pitchFamily="34" charset="0"/>
                <a:ea typeface="Georgia" pitchFamily="34" charset="-122"/>
                <a:cs typeface="Georgia" pitchFamily="34" charset="-120"/>
              </a:rPr>
              <a:t>Validate</a:t>
            </a:r>
            <a:endParaRPr lang="en-US" sz="1400" dirty="0"/>
          </a:p>
        </p:txBody>
      </p:sp>
      <p:sp>
        <p:nvSpPr>
          <p:cNvPr id="19" name="Text 16"/>
          <p:cNvSpPr txBox="1"/>
          <p:nvPr/>
        </p:nvSpPr>
        <p:spPr>
          <a:xfrm>
            <a:off x="2940710" y="2880360"/>
            <a:ext cx="1797710" cy="1188720"/>
          </a:xfrm>
          <a:prstGeom prst="rect">
            <a:avLst/>
          </a:prstGeom>
          <a:noFill/>
          <a:ln/>
        </p:spPr>
        <p:txBody>
          <a:bodyPr wrap="square" lIns="0" tIns="0" rIns="0" bIns="0" rtlCol="0" anchor="t"/>
          <a:lstStyle/>
          <a:p>
            <a:pPr indent="0" marL="0">
              <a:buNone/>
            </a:pPr>
            <a:r>
              <a:rPr lang="en-US" sz="1100" dirty="0">
                <a:solidFill>
                  <a:srgbClr val="1B2A36"/>
                </a:solidFill>
                <a:latin typeface="Arial" pitchFamily="34" charset="0"/>
                <a:ea typeface="Arial" pitchFamily="34" charset="-122"/>
                <a:cs typeface="Arial" pitchFamily="34" charset="-120"/>
              </a:rPr>
              <a:t>Reject NaN, stale, unreachable or colliding targets — never clip</a:t>
            </a:r>
            <a:endParaRPr lang="en-US" sz="1100" dirty="0"/>
          </a:p>
        </p:txBody>
      </p:sp>
      <p:sp>
        <p:nvSpPr>
          <p:cNvPr id="20" name="Shape 17"/>
          <p:cNvSpPr/>
          <p:nvPr/>
        </p:nvSpPr>
        <p:spPr>
          <a:xfrm>
            <a:off x="4893869" y="3063240"/>
            <a:ext cx="146304" cy="320040"/>
          </a:xfrm>
          <a:prstGeom prst="rightArrow">
            <a:avLst/>
          </a:prstGeom>
          <a:solidFill>
            <a:srgbClr val="F3BD58"/>
          </a:solidFill>
          <a:ln w="12700">
            <a:solidFill>
              <a:srgbClr val="F3BD58"/>
            </a:solidFill>
            <a:prstDash val="solid"/>
          </a:ln>
        </p:spPr>
      </p:sp>
      <p:sp>
        <p:nvSpPr>
          <p:cNvPr id="21" name="Shape 18"/>
          <p:cNvSpPr/>
          <p:nvPr/>
        </p:nvSpPr>
        <p:spPr>
          <a:xfrm>
            <a:off x="5058461" y="2377440"/>
            <a:ext cx="2072030" cy="1737360"/>
          </a:xfrm>
          <a:prstGeom prst="rect">
            <a:avLst/>
          </a:prstGeom>
          <a:solidFill>
            <a:srgbClr val="FFFFFF"/>
          </a:solidFill>
          <a:ln w="9525">
            <a:solidFill>
              <a:srgbClr val="D7DEDB"/>
            </a:solidFill>
            <a:prstDash val="solid"/>
          </a:ln>
        </p:spPr>
      </p:sp>
      <p:sp>
        <p:nvSpPr>
          <p:cNvPr id="22" name="Shape 19"/>
          <p:cNvSpPr/>
          <p:nvPr/>
        </p:nvSpPr>
        <p:spPr>
          <a:xfrm>
            <a:off x="5058461" y="2377440"/>
            <a:ext cx="2072030" cy="54864"/>
          </a:xfrm>
          <a:prstGeom prst="rect">
            <a:avLst/>
          </a:prstGeom>
          <a:solidFill>
            <a:srgbClr val="007F79"/>
          </a:solidFill>
          <a:ln w="12700">
            <a:solidFill>
              <a:srgbClr val="007F79"/>
            </a:solidFill>
            <a:prstDash val="solid"/>
          </a:ln>
        </p:spPr>
      </p:sp>
      <p:sp>
        <p:nvSpPr>
          <p:cNvPr id="23" name="Text 20"/>
          <p:cNvSpPr txBox="1"/>
          <p:nvPr/>
        </p:nvSpPr>
        <p:spPr>
          <a:xfrm>
            <a:off x="5195621" y="2487168"/>
            <a:ext cx="1797710" cy="365760"/>
          </a:xfrm>
          <a:prstGeom prst="rect">
            <a:avLst/>
          </a:prstGeom>
          <a:noFill/>
          <a:ln/>
        </p:spPr>
        <p:txBody>
          <a:bodyPr wrap="square" lIns="0" tIns="0" rIns="0" bIns="0" rtlCol="0" anchor="ctr"/>
          <a:lstStyle/>
          <a:p>
            <a:pPr indent="0" marL="0">
              <a:buNone/>
            </a:pPr>
            <a:r>
              <a:rPr lang="en-US" sz="1400" b="1" dirty="0">
                <a:solidFill>
                  <a:srgbClr val="10283D"/>
                </a:solidFill>
                <a:latin typeface="Georgia" pitchFamily="34" charset="0"/>
                <a:ea typeface="Georgia" pitchFamily="34" charset="-122"/>
                <a:cs typeface="Georgia" pitchFamily="34" charset="-120"/>
              </a:rPr>
              <a:t>IK + limits</a:t>
            </a:r>
            <a:endParaRPr lang="en-US" sz="1400" dirty="0"/>
          </a:p>
        </p:txBody>
      </p:sp>
      <p:sp>
        <p:nvSpPr>
          <p:cNvPr id="24" name="Text 21"/>
          <p:cNvSpPr txBox="1"/>
          <p:nvPr/>
        </p:nvSpPr>
        <p:spPr>
          <a:xfrm>
            <a:off x="5195621" y="2880360"/>
            <a:ext cx="1797710" cy="1188720"/>
          </a:xfrm>
          <a:prstGeom prst="rect">
            <a:avLst/>
          </a:prstGeom>
          <a:noFill/>
          <a:ln/>
        </p:spPr>
        <p:txBody>
          <a:bodyPr wrap="square" lIns="0" tIns="0" rIns="0" bIns="0" rtlCol="0" anchor="t"/>
          <a:lstStyle/>
          <a:p>
            <a:pPr indent="0" marL="0">
              <a:buNone/>
            </a:pPr>
            <a:r>
              <a:rPr lang="en-US" sz="1100" dirty="0">
                <a:solidFill>
                  <a:srgbClr val="1B2A36"/>
                </a:solidFill>
                <a:latin typeface="Arial" pitchFamily="34" charset="0"/>
                <a:ea typeface="Arial" pitchFamily="34" charset="-122"/>
                <a:cs typeface="Arial" pitchFamily="34" charset="-120"/>
              </a:rPr>
              <a:t>Regularise toward the measured configuration; joint and velocity limits</a:t>
            </a:r>
            <a:endParaRPr lang="en-US" sz="1100" dirty="0"/>
          </a:p>
        </p:txBody>
      </p:sp>
      <p:sp>
        <p:nvSpPr>
          <p:cNvPr id="25" name="Shape 22"/>
          <p:cNvSpPr/>
          <p:nvPr/>
        </p:nvSpPr>
        <p:spPr>
          <a:xfrm>
            <a:off x="7148779" y="3063240"/>
            <a:ext cx="146304" cy="320040"/>
          </a:xfrm>
          <a:prstGeom prst="rightArrow">
            <a:avLst/>
          </a:prstGeom>
          <a:solidFill>
            <a:srgbClr val="F3BD58"/>
          </a:solidFill>
          <a:ln w="12700">
            <a:solidFill>
              <a:srgbClr val="F3BD58"/>
            </a:solidFill>
            <a:prstDash val="solid"/>
          </a:ln>
        </p:spPr>
      </p:sp>
      <p:sp>
        <p:nvSpPr>
          <p:cNvPr id="26" name="Shape 23"/>
          <p:cNvSpPr/>
          <p:nvPr/>
        </p:nvSpPr>
        <p:spPr>
          <a:xfrm>
            <a:off x="7313371" y="2377440"/>
            <a:ext cx="2072030" cy="1737360"/>
          </a:xfrm>
          <a:prstGeom prst="rect">
            <a:avLst/>
          </a:prstGeom>
          <a:solidFill>
            <a:srgbClr val="FFFFFF"/>
          </a:solidFill>
          <a:ln w="9525">
            <a:solidFill>
              <a:srgbClr val="D7DEDB"/>
            </a:solidFill>
            <a:prstDash val="solid"/>
          </a:ln>
        </p:spPr>
      </p:sp>
      <p:sp>
        <p:nvSpPr>
          <p:cNvPr id="27" name="Shape 24"/>
          <p:cNvSpPr/>
          <p:nvPr/>
        </p:nvSpPr>
        <p:spPr>
          <a:xfrm>
            <a:off x="7313371" y="2377440"/>
            <a:ext cx="2072030" cy="54864"/>
          </a:xfrm>
          <a:prstGeom prst="rect">
            <a:avLst/>
          </a:prstGeom>
          <a:solidFill>
            <a:srgbClr val="007F79"/>
          </a:solidFill>
          <a:ln w="12700">
            <a:solidFill>
              <a:srgbClr val="007F79"/>
            </a:solidFill>
            <a:prstDash val="solid"/>
          </a:ln>
        </p:spPr>
      </p:sp>
      <p:sp>
        <p:nvSpPr>
          <p:cNvPr id="28" name="Text 25"/>
          <p:cNvSpPr txBox="1"/>
          <p:nvPr/>
        </p:nvSpPr>
        <p:spPr>
          <a:xfrm>
            <a:off x="7450531" y="2487168"/>
            <a:ext cx="1797710" cy="365760"/>
          </a:xfrm>
          <a:prstGeom prst="rect">
            <a:avLst/>
          </a:prstGeom>
          <a:noFill/>
          <a:ln/>
        </p:spPr>
        <p:txBody>
          <a:bodyPr wrap="square" lIns="0" tIns="0" rIns="0" bIns="0" rtlCol="0" anchor="ctr"/>
          <a:lstStyle/>
          <a:p>
            <a:pPr indent="0" marL="0">
              <a:buNone/>
            </a:pPr>
            <a:r>
              <a:rPr lang="en-US" sz="1400" b="1" dirty="0">
                <a:solidFill>
                  <a:srgbClr val="10283D"/>
                </a:solidFill>
                <a:latin typeface="Georgia" pitchFamily="34" charset="0"/>
                <a:ea typeface="Georgia" pitchFamily="34" charset="-122"/>
                <a:cs typeface="Georgia" pitchFamily="34" charset="-120"/>
              </a:rPr>
              <a:t>Execute prefix</a:t>
            </a:r>
            <a:endParaRPr lang="en-US" sz="1400" dirty="0"/>
          </a:p>
        </p:txBody>
      </p:sp>
      <p:sp>
        <p:nvSpPr>
          <p:cNvPr id="29" name="Text 26"/>
          <p:cNvSpPr txBox="1"/>
          <p:nvPr/>
        </p:nvSpPr>
        <p:spPr>
          <a:xfrm>
            <a:off x="7450531" y="2880360"/>
            <a:ext cx="1797710" cy="1188720"/>
          </a:xfrm>
          <a:prstGeom prst="rect">
            <a:avLst/>
          </a:prstGeom>
          <a:noFill/>
          <a:ln/>
        </p:spPr>
        <p:txBody>
          <a:bodyPr wrap="square" lIns="0" tIns="0" rIns="0" bIns="0" rtlCol="0" anchor="t"/>
          <a:lstStyle/>
          <a:p>
            <a:pPr indent="0" marL="0">
              <a:buNone/>
            </a:pPr>
            <a:r>
              <a:rPr lang="en-US" sz="1100" dirty="0">
                <a:solidFill>
                  <a:srgbClr val="1B2A36"/>
                </a:solidFill>
                <a:latin typeface="Arial" pitchFamily="34" charset="0"/>
                <a:ea typeface="Arial" pitchFamily="34" charset="-122"/>
                <a:cs typeface="Arial" pitchFamily="34" charset="-120"/>
              </a:rPr>
              <a:t>Run the first few steps at the policy rate; hold the command lease</a:t>
            </a:r>
            <a:endParaRPr lang="en-US" sz="1100" dirty="0"/>
          </a:p>
        </p:txBody>
      </p:sp>
      <p:sp>
        <p:nvSpPr>
          <p:cNvPr id="30" name="Shape 27"/>
          <p:cNvSpPr/>
          <p:nvPr/>
        </p:nvSpPr>
        <p:spPr>
          <a:xfrm>
            <a:off x="9403690" y="3063240"/>
            <a:ext cx="146304" cy="320040"/>
          </a:xfrm>
          <a:prstGeom prst="rightArrow">
            <a:avLst/>
          </a:prstGeom>
          <a:solidFill>
            <a:srgbClr val="F3BD58"/>
          </a:solidFill>
          <a:ln w="12700">
            <a:solidFill>
              <a:srgbClr val="F3BD58"/>
            </a:solidFill>
            <a:prstDash val="solid"/>
          </a:ln>
        </p:spPr>
      </p:sp>
      <p:sp>
        <p:nvSpPr>
          <p:cNvPr id="31" name="Shape 28"/>
          <p:cNvSpPr/>
          <p:nvPr/>
        </p:nvSpPr>
        <p:spPr>
          <a:xfrm>
            <a:off x="9568282" y="2377440"/>
            <a:ext cx="2072030" cy="1737360"/>
          </a:xfrm>
          <a:prstGeom prst="rect">
            <a:avLst/>
          </a:prstGeom>
          <a:solidFill>
            <a:srgbClr val="E3F1EF"/>
          </a:solidFill>
          <a:ln w="9525">
            <a:solidFill>
              <a:srgbClr val="D7DEDB"/>
            </a:solidFill>
            <a:prstDash val="solid"/>
          </a:ln>
        </p:spPr>
      </p:sp>
      <p:sp>
        <p:nvSpPr>
          <p:cNvPr id="32" name="Shape 29"/>
          <p:cNvSpPr/>
          <p:nvPr/>
        </p:nvSpPr>
        <p:spPr>
          <a:xfrm>
            <a:off x="9568282" y="2377440"/>
            <a:ext cx="2072030" cy="54864"/>
          </a:xfrm>
          <a:prstGeom prst="rect">
            <a:avLst/>
          </a:prstGeom>
          <a:solidFill>
            <a:srgbClr val="007F79"/>
          </a:solidFill>
          <a:ln w="12700">
            <a:solidFill>
              <a:srgbClr val="007F79"/>
            </a:solidFill>
            <a:prstDash val="solid"/>
          </a:ln>
        </p:spPr>
      </p:sp>
      <p:sp>
        <p:nvSpPr>
          <p:cNvPr id="33" name="Text 30"/>
          <p:cNvSpPr txBox="1"/>
          <p:nvPr/>
        </p:nvSpPr>
        <p:spPr>
          <a:xfrm>
            <a:off x="9705442" y="2487168"/>
            <a:ext cx="1797710" cy="365760"/>
          </a:xfrm>
          <a:prstGeom prst="rect">
            <a:avLst/>
          </a:prstGeom>
          <a:noFill/>
          <a:ln/>
        </p:spPr>
        <p:txBody>
          <a:bodyPr wrap="square" lIns="0" tIns="0" rIns="0" bIns="0" rtlCol="0" anchor="ctr"/>
          <a:lstStyle/>
          <a:p>
            <a:pPr indent="0" marL="0">
              <a:buNone/>
            </a:pPr>
            <a:r>
              <a:rPr lang="en-US" sz="1400" b="1" dirty="0">
                <a:solidFill>
                  <a:srgbClr val="10283D"/>
                </a:solidFill>
                <a:latin typeface="Georgia" pitchFamily="34" charset="0"/>
                <a:ea typeface="Georgia" pitchFamily="34" charset="-122"/>
                <a:cs typeface="Georgia" pitchFamily="34" charset="-120"/>
              </a:rPr>
              <a:t>Re-observe</a:t>
            </a:r>
            <a:endParaRPr lang="en-US" sz="1400" dirty="0"/>
          </a:p>
        </p:txBody>
      </p:sp>
      <p:sp>
        <p:nvSpPr>
          <p:cNvPr id="34" name="Text 31"/>
          <p:cNvSpPr txBox="1"/>
          <p:nvPr/>
        </p:nvSpPr>
        <p:spPr>
          <a:xfrm>
            <a:off x="9705442" y="2880360"/>
            <a:ext cx="1797710" cy="1188720"/>
          </a:xfrm>
          <a:prstGeom prst="rect">
            <a:avLst/>
          </a:prstGeom>
          <a:noFill/>
          <a:ln/>
        </p:spPr>
        <p:txBody>
          <a:bodyPr wrap="square" lIns="0" tIns="0" rIns="0" bIns="0" rtlCol="0" anchor="t"/>
          <a:lstStyle/>
          <a:p>
            <a:pPr indent="0" marL="0">
              <a:buNone/>
            </a:pPr>
            <a:r>
              <a:rPr lang="en-US" sz="1100" dirty="0">
                <a:solidFill>
                  <a:srgbClr val="1B2A36"/>
                </a:solidFill>
                <a:latin typeface="Arial" pitchFamily="34" charset="0"/>
                <a:ea typeface="Arial" pitchFamily="34" charset="-122"/>
                <a:cs typeface="Arial" pitchFamily="34" charset="-120"/>
              </a:rPr>
              <a:t>New wrist frame + TCP + width → back to step 4</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4343400"/>
          <a:ext cx="11091672" cy="914400"/>
        </p:xfrm>
        <a:graphic>
          <a:graphicData uri="http://schemas.openxmlformats.org/drawingml/2006/table">
            <a:tbl>
              <a:tblPr/>
              <a:tblGrid>
                <a:gridCol w="2377440"/>
                <a:gridCol w="3108960"/>
                <a:gridCol w="5605272"/>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Timing item</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Proposed value</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Note</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r>
              <a:tr h="0">
                <a:tc>
                  <a:txBody>
                    <a:bodyPr/>
                    <a:lstStyle/>
                    <a:p>
                      <a:pPr indent="0" marL="0">
                        <a:buNone/>
                      </a:pPr>
                      <a:r>
                        <a:rPr lang="en-US" sz="1100" dirty="0">
                          <a:solidFill>
                            <a:srgbClr val="1B2A36"/>
                          </a:solidFill>
                          <a:latin typeface="Arial" pitchFamily="34" charset="0"/>
                          <a:ea typeface="Arial" pitchFamily="34" charset="-122"/>
                          <a:cs typeface="Arial" pitchFamily="34" charset="-120"/>
                        </a:rPr>
                        <a:t>Policy rate</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100" dirty="0">
                          <a:solidFill>
                            <a:srgbClr val="1B2A36"/>
                          </a:solidFill>
                          <a:latin typeface="Arial" pitchFamily="34" charset="0"/>
                          <a:ea typeface="Arial" pitchFamily="34" charset="-122"/>
                          <a:cs typeface="Arial" pitchFamily="34" charset="-120"/>
                        </a:rPr>
                        <a:t>10 Hz</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100" dirty="0">
                          <a:solidFill>
                            <a:srgbClr val="1B2A36"/>
                          </a:solidFill>
                          <a:latin typeface="Arial" pitchFamily="34" charset="0"/>
                          <a:ea typeface="Arial" pitchFamily="34" charset="-122"/>
                          <a:cs typeface="Arial" pitchFamily="34" charset="-120"/>
                        </a:rPr>
                        <a:t>Must match the training time step; revisit after profiling</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r>
              <a:tr h="0">
                <a:tc>
                  <a:txBody>
                    <a:bodyPr/>
                    <a:lstStyle/>
                    <a:p>
                      <a:pPr indent="0" marL="0">
                        <a:buNone/>
                      </a:pPr>
                      <a:r>
                        <a:rPr lang="en-US" sz="1100" dirty="0">
                          <a:solidFill>
                            <a:srgbClr val="1B2A36"/>
                          </a:solidFill>
                          <a:latin typeface="Arial" pitchFamily="34" charset="0"/>
                          <a:ea typeface="Arial" pitchFamily="34" charset="-122"/>
                          <a:cs typeface="Arial" pitchFamily="34" charset="-120"/>
                        </a:rPr>
                        <a:t>Prompt encoding</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100" dirty="0">
                          <a:solidFill>
                            <a:srgbClr val="1B2A36"/>
                          </a:solidFill>
                          <a:latin typeface="Arial" pitchFamily="34" charset="0"/>
                          <a:ea typeface="Arial" pitchFamily="34" charset="-122"/>
                          <a:cs typeface="Arial" pitchFamily="34" charset="-120"/>
                        </a:rPr>
                        <a:t>Once per rollout</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100" dirty="0">
                          <a:solidFill>
                            <a:srgbClr val="1B2A36"/>
                          </a:solidFill>
                          <a:latin typeface="Arial" pitchFamily="34" charset="0"/>
                          <a:ea typeface="Arial" pitchFamily="34" charset="-122"/>
                          <a:cs typeface="Arial" pitchFamily="34" charset="-120"/>
                        </a:rPr>
                        <a:t>Cached chunk embeddings; not on the per-step path</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B2A36"/>
                          </a:solidFill>
                          <a:latin typeface="Arial" pitchFamily="34" charset="0"/>
                          <a:ea typeface="Arial" pitchFamily="34" charset="-122"/>
                          <a:cs typeface="Arial" pitchFamily="34" charset="-120"/>
                        </a:rPr>
                        <a:t>Chunk execution</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100" dirty="0">
                          <a:solidFill>
                            <a:srgbClr val="1B2A36"/>
                          </a:solidFill>
                          <a:latin typeface="Arial" pitchFamily="34" charset="0"/>
                          <a:ea typeface="Arial" pitchFamily="34" charset="-122"/>
                          <a:cs typeface="Arial" pitchFamily="34" charset="-120"/>
                        </a:rPr>
                        <a:t>Short prefix, then replan</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100" dirty="0">
                          <a:solidFill>
                            <a:srgbClr val="1B2A36"/>
                          </a:solidFill>
                          <a:latin typeface="Arial" pitchFamily="34" charset="0"/>
                          <a:ea typeface="Arial" pitchFamily="34" charset="-122"/>
                          <a:cs typeface="Arial" pitchFamily="34" charset="-120"/>
                        </a:rPr>
                        <a:t>No blending unless the pose representation is stated and validated</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r>
              <a:tr h="0">
                <a:tc>
                  <a:txBody>
                    <a:bodyPr/>
                    <a:lstStyle/>
                    <a:p>
                      <a:pPr indent="0" marL="0">
                        <a:buNone/>
                      </a:pPr>
                      <a:r>
                        <a:rPr lang="en-US" sz="1100" dirty="0">
                          <a:solidFill>
                            <a:srgbClr val="1B2A36"/>
                          </a:solidFill>
                          <a:latin typeface="Arial" pitchFamily="34" charset="0"/>
                          <a:ea typeface="Arial" pitchFamily="34" charset="-122"/>
                          <a:cs typeface="Arial" pitchFamily="34" charset="-120"/>
                        </a:rPr>
                        <a:t>Latency budget</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100" dirty="0">
                          <a:solidFill>
                            <a:srgbClr val="1B2A36"/>
                          </a:solidFill>
                          <a:latin typeface="Arial" pitchFamily="34" charset="0"/>
                          <a:ea typeface="Arial" pitchFamily="34" charset="-122"/>
                          <a:cs typeface="Arial" pitchFamily="34" charset="-120"/>
                        </a:rPr>
                        <a:t>Capture → accepted target, p50 / p95 / max</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100" dirty="0">
                          <a:solidFill>
                            <a:srgbClr val="1B2A36"/>
                          </a:solidFill>
                          <a:latin typeface="Arial" pitchFamily="34" charset="0"/>
                          <a:ea typeface="Arial" pitchFamily="34" charset="-122"/>
                          <a:cs typeface="Arial" pitchFamily="34" charset="-120"/>
                        </a:rPr>
                        <a:t>Log deadline misses; abort on stale observations</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0"/>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007F79"/>
                </a:solidFill>
                <a:latin typeface="Arial" pitchFamily="34" charset="0"/>
                <a:ea typeface="Arial" pitchFamily="34" charset="-122"/>
                <a:cs typeface="Arial" pitchFamily="34" charset="-120"/>
              </a:rPr>
              <a:t>STEP 6</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800" b="1" dirty="0">
                <a:solidFill>
                  <a:srgbClr val="10283D"/>
                </a:solidFill>
                <a:latin typeface="Georgia" pitchFamily="34" charset="0"/>
                <a:ea typeface="Georgia" pitchFamily="34" charset="-122"/>
                <a:cs typeface="Georgia" pitchFamily="34" charset="-120"/>
              </a:rPr>
              <a:t>Swap the prompt: the two-cup test</a:t>
            </a:r>
            <a:endParaRPr lang="en-US" sz="2800" dirty="0"/>
          </a:p>
        </p:txBody>
      </p:sp>
      <p:sp>
        <p:nvSpPr>
          <p:cNvPr id="4" name="Shape 2"/>
          <p:cNvSpPr/>
          <p:nvPr/>
        </p:nvSpPr>
        <p:spPr>
          <a:xfrm>
            <a:off x="548640" y="1280160"/>
            <a:ext cx="1097280" cy="0"/>
          </a:xfrm>
          <a:prstGeom prst="line">
            <a:avLst/>
          </a:prstGeom>
          <a:noFill/>
          <a:ln w="31750">
            <a:solidFill>
              <a:srgbClr val="F3BD58"/>
            </a:solidFill>
            <a:prstDash val="solid"/>
          </a:ln>
        </p:spPr>
      </p:sp>
      <p:sp>
        <p:nvSpPr>
          <p:cNvPr id="5" name="Text 3"/>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900" dirty="0">
                <a:solidFill>
                  <a:srgbClr val="526575"/>
                </a:solidFill>
                <a:latin typeface="Arial" pitchFamily="34" charset="0"/>
                <a:ea typeface="Arial" pitchFamily="34" charset="-122"/>
                <a:cs typeface="Arial" pitchFamily="34" charset="-120"/>
              </a:rPr>
              <a:t>BPP + iPhUMI on the Unitree G1 · step by step</a:t>
            </a:r>
            <a:endParaRPr lang="en-US" sz="900" dirty="0"/>
          </a:p>
        </p:txBody>
      </p:sp>
      <p:sp>
        <p:nvSpPr>
          <p:cNvPr id="6" name="Text 4"/>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26575"/>
                </a:solidFill>
                <a:latin typeface="Arial" pitchFamily="34" charset="0"/>
                <a:ea typeface="Arial" pitchFamily="34" charset="-122"/>
                <a:cs typeface="Arial" pitchFamily="34" charset="-120"/>
              </a:rPr>
              <a:t>09 / 15</a:t>
            </a:r>
            <a:endParaRPr lang="en-US" sz="900" dirty="0"/>
          </a:p>
        </p:txBody>
      </p:sp>
      <p:sp>
        <p:nvSpPr>
          <p:cNvPr id="8" name="Shape 5"/>
          <p:cNvSpPr/>
          <p:nvPr/>
        </p:nvSpPr>
        <p:spPr>
          <a:xfrm>
            <a:off x="548640" y="1554480"/>
            <a:ext cx="548640" cy="548640"/>
          </a:xfrm>
          <a:prstGeom prst="ellipse">
            <a:avLst/>
          </a:prstGeom>
          <a:solidFill>
            <a:srgbClr val="007F79"/>
          </a:solidFill>
          <a:ln w="12700">
            <a:solidFill>
              <a:srgbClr val="007F79"/>
            </a:solidFill>
            <a:prstDash val="solid"/>
          </a:ln>
        </p:spPr>
      </p:sp>
      <p:sp>
        <p:nvSpPr>
          <p:cNvPr id="9" name="Text 6"/>
          <p:cNvSpPr txBox="1"/>
          <p:nvPr/>
        </p:nvSpPr>
        <p:spPr>
          <a:xfrm>
            <a:off x="548640" y="155448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6</a:t>
            </a:r>
            <a:endParaRPr lang="en-US" sz="2000" dirty="0"/>
          </a:p>
        </p:txBody>
      </p:sp>
      <p:sp>
        <p:nvSpPr>
          <p:cNvPr id="10" name="Text 7"/>
          <p:cNvSpPr txBox="1"/>
          <p:nvPr/>
        </p:nvSpPr>
        <p:spPr>
          <a:xfrm>
            <a:off x="1280160" y="1554480"/>
            <a:ext cx="10332720" cy="548640"/>
          </a:xfrm>
          <a:prstGeom prst="rect">
            <a:avLst/>
          </a:prstGeom>
          <a:noFill/>
          <a:ln/>
        </p:spPr>
        <p:txBody>
          <a:bodyPr wrap="square" lIns="0" tIns="0" rIns="0" bIns="0" rtlCol="0" anchor="ctr"/>
          <a:lstStyle/>
          <a:p>
            <a:pPr indent="0" marL="0">
              <a:buNone/>
            </a:pPr>
            <a:r>
              <a:rPr lang="en-US" sz="1800" dirty="0">
                <a:solidFill>
                  <a:srgbClr val="10283D"/>
                </a:solidFill>
                <a:latin typeface="Georgia" pitchFamily="34" charset="0"/>
                <a:ea typeface="Georgia" pitchFamily="34" charset="-122"/>
                <a:cs typeface="Georgia" pitchFamily="34" charset="-120"/>
              </a:rPr>
              <a:t>Record bowl → mug, rebuild P, run again. Same weights, same scene, different behaviour.</a:t>
            </a:r>
            <a:endParaRPr lang="en-US" sz="1800" dirty="0"/>
          </a:p>
        </p:txBody>
      </p:sp>
      <p:sp>
        <p:nvSpPr>
          <p:cNvPr id="11" name="Shape 8"/>
          <p:cNvSpPr/>
          <p:nvPr/>
        </p:nvSpPr>
        <p:spPr>
          <a:xfrm>
            <a:off x="548640" y="2286000"/>
            <a:ext cx="11091672" cy="1325880"/>
          </a:xfrm>
          <a:prstGeom prst="rect">
            <a:avLst/>
          </a:prstGeom>
          <a:solidFill>
            <a:srgbClr val="10283D"/>
          </a:solidFill>
          <a:ln w="12700">
            <a:solidFill>
              <a:srgbClr val="10283D"/>
            </a:solidFill>
            <a:prstDash val="solid"/>
          </a:ln>
        </p:spPr>
      </p:sp>
      <p:sp>
        <p:nvSpPr>
          <p:cNvPr id="12" name="Text 9"/>
          <p:cNvSpPr txBox="1"/>
          <p:nvPr/>
        </p:nvSpPr>
        <p:spPr>
          <a:xfrm>
            <a:off x="731520" y="2423160"/>
            <a:ext cx="10725912" cy="1051560"/>
          </a:xfrm>
          <a:prstGeom prst="rect">
            <a:avLst/>
          </a:prstGeom>
          <a:noFill/>
          <a:ln/>
        </p:spPr>
        <p:txBody>
          <a:bodyPr wrap="square" lIns="0" tIns="0" rIns="0" bIns="0" rtlCol="0" anchor="t"/>
          <a:lstStyle/>
          <a:p>
            <a:pPr indent="0" marL="0">
              <a:buNone/>
            </a:pPr>
            <a:r>
              <a:rPr lang="en-US" sz="1150" dirty="0">
                <a:solidFill>
                  <a:srgbClr val="E8EEF2"/>
                </a:solidFill>
                <a:latin typeface="Courier New" pitchFamily="34" charset="0"/>
                <a:ea typeface="Courier New" pitchFamily="34" charset="-122"/>
                <a:cs typeface="Courier New" pitchFamily="34" charset="-120"/>
              </a:rPr>
              <a:t>run A:  INPUT = P_cup_to_coaster + live obs   -&gt;  actions toward the cup, then the coaster</a:t>
            </a:r>
            <a:endParaRPr lang="en-US" sz="1150" dirty="0"/>
          </a:p>
          <a:p>
            <a:pPr indent="0" marL="0">
              <a:buNone/>
            </a:pPr>
            <a:r>
              <a:rPr lang="en-US" sz="1150" dirty="0">
                <a:solidFill>
                  <a:srgbClr val="E8EEF2"/>
                </a:solidFill>
                <a:latin typeface="Courier New" pitchFamily="34" charset="0"/>
                <a:ea typeface="Courier New" pitchFamily="34" charset="-122"/>
                <a:cs typeface="Courier New" pitchFamily="34" charset="-120"/>
              </a:rPr>
              <a:t>run B:  INPUT = P_bowl_to_mug     + live obs   -&gt;  actions toward the bowl, then the mug</a:t>
            </a:r>
            <a:endParaRPr lang="en-US" sz="1150" dirty="0"/>
          </a:p>
          <a:p>
            <a:pPr indent="0" marL="0">
              <a:buNone/>
            </a:pPr>
            <a:endParaRPr lang="en-US" sz="1150" dirty="0"/>
          </a:p>
          <a:p>
            <a:pPr indent="0" marL="0">
              <a:buNone/>
            </a:pPr>
            <a:r>
              <a:rPr lang="en-US" sz="1150" dirty="0">
                <a:solidFill>
                  <a:srgbClr val="E8EEF2"/>
                </a:solidFill>
                <a:latin typeface="Courier New" pitchFamily="34" charset="0"/>
                <a:ea typeface="Courier New" pitchFamily="34" charset="-122"/>
                <a:cs typeface="Courier New" pitchFamily="34" charset="-120"/>
              </a:rPr>
              <a:t>weights:  identical (hash-checked)      scene:  identical      prompt:  differs</a:t>
            </a:r>
            <a:endParaRPr lang="en-US" sz="11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3794760"/>
          <a:ext cx="11091672" cy="914400"/>
        </p:xfrm>
        <a:graphic>
          <a:graphicData uri="http://schemas.openxmlformats.org/drawingml/2006/table">
            <a:tbl>
              <a:tblPr/>
              <a:tblGrid>
                <a:gridCol w="2011680"/>
                <a:gridCol w="2926080"/>
                <a:gridCol w="3108960"/>
                <a:gridCol w="3044952"/>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Condition</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Prompt</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Expected if ICL is real</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Failure it exposes</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r>
              <a:tr h="0">
                <a:tc>
                  <a:txBody>
                    <a:bodyPr/>
                    <a:lstStyle/>
                    <a:p>
                      <a:pPr indent="0" marL="0">
                        <a:buNone/>
                      </a:pPr>
                      <a:r>
                        <a:rPr lang="en-US" sz="1100" dirty="0">
                          <a:solidFill>
                            <a:srgbClr val="1B2A36"/>
                          </a:solidFill>
                          <a:latin typeface="Arial" pitchFamily="34" charset="0"/>
                          <a:ea typeface="Arial" pitchFamily="34" charset="-122"/>
                          <a:cs typeface="Arial" pitchFamily="34" charset="-120"/>
                        </a:rPr>
                        <a:t>Correct prompt</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100" dirty="0">
                          <a:solidFill>
                            <a:srgbClr val="1B2A36"/>
                          </a:solidFill>
                          <a:latin typeface="Arial" pitchFamily="34" charset="0"/>
                          <a:ea typeface="Arial" pitchFamily="34" charset="-122"/>
                          <a:cs typeface="Arial" pitchFamily="34" charset="-120"/>
                        </a:rPr>
                        <a:t>Demo of the requested outcome</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100" dirty="0">
                          <a:solidFill>
                            <a:srgbClr val="1B2A36"/>
                          </a:solidFill>
                          <a:latin typeface="Arial" pitchFamily="34" charset="0"/>
                          <a:ea typeface="Arial" pitchFamily="34" charset="-122"/>
                          <a:cs typeface="Arial" pitchFamily="34" charset="-120"/>
                        </a:rPr>
                        <a:t>Requested cup and destination</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100" dirty="0">
                          <a:solidFill>
                            <a:srgbClr val="1B2A36"/>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r>
              <a:tr h="0">
                <a:tc>
                  <a:txBody>
                    <a:bodyPr/>
                    <a:lstStyle/>
                    <a:p>
                      <a:pPr indent="0" marL="0">
                        <a:buNone/>
                      </a:pPr>
                      <a:r>
                        <a:rPr lang="en-US" sz="1100" dirty="0">
                          <a:solidFill>
                            <a:srgbClr val="1B2A36"/>
                          </a:solidFill>
                          <a:latin typeface="Arial" pitchFamily="34" charset="0"/>
                          <a:ea typeface="Arial" pitchFamily="34" charset="-122"/>
                          <a:cs typeface="Arial" pitchFamily="34" charset="-120"/>
                        </a:rPr>
                        <a:t>No prompt</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100" dirty="0">
                          <a:solidFill>
                            <a:srgbClr val="1B2A36"/>
                          </a:solidFill>
                          <a:latin typeface="Arial" pitchFamily="34" charset="0"/>
                          <a:ea typeface="Arial" pitchFamily="34" charset="-122"/>
                          <a:cs typeface="Arial" pitchFamily="34" charset="-120"/>
                        </a:rPr>
                        <a:t>Empty / zero context</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100" dirty="0">
                          <a:solidFill>
                            <a:srgbClr val="1B2A36"/>
                          </a:solidFill>
                          <a:latin typeface="Arial" pitchFamily="34" charset="0"/>
                          <a:ea typeface="Arial" pitchFamily="34" charset="-122"/>
                          <a:cs typeface="Arial" pitchFamily="34" charset="-120"/>
                        </a:rPr>
                        <a:t>Degraded or default behaviour</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100" dirty="0">
                          <a:solidFill>
                            <a:srgbClr val="1B2A36"/>
                          </a:solidFill>
                          <a:latin typeface="Arial" pitchFamily="34" charset="0"/>
                          <a:ea typeface="Arial" pitchFamily="34" charset="-122"/>
                          <a:cs typeface="Arial" pitchFamily="34" charset="-120"/>
                        </a:rPr>
                        <a:t>Task learned into the weights</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B2A36"/>
                          </a:solidFill>
                          <a:latin typeface="Arial" pitchFamily="34" charset="0"/>
                          <a:ea typeface="Arial" pitchFamily="34" charset="-122"/>
                          <a:cs typeface="Arial" pitchFamily="34" charset="-120"/>
                        </a:rPr>
                        <a:t>Wrong-task prompt</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100" dirty="0">
                          <a:solidFill>
                            <a:srgbClr val="1B2A36"/>
                          </a:solidFill>
                          <a:latin typeface="Arial" pitchFamily="34" charset="0"/>
                          <a:ea typeface="Arial" pitchFamily="34" charset="-122"/>
                          <a:cs typeface="Arial" pitchFamily="34" charset="-120"/>
                        </a:rPr>
                        <a:t>Demo of the other outcome</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100" dirty="0">
                          <a:solidFill>
                            <a:srgbClr val="1B2A36"/>
                          </a:solidFill>
                          <a:latin typeface="Arial" pitchFamily="34" charset="0"/>
                          <a:ea typeface="Arial" pitchFamily="34" charset="-122"/>
                          <a:cs typeface="Arial" pitchFamily="34" charset="-120"/>
                        </a:rPr>
                        <a:t>Follows the wrong demo, not the nearest object</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100" dirty="0">
                          <a:solidFill>
                            <a:srgbClr val="1B2A36"/>
                          </a:solidFill>
                          <a:latin typeface="Arial" pitchFamily="34" charset="0"/>
                          <a:ea typeface="Arial" pitchFamily="34" charset="-122"/>
                          <a:cs typeface="Arial" pitchFamily="34" charset="-120"/>
                        </a:rPr>
                        <a:t>Prompt ignored</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r>
              <a:tr h="0">
                <a:tc>
                  <a:txBody>
                    <a:bodyPr/>
                    <a:lstStyle/>
                    <a:p>
                      <a:pPr indent="0" marL="0">
                        <a:buNone/>
                      </a:pPr>
                      <a:r>
                        <a:rPr lang="en-US" sz="1100" dirty="0">
                          <a:solidFill>
                            <a:srgbClr val="1B2A36"/>
                          </a:solidFill>
                          <a:latin typeface="Arial" pitchFamily="34" charset="0"/>
                          <a:ea typeface="Arial" pitchFamily="34" charset="-122"/>
                          <a:cs typeface="Arial" pitchFamily="34" charset="-120"/>
                        </a:rPr>
                        <a:t>Shuffled prompt</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100" dirty="0">
                          <a:solidFill>
                            <a:srgbClr val="1B2A36"/>
                          </a:solidFill>
                          <a:latin typeface="Arial" pitchFamily="34" charset="0"/>
                          <a:ea typeface="Arial" pitchFamily="34" charset="-122"/>
                          <a:cs typeface="Arial" pitchFamily="34" charset="-120"/>
                        </a:rPr>
                        <a:t>Chunks in random order</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100" dirty="0">
                          <a:solidFill>
                            <a:srgbClr val="1B2A36"/>
                          </a:solidFill>
                          <a:latin typeface="Arial" pitchFamily="34" charset="0"/>
                          <a:ea typeface="Arial" pitchFamily="34" charset="-122"/>
                          <a:cs typeface="Arial" pitchFamily="34" charset="-120"/>
                        </a:rPr>
                        <a:t>Degraded</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100" dirty="0">
                          <a:solidFill>
                            <a:srgbClr val="1B2A36"/>
                          </a:solidFill>
                          <a:latin typeface="Arial" pitchFamily="34" charset="0"/>
                          <a:ea typeface="Arial" pitchFamily="34" charset="-122"/>
                          <a:cs typeface="Arial" pitchFamily="34" charset="-120"/>
                        </a:rPr>
                        <a:t>Temporal structure unused</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B2A36"/>
                          </a:solidFill>
                          <a:latin typeface="Arial" pitchFamily="34" charset="0"/>
                          <a:ea typeface="Arial" pitchFamily="34" charset="-122"/>
                          <a:cs typeface="Arial" pitchFamily="34" charset="-120"/>
                        </a:rPr>
                        <a:t>Retrieved prompt</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100" dirty="0">
                          <a:solidFill>
                            <a:srgbClr val="1B2A36"/>
                          </a:solidFill>
                          <a:latin typeface="Arial" pitchFamily="34" charset="0"/>
                          <a:ea typeface="Arial" pitchFamily="34" charset="-122"/>
                          <a:cs typeface="Arial" pitchFamily="34" charset="-120"/>
                        </a:rPr>
                        <a:t>Nearest legal demo by task + initial scene</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100" dirty="0">
                          <a:solidFill>
                            <a:srgbClr val="1B2A36"/>
                          </a:solidFill>
                          <a:latin typeface="Arial" pitchFamily="34" charset="0"/>
                          <a:ea typeface="Arial" pitchFamily="34" charset="-122"/>
                          <a:cs typeface="Arial" pitchFamily="34" charset="-120"/>
                        </a:rPr>
                        <a:t>≈ correct prompt</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100" dirty="0">
                          <a:solidFill>
                            <a:srgbClr val="1B2A36"/>
                          </a:solidFill>
                          <a:latin typeface="Arial" pitchFamily="34" charset="0"/>
                          <a:ea typeface="Arial" pitchFamily="34" charset="-122"/>
                          <a:cs typeface="Arial" pitchFamily="34" charset="-120"/>
                        </a:rPr>
                        <a:t>Retrieval leakage</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r>
            </a:tbl>
          </a:graphicData>
        </a:graphic>
      </p:graphicFrame>
      <p:sp>
        <p:nvSpPr>
          <p:cNvPr id="14" name="Shape 10"/>
          <p:cNvSpPr/>
          <p:nvPr/>
        </p:nvSpPr>
        <p:spPr>
          <a:xfrm>
            <a:off x="548640" y="5806440"/>
            <a:ext cx="11091672" cy="502920"/>
          </a:xfrm>
          <a:prstGeom prst="rect">
            <a:avLst/>
          </a:prstGeom>
          <a:solidFill>
            <a:srgbClr val="FBF1DC"/>
          </a:solidFill>
          <a:ln w="12700">
            <a:solidFill>
              <a:srgbClr val="FBF1DC"/>
            </a:solidFill>
            <a:prstDash val="solid"/>
          </a:ln>
        </p:spPr>
      </p:sp>
      <p:sp>
        <p:nvSpPr>
          <p:cNvPr id="15" name="Shape 11"/>
          <p:cNvSpPr/>
          <p:nvPr/>
        </p:nvSpPr>
        <p:spPr>
          <a:xfrm>
            <a:off x="548640" y="5806440"/>
            <a:ext cx="82296" cy="502920"/>
          </a:xfrm>
          <a:prstGeom prst="rect">
            <a:avLst/>
          </a:prstGeom>
          <a:solidFill>
            <a:srgbClr val="F3BD58"/>
          </a:solidFill>
          <a:ln w="12700">
            <a:solidFill>
              <a:srgbClr val="F3BD58"/>
            </a:solidFill>
            <a:prstDash val="solid"/>
          </a:ln>
        </p:spPr>
      </p:sp>
      <p:sp>
        <p:nvSpPr>
          <p:cNvPr id="16" name="Text 12"/>
          <p:cNvSpPr txBox="1"/>
          <p:nvPr/>
        </p:nvSpPr>
        <p:spPr>
          <a:xfrm>
            <a:off x="822960" y="5806440"/>
            <a:ext cx="10543032" cy="502920"/>
          </a:xfrm>
          <a:prstGeom prst="rect">
            <a:avLst/>
          </a:prstGeom>
          <a:noFill/>
          <a:ln/>
        </p:spPr>
        <p:txBody>
          <a:bodyPr wrap="square" lIns="0" tIns="0" rIns="0" bIns="0" rtlCol="0" anchor="ctr"/>
          <a:lstStyle/>
          <a:p>
            <a:pPr indent="0" marL="0">
              <a:buNone/>
            </a:pPr>
            <a:r>
              <a:rPr lang="en-US" sz="1250" dirty="0">
                <a:solidFill>
                  <a:srgbClr val="10283D"/>
                </a:solidFill>
                <a:latin typeface="Arial" pitchFamily="34" charset="0"/>
                <a:ea typeface="Arial" pitchFamily="34" charset="-122"/>
                <a:cs typeface="Arial" pitchFamily="34" charset="-120"/>
              </a:rPr>
              <a:t>Specify where prompt demos come from: matched scene layout vs unmatched. Matching cup identity by appearance across scenes is a harder, separate claim — report it as its own row.</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0"/>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007F79"/>
                </a:solidFill>
                <a:latin typeface="Arial" pitchFamily="34" charset="0"/>
                <a:ea typeface="Arial" pitchFamily="34" charset="-122"/>
                <a:cs typeface="Arial" pitchFamily="34" charset="-120"/>
              </a:rPr>
              <a:t>STEP 7 (IF NEEDED)</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800" b="1" dirty="0">
                <a:solidFill>
                  <a:srgbClr val="10283D"/>
                </a:solidFill>
                <a:latin typeface="Georgia" pitchFamily="34" charset="0"/>
                <a:ea typeface="Georgia" pitchFamily="34" charset="-122"/>
                <a:cs typeface="Georgia" pitchFamily="34" charset="-120"/>
              </a:rPr>
              <a:t>Train BPP on our own iPhUMI data</a:t>
            </a:r>
            <a:endParaRPr lang="en-US" sz="2800" dirty="0"/>
          </a:p>
        </p:txBody>
      </p:sp>
      <p:sp>
        <p:nvSpPr>
          <p:cNvPr id="4" name="Shape 2"/>
          <p:cNvSpPr/>
          <p:nvPr/>
        </p:nvSpPr>
        <p:spPr>
          <a:xfrm>
            <a:off x="548640" y="1280160"/>
            <a:ext cx="1097280" cy="0"/>
          </a:xfrm>
          <a:prstGeom prst="line">
            <a:avLst/>
          </a:prstGeom>
          <a:noFill/>
          <a:ln w="31750">
            <a:solidFill>
              <a:srgbClr val="F3BD58"/>
            </a:solidFill>
            <a:prstDash val="solid"/>
          </a:ln>
        </p:spPr>
      </p:sp>
      <p:sp>
        <p:nvSpPr>
          <p:cNvPr id="5" name="Text 3"/>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900" dirty="0">
                <a:solidFill>
                  <a:srgbClr val="526575"/>
                </a:solidFill>
                <a:latin typeface="Arial" pitchFamily="34" charset="0"/>
                <a:ea typeface="Arial" pitchFamily="34" charset="-122"/>
                <a:cs typeface="Arial" pitchFamily="34" charset="-120"/>
              </a:rPr>
              <a:t>BPP + iPhUMI on the Unitree G1 · step by step</a:t>
            </a:r>
            <a:endParaRPr lang="en-US" sz="900" dirty="0"/>
          </a:p>
        </p:txBody>
      </p:sp>
      <p:sp>
        <p:nvSpPr>
          <p:cNvPr id="6" name="Text 4"/>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26575"/>
                </a:solidFill>
                <a:latin typeface="Arial" pitchFamily="34" charset="0"/>
                <a:ea typeface="Arial" pitchFamily="34" charset="-122"/>
                <a:cs typeface="Arial" pitchFamily="34" charset="-120"/>
              </a:rPr>
              <a:t>10 / 15</a:t>
            </a:r>
            <a:endParaRPr lang="en-US" sz="900" dirty="0"/>
          </a:p>
        </p:txBody>
      </p:sp>
      <p:sp>
        <p:nvSpPr>
          <p:cNvPr id="8" name="Shape 5"/>
          <p:cNvSpPr/>
          <p:nvPr/>
        </p:nvSpPr>
        <p:spPr>
          <a:xfrm>
            <a:off x="548640" y="1554480"/>
            <a:ext cx="548640" cy="548640"/>
          </a:xfrm>
          <a:prstGeom prst="ellipse">
            <a:avLst/>
          </a:prstGeom>
          <a:solidFill>
            <a:srgbClr val="007F79"/>
          </a:solidFill>
          <a:ln w="12700">
            <a:solidFill>
              <a:srgbClr val="007F79"/>
            </a:solidFill>
            <a:prstDash val="solid"/>
          </a:ln>
        </p:spPr>
      </p:sp>
      <p:sp>
        <p:nvSpPr>
          <p:cNvPr id="9" name="Text 6"/>
          <p:cNvSpPr txBox="1"/>
          <p:nvPr/>
        </p:nvSpPr>
        <p:spPr>
          <a:xfrm>
            <a:off x="548640" y="155448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7</a:t>
            </a:r>
            <a:endParaRPr lang="en-US" sz="2000" dirty="0"/>
          </a:p>
        </p:txBody>
      </p:sp>
      <p:sp>
        <p:nvSpPr>
          <p:cNvPr id="10" name="Text 7"/>
          <p:cNvSpPr txBox="1"/>
          <p:nvPr/>
        </p:nvSpPr>
        <p:spPr>
          <a:xfrm>
            <a:off x="1280160" y="1554480"/>
            <a:ext cx="10332720" cy="548640"/>
          </a:xfrm>
          <a:prstGeom prst="rect">
            <a:avLst/>
          </a:prstGeom>
          <a:noFill/>
          <a:ln/>
        </p:spPr>
        <p:txBody>
          <a:bodyPr wrap="square" lIns="0" tIns="0" rIns="0" bIns="0" rtlCol="0" anchor="ctr"/>
          <a:lstStyle/>
          <a:p>
            <a:pPr indent="0" marL="0">
              <a:buNone/>
            </a:pPr>
            <a:r>
              <a:rPr lang="en-US" sz="1700" dirty="0">
                <a:solidFill>
                  <a:srgbClr val="10283D"/>
                </a:solidFill>
                <a:latin typeface="Georgia" pitchFamily="34" charset="0"/>
                <a:ea typeface="Georgia" pitchFamily="34" charset="-122"/>
                <a:cs typeface="Georgia" pitchFamily="34" charset="-120"/>
              </a:rPr>
              <a:t>Only if the released checkpoint does not grasp our cup, or the camera/gripper cannot be matched.</a:t>
            </a:r>
            <a:endParaRPr lang="en-US" sz="1700" dirty="0"/>
          </a:p>
        </p:txBody>
      </p:sp>
      <p:sp>
        <p:nvSpPr>
          <p:cNvPr id="11" name="Shape 8"/>
          <p:cNvSpPr/>
          <p:nvPr/>
        </p:nvSpPr>
        <p:spPr>
          <a:xfrm>
            <a:off x="548640" y="2286000"/>
            <a:ext cx="6583680" cy="2148840"/>
          </a:xfrm>
          <a:prstGeom prst="rect">
            <a:avLst/>
          </a:prstGeom>
          <a:solidFill>
            <a:srgbClr val="10283D"/>
          </a:solidFill>
          <a:ln w="12700">
            <a:solidFill>
              <a:srgbClr val="10283D"/>
            </a:solidFill>
            <a:prstDash val="solid"/>
          </a:ln>
        </p:spPr>
      </p:sp>
      <p:sp>
        <p:nvSpPr>
          <p:cNvPr id="12" name="Text 9"/>
          <p:cNvSpPr txBox="1"/>
          <p:nvPr/>
        </p:nvSpPr>
        <p:spPr>
          <a:xfrm>
            <a:off x="731520" y="2423160"/>
            <a:ext cx="6217920" cy="1874520"/>
          </a:xfrm>
          <a:prstGeom prst="rect">
            <a:avLst/>
          </a:prstGeom>
          <a:noFill/>
          <a:ln/>
        </p:spPr>
        <p:txBody>
          <a:bodyPr wrap="square" lIns="0" tIns="0" rIns="0" bIns="0" rtlCol="0" anchor="t"/>
          <a:lstStyle/>
          <a:p>
            <a:pPr indent="0" marL="0">
              <a:buNone/>
            </a:pPr>
            <a:r>
              <a:rPr lang="en-US" sz="1150" dirty="0">
                <a:solidFill>
                  <a:srgbClr val="E8EEF2"/>
                </a:solidFill>
                <a:latin typeface="Courier New" pitchFamily="34" charset="0"/>
                <a:ea typeface="Courier New" pitchFamily="34" charset="-122"/>
                <a:cs typeface="Courier New" pitchFamily="34" charset="-120"/>
              </a:rPr>
              <a:t>for each training step:</a:t>
            </a:r>
            <a:endParaRPr lang="en-US" sz="1150" dirty="0"/>
          </a:p>
          <a:p>
            <a:pPr indent="0" marL="0">
              <a:buNone/>
            </a:pPr>
            <a:r>
              <a:rPr lang="en-US" sz="1150" dirty="0">
                <a:solidFill>
                  <a:srgbClr val="E8EEF2"/>
                </a:solidFill>
                <a:latin typeface="Courier New" pitchFamily="34" charset="0"/>
                <a:ea typeface="Courier New" pitchFamily="34" charset="-122"/>
                <a:cs typeface="Courier New" pitchFamily="34" charset="-120"/>
              </a:rPr>
              <a:t>  task     &lt;- sample a task group</a:t>
            </a:r>
            <a:endParaRPr lang="en-US" sz="1150" dirty="0"/>
          </a:p>
          <a:p>
            <a:pPr indent="0" marL="0">
              <a:buNone/>
            </a:pPr>
            <a:r>
              <a:rPr lang="en-US" sz="1150" dirty="0">
                <a:solidFill>
                  <a:srgbClr val="E8EEF2"/>
                </a:solidFill>
                <a:latin typeface="Courier New" pitchFamily="34" charset="0"/>
                <a:ea typeface="Courier New" pitchFamily="34" charset="-122"/>
                <a:cs typeface="Courier New" pitchFamily="34" charset="-120"/>
              </a:rPr>
              <a:t>  prompt   &lt;- one demo of task              # different scene layout</a:t>
            </a:r>
            <a:endParaRPr lang="en-US" sz="1150" dirty="0"/>
          </a:p>
          <a:p>
            <a:pPr indent="0" marL="0">
              <a:buNone/>
            </a:pPr>
            <a:r>
              <a:rPr lang="en-US" sz="1150" dirty="0">
                <a:solidFill>
                  <a:srgbClr val="E8EEF2"/>
                </a:solidFill>
                <a:latin typeface="Courier New" pitchFamily="34" charset="0"/>
                <a:ea typeface="Courier New" pitchFamily="34" charset="-122"/>
                <a:cs typeface="Courier New" pitchFamily="34" charset="-120"/>
              </a:rPr>
              <a:t>  batch    &lt;- (obs history, future actions) from OTHER demos of task</a:t>
            </a:r>
            <a:endParaRPr lang="en-US" sz="1150" dirty="0"/>
          </a:p>
          <a:p>
            <a:pPr indent="0" marL="0">
              <a:buNone/>
            </a:pPr>
            <a:r>
              <a:rPr lang="en-US" sz="1150" dirty="0">
                <a:solidFill>
                  <a:srgbClr val="E8EEF2"/>
                </a:solidFill>
                <a:latin typeface="Courier New" pitchFamily="34" charset="0"/>
                <a:ea typeface="Courier New" pitchFamily="34" charset="-122"/>
                <a:cs typeface="Courier New" pitchFamily="34" charset="-120"/>
              </a:rPr>
              <a:t>  loss     &lt;- diffusion loss on predicted action chunk | prompt, obs</a:t>
            </a:r>
            <a:endParaRPr lang="en-US" sz="1150" dirty="0"/>
          </a:p>
          <a:p>
            <a:pPr indent="0" marL="0">
              <a:buNone/>
            </a:pPr>
            <a:endParaRPr lang="en-US" sz="1150" dirty="0"/>
          </a:p>
          <a:p>
            <a:pPr indent="0" marL="0">
              <a:buNone/>
            </a:pPr>
            <a:r>
              <a:rPr lang="en-US" sz="1150" dirty="0">
                <a:solidFill>
                  <a:srgbClr val="E8EEF2"/>
                </a:solidFill>
                <a:latin typeface="Courier New" pitchFamily="34" charset="0"/>
                <a:ea typeface="Courier New" pitchFamily="34" charset="-122"/>
                <a:cs typeface="Courier New" pitchFamily="34" charset="-120"/>
              </a:rPr>
              <a:t>never: same episode as prompt and query; never: query's future labels in context</a:t>
            </a:r>
            <a:endParaRPr lang="en-US" sz="1150" dirty="0"/>
          </a:p>
        </p:txBody>
      </p:sp>
      <p:sp>
        <p:nvSpPr>
          <p:cNvPr id="13" name="Shape 10"/>
          <p:cNvSpPr/>
          <p:nvPr/>
        </p:nvSpPr>
        <p:spPr>
          <a:xfrm>
            <a:off x="7315200" y="2286000"/>
            <a:ext cx="4325112" cy="2148840"/>
          </a:xfrm>
          <a:prstGeom prst="rect">
            <a:avLst/>
          </a:prstGeom>
          <a:solidFill>
            <a:srgbClr val="FFFFFF"/>
          </a:solidFill>
          <a:ln w="9525">
            <a:solidFill>
              <a:srgbClr val="D7DEDB"/>
            </a:solidFill>
            <a:prstDash val="solid"/>
          </a:ln>
        </p:spPr>
      </p:sp>
      <p:sp>
        <p:nvSpPr>
          <p:cNvPr id="14" name="Shape 11"/>
          <p:cNvSpPr/>
          <p:nvPr/>
        </p:nvSpPr>
        <p:spPr>
          <a:xfrm>
            <a:off x="7315200" y="2286000"/>
            <a:ext cx="4325112" cy="54864"/>
          </a:xfrm>
          <a:prstGeom prst="rect">
            <a:avLst/>
          </a:prstGeom>
          <a:solidFill>
            <a:srgbClr val="007F79"/>
          </a:solidFill>
          <a:ln w="12700">
            <a:solidFill>
              <a:srgbClr val="007F79"/>
            </a:solidFill>
            <a:prstDash val="solid"/>
          </a:ln>
        </p:spPr>
      </p:sp>
      <p:sp>
        <p:nvSpPr>
          <p:cNvPr id="15" name="Text 12"/>
          <p:cNvSpPr txBox="1"/>
          <p:nvPr/>
        </p:nvSpPr>
        <p:spPr>
          <a:xfrm>
            <a:off x="7516368" y="2423160"/>
            <a:ext cx="3922776" cy="411480"/>
          </a:xfrm>
          <a:prstGeom prst="rect">
            <a:avLst/>
          </a:prstGeom>
          <a:noFill/>
          <a:ln/>
        </p:spPr>
        <p:txBody>
          <a:bodyPr wrap="square" lIns="0" tIns="0" rIns="0" bIns="0" rtlCol="0" anchor="ctr"/>
          <a:lstStyle/>
          <a:p>
            <a:pPr indent="0" marL="0">
              <a:buNone/>
            </a:pPr>
            <a:r>
              <a:rPr lang="en-US" sz="1500" b="1" dirty="0">
                <a:solidFill>
                  <a:srgbClr val="10283D"/>
                </a:solidFill>
                <a:latin typeface="Georgia" pitchFamily="34" charset="0"/>
                <a:ea typeface="Georgia" pitchFamily="34" charset="-122"/>
                <a:cs typeface="Georgia" pitchFamily="34" charset="-120"/>
              </a:rPr>
              <a:t>Data recipe (paper)</a:t>
            </a:r>
            <a:endParaRPr lang="en-US" sz="1500" dirty="0"/>
          </a:p>
        </p:txBody>
      </p:sp>
      <p:sp>
        <p:nvSpPr>
          <p:cNvPr id="16" name="Text 13"/>
          <p:cNvSpPr txBox="1"/>
          <p:nvPr/>
        </p:nvSpPr>
        <p:spPr>
          <a:xfrm>
            <a:off x="7516368" y="2880360"/>
            <a:ext cx="3922776" cy="1371600"/>
          </a:xfrm>
          <a:prstGeom prst="rect">
            <a:avLst/>
          </a:prstGeom>
          <a:noFill/>
          <a:ln/>
        </p:spPr>
        <p:txBody>
          <a:bodyPr wrap="square" lIns="0" tIns="0" rIns="0" bIns="0" rtlCol="0" anchor="t"/>
          <a:lstStyle/>
          <a:p>
            <a:pPr indent="0" marL="0">
              <a:spcAft>
                <a:spcPts val="600"/>
              </a:spcAft>
              <a:buNone/>
            </a:pPr>
            <a:r>
              <a:rPr lang="en-US" sz="1100" dirty="0">
                <a:solidFill>
                  <a:srgbClr val="1B2A36"/>
                </a:solidFill>
                <a:latin typeface="Arial" pitchFamily="34" charset="0"/>
                <a:ea typeface="Arial" pitchFamily="34" charset="-122"/>
                <a:cs typeface="Arial" pitchFamily="34" charset="-120"/>
              </a:rPr>
              <a:t>• Task diversity beats demos-per-task at a fixed budget</a:t>
            </a:r>
            <a:endParaRPr lang="en-US" sz="1100" dirty="0"/>
          </a:p>
          <a:p>
            <a:pPr indent="0" marL="0">
              <a:spcAft>
                <a:spcPts val="600"/>
              </a:spcAft>
              <a:buNone/>
            </a:pPr>
            <a:r>
              <a:rPr lang="en-US" sz="1100" dirty="0">
                <a:solidFill>
                  <a:srgbClr val="1B2A36"/>
                </a:solidFill>
                <a:latin typeface="Arial" pitchFamily="34" charset="0"/>
                <a:ea typeface="Arial" pitchFamily="34" charset="-122"/>
                <a:cs typeface="Arial" pitchFamily="34" charset="-120"/>
              </a:rPr>
              <a:t>• Real drawing: 200 human tasks × 5 demos (iPhUMI) + 800 scripted tasks × 6 demos</a:t>
            </a:r>
            <a:endParaRPr lang="en-US" sz="1100" dirty="0"/>
          </a:p>
          <a:p>
            <a:pPr indent="0" marL="0">
              <a:spcAft>
                <a:spcPts val="600"/>
              </a:spcAft>
              <a:buNone/>
            </a:pPr>
            <a:r>
              <a:rPr lang="en-US" sz="1100" dirty="0">
                <a:solidFill>
                  <a:srgbClr val="1B2A36"/>
                </a:solidFill>
                <a:latin typeface="Arial" pitchFamily="34" charset="0"/>
                <a:ea typeface="Arial" pitchFamily="34" charset="-122"/>
                <a:cs typeface="Arial" pitchFamily="34" charset="-120"/>
              </a:rPr>
              <a:t>• Laundry: ~150 demos/task + ~1,000 corrections — and BPP conditioned weakly there</a:t>
            </a:r>
            <a:endParaRPr lang="en-US" sz="1100" dirty="0"/>
          </a:p>
          <a:p>
            <a:pPr indent="0" marL="0">
              <a:spcAft>
                <a:spcPts val="600"/>
              </a:spcAft>
              <a:buNone/>
            </a:pPr>
            <a:r>
              <a:rPr lang="en-US" sz="1100" dirty="0">
                <a:solidFill>
                  <a:srgbClr val="1B2A36"/>
                </a:solidFill>
                <a:latin typeface="Arial" pitchFamily="34" charset="0"/>
                <a:ea typeface="Arial" pitchFamily="34" charset="-122"/>
                <a:cs typeface="Arial" pitchFamily="34" charset="-120"/>
              </a:rPr>
              <a:t>• Split by task and session, never by frame</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4617720"/>
          <a:ext cx="11091672" cy="914400"/>
        </p:xfrm>
        <a:graphic>
          <a:graphicData uri="http://schemas.openxmlformats.org/drawingml/2006/table">
            <a:tbl>
              <a:tblPr/>
              <a:tblGrid>
                <a:gridCol w="2926080"/>
                <a:gridCol w="8165592"/>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Setting (paper)</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Value</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r>
              <a:tr h="0">
                <a:tc>
                  <a:txBody>
                    <a:bodyPr/>
                    <a:lstStyle/>
                    <a:p>
                      <a:pPr indent="0" marL="0">
                        <a:buNone/>
                      </a:pPr>
                      <a:r>
                        <a:rPr lang="en-US" sz="1100" dirty="0">
                          <a:solidFill>
                            <a:srgbClr val="1B2A36"/>
                          </a:solidFill>
                          <a:latin typeface="Arial" pitchFamily="34" charset="0"/>
                          <a:ea typeface="Arial" pitchFamily="34" charset="-122"/>
                          <a:cs typeface="Arial" pitchFamily="34" charset="-120"/>
                        </a:rPr>
                        <a:t>Prompt encoder</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100" dirty="0">
                          <a:solidFill>
                            <a:srgbClr val="1B2A36"/>
                          </a:solidFill>
                          <a:latin typeface="Arial" pitchFamily="34" charset="0"/>
                          <a:ea typeface="Arial" pitchFamily="34" charset="-122"/>
                          <a:cs typeface="Arial" pitchFamily="34" charset="-120"/>
                        </a:rPr>
                        <a:t>6 layers · hidden 768 · MLP 3072 · 8 heads · 57M params</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r>
              <a:tr h="0">
                <a:tc>
                  <a:txBody>
                    <a:bodyPr/>
                    <a:lstStyle/>
                    <a:p>
                      <a:pPr indent="0" marL="0">
                        <a:buNone/>
                      </a:pPr>
                      <a:r>
                        <a:rPr lang="en-US" sz="1100" dirty="0">
                          <a:solidFill>
                            <a:srgbClr val="1B2A36"/>
                          </a:solidFill>
                          <a:latin typeface="Arial" pitchFamily="34" charset="0"/>
                          <a:ea typeface="Arial" pitchFamily="34" charset="-122"/>
                          <a:cs typeface="Arial" pitchFamily="34" charset="-120"/>
                        </a:rPr>
                        <a:t>Action decoder</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100" dirty="0">
                          <a:solidFill>
                            <a:srgbClr val="1B2A36"/>
                          </a:solidFill>
                          <a:latin typeface="Arial" pitchFamily="34" charset="0"/>
                          <a:ea typeface="Arial" pitchFamily="34" charset="-122"/>
                          <a:cs typeface="Arial" pitchFamily="34" charset="-120"/>
                        </a:rPr>
                        <a:t>CNN U-Net · step-emb 128 · down dims [256, 512, 1024] · kernel 5 · 151M params</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B2A36"/>
                          </a:solidFill>
                          <a:latin typeface="Arial" pitchFamily="34" charset="0"/>
                          <a:ea typeface="Arial" pitchFamily="34" charset="-122"/>
                          <a:cs typeface="Arial" pitchFamily="34" charset="-120"/>
                        </a:rPr>
                        <a:t>Compute per benchmark</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100" dirty="0">
                          <a:solidFill>
                            <a:srgbClr val="1B2A36"/>
                          </a:solidFill>
                          <a:latin typeface="Arial" pitchFamily="34" charset="0"/>
                          <a:ea typeface="Arial" pitchFamily="34" charset="-122"/>
                          <a:cs typeface="Arial" pitchFamily="34" charset="-120"/>
                        </a:rPr>
                        <a:t>24–42 h on 4× L40S / A6000 (DDP), including rollout evaluations</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r>
              <a:tr h="0">
                <a:tc>
                  <a:txBody>
                    <a:bodyPr/>
                    <a:lstStyle/>
                    <a:p>
                      <a:pPr indent="0" marL="0">
                        <a:buNone/>
                      </a:pPr>
                      <a:r>
                        <a:rPr lang="en-US" sz="1100" dirty="0">
                          <a:solidFill>
                            <a:srgbClr val="1B2A36"/>
                          </a:solidFill>
                          <a:latin typeface="Arial" pitchFamily="34" charset="0"/>
                          <a:ea typeface="Arial" pitchFamily="34" charset="-122"/>
                          <a:cs typeface="Arial" pitchFamily="34" charset="-120"/>
                        </a:rPr>
                        <a:t>Prompt downsampling</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100" dirty="0">
                          <a:solidFill>
                            <a:srgbClr val="1B2A36"/>
                          </a:solidFill>
                          <a:latin typeface="Arial" pitchFamily="34" charset="0"/>
                          <a:ea typeface="Arial" pitchFamily="34" charset="-122"/>
                          <a:cs typeface="Arial" pitchFamily="34" charset="-120"/>
                        </a:rPr>
                        <a:t>Obs/proprio ~1 Hz; actions full rate; attention pooling per chunk</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0"/>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007F79"/>
                </a:solidFill>
                <a:latin typeface="Arial" pitchFamily="34" charset="0"/>
                <a:ea typeface="Arial" pitchFamily="34" charset="-122"/>
                <a:cs typeface="Arial" pitchFamily="34" charset="-120"/>
              </a:rPr>
              <a:t>STEP 7 (IF NEEDED)</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800" b="1" dirty="0">
                <a:solidFill>
                  <a:srgbClr val="10283D"/>
                </a:solidFill>
                <a:latin typeface="Georgia" pitchFamily="34" charset="0"/>
                <a:ea typeface="Georgia" pitchFamily="34" charset="-122"/>
                <a:cs typeface="Georgia" pitchFamily="34" charset="-120"/>
              </a:rPr>
              <a:t>What we would collect for the cup task</a:t>
            </a:r>
            <a:endParaRPr lang="en-US" sz="2800" dirty="0"/>
          </a:p>
        </p:txBody>
      </p:sp>
      <p:sp>
        <p:nvSpPr>
          <p:cNvPr id="4" name="Shape 2"/>
          <p:cNvSpPr/>
          <p:nvPr/>
        </p:nvSpPr>
        <p:spPr>
          <a:xfrm>
            <a:off x="548640" y="1280160"/>
            <a:ext cx="1097280" cy="0"/>
          </a:xfrm>
          <a:prstGeom prst="line">
            <a:avLst/>
          </a:prstGeom>
          <a:noFill/>
          <a:ln w="31750">
            <a:solidFill>
              <a:srgbClr val="F3BD58"/>
            </a:solidFill>
            <a:prstDash val="solid"/>
          </a:ln>
        </p:spPr>
      </p:sp>
      <p:sp>
        <p:nvSpPr>
          <p:cNvPr id="5" name="Text 3"/>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900" dirty="0">
                <a:solidFill>
                  <a:srgbClr val="526575"/>
                </a:solidFill>
                <a:latin typeface="Arial" pitchFamily="34" charset="0"/>
                <a:ea typeface="Arial" pitchFamily="34" charset="-122"/>
                <a:cs typeface="Arial" pitchFamily="34" charset="-120"/>
              </a:rPr>
              <a:t>BPP + iPhUMI on the Unitree G1 · step by step</a:t>
            </a:r>
            <a:endParaRPr lang="en-US" sz="900" dirty="0"/>
          </a:p>
        </p:txBody>
      </p:sp>
      <p:sp>
        <p:nvSpPr>
          <p:cNvPr id="6" name="Text 4"/>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26575"/>
                </a:solidFill>
                <a:latin typeface="Arial" pitchFamily="34" charset="0"/>
                <a:ea typeface="Arial" pitchFamily="34" charset="-122"/>
                <a:cs typeface="Arial" pitchFamily="34" charset="-120"/>
              </a:rPr>
              <a:t>11 / 15</a:t>
            </a:r>
            <a:endParaRPr lang="en-US" sz="900" dirty="0"/>
          </a:p>
        </p:txBody>
      </p:sp>
      <p:sp>
        <p:nvSpPr>
          <p:cNvPr id="8" name="Shape 5"/>
          <p:cNvSpPr/>
          <p:nvPr/>
        </p:nvSpPr>
        <p:spPr>
          <a:xfrm>
            <a:off x="548640" y="1508760"/>
            <a:ext cx="3566160" cy="2651760"/>
          </a:xfrm>
          <a:prstGeom prst="rect">
            <a:avLst/>
          </a:prstGeom>
          <a:solidFill>
            <a:srgbClr val="FFFFFF"/>
          </a:solidFill>
          <a:ln w="9525">
            <a:solidFill>
              <a:srgbClr val="D7DEDB"/>
            </a:solidFill>
            <a:prstDash val="solid"/>
          </a:ln>
        </p:spPr>
      </p:sp>
      <p:sp>
        <p:nvSpPr>
          <p:cNvPr id="9" name="Shape 6"/>
          <p:cNvSpPr/>
          <p:nvPr/>
        </p:nvSpPr>
        <p:spPr>
          <a:xfrm>
            <a:off x="548640" y="1508760"/>
            <a:ext cx="3566160" cy="54864"/>
          </a:xfrm>
          <a:prstGeom prst="rect">
            <a:avLst/>
          </a:prstGeom>
          <a:solidFill>
            <a:srgbClr val="007F79"/>
          </a:solidFill>
          <a:ln w="12700">
            <a:solidFill>
              <a:srgbClr val="007F79"/>
            </a:solidFill>
            <a:prstDash val="solid"/>
          </a:ln>
        </p:spPr>
      </p:sp>
      <p:sp>
        <p:nvSpPr>
          <p:cNvPr id="10" name="Text 7"/>
          <p:cNvSpPr txBox="1"/>
          <p:nvPr/>
        </p:nvSpPr>
        <p:spPr>
          <a:xfrm>
            <a:off x="749808" y="1645920"/>
            <a:ext cx="3163824" cy="411480"/>
          </a:xfrm>
          <a:prstGeom prst="rect">
            <a:avLst/>
          </a:prstGeom>
          <a:noFill/>
          <a:ln/>
        </p:spPr>
        <p:txBody>
          <a:bodyPr wrap="square" lIns="0" tIns="0" rIns="0" bIns="0" rtlCol="0" anchor="ctr"/>
          <a:lstStyle/>
          <a:p>
            <a:pPr indent="0" marL="0">
              <a:buNone/>
            </a:pPr>
            <a:r>
              <a:rPr lang="en-US" sz="1500" b="1" dirty="0">
                <a:solidFill>
                  <a:srgbClr val="10283D"/>
                </a:solidFill>
                <a:latin typeface="Georgia" pitchFamily="34" charset="0"/>
                <a:ea typeface="Georgia" pitchFamily="34" charset="-122"/>
                <a:cs typeface="Georgia" pitchFamily="34" charset="-120"/>
              </a:rPr>
              <a:t>Phase 1 · pilot</a:t>
            </a:r>
            <a:endParaRPr lang="en-US" sz="1500" dirty="0"/>
          </a:p>
        </p:txBody>
      </p:sp>
      <p:sp>
        <p:nvSpPr>
          <p:cNvPr id="11" name="Text 8"/>
          <p:cNvSpPr txBox="1"/>
          <p:nvPr/>
        </p:nvSpPr>
        <p:spPr>
          <a:xfrm>
            <a:off x="749808" y="2103120"/>
            <a:ext cx="3163824" cy="1874520"/>
          </a:xfrm>
          <a:prstGeom prst="rect">
            <a:avLst/>
          </a:prstGeom>
          <a:noFill/>
          <a:ln/>
        </p:spPr>
        <p:txBody>
          <a:bodyPr wrap="square" lIns="0" tIns="0" rIns="0" bIns="0" rtlCol="0" anchor="t"/>
          <a:lstStyle/>
          <a:p>
            <a:pPr indent="0" marL="0">
              <a:spcAft>
                <a:spcPts val="600"/>
              </a:spcAft>
              <a:buNone/>
            </a:pPr>
            <a:r>
              <a:rPr lang="en-US" sz="1200" dirty="0">
                <a:solidFill>
                  <a:srgbClr val="1B2A36"/>
                </a:solidFill>
                <a:latin typeface="Arial" pitchFamily="34" charset="0"/>
                <a:ea typeface="Arial" pitchFamily="34" charset="-122"/>
                <a:cs typeface="Arial" pitchFamily="34" charset="-120"/>
              </a:rPr>
              <a:t>6 task variants × 20 demos + 2 dev variants × 10, all with iPhUMI. Purpose: converter, codec, splits and training loop. Not expected to show context use.</a:t>
            </a:r>
            <a:endParaRPr lang="en-US" sz="1200" dirty="0"/>
          </a:p>
        </p:txBody>
      </p:sp>
      <p:sp>
        <p:nvSpPr>
          <p:cNvPr id="12" name="Shape 9"/>
          <p:cNvSpPr/>
          <p:nvPr/>
        </p:nvSpPr>
        <p:spPr>
          <a:xfrm>
            <a:off x="4297680" y="1508760"/>
            <a:ext cx="3566160" cy="2651760"/>
          </a:xfrm>
          <a:prstGeom prst="rect">
            <a:avLst/>
          </a:prstGeom>
          <a:solidFill>
            <a:srgbClr val="FFFFFF"/>
          </a:solidFill>
          <a:ln w="9525">
            <a:solidFill>
              <a:srgbClr val="D7DEDB"/>
            </a:solidFill>
            <a:prstDash val="solid"/>
          </a:ln>
        </p:spPr>
      </p:sp>
      <p:sp>
        <p:nvSpPr>
          <p:cNvPr id="13" name="Shape 10"/>
          <p:cNvSpPr/>
          <p:nvPr/>
        </p:nvSpPr>
        <p:spPr>
          <a:xfrm>
            <a:off x="4297680" y="1508760"/>
            <a:ext cx="3566160" cy="54864"/>
          </a:xfrm>
          <a:prstGeom prst="rect">
            <a:avLst/>
          </a:prstGeom>
          <a:solidFill>
            <a:srgbClr val="007F79"/>
          </a:solidFill>
          <a:ln w="12700">
            <a:solidFill>
              <a:srgbClr val="007F79"/>
            </a:solidFill>
            <a:prstDash val="solid"/>
          </a:ln>
        </p:spPr>
      </p:sp>
      <p:sp>
        <p:nvSpPr>
          <p:cNvPr id="14" name="Text 11"/>
          <p:cNvSpPr txBox="1"/>
          <p:nvPr/>
        </p:nvSpPr>
        <p:spPr>
          <a:xfrm>
            <a:off x="4498848" y="1645920"/>
            <a:ext cx="3163824" cy="411480"/>
          </a:xfrm>
          <a:prstGeom prst="rect">
            <a:avLst/>
          </a:prstGeom>
          <a:noFill/>
          <a:ln/>
        </p:spPr>
        <p:txBody>
          <a:bodyPr wrap="square" lIns="0" tIns="0" rIns="0" bIns="0" rtlCol="0" anchor="ctr"/>
          <a:lstStyle/>
          <a:p>
            <a:pPr indent="0" marL="0">
              <a:buNone/>
            </a:pPr>
            <a:r>
              <a:rPr lang="en-US" sz="1500" b="1" dirty="0">
                <a:solidFill>
                  <a:srgbClr val="10283D"/>
                </a:solidFill>
                <a:latin typeface="Georgia" pitchFamily="34" charset="0"/>
                <a:ea typeface="Georgia" pitchFamily="34" charset="-122"/>
                <a:cs typeface="Georgia" pitchFamily="34" charset="-120"/>
              </a:rPr>
              <a:t>Phase 2 · diversity</a:t>
            </a:r>
            <a:endParaRPr lang="en-US" sz="1500" dirty="0"/>
          </a:p>
        </p:txBody>
      </p:sp>
      <p:sp>
        <p:nvSpPr>
          <p:cNvPr id="15" name="Text 12"/>
          <p:cNvSpPr txBox="1"/>
          <p:nvPr/>
        </p:nvSpPr>
        <p:spPr>
          <a:xfrm>
            <a:off x="4498848" y="2103120"/>
            <a:ext cx="3163824" cy="1874520"/>
          </a:xfrm>
          <a:prstGeom prst="rect">
            <a:avLst/>
          </a:prstGeom>
          <a:noFill/>
          <a:ln/>
        </p:spPr>
        <p:txBody>
          <a:bodyPr wrap="square" lIns="0" tIns="0" rIns="0" bIns="0" rtlCol="0" anchor="t"/>
          <a:lstStyle/>
          <a:p>
            <a:pPr indent="0" marL="0">
              <a:spcAft>
                <a:spcPts val="600"/>
              </a:spcAft>
              <a:buNone/>
            </a:pPr>
            <a:r>
              <a:rPr lang="en-US" sz="1200" dirty="0">
                <a:solidFill>
                  <a:srgbClr val="1B2A36"/>
                </a:solidFill>
                <a:latin typeface="Arial" pitchFamily="34" charset="0"/>
                <a:ea typeface="Arial" pitchFamily="34" charset="-122"/>
                <a:cs typeface="Arial" pitchFamily="34" charset="-120"/>
              </a:rPr>
              <a:t>Dozens of variants: cup × destination × approach × lighting × distractors, 5 demos each. Add scripted or simulated variants (Instant Policy / SynthICL style) to reach hundreds of task groups.</a:t>
            </a:r>
            <a:endParaRPr lang="en-US" sz="1200" dirty="0"/>
          </a:p>
        </p:txBody>
      </p:sp>
      <p:sp>
        <p:nvSpPr>
          <p:cNvPr id="16" name="Shape 13"/>
          <p:cNvSpPr/>
          <p:nvPr/>
        </p:nvSpPr>
        <p:spPr>
          <a:xfrm>
            <a:off x="8046720" y="1508760"/>
            <a:ext cx="3566160" cy="2651760"/>
          </a:xfrm>
          <a:prstGeom prst="rect">
            <a:avLst/>
          </a:prstGeom>
          <a:solidFill>
            <a:srgbClr val="FFFFFF"/>
          </a:solidFill>
          <a:ln w="9525">
            <a:solidFill>
              <a:srgbClr val="D7DEDB"/>
            </a:solidFill>
            <a:prstDash val="solid"/>
          </a:ln>
        </p:spPr>
      </p:sp>
      <p:sp>
        <p:nvSpPr>
          <p:cNvPr id="17" name="Shape 14"/>
          <p:cNvSpPr/>
          <p:nvPr/>
        </p:nvSpPr>
        <p:spPr>
          <a:xfrm>
            <a:off x="8046720" y="1508760"/>
            <a:ext cx="3566160" cy="54864"/>
          </a:xfrm>
          <a:prstGeom prst="rect">
            <a:avLst/>
          </a:prstGeom>
          <a:solidFill>
            <a:srgbClr val="007F79"/>
          </a:solidFill>
          <a:ln w="12700">
            <a:solidFill>
              <a:srgbClr val="007F79"/>
            </a:solidFill>
            <a:prstDash val="solid"/>
          </a:ln>
        </p:spPr>
      </p:sp>
      <p:sp>
        <p:nvSpPr>
          <p:cNvPr id="18" name="Text 15"/>
          <p:cNvSpPr txBox="1"/>
          <p:nvPr/>
        </p:nvSpPr>
        <p:spPr>
          <a:xfrm>
            <a:off x="8247888" y="1645920"/>
            <a:ext cx="3163824" cy="411480"/>
          </a:xfrm>
          <a:prstGeom prst="rect">
            <a:avLst/>
          </a:prstGeom>
          <a:noFill/>
          <a:ln/>
        </p:spPr>
        <p:txBody>
          <a:bodyPr wrap="square" lIns="0" tIns="0" rIns="0" bIns="0" rtlCol="0" anchor="ctr"/>
          <a:lstStyle/>
          <a:p>
            <a:pPr indent="0" marL="0">
              <a:buNone/>
            </a:pPr>
            <a:r>
              <a:rPr lang="en-US" sz="1500" b="1" dirty="0">
                <a:solidFill>
                  <a:srgbClr val="10283D"/>
                </a:solidFill>
                <a:latin typeface="Georgia" pitchFamily="34" charset="0"/>
                <a:ea typeface="Georgia" pitchFamily="34" charset="-122"/>
                <a:cs typeface="Georgia" pitchFamily="34" charset="-120"/>
              </a:rPr>
              <a:t>Held-out</a:t>
            </a:r>
            <a:endParaRPr lang="en-US" sz="1500" dirty="0"/>
          </a:p>
        </p:txBody>
      </p:sp>
      <p:sp>
        <p:nvSpPr>
          <p:cNvPr id="19" name="Text 16"/>
          <p:cNvSpPr txBox="1"/>
          <p:nvPr/>
        </p:nvSpPr>
        <p:spPr>
          <a:xfrm>
            <a:off x="8247888" y="2103120"/>
            <a:ext cx="3163824" cy="1874520"/>
          </a:xfrm>
          <a:prstGeom prst="rect">
            <a:avLst/>
          </a:prstGeom>
          <a:noFill/>
          <a:ln/>
        </p:spPr>
        <p:txBody>
          <a:bodyPr wrap="square" lIns="0" tIns="0" rIns="0" bIns="0" rtlCol="0" anchor="t"/>
          <a:lstStyle/>
          <a:p>
            <a:pPr indent="0" marL="0">
              <a:spcAft>
                <a:spcPts val="600"/>
              </a:spcAft>
              <a:buNone/>
            </a:pPr>
            <a:r>
              <a:rPr lang="en-US" sz="1200" dirty="0">
                <a:solidFill>
                  <a:srgbClr val="1B2A36"/>
                </a:solidFill>
                <a:latin typeface="Arial" pitchFamily="34" charset="0"/>
                <a:ea typeface="Arial" pitchFamily="34" charset="-122"/>
                <a:cs typeface="Arial" pitchFamily="34" charset="-120"/>
              </a:rPr>
              <a:t>Prompt demos for evaluation recorded after the pipeline is frozen; never used for weights or retrieval tuning. Two-cup conditions with both matched and unmatched prompt scenes.</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4343400"/>
          <a:ext cx="11091672" cy="914400"/>
        </p:xfrm>
        <a:graphic>
          <a:graphicData uri="http://schemas.openxmlformats.org/drawingml/2006/table">
            <a:tbl>
              <a:tblPr/>
              <a:tblGrid>
                <a:gridCol w="5486400"/>
                <a:gridCol w="5605272"/>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Task group example</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What the prompt should control</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r>
              <a:tr h="0">
                <a:tc>
                  <a:txBody>
                    <a:bodyPr/>
                    <a:lstStyle/>
                    <a:p>
                      <a:pPr indent="0" marL="0">
                        <a:buNone/>
                      </a:pPr>
                      <a:r>
                        <a:rPr lang="en-US" sz="1100" dirty="0">
                          <a:solidFill>
                            <a:srgbClr val="1B2A36"/>
                          </a:solidFill>
                          <a:latin typeface="Arial" pitchFamily="34" charset="0"/>
                          <a:ea typeface="Arial" pitchFamily="34" charset="-122"/>
                          <a:cs typeface="Arial" pitchFamily="34" charset="-120"/>
                        </a:rPr>
                        <a:t>cup_to_coaster / cup_to_tray / cup_to_shelf</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100" dirty="0">
                          <a:solidFill>
                            <a:srgbClr val="1B2A36"/>
                          </a:solidFill>
                          <a:latin typeface="Arial" pitchFamily="34" charset="0"/>
                          <a:ea typeface="Arial" pitchFamily="34" charset="-122"/>
                          <a:cs typeface="Arial" pitchFamily="34" charset="-120"/>
                        </a:rPr>
                        <a:t>Destination</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r>
              <a:tr h="0">
                <a:tc>
                  <a:txBody>
                    <a:bodyPr/>
                    <a:lstStyle/>
                    <a:p>
                      <a:pPr indent="0" marL="0">
                        <a:buNone/>
                      </a:pPr>
                      <a:r>
                        <a:rPr lang="en-US" sz="1100" dirty="0">
                          <a:solidFill>
                            <a:srgbClr val="1B2A36"/>
                          </a:solidFill>
                          <a:latin typeface="Arial" pitchFamily="34" charset="0"/>
                          <a:ea typeface="Arial" pitchFamily="34" charset="-122"/>
                          <a:cs typeface="Arial" pitchFamily="34" charset="-120"/>
                        </a:rPr>
                        <a:t>cup_left / cup_right (two identical cups)</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100" dirty="0">
                          <a:solidFill>
                            <a:srgbClr val="1B2A36"/>
                          </a:solidFill>
                          <a:latin typeface="Arial" pitchFamily="34" charset="0"/>
                          <a:ea typeface="Arial" pitchFamily="34" charset="-122"/>
                          <a:cs typeface="Arial" pitchFamily="34" charset="-120"/>
                        </a:rPr>
                        <a:t>Which object</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B2A36"/>
                          </a:solidFill>
                          <a:latin typeface="Arial" pitchFamily="34" charset="0"/>
                          <a:ea typeface="Arial" pitchFamily="34" charset="-122"/>
                          <a:cs typeface="Arial" pitchFamily="34" charset="-120"/>
                        </a:rPr>
                        <a:t>body_grasp / rim_grasp (later phase)</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100" dirty="0">
                          <a:solidFill>
                            <a:srgbClr val="1B2A36"/>
                          </a:solidFill>
                          <a:latin typeface="Arial" pitchFamily="34" charset="0"/>
                          <a:ea typeface="Arial" pitchFamily="34" charset="-122"/>
                          <a:cs typeface="Arial" pitchFamily="34" charset="-120"/>
                        </a:rPr>
                        <a:t>Grasp strategy — must be separate groups</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r>
              <a:tr h="0">
                <a:tc>
                  <a:txBody>
                    <a:bodyPr/>
                    <a:lstStyle/>
                    <a:p>
                      <a:pPr indent="0" marL="0">
                        <a:buNone/>
                      </a:pPr>
                      <a:r>
                        <a:rPr lang="en-US" sz="1100" dirty="0">
                          <a:solidFill>
                            <a:srgbClr val="1B2A36"/>
                          </a:solidFill>
                          <a:latin typeface="Arial" pitchFamily="34" charset="0"/>
                          <a:ea typeface="Arial" pitchFamily="34" charset="-122"/>
                          <a:cs typeface="Arial" pitchFamily="34" charset="-120"/>
                        </a:rPr>
                        <a:t>approach_front / approach_side</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100" dirty="0">
                          <a:solidFill>
                            <a:srgbClr val="1B2A36"/>
                          </a:solidFill>
                          <a:latin typeface="Arial" pitchFamily="34" charset="0"/>
                          <a:ea typeface="Arial" pitchFamily="34" charset="-122"/>
                          <a:cs typeface="Arial" pitchFamily="34" charset="-120"/>
                        </a:rPr>
                        <a:t>Motion plan</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r>
            </a:tbl>
          </a:graphicData>
        </a:graphic>
      </p:graphicFrame>
      <p:sp>
        <p:nvSpPr>
          <p:cNvPr id="21" name="Shape 17"/>
          <p:cNvSpPr/>
          <p:nvPr/>
        </p:nvSpPr>
        <p:spPr>
          <a:xfrm>
            <a:off x="548640" y="5852160"/>
            <a:ext cx="11091672" cy="457200"/>
          </a:xfrm>
          <a:prstGeom prst="rect">
            <a:avLst/>
          </a:prstGeom>
          <a:solidFill>
            <a:srgbClr val="FBF1DC"/>
          </a:solidFill>
          <a:ln w="12700">
            <a:solidFill>
              <a:srgbClr val="FBF1DC"/>
            </a:solidFill>
            <a:prstDash val="solid"/>
          </a:ln>
        </p:spPr>
      </p:sp>
      <p:sp>
        <p:nvSpPr>
          <p:cNvPr id="22" name="Shape 18"/>
          <p:cNvSpPr/>
          <p:nvPr/>
        </p:nvSpPr>
        <p:spPr>
          <a:xfrm>
            <a:off x="548640" y="5852160"/>
            <a:ext cx="82296" cy="457200"/>
          </a:xfrm>
          <a:prstGeom prst="rect">
            <a:avLst/>
          </a:prstGeom>
          <a:solidFill>
            <a:srgbClr val="F3BD58"/>
          </a:solidFill>
          <a:ln w="12700">
            <a:solidFill>
              <a:srgbClr val="F3BD58"/>
            </a:solidFill>
            <a:prstDash val="solid"/>
          </a:ln>
        </p:spPr>
      </p:sp>
      <p:sp>
        <p:nvSpPr>
          <p:cNvPr id="23" name="Text 19"/>
          <p:cNvSpPr txBox="1"/>
          <p:nvPr/>
        </p:nvSpPr>
        <p:spPr>
          <a:xfrm>
            <a:off x="822960" y="5852160"/>
            <a:ext cx="10543032" cy="457200"/>
          </a:xfrm>
          <a:prstGeom prst="rect">
            <a:avLst/>
          </a:prstGeom>
          <a:noFill/>
          <a:ln/>
        </p:spPr>
        <p:txBody>
          <a:bodyPr wrap="square" lIns="0" tIns="0" rIns="0" bIns="0" rtlCol="0" anchor="ctr"/>
          <a:lstStyle/>
          <a:p>
            <a:pPr indent="0" marL="0">
              <a:buNone/>
            </a:pPr>
            <a:r>
              <a:rPr lang="en-US" sz="1250" dirty="0">
                <a:solidFill>
                  <a:srgbClr val="10283D"/>
                </a:solidFill>
                <a:latin typeface="Arial" pitchFamily="34" charset="0"/>
                <a:ea typeface="Arial" pitchFamily="34" charset="-122"/>
                <a:cs typeface="Arial" pitchFamily="34" charset="-120"/>
              </a:rPr>
              <a:t>Rule from the paper: the granularity of task groups is the granularity at which a prompt can change behaviour.</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0"/>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007F79"/>
                </a:solidFill>
                <a:latin typeface="Arial" pitchFamily="34" charset="0"/>
                <a:ea typeface="Arial" pitchFamily="34" charset="-122"/>
                <a:cs typeface="Arial" pitchFamily="34" charset="-120"/>
              </a:rPr>
              <a:t>STEP 8</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800" b="1" dirty="0">
                <a:solidFill>
                  <a:srgbClr val="10283D"/>
                </a:solidFill>
                <a:latin typeface="Georgia" pitchFamily="34" charset="0"/>
                <a:ea typeface="Georgia" pitchFamily="34" charset="-122"/>
                <a:cs typeface="Georgia" pitchFamily="34" charset="-120"/>
              </a:rPr>
              <a:t>Evaluate the frozen policy, not the video</a:t>
            </a:r>
            <a:endParaRPr lang="en-US" sz="2800" dirty="0"/>
          </a:p>
        </p:txBody>
      </p:sp>
      <p:sp>
        <p:nvSpPr>
          <p:cNvPr id="4" name="Shape 2"/>
          <p:cNvSpPr/>
          <p:nvPr/>
        </p:nvSpPr>
        <p:spPr>
          <a:xfrm>
            <a:off x="548640" y="1280160"/>
            <a:ext cx="1097280" cy="0"/>
          </a:xfrm>
          <a:prstGeom prst="line">
            <a:avLst/>
          </a:prstGeom>
          <a:noFill/>
          <a:ln w="31750">
            <a:solidFill>
              <a:srgbClr val="F3BD58"/>
            </a:solidFill>
            <a:prstDash val="solid"/>
          </a:ln>
        </p:spPr>
      </p:sp>
      <p:sp>
        <p:nvSpPr>
          <p:cNvPr id="5" name="Text 3"/>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900" dirty="0">
                <a:solidFill>
                  <a:srgbClr val="526575"/>
                </a:solidFill>
                <a:latin typeface="Arial" pitchFamily="34" charset="0"/>
                <a:ea typeface="Arial" pitchFamily="34" charset="-122"/>
                <a:cs typeface="Arial" pitchFamily="34" charset="-120"/>
              </a:rPr>
              <a:t>BPP + iPhUMI on the Unitree G1 · step by step</a:t>
            </a:r>
            <a:endParaRPr lang="en-US" sz="900" dirty="0"/>
          </a:p>
        </p:txBody>
      </p:sp>
      <p:sp>
        <p:nvSpPr>
          <p:cNvPr id="6" name="Text 4"/>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26575"/>
                </a:solidFill>
                <a:latin typeface="Arial" pitchFamily="34" charset="0"/>
                <a:ea typeface="Arial" pitchFamily="34" charset="-122"/>
                <a:cs typeface="Arial" pitchFamily="34" charset="-120"/>
              </a:rPr>
              <a:t>12 / 15</a:t>
            </a:r>
            <a:endParaRPr lang="en-US" sz="900" dirty="0"/>
          </a:p>
        </p:txBody>
      </p:sp>
      <p:sp>
        <p:nvSpPr>
          <p:cNvPr id="8" name="Shape 5"/>
          <p:cNvSpPr/>
          <p:nvPr/>
        </p:nvSpPr>
        <p:spPr>
          <a:xfrm>
            <a:off x="548640" y="1554480"/>
            <a:ext cx="548640" cy="548640"/>
          </a:xfrm>
          <a:prstGeom prst="ellipse">
            <a:avLst/>
          </a:prstGeom>
          <a:solidFill>
            <a:srgbClr val="007F79"/>
          </a:solidFill>
          <a:ln w="12700">
            <a:solidFill>
              <a:srgbClr val="007F79"/>
            </a:solidFill>
            <a:prstDash val="solid"/>
          </a:ln>
        </p:spPr>
      </p:sp>
      <p:sp>
        <p:nvSpPr>
          <p:cNvPr id="9" name="Text 6"/>
          <p:cNvSpPr txBox="1"/>
          <p:nvPr/>
        </p:nvSpPr>
        <p:spPr>
          <a:xfrm>
            <a:off x="548640" y="155448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8</a:t>
            </a:r>
            <a:endParaRPr lang="en-US" sz="2000" dirty="0"/>
          </a:p>
        </p:txBody>
      </p:sp>
      <p:sp>
        <p:nvSpPr>
          <p:cNvPr id="10" name="Text 7"/>
          <p:cNvSpPr txBox="1"/>
          <p:nvPr/>
        </p:nvSpPr>
        <p:spPr>
          <a:xfrm>
            <a:off x="1280160" y="1554480"/>
            <a:ext cx="10332720" cy="548640"/>
          </a:xfrm>
          <a:prstGeom prst="rect">
            <a:avLst/>
          </a:prstGeom>
          <a:noFill/>
          <a:ln/>
        </p:spPr>
        <p:txBody>
          <a:bodyPr wrap="square" lIns="0" tIns="0" rIns="0" bIns="0" rtlCol="0" anchor="ctr"/>
          <a:lstStyle/>
          <a:p>
            <a:pPr indent="0" marL="0">
              <a:buNone/>
            </a:pPr>
            <a:r>
              <a:rPr lang="en-US" sz="1800" dirty="0">
                <a:solidFill>
                  <a:srgbClr val="10283D"/>
                </a:solidFill>
                <a:latin typeface="Georgia" pitchFamily="34" charset="0"/>
                <a:ea typeface="Georgia" pitchFamily="34" charset="-122"/>
                <a:cs typeface="Georgia" pitchFamily="34" charset="-120"/>
              </a:rPr>
              <a:t>Freeze the bundle, run the matrix, report paired differences.</a:t>
            </a:r>
            <a:endParaRPr lang="en-US" sz="1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2286000"/>
          <a:ext cx="11091672" cy="914400"/>
        </p:xfrm>
        <a:graphic>
          <a:graphicData uri="http://schemas.openxmlformats.org/drawingml/2006/table">
            <a:tbl>
              <a:tblPr/>
              <a:tblGrid>
                <a:gridCol w="3840480"/>
                <a:gridCol w="7251192"/>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Report</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Required context</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r>
              <a:tr h="0">
                <a:tc>
                  <a:txBody>
                    <a:bodyPr/>
                    <a:lstStyle/>
                    <a:p>
                      <a:pPr indent="0" marL="0">
                        <a:buNone/>
                      </a:pPr>
                      <a:r>
                        <a:rPr lang="en-US" sz="1100" dirty="0">
                          <a:solidFill>
                            <a:srgbClr val="1B2A36"/>
                          </a:solidFill>
                          <a:latin typeface="Arial" pitchFamily="34" charset="0"/>
                          <a:ea typeface="Arial" pitchFamily="34" charset="-122"/>
                          <a:cs typeface="Arial" pitchFamily="34" charset="-120"/>
                        </a:rPr>
                        <a:t>Completion and lift/hold (separately)</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100" dirty="0">
                          <a:solidFill>
                            <a:srgbClr val="1B2A36"/>
                          </a:solidFill>
                          <a:latin typeface="Arial" pitchFamily="34" charset="0"/>
                          <a:ea typeface="Arial" pitchFamily="34" charset="-122"/>
                          <a:cs typeface="Arial" pitchFamily="34" charset="-120"/>
                        </a:rPr>
                        <a:t>Denominator and 95% binomial interval; all initiated trials count</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r>
              <a:tr h="0">
                <a:tc>
                  <a:txBody>
                    <a:bodyPr/>
                    <a:lstStyle/>
                    <a:p>
                      <a:pPr indent="0" marL="0">
                        <a:buNone/>
                      </a:pPr>
                      <a:r>
                        <a:rPr lang="en-US" sz="1100" dirty="0">
                          <a:solidFill>
                            <a:srgbClr val="1B2A36"/>
                          </a:solidFill>
                          <a:latin typeface="Arial" pitchFamily="34" charset="0"/>
                          <a:ea typeface="Arial" pitchFamily="34" charset="-122"/>
                          <a:cs typeface="Arial" pitchFamily="34" charset="-120"/>
                        </a:rPr>
                        <a:t>Prompt ablations</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100" dirty="0">
                          <a:solidFill>
                            <a:srgbClr val="1B2A36"/>
                          </a:solidFill>
                          <a:latin typeface="Arial" pitchFamily="34" charset="0"/>
                          <a:ea typeface="Arial" pitchFamily="34" charset="-122"/>
                          <a:cs typeface="Arial" pitchFamily="34" charset="-120"/>
                        </a:rPr>
                        <a:t>Correct / none / wrong-task / shuffled / retrieved, interleaved order</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B2A36"/>
                          </a:solidFill>
                          <a:latin typeface="Arial" pitchFamily="34" charset="0"/>
                          <a:ea typeface="Arial" pitchFamily="34" charset="-122"/>
                          <a:cs typeface="Arial" pitchFamily="34" charset="-120"/>
                        </a:rPr>
                        <a:t>Prompt provenance</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100" dirty="0">
                          <a:solidFill>
                            <a:srgbClr val="1B2A36"/>
                          </a:solidFill>
                          <a:latin typeface="Arial" pitchFamily="34" charset="0"/>
                          <a:ea typeface="Arial" pitchFamily="34" charset="-122"/>
                          <a:cs typeface="Arial" pitchFamily="34" charset="-120"/>
                        </a:rPr>
                        <a:t>Prompt IDs, frame indices, similarity scores, context hash per trial</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r>
              <a:tr h="0">
                <a:tc>
                  <a:txBody>
                    <a:bodyPr/>
                    <a:lstStyle/>
                    <a:p>
                      <a:pPr indent="0" marL="0">
                        <a:buNone/>
                      </a:pPr>
                      <a:r>
                        <a:rPr lang="en-US" sz="1100" dirty="0">
                          <a:solidFill>
                            <a:srgbClr val="1B2A36"/>
                          </a:solidFill>
                          <a:latin typeface="Arial" pitchFamily="34" charset="0"/>
                          <a:ea typeface="Arial" pitchFamily="34" charset="-122"/>
                          <a:cs typeface="Arial" pitchFamily="34" charset="-120"/>
                        </a:rPr>
                        <a:t>Latency</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100" dirty="0">
                          <a:solidFill>
                            <a:srgbClr val="1B2A36"/>
                          </a:solidFill>
                          <a:latin typeface="Arial" pitchFamily="34" charset="0"/>
                          <a:ea typeface="Arial" pitchFamily="34" charset="-122"/>
                          <a:cs typeface="Arial" pitchFamily="34" charset="-120"/>
                        </a:rPr>
                        <a:t>Capture → accepted target distribution, deadline misses</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B2A36"/>
                          </a:solidFill>
                          <a:latin typeface="Arial" pitchFamily="34" charset="0"/>
                          <a:ea typeface="Arial" pitchFamily="34" charset="-122"/>
                          <a:cs typeface="Arial" pitchFamily="34" charset="-120"/>
                        </a:rPr>
                        <a:t>Learning cost</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100" dirty="0">
                          <a:solidFill>
                            <a:srgbClr val="1B2A36"/>
                          </a:solidFill>
                          <a:latin typeface="Arial" pitchFamily="34" charset="0"/>
                          <a:ea typeface="Arial" pitchFamily="34" charset="-122"/>
                          <a:cs typeface="Arial" pitchFamily="34" charset="-120"/>
                        </a:rPr>
                        <a:t>Demos, prompts, compute per method (BPP vs ICRT vs GR00T fine-tune)</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r>
              <a:tr h="0">
                <a:tc>
                  <a:txBody>
                    <a:bodyPr/>
                    <a:lstStyle/>
                    <a:p>
                      <a:pPr indent="0" marL="0">
                        <a:buNone/>
                      </a:pPr>
                      <a:r>
                        <a:rPr lang="en-US" sz="1100" dirty="0">
                          <a:solidFill>
                            <a:srgbClr val="1B2A36"/>
                          </a:solidFill>
                          <a:latin typeface="Arial" pitchFamily="34" charset="0"/>
                          <a:ea typeface="Arial" pitchFamily="34" charset="-122"/>
                          <a:cs typeface="Arial" pitchFamily="34" charset="-120"/>
                        </a:rPr>
                        <a:t>Paired difference</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100" dirty="0">
                          <a:solidFill>
                            <a:srgbClr val="1B2A36"/>
                          </a:solidFill>
                          <a:latin typeface="Arial" pitchFamily="34" charset="0"/>
                          <a:ea typeface="Arial" pitchFamily="34" charset="-122"/>
                          <a:cs typeface="Arial" pitchFamily="34" charset="-120"/>
                        </a:rPr>
                        <a:t>Matched conditions, paired bootstrap interval</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r>
            </a:tbl>
          </a:graphicData>
        </a:graphic>
      </p:graphicFrame>
      <p:sp>
        <p:nvSpPr>
          <p:cNvPr id="12" name="Shape 8"/>
          <p:cNvSpPr/>
          <p:nvPr/>
        </p:nvSpPr>
        <p:spPr>
          <a:xfrm>
            <a:off x="548640" y="5303520"/>
            <a:ext cx="11091672" cy="685800"/>
          </a:xfrm>
          <a:prstGeom prst="rect">
            <a:avLst/>
          </a:prstGeom>
          <a:solidFill>
            <a:srgbClr val="FBF1DC"/>
          </a:solidFill>
          <a:ln w="12700">
            <a:solidFill>
              <a:srgbClr val="FBF1DC"/>
            </a:solidFill>
            <a:prstDash val="solid"/>
          </a:ln>
        </p:spPr>
      </p:sp>
      <p:sp>
        <p:nvSpPr>
          <p:cNvPr id="13" name="Shape 9"/>
          <p:cNvSpPr/>
          <p:nvPr/>
        </p:nvSpPr>
        <p:spPr>
          <a:xfrm>
            <a:off x="548640" y="5303520"/>
            <a:ext cx="82296" cy="685800"/>
          </a:xfrm>
          <a:prstGeom prst="rect">
            <a:avLst/>
          </a:prstGeom>
          <a:solidFill>
            <a:srgbClr val="F3BD58"/>
          </a:solidFill>
          <a:ln w="12700">
            <a:solidFill>
              <a:srgbClr val="F3BD58"/>
            </a:solidFill>
            <a:prstDash val="solid"/>
          </a:ln>
        </p:spPr>
      </p:sp>
      <p:sp>
        <p:nvSpPr>
          <p:cNvPr id="14" name="Text 10"/>
          <p:cNvSpPr txBox="1"/>
          <p:nvPr/>
        </p:nvSpPr>
        <p:spPr>
          <a:xfrm>
            <a:off x="822960" y="5303520"/>
            <a:ext cx="10543032" cy="685800"/>
          </a:xfrm>
          <a:prstGeom prst="rect">
            <a:avLst/>
          </a:prstGeom>
          <a:noFill/>
          <a:ln/>
        </p:spPr>
        <p:txBody>
          <a:bodyPr wrap="square" lIns="0" tIns="0" rIns="0" bIns="0" rtlCol="0" anchor="ctr"/>
          <a:lstStyle/>
          <a:p>
            <a:pPr indent="0" marL="0">
              <a:buNone/>
            </a:pPr>
            <a:r>
              <a:rPr lang="en-US" sz="1250" dirty="0">
                <a:solidFill>
                  <a:srgbClr val="10283D"/>
                </a:solidFill>
                <a:latin typeface="Arial" pitchFamily="34" charset="0"/>
                <a:ea typeface="Arial" pitchFamily="34" charset="-122"/>
                <a:cs typeface="Arial" pitchFamily="34" charset="-120"/>
              </a:rPr>
              <a:t>Go / no-go for ICL: correct prompts must produce the requested behaviour and beat the controls on held-out conditions with a paired interval excluding zero. A successful robot video is not evidence.</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7F0"/>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007F79"/>
                </a:solidFill>
                <a:latin typeface="Arial" pitchFamily="34" charset="0"/>
                <a:ea typeface="Arial" pitchFamily="34" charset="-122"/>
                <a:cs typeface="Arial" pitchFamily="34" charset="-120"/>
              </a:rPr>
              <a:t>EVIDENCE</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800" b="1" dirty="0">
                <a:solidFill>
                  <a:srgbClr val="10283D"/>
                </a:solidFill>
                <a:latin typeface="Georgia" pitchFamily="34" charset="0"/>
                <a:ea typeface="Georgia" pitchFamily="34" charset="-122"/>
                <a:cs typeface="Georgia" pitchFamily="34" charset="-120"/>
              </a:rPr>
              <a:t>What the paper showed, and what it did not</a:t>
            </a:r>
            <a:endParaRPr lang="en-US" sz="2800" dirty="0"/>
          </a:p>
        </p:txBody>
      </p:sp>
      <p:sp>
        <p:nvSpPr>
          <p:cNvPr id="4" name="Shape 2"/>
          <p:cNvSpPr/>
          <p:nvPr/>
        </p:nvSpPr>
        <p:spPr>
          <a:xfrm>
            <a:off x="548640" y="1280160"/>
            <a:ext cx="1097280" cy="0"/>
          </a:xfrm>
          <a:prstGeom prst="line">
            <a:avLst/>
          </a:prstGeom>
          <a:noFill/>
          <a:ln w="31750">
            <a:solidFill>
              <a:srgbClr val="F3BD58"/>
            </a:solidFill>
            <a:prstDash val="solid"/>
          </a:ln>
        </p:spPr>
      </p:sp>
      <p:sp>
        <p:nvSpPr>
          <p:cNvPr id="5" name="Text 3"/>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900" dirty="0">
                <a:solidFill>
                  <a:srgbClr val="526575"/>
                </a:solidFill>
                <a:latin typeface="Arial" pitchFamily="34" charset="0"/>
                <a:ea typeface="Arial" pitchFamily="34" charset="-122"/>
                <a:cs typeface="Arial" pitchFamily="34" charset="-120"/>
              </a:rPr>
              <a:t>BPP + iPhUMI on the Unitree G1 · step by step</a:t>
            </a:r>
            <a:endParaRPr lang="en-US" sz="900" dirty="0"/>
          </a:p>
        </p:txBody>
      </p:sp>
      <p:sp>
        <p:nvSpPr>
          <p:cNvPr id="6" name="Text 4"/>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26575"/>
                </a:solidFill>
                <a:latin typeface="Arial" pitchFamily="34" charset="0"/>
                <a:ea typeface="Arial" pitchFamily="34" charset="-122"/>
                <a:cs typeface="Arial" pitchFamily="34" charset="-120"/>
              </a:rPr>
              <a:t>13 / 15</a:t>
            </a:r>
            <a:endParaRPr lang="en-US" sz="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3657600"/>
                <a:gridCol w="4023360"/>
                <a:gridCol w="3410712"/>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Benchmark</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Result</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Takeaway</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r>
              <a:tr h="0">
                <a:tc>
                  <a:txBody>
                    <a:bodyPr/>
                    <a:lstStyle/>
                    <a:p>
                      <a:pPr indent="0" marL="0">
                        <a:buNone/>
                      </a:pPr>
                      <a:r>
                        <a:rPr lang="en-US" sz="1100" dirty="0">
                          <a:solidFill>
                            <a:srgbClr val="1B2A36"/>
                          </a:solidFill>
                          <a:latin typeface="Arial" pitchFamily="34" charset="0"/>
                          <a:ea typeface="Arial" pitchFamily="34" charset="-122"/>
                          <a:cs typeface="Arial" pitchFamily="34" charset="-120"/>
                        </a:rPr>
                        <a:t>DrawAnything-Sim (2,000 train tasks, 50 unseen)</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100" dirty="0">
                          <a:solidFill>
                            <a:srgbClr val="1B2A36"/>
                          </a:solidFill>
                          <a:latin typeface="Arial" pitchFamily="34" charset="0"/>
                          <a:ea typeface="Arial" pitchFamily="34" charset="-122"/>
                          <a:cs typeface="Arial" pitchFamily="34" charset="-120"/>
                        </a:rPr>
                        <a:t>80.7% error reduction vs goal-image; 33.3% vs ICRT</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100" dirty="0">
                          <a:solidFill>
                            <a:srgbClr val="1B2A36"/>
                          </a:solidFill>
                          <a:latin typeface="Arial" pitchFamily="34" charset="0"/>
                          <a:ea typeface="Arial" pitchFamily="34" charset="-122"/>
                          <a:cs typeface="Arial" pitchFamily="34" charset="-120"/>
                        </a:rPr>
                        <a:t>Dense step-by-step guidance from the prompt</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r>
              <a:tr h="0">
                <a:tc>
                  <a:txBody>
                    <a:bodyPr/>
                    <a:lstStyle/>
                    <a:p>
                      <a:pPr indent="0" marL="0">
                        <a:buNone/>
                      </a:pPr>
                      <a:r>
                        <a:rPr lang="en-US" sz="1100" dirty="0">
                          <a:solidFill>
                            <a:srgbClr val="1B2A36"/>
                          </a:solidFill>
                          <a:latin typeface="Arial" pitchFamily="34" charset="0"/>
                          <a:ea typeface="Arial" pitchFamily="34" charset="-122"/>
                          <a:cs typeface="Arial" pitchFamily="34" charset="-120"/>
                        </a:rPr>
                        <a:t>DrawAnything-Real (ARX arm, iPhone wrist cam)</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100" dirty="0">
                          <a:solidFill>
                            <a:srgbClr val="1B2A36"/>
                          </a:solidFill>
                          <a:latin typeface="Arial" pitchFamily="34" charset="0"/>
                          <a:ea typeface="Arial" pitchFamily="34" charset="-122"/>
                          <a:cs typeface="Arial" pitchFamily="34" charset="-120"/>
                        </a:rPr>
                        <a:t>Reconstructs unseen drawings from one iPhUMI demo</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100" dirty="0">
                          <a:solidFill>
                            <a:srgbClr val="1B2A36"/>
                          </a:solidFill>
                          <a:latin typeface="Arial" pitchFamily="34" charset="0"/>
                          <a:ea typeface="Arial" pitchFamily="34" charset="-122"/>
                          <a:cs typeface="Arial" pitchFamily="34" charset="-120"/>
                        </a:rPr>
                        <a:t>iPhUMI prompts work at test time on hardware</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B2A36"/>
                          </a:solidFill>
                          <a:latin typeface="Arial" pitchFamily="34" charset="0"/>
                          <a:ea typeface="Arial" pitchFamily="34" charset="-122"/>
                          <a:cs typeface="Arial" pitchFamily="34" charset="-120"/>
                        </a:rPr>
                        <a:t>LIBERO-Gen Combination / Chain</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100" dirty="0">
                          <a:solidFill>
                            <a:srgbClr val="1B2A36"/>
                          </a:solidFill>
                          <a:latin typeface="Arial" pitchFamily="34" charset="0"/>
                          <a:ea typeface="Arial" pitchFamily="34" charset="-122"/>
                          <a:cs typeface="Arial" pitchFamily="34" charset="-120"/>
                        </a:rPr>
                        <a:t>Beats language and goal-image; rivals π0.5 with no pretraining</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100" dirty="0">
                          <a:solidFill>
                            <a:srgbClr val="1B2A36"/>
                          </a:solidFill>
                          <a:latin typeface="Arial" pitchFamily="34" charset="0"/>
                          <a:ea typeface="Arial" pitchFamily="34" charset="-122"/>
                          <a:cs typeface="Arial" pitchFamily="34" charset="-120"/>
                        </a:rPr>
                        <a:t>Unseen combinations and chains of known primitives</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r>
              <a:tr h="0">
                <a:tc>
                  <a:txBody>
                    <a:bodyPr/>
                    <a:lstStyle/>
                    <a:p>
                      <a:pPr indent="0" marL="0">
                        <a:buNone/>
                      </a:pPr>
                      <a:r>
                        <a:rPr lang="en-US" sz="1100" dirty="0">
                          <a:solidFill>
                            <a:srgbClr val="1B2A36"/>
                          </a:solidFill>
                          <a:latin typeface="Arial" pitchFamily="34" charset="0"/>
                          <a:ea typeface="Arial" pitchFamily="34" charset="-122"/>
                          <a:cs typeface="Arial" pitchFamily="34" charset="-120"/>
                        </a:rPr>
                        <a:t>Original LIBERO (4 suites)</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100" dirty="0">
                          <a:solidFill>
                            <a:srgbClr val="1B2A36"/>
                          </a:solidFill>
                          <a:latin typeface="Arial" pitchFamily="34" charset="0"/>
                          <a:ea typeface="Arial" pitchFamily="34" charset="-122"/>
                          <a:cs typeface="Arial" pitchFamily="34" charset="-120"/>
                        </a:rPr>
                        <a:t>97.5 avg vs 96.2 language DP vs 97.2 π0.5</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100" dirty="0">
                          <a:solidFill>
                            <a:srgbClr val="1B2A36"/>
                          </a:solidFill>
                          <a:latin typeface="Arial" pitchFamily="34" charset="0"/>
                          <a:ea typeface="Arial" pitchFamily="34" charset="-122"/>
                          <a:cs typeface="Arial" pitchFamily="34" charset="-120"/>
                        </a:rPr>
                        <a:t>No penalty on tasks language already describes</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B2A36"/>
                          </a:solidFill>
                          <a:latin typeface="Arial" pitchFamily="34" charset="0"/>
                          <a:ea typeface="Arial" pitchFamily="34" charset="-122"/>
                          <a:cs typeface="Arial" pitchFamily="34" charset="-120"/>
                        </a:rPr>
                        <a:t>Laundry folding (3 tasks, low diversity)</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100" dirty="0">
                          <a:solidFill>
                            <a:srgbClr val="1B2A36"/>
                          </a:solidFill>
                          <a:latin typeface="Arial" pitchFamily="34" charset="0"/>
                          <a:ea typeface="Arial" pitchFamily="34" charset="-122"/>
                          <a:cs typeface="Arial" pitchFamily="34" charset="-120"/>
                        </a:rPr>
                        <a:t>BPP 76 / 100 / 60% vs language 96 / 100 / 100%</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100" dirty="0">
                          <a:solidFill>
                            <a:srgbClr val="1B2A36"/>
                          </a:solidFill>
                          <a:latin typeface="Arial" pitchFamily="34" charset="0"/>
                          <a:ea typeface="Arial" pitchFamily="34" charset="-122"/>
                          <a:cs typeface="Arial" pitchFamily="34" charset="-120"/>
                        </a:rPr>
                        <a:t>Weak conditioning when diversity is low</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r>
            </a:tbl>
          </a:graphicData>
        </a:graphic>
      </p:graphicFrame>
      <p:sp>
        <p:nvSpPr>
          <p:cNvPr id="9" name="Shape 5"/>
          <p:cNvSpPr/>
          <p:nvPr/>
        </p:nvSpPr>
        <p:spPr>
          <a:xfrm>
            <a:off x="548640" y="4343400"/>
            <a:ext cx="5440680" cy="1600200"/>
          </a:xfrm>
          <a:prstGeom prst="rect">
            <a:avLst/>
          </a:prstGeom>
          <a:solidFill>
            <a:srgbClr val="FFFFFF"/>
          </a:solidFill>
          <a:ln w="9525">
            <a:solidFill>
              <a:srgbClr val="D7DEDB"/>
            </a:solidFill>
            <a:prstDash val="solid"/>
          </a:ln>
        </p:spPr>
      </p:sp>
      <p:sp>
        <p:nvSpPr>
          <p:cNvPr id="10" name="Shape 6"/>
          <p:cNvSpPr/>
          <p:nvPr/>
        </p:nvSpPr>
        <p:spPr>
          <a:xfrm>
            <a:off x="548640" y="4343400"/>
            <a:ext cx="5440680" cy="54864"/>
          </a:xfrm>
          <a:prstGeom prst="rect">
            <a:avLst/>
          </a:prstGeom>
          <a:solidFill>
            <a:srgbClr val="007F79"/>
          </a:solidFill>
          <a:ln w="12700">
            <a:solidFill>
              <a:srgbClr val="007F79"/>
            </a:solidFill>
            <a:prstDash val="solid"/>
          </a:ln>
        </p:spPr>
      </p:sp>
      <p:sp>
        <p:nvSpPr>
          <p:cNvPr id="11" name="Text 7"/>
          <p:cNvSpPr txBox="1"/>
          <p:nvPr/>
        </p:nvSpPr>
        <p:spPr>
          <a:xfrm>
            <a:off x="749808" y="4480560"/>
            <a:ext cx="5038344" cy="411480"/>
          </a:xfrm>
          <a:prstGeom prst="rect">
            <a:avLst/>
          </a:prstGeom>
          <a:noFill/>
          <a:ln/>
        </p:spPr>
        <p:txBody>
          <a:bodyPr wrap="square" lIns="0" tIns="0" rIns="0" bIns="0" rtlCol="0" anchor="ctr"/>
          <a:lstStyle/>
          <a:p>
            <a:pPr indent="0" marL="0">
              <a:buNone/>
            </a:pPr>
            <a:r>
              <a:rPr lang="en-US" sz="1500" b="1" dirty="0">
                <a:solidFill>
                  <a:srgbClr val="10283D"/>
                </a:solidFill>
                <a:latin typeface="Georgia" pitchFamily="34" charset="0"/>
                <a:ea typeface="Georgia" pitchFamily="34" charset="-122"/>
                <a:cs typeface="Georgia" pitchFamily="34" charset="-120"/>
              </a:rPr>
              <a:t>Not shown by the paper</a:t>
            </a:r>
            <a:endParaRPr lang="en-US" sz="1500" dirty="0"/>
          </a:p>
        </p:txBody>
      </p:sp>
      <p:sp>
        <p:nvSpPr>
          <p:cNvPr id="12" name="Text 8"/>
          <p:cNvSpPr txBox="1"/>
          <p:nvPr/>
        </p:nvSpPr>
        <p:spPr>
          <a:xfrm>
            <a:off x="749808" y="4937760"/>
            <a:ext cx="5038344" cy="822960"/>
          </a:xfrm>
          <a:prstGeom prst="rect">
            <a:avLst/>
          </a:prstGeom>
          <a:noFill/>
          <a:ln/>
        </p:spPr>
        <p:txBody>
          <a:bodyPr wrap="square" lIns="0" tIns="0" rIns="0" bIns="0" rtlCol="0" anchor="t"/>
          <a:lstStyle/>
          <a:p>
            <a:pPr indent="0" marL="0">
              <a:spcAft>
                <a:spcPts val="600"/>
              </a:spcAft>
              <a:buNone/>
            </a:pPr>
            <a:r>
              <a:rPr lang="en-US" sz="1150" dirty="0">
                <a:solidFill>
                  <a:srgbClr val="1B2A36"/>
                </a:solidFill>
                <a:latin typeface="Arial" pitchFamily="34" charset="0"/>
                <a:ea typeface="Arial" pitchFamily="34" charset="-122"/>
                <a:cs typeface="Arial" pitchFamily="34" charset="-120"/>
              </a:rPr>
              <a:t>• Any humanoid or Unitree G1 deployment</a:t>
            </a:r>
            <a:endParaRPr lang="en-US" sz="1150" dirty="0"/>
          </a:p>
          <a:p>
            <a:pPr indent="0" marL="0">
              <a:spcAft>
                <a:spcPts val="600"/>
              </a:spcAft>
              <a:buNone/>
            </a:pPr>
            <a:r>
              <a:rPr lang="en-US" sz="1150" dirty="0">
                <a:solidFill>
                  <a:srgbClr val="1B2A36"/>
                </a:solidFill>
                <a:latin typeface="Arial" pitchFamily="34" charset="0"/>
                <a:ea typeface="Arial" pitchFamily="34" charset="-122"/>
                <a:cs typeface="Arial" pitchFamily="34" charset="-120"/>
              </a:rPr>
              <a:t>• A new action primitive from a single prompt (authors say no evidence yet)</a:t>
            </a:r>
            <a:endParaRPr lang="en-US" sz="1150" dirty="0"/>
          </a:p>
          <a:p>
            <a:pPr indent="0" marL="0">
              <a:spcAft>
                <a:spcPts val="600"/>
              </a:spcAft>
              <a:buNone/>
            </a:pPr>
            <a:r>
              <a:rPr lang="en-US" sz="1150" dirty="0">
                <a:solidFill>
                  <a:srgbClr val="1B2A36"/>
                </a:solidFill>
                <a:latin typeface="Arial" pitchFamily="34" charset="0"/>
                <a:ea typeface="Arial" pitchFamily="34" charset="-122"/>
                <a:cs typeface="Arial" pitchFamily="34" charset="-120"/>
              </a:rPr>
              <a:t>• Prompts recorded in a substantially different environment from execution</a:t>
            </a:r>
            <a:endParaRPr lang="en-US" sz="1150" dirty="0"/>
          </a:p>
        </p:txBody>
      </p:sp>
      <p:sp>
        <p:nvSpPr>
          <p:cNvPr id="13" name="Shape 9"/>
          <p:cNvSpPr/>
          <p:nvPr/>
        </p:nvSpPr>
        <p:spPr>
          <a:xfrm>
            <a:off x="6172200" y="4343400"/>
            <a:ext cx="5440680" cy="1600200"/>
          </a:xfrm>
          <a:prstGeom prst="rect">
            <a:avLst/>
          </a:prstGeom>
          <a:solidFill>
            <a:srgbClr val="FFFFFF"/>
          </a:solidFill>
          <a:ln w="9525">
            <a:solidFill>
              <a:srgbClr val="D7DEDB"/>
            </a:solidFill>
            <a:prstDash val="solid"/>
          </a:ln>
        </p:spPr>
      </p:sp>
      <p:sp>
        <p:nvSpPr>
          <p:cNvPr id="14" name="Shape 10"/>
          <p:cNvSpPr/>
          <p:nvPr/>
        </p:nvSpPr>
        <p:spPr>
          <a:xfrm>
            <a:off x="6172200" y="4343400"/>
            <a:ext cx="5440680" cy="54864"/>
          </a:xfrm>
          <a:prstGeom prst="rect">
            <a:avLst/>
          </a:prstGeom>
          <a:solidFill>
            <a:srgbClr val="007F79"/>
          </a:solidFill>
          <a:ln w="12700">
            <a:solidFill>
              <a:srgbClr val="007F79"/>
            </a:solidFill>
            <a:prstDash val="solid"/>
          </a:ln>
        </p:spPr>
      </p:sp>
      <p:sp>
        <p:nvSpPr>
          <p:cNvPr id="15" name="Text 11"/>
          <p:cNvSpPr txBox="1"/>
          <p:nvPr/>
        </p:nvSpPr>
        <p:spPr>
          <a:xfrm>
            <a:off x="6373368" y="4480560"/>
            <a:ext cx="5038344" cy="411480"/>
          </a:xfrm>
          <a:prstGeom prst="rect">
            <a:avLst/>
          </a:prstGeom>
          <a:noFill/>
          <a:ln/>
        </p:spPr>
        <p:txBody>
          <a:bodyPr wrap="square" lIns="0" tIns="0" rIns="0" bIns="0" rtlCol="0" anchor="ctr"/>
          <a:lstStyle/>
          <a:p>
            <a:pPr indent="0" marL="0">
              <a:buNone/>
            </a:pPr>
            <a:r>
              <a:rPr lang="en-US" sz="1500" b="1" dirty="0">
                <a:solidFill>
                  <a:srgbClr val="10283D"/>
                </a:solidFill>
                <a:latin typeface="Georgia" pitchFamily="34" charset="0"/>
                <a:ea typeface="Georgia" pitchFamily="34" charset="-122"/>
                <a:cs typeface="Georgia" pitchFamily="34" charset="-120"/>
              </a:rPr>
              <a:t>Released artifacts (MIT)</a:t>
            </a:r>
            <a:endParaRPr lang="en-US" sz="1500" dirty="0"/>
          </a:p>
        </p:txBody>
      </p:sp>
      <p:sp>
        <p:nvSpPr>
          <p:cNvPr id="16" name="Text 12"/>
          <p:cNvSpPr txBox="1"/>
          <p:nvPr/>
        </p:nvSpPr>
        <p:spPr>
          <a:xfrm>
            <a:off x="6373368" y="4937760"/>
            <a:ext cx="5038344" cy="822960"/>
          </a:xfrm>
          <a:prstGeom prst="rect">
            <a:avLst/>
          </a:prstGeom>
          <a:noFill/>
          <a:ln/>
        </p:spPr>
        <p:txBody>
          <a:bodyPr wrap="square" lIns="0" tIns="0" rIns="0" bIns="0" rtlCol="0" anchor="t"/>
          <a:lstStyle/>
          <a:p>
            <a:pPr indent="0" marL="0">
              <a:spcAft>
                <a:spcPts val="600"/>
              </a:spcAft>
              <a:buNone/>
            </a:pPr>
            <a:r>
              <a:rPr lang="en-US" sz="1150" dirty="0">
                <a:solidFill>
                  <a:srgbClr val="1B2A36"/>
                </a:solidFill>
                <a:latin typeface="Arial" pitchFamily="34" charset="0"/>
                <a:ea typeface="Arial" pitchFamily="34" charset="-122"/>
                <a:cs typeface="Arial" pitchFamily="34" charset="-120"/>
              </a:rPr>
              <a:t>• Training and deployment code, datasets and checkpoints for the benchmarks above</a:t>
            </a:r>
            <a:endParaRPr lang="en-US" sz="1150" dirty="0"/>
          </a:p>
          <a:p>
            <a:pPr indent="0" marL="0">
              <a:spcAft>
                <a:spcPts val="600"/>
              </a:spcAft>
              <a:buNone/>
            </a:pPr>
            <a:r>
              <a:rPr lang="en-US" sz="1150" dirty="0">
                <a:solidFill>
                  <a:srgbClr val="1B2A36"/>
                </a:solidFill>
                <a:latin typeface="Arial" pitchFamily="34" charset="0"/>
                <a:ea typeface="Arial" pitchFamily="34" charset="-122"/>
                <a:cs typeface="Arial" pitchFamily="34" charset="-120"/>
              </a:rPr>
              <a:t>• iPhUMI hardware files and iOS app; real-env deployment submodule</a:t>
            </a:r>
            <a:endParaRPr lang="en-US" sz="1150" dirty="0"/>
          </a:p>
          <a:p>
            <a:pPr indent="0" marL="0">
              <a:spcAft>
                <a:spcPts val="600"/>
              </a:spcAft>
              <a:buNone/>
            </a:pPr>
            <a:r>
              <a:rPr lang="en-US" sz="1150" dirty="0">
                <a:solidFill>
                  <a:srgbClr val="1B2A36"/>
                </a:solidFill>
                <a:latin typeface="Arial" pitchFamily="34" charset="0"/>
                <a:ea typeface="Arial" pitchFamily="34" charset="-122"/>
                <a:cs typeface="Arial" pitchFamily="34" charset="-120"/>
              </a:rPr>
              <a:t>• Related: Gated Memory Policy's in-the-wild iPhUMI cup-placement checkpoint</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7F0"/>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007F79"/>
                </a:solidFill>
                <a:latin typeface="Arial" pitchFamily="34" charset="0"/>
                <a:ea typeface="Arial" pitchFamily="34" charset="-122"/>
                <a:cs typeface="Arial" pitchFamily="34" charset="-120"/>
              </a:rPr>
              <a:t>TRANSFER TO THE G1</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800" b="1" dirty="0">
                <a:solidFill>
                  <a:srgbClr val="10283D"/>
                </a:solidFill>
                <a:latin typeface="Georgia" pitchFamily="34" charset="0"/>
                <a:ea typeface="Georgia" pitchFamily="34" charset="-122"/>
                <a:cs typeface="Georgia" pitchFamily="34" charset="-120"/>
              </a:rPr>
              <a:t>Risks, mitigations and the week-by-week checklist</a:t>
            </a:r>
            <a:endParaRPr lang="en-US" sz="2800" dirty="0"/>
          </a:p>
        </p:txBody>
      </p:sp>
      <p:sp>
        <p:nvSpPr>
          <p:cNvPr id="4" name="Shape 2"/>
          <p:cNvSpPr/>
          <p:nvPr/>
        </p:nvSpPr>
        <p:spPr>
          <a:xfrm>
            <a:off x="548640" y="1280160"/>
            <a:ext cx="1097280" cy="0"/>
          </a:xfrm>
          <a:prstGeom prst="line">
            <a:avLst/>
          </a:prstGeom>
          <a:noFill/>
          <a:ln w="31750">
            <a:solidFill>
              <a:srgbClr val="F3BD58"/>
            </a:solidFill>
            <a:prstDash val="solid"/>
          </a:ln>
        </p:spPr>
      </p:sp>
      <p:sp>
        <p:nvSpPr>
          <p:cNvPr id="5" name="Text 3"/>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900" dirty="0">
                <a:solidFill>
                  <a:srgbClr val="526575"/>
                </a:solidFill>
                <a:latin typeface="Arial" pitchFamily="34" charset="0"/>
                <a:ea typeface="Arial" pitchFamily="34" charset="-122"/>
                <a:cs typeface="Arial" pitchFamily="34" charset="-120"/>
              </a:rPr>
              <a:t>BPP + iPhUMI on the Unitree G1 · step by step</a:t>
            </a:r>
            <a:endParaRPr lang="en-US" sz="900" dirty="0"/>
          </a:p>
        </p:txBody>
      </p:sp>
      <p:sp>
        <p:nvSpPr>
          <p:cNvPr id="6" name="Text 4"/>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26575"/>
                </a:solidFill>
                <a:latin typeface="Arial" pitchFamily="34" charset="0"/>
                <a:ea typeface="Arial" pitchFamily="34" charset="-122"/>
                <a:cs typeface="Arial" pitchFamily="34" charset="-120"/>
              </a:rPr>
              <a:t>14 / 15</a:t>
            </a:r>
            <a:endParaRPr lang="en-US" sz="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4754880"/>
                <a:gridCol w="6336792"/>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Risk</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Mitigation</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r>
              <a:tr h="0">
                <a:tc>
                  <a:txBody>
                    <a:bodyPr/>
                    <a:lstStyle/>
                    <a:p>
                      <a:pPr indent="0" marL="0">
                        <a:buNone/>
                      </a:pPr>
                      <a:r>
                        <a:rPr lang="en-US" sz="1100" dirty="0">
                          <a:solidFill>
                            <a:srgbClr val="1B2A36"/>
                          </a:solidFill>
                          <a:latin typeface="Arial" pitchFamily="34" charset="0"/>
                          <a:ea typeface="Arial" pitchFamily="34" charset="-122"/>
                          <a:cs typeface="Arial" pitchFamily="34" charset="-120"/>
                        </a:rPr>
                        <a:t>Wrist-camera offset or gripper geometry differ from iPhUMI</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100" dirty="0">
                          <a:solidFill>
                            <a:srgbClr val="1B2A36"/>
                          </a:solidFill>
                          <a:latin typeface="Arial" pitchFamily="34" charset="0"/>
                          <a:ea typeface="Arial" pitchFamily="34" charset="-122"/>
                          <a:cs typeface="Arial" pitchFamily="34" charset="-120"/>
                        </a:rPr>
                        <a:t>Print the iPhUMI mount for the G1 gripper; overlay test at matched TCP poses before motion</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r>
              <a:tr h="0">
                <a:tc>
                  <a:txBody>
                    <a:bodyPr/>
                    <a:lstStyle/>
                    <a:p>
                      <a:pPr indent="0" marL="0">
                        <a:buNone/>
                      </a:pPr>
                      <a:r>
                        <a:rPr lang="en-US" sz="1100" dirty="0">
                          <a:solidFill>
                            <a:srgbClr val="1B2A36"/>
                          </a:solidFill>
                          <a:latin typeface="Arial" pitchFamily="34" charset="0"/>
                          <a:ea typeface="Arial" pitchFamily="34" charset="-122"/>
                          <a:cs typeface="Arial" pitchFamily="34" charset="-120"/>
                        </a:rPr>
                        <a:t>Relative-EE action convention mismatched</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100" dirty="0">
                          <a:solidFill>
                            <a:srgbClr val="1B2A36"/>
                          </a:solidFill>
                          <a:latin typeface="Arial" pitchFamily="34" charset="0"/>
                          <a:ea typeface="Arial" pitchFamily="34" charset="-122"/>
                          <a:cs typeface="Arial" pitchFamily="34" charset="-120"/>
                        </a:rPr>
                        <a:t>Codec sign tests (identity, ±x, rotation signs, round trip) in the gateway before G4</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B2A36"/>
                          </a:solidFill>
                          <a:latin typeface="Arial" pitchFamily="34" charset="0"/>
                          <a:ea typeface="Arial" pitchFamily="34" charset="-122"/>
                          <a:cs typeface="Arial" pitchFamily="34" charset="-120"/>
                        </a:rPr>
                        <a:t>Released checkpoint has no cup body-grasp in its training mix</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100" dirty="0">
                          <a:solidFill>
                            <a:srgbClr val="1B2A36"/>
                          </a:solidFill>
                          <a:latin typeface="Arial" pitchFamily="34" charset="0"/>
                          <a:ea typeface="Arial" pitchFamily="34" charset="-122"/>
                          <a:cs typeface="Arial" pitchFamily="34" charset="-120"/>
                        </a:rPr>
                        <a:t>Try Gated Memory Policy's cup checkpoint as a transfer sanity check; otherwise go to step 7</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r>
              <a:tr h="0">
                <a:tc>
                  <a:txBody>
                    <a:bodyPr/>
                    <a:lstStyle/>
                    <a:p>
                      <a:pPr indent="0" marL="0">
                        <a:buNone/>
                      </a:pPr>
                      <a:r>
                        <a:rPr lang="en-US" sz="1100" dirty="0">
                          <a:solidFill>
                            <a:srgbClr val="1B2A36"/>
                          </a:solidFill>
                          <a:latin typeface="Arial" pitchFamily="34" charset="0"/>
                          <a:ea typeface="Arial" pitchFamily="34" charset="-122"/>
                          <a:cs typeface="Arial" pitchFamily="34" charset="-120"/>
                        </a:rPr>
                        <a:t>Low training diversity → weak prompt conditioning</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100" dirty="0">
                          <a:solidFill>
                            <a:srgbClr val="1B2A36"/>
                          </a:solidFill>
                          <a:latin typeface="Arial" pitchFamily="34" charset="0"/>
                          <a:ea typeface="Arial" pitchFamily="34" charset="-122"/>
                          <a:cs typeface="Arial" pitchFamily="34" charset="-120"/>
                        </a:rPr>
                        <a:t>Phase-2 diversity plan; scripted/sim variants; report the no-prompt control</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B2A36"/>
                          </a:solidFill>
                          <a:latin typeface="Arial" pitchFamily="34" charset="0"/>
                          <a:ea typeface="Arial" pitchFamily="34" charset="-122"/>
                          <a:cs typeface="Arial" pitchFamily="34" charset="-120"/>
                        </a:rPr>
                        <a:t>Prompt from a different scene than execution</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100" dirty="0">
                          <a:solidFill>
                            <a:srgbClr val="1B2A36"/>
                          </a:solidFill>
                          <a:latin typeface="Arial" pitchFamily="34" charset="0"/>
                          <a:ea typeface="Arial" pitchFamily="34" charset="-122"/>
                          <a:cs typeface="Arial" pitchFamily="34" charset="-120"/>
                        </a:rPr>
                        <a:t>Start with matched layouts; add unmatched as a separate evaluation row</a:t>
                      </a:r>
                      <a:endParaRPr lang="en-US" sz="110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r>
            </a:tbl>
          </a:graphicData>
        </a:graphic>
      </p:graphicFrame>
      <p:sp>
        <p:nvSpPr>
          <p:cNvPr id="9" name="Shape 5"/>
          <p:cNvSpPr/>
          <p:nvPr/>
        </p:nvSpPr>
        <p:spPr>
          <a:xfrm>
            <a:off x="548640" y="4572000"/>
            <a:ext cx="2108606" cy="1417320"/>
          </a:xfrm>
          <a:prstGeom prst="rect">
            <a:avLst/>
          </a:prstGeom>
          <a:solidFill>
            <a:srgbClr val="E3F1EF"/>
          </a:solidFill>
          <a:ln w="12700">
            <a:solidFill>
              <a:srgbClr val="E3F1EF"/>
            </a:solidFill>
            <a:prstDash val="solid"/>
          </a:ln>
        </p:spPr>
      </p:sp>
      <p:sp>
        <p:nvSpPr>
          <p:cNvPr id="10" name="Text 6"/>
          <p:cNvSpPr txBox="1"/>
          <p:nvPr/>
        </p:nvSpPr>
        <p:spPr>
          <a:xfrm>
            <a:off x="685800" y="4663440"/>
            <a:ext cx="1834286" cy="320040"/>
          </a:xfrm>
          <a:prstGeom prst="rect">
            <a:avLst/>
          </a:prstGeom>
          <a:noFill/>
          <a:ln/>
        </p:spPr>
        <p:txBody>
          <a:bodyPr wrap="square" lIns="0" tIns="0" rIns="0" bIns="0" rtlCol="0" anchor="ctr"/>
          <a:lstStyle/>
          <a:p>
            <a:pPr indent="0" marL="0">
              <a:buNone/>
            </a:pPr>
            <a:r>
              <a:rPr lang="en-US" sz="1300" b="1" dirty="0">
                <a:solidFill>
                  <a:srgbClr val="007F79"/>
                </a:solidFill>
                <a:latin typeface="Georgia" pitchFamily="34" charset="0"/>
                <a:ea typeface="Georgia" pitchFamily="34" charset="-122"/>
                <a:cs typeface="Georgia" pitchFamily="34" charset="-120"/>
              </a:rPr>
              <a:t>Week 1</a:t>
            </a:r>
            <a:endParaRPr lang="en-US" sz="1300" dirty="0"/>
          </a:p>
        </p:txBody>
      </p:sp>
      <p:sp>
        <p:nvSpPr>
          <p:cNvPr id="11" name="Text 7"/>
          <p:cNvSpPr txBox="1"/>
          <p:nvPr/>
        </p:nvSpPr>
        <p:spPr>
          <a:xfrm>
            <a:off x="685800" y="4983480"/>
            <a:ext cx="1834286" cy="960120"/>
          </a:xfrm>
          <a:prstGeom prst="rect">
            <a:avLst/>
          </a:prstGeom>
          <a:noFill/>
          <a:ln/>
        </p:spPr>
        <p:txBody>
          <a:bodyPr wrap="square" lIns="0" tIns="0" rIns="0" bIns="0" rtlCol="0" anchor="t"/>
          <a:lstStyle/>
          <a:p>
            <a:pPr indent="0" marL="0">
              <a:buNone/>
            </a:pPr>
            <a:r>
              <a:rPr lang="en-US" sz="1050" dirty="0">
                <a:solidFill>
                  <a:srgbClr val="1B2A36"/>
                </a:solidFill>
                <a:latin typeface="Arial" pitchFamily="34" charset="0"/>
                <a:ea typeface="Arial" pitchFamily="34" charset="-122"/>
                <a:cs typeface="Arial" pitchFamily="34" charset="-120"/>
              </a:rPr>
              <a:t>Mount, calibrate, codec tests, iPhUMI width calibration</a:t>
            </a:r>
            <a:endParaRPr lang="en-US" sz="1050" dirty="0"/>
          </a:p>
        </p:txBody>
      </p:sp>
      <p:sp>
        <p:nvSpPr>
          <p:cNvPr id="12" name="Shape 8"/>
          <p:cNvSpPr/>
          <p:nvPr/>
        </p:nvSpPr>
        <p:spPr>
          <a:xfrm>
            <a:off x="2794406" y="4572000"/>
            <a:ext cx="2108606" cy="1417320"/>
          </a:xfrm>
          <a:prstGeom prst="rect">
            <a:avLst/>
          </a:prstGeom>
          <a:solidFill>
            <a:srgbClr val="E3F1EF"/>
          </a:solidFill>
          <a:ln w="12700">
            <a:solidFill>
              <a:srgbClr val="E3F1EF"/>
            </a:solidFill>
            <a:prstDash val="solid"/>
          </a:ln>
        </p:spPr>
      </p:sp>
      <p:sp>
        <p:nvSpPr>
          <p:cNvPr id="13" name="Text 9"/>
          <p:cNvSpPr txBox="1"/>
          <p:nvPr/>
        </p:nvSpPr>
        <p:spPr>
          <a:xfrm>
            <a:off x="2931566" y="4663440"/>
            <a:ext cx="1834286" cy="320040"/>
          </a:xfrm>
          <a:prstGeom prst="rect">
            <a:avLst/>
          </a:prstGeom>
          <a:noFill/>
          <a:ln/>
        </p:spPr>
        <p:txBody>
          <a:bodyPr wrap="square" lIns="0" tIns="0" rIns="0" bIns="0" rtlCol="0" anchor="ctr"/>
          <a:lstStyle/>
          <a:p>
            <a:pPr indent="0" marL="0">
              <a:buNone/>
            </a:pPr>
            <a:r>
              <a:rPr lang="en-US" sz="1300" b="1" dirty="0">
                <a:solidFill>
                  <a:srgbClr val="007F79"/>
                </a:solidFill>
                <a:latin typeface="Georgia" pitchFamily="34" charset="0"/>
                <a:ea typeface="Georgia" pitchFamily="34" charset="-122"/>
                <a:cs typeface="Georgia" pitchFamily="34" charset="-120"/>
              </a:rPr>
              <a:t>Week 2</a:t>
            </a:r>
            <a:endParaRPr lang="en-US" sz="1300" dirty="0"/>
          </a:p>
        </p:txBody>
      </p:sp>
      <p:sp>
        <p:nvSpPr>
          <p:cNvPr id="14" name="Text 10"/>
          <p:cNvSpPr txBox="1"/>
          <p:nvPr/>
        </p:nvSpPr>
        <p:spPr>
          <a:xfrm>
            <a:off x="2931566" y="4983480"/>
            <a:ext cx="1834286" cy="960120"/>
          </a:xfrm>
          <a:prstGeom prst="rect">
            <a:avLst/>
          </a:prstGeom>
          <a:noFill/>
          <a:ln/>
        </p:spPr>
        <p:txBody>
          <a:bodyPr wrap="square" lIns="0" tIns="0" rIns="0" bIns="0" rtlCol="0" anchor="t"/>
          <a:lstStyle/>
          <a:p>
            <a:pPr indent="0" marL="0">
              <a:buNone/>
            </a:pPr>
            <a:r>
              <a:rPr lang="en-US" sz="1050" dirty="0">
                <a:solidFill>
                  <a:srgbClr val="1B2A36"/>
                </a:solidFill>
                <a:latin typeface="Arial" pitchFamily="34" charset="0"/>
                <a:ea typeface="Arial" pitchFamily="34" charset="-122"/>
                <a:cs typeface="Arial" pitchFamily="34" charset="-120"/>
              </a:rPr>
              <a:t>Released checkpoint on our cup; shadow mode then G4 baseline</a:t>
            </a:r>
            <a:endParaRPr lang="en-US" sz="1050" dirty="0"/>
          </a:p>
        </p:txBody>
      </p:sp>
      <p:sp>
        <p:nvSpPr>
          <p:cNvPr id="15" name="Shape 11"/>
          <p:cNvSpPr/>
          <p:nvPr/>
        </p:nvSpPr>
        <p:spPr>
          <a:xfrm>
            <a:off x="5040173" y="4572000"/>
            <a:ext cx="2108606" cy="1417320"/>
          </a:xfrm>
          <a:prstGeom prst="rect">
            <a:avLst/>
          </a:prstGeom>
          <a:solidFill>
            <a:srgbClr val="E3F1EF"/>
          </a:solidFill>
          <a:ln w="12700">
            <a:solidFill>
              <a:srgbClr val="E3F1EF"/>
            </a:solidFill>
            <a:prstDash val="solid"/>
          </a:ln>
        </p:spPr>
      </p:sp>
      <p:sp>
        <p:nvSpPr>
          <p:cNvPr id="16" name="Text 12"/>
          <p:cNvSpPr txBox="1"/>
          <p:nvPr/>
        </p:nvSpPr>
        <p:spPr>
          <a:xfrm>
            <a:off x="5177333" y="4663440"/>
            <a:ext cx="1834286" cy="320040"/>
          </a:xfrm>
          <a:prstGeom prst="rect">
            <a:avLst/>
          </a:prstGeom>
          <a:noFill/>
          <a:ln/>
        </p:spPr>
        <p:txBody>
          <a:bodyPr wrap="square" lIns="0" tIns="0" rIns="0" bIns="0" rtlCol="0" anchor="ctr"/>
          <a:lstStyle/>
          <a:p>
            <a:pPr indent="0" marL="0">
              <a:buNone/>
            </a:pPr>
            <a:r>
              <a:rPr lang="en-US" sz="1300" b="1" dirty="0">
                <a:solidFill>
                  <a:srgbClr val="007F79"/>
                </a:solidFill>
                <a:latin typeface="Georgia" pitchFamily="34" charset="0"/>
                <a:ea typeface="Georgia" pitchFamily="34" charset="-122"/>
                <a:cs typeface="Georgia" pitchFamily="34" charset="-120"/>
              </a:rPr>
              <a:t>Weeks 3–4</a:t>
            </a:r>
            <a:endParaRPr lang="en-US" sz="1300" dirty="0"/>
          </a:p>
        </p:txBody>
      </p:sp>
      <p:sp>
        <p:nvSpPr>
          <p:cNvPr id="17" name="Text 13"/>
          <p:cNvSpPr txBox="1"/>
          <p:nvPr/>
        </p:nvSpPr>
        <p:spPr>
          <a:xfrm>
            <a:off x="5177333" y="4983480"/>
            <a:ext cx="1834286" cy="960120"/>
          </a:xfrm>
          <a:prstGeom prst="rect">
            <a:avLst/>
          </a:prstGeom>
          <a:noFill/>
          <a:ln/>
        </p:spPr>
        <p:txBody>
          <a:bodyPr wrap="square" lIns="0" tIns="0" rIns="0" bIns="0" rtlCol="0" anchor="t"/>
          <a:lstStyle/>
          <a:p>
            <a:pPr indent="0" marL="0">
              <a:buNone/>
            </a:pPr>
            <a:r>
              <a:rPr lang="en-US" sz="1050" dirty="0">
                <a:solidFill>
                  <a:srgbClr val="1B2A36"/>
                </a:solidFill>
                <a:latin typeface="Arial" pitchFamily="34" charset="0"/>
                <a:ea typeface="Arial" pitchFamily="34" charset="-122"/>
                <a:cs typeface="Arial" pitchFamily="34" charset="-120"/>
              </a:rPr>
              <a:t>Pilot data (120 demos), converter, first training run</a:t>
            </a:r>
            <a:endParaRPr lang="en-US" sz="1050" dirty="0"/>
          </a:p>
        </p:txBody>
      </p:sp>
      <p:sp>
        <p:nvSpPr>
          <p:cNvPr id="18" name="Shape 14"/>
          <p:cNvSpPr/>
          <p:nvPr/>
        </p:nvSpPr>
        <p:spPr>
          <a:xfrm>
            <a:off x="7285939" y="4572000"/>
            <a:ext cx="2108606" cy="1417320"/>
          </a:xfrm>
          <a:prstGeom prst="rect">
            <a:avLst/>
          </a:prstGeom>
          <a:solidFill>
            <a:srgbClr val="E3F1EF"/>
          </a:solidFill>
          <a:ln w="12700">
            <a:solidFill>
              <a:srgbClr val="E3F1EF"/>
            </a:solidFill>
            <a:prstDash val="solid"/>
          </a:ln>
        </p:spPr>
      </p:sp>
      <p:sp>
        <p:nvSpPr>
          <p:cNvPr id="19" name="Text 15"/>
          <p:cNvSpPr txBox="1"/>
          <p:nvPr/>
        </p:nvSpPr>
        <p:spPr>
          <a:xfrm>
            <a:off x="7423099" y="4663440"/>
            <a:ext cx="1834286" cy="320040"/>
          </a:xfrm>
          <a:prstGeom prst="rect">
            <a:avLst/>
          </a:prstGeom>
          <a:noFill/>
          <a:ln/>
        </p:spPr>
        <p:txBody>
          <a:bodyPr wrap="square" lIns="0" tIns="0" rIns="0" bIns="0" rtlCol="0" anchor="ctr"/>
          <a:lstStyle/>
          <a:p>
            <a:pPr indent="0" marL="0">
              <a:buNone/>
            </a:pPr>
            <a:r>
              <a:rPr lang="en-US" sz="1300" b="1" dirty="0">
                <a:solidFill>
                  <a:srgbClr val="007F79"/>
                </a:solidFill>
                <a:latin typeface="Georgia" pitchFamily="34" charset="0"/>
                <a:ea typeface="Georgia" pitchFamily="34" charset="-122"/>
                <a:cs typeface="Georgia" pitchFamily="34" charset="-120"/>
              </a:rPr>
              <a:t>Weeks 5–7</a:t>
            </a:r>
            <a:endParaRPr lang="en-US" sz="1300" dirty="0"/>
          </a:p>
        </p:txBody>
      </p:sp>
      <p:sp>
        <p:nvSpPr>
          <p:cNvPr id="20" name="Text 16"/>
          <p:cNvSpPr txBox="1"/>
          <p:nvPr/>
        </p:nvSpPr>
        <p:spPr>
          <a:xfrm>
            <a:off x="7423099" y="4983480"/>
            <a:ext cx="1834286" cy="960120"/>
          </a:xfrm>
          <a:prstGeom prst="rect">
            <a:avLst/>
          </a:prstGeom>
          <a:noFill/>
          <a:ln/>
        </p:spPr>
        <p:txBody>
          <a:bodyPr wrap="square" lIns="0" tIns="0" rIns="0" bIns="0" rtlCol="0" anchor="t"/>
          <a:lstStyle/>
          <a:p>
            <a:pPr indent="0" marL="0">
              <a:buNone/>
            </a:pPr>
            <a:r>
              <a:rPr lang="en-US" sz="1050" dirty="0">
                <a:solidFill>
                  <a:srgbClr val="1B2A36"/>
                </a:solidFill>
                <a:latin typeface="Arial" pitchFamily="34" charset="0"/>
                <a:ea typeface="Arial" pitchFamily="34" charset="-122"/>
                <a:cs typeface="Arial" pitchFamily="34" charset="-120"/>
              </a:rPr>
              <a:t>Diversity data, frozen bundle, two-cup pilot</a:t>
            </a:r>
            <a:endParaRPr lang="en-US" sz="1050" dirty="0"/>
          </a:p>
        </p:txBody>
      </p:sp>
      <p:sp>
        <p:nvSpPr>
          <p:cNvPr id="21" name="Shape 17"/>
          <p:cNvSpPr/>
          <p:nvPr/>
        </p:nvSpPr>
        <p:spPr>
          <a:xfrm>
            <a:off x="9531706" y="4572000"/>
            <a:ext cx="2108606" cy="1417320"/>
          </a:xfrm>
          <a:prstGeom prst="rect">
            <a:avLst/>
          </a:prstGeom>
          <a:solidFill>
            <a:srgbClr val="E3F1EF"/>
          </a:solidFill>
          <a:ln w="12700">
            <a:solidFill>
              <a:srgbClr val="E3F1EF"/>
            </a:solidFill>
            <a:prstDash val="solid"/>
          </a:ln>
        </p:spPr>
      </p:sp>
      <p:sp>
        <p:nvSpPr>
          <p:cNvPr id="22" name="Text 18"/>
          <p:cNvSpPr txBox="1"/>
          <p:nvPr/>
        </p:nvSpPr>
        <p:spPr>
          <a:xfrm>
            <a:off x="9668866" y="4663440"/>
            <a:ext cx="1834286" cy="320040"/>
          </a:xfrm>
          <a:prstGeom prst="rect">
            <a:avLst/>
          </a:prstGeom>
          <a:noFill/>
          <a:ln/>
        </p:spPr>
        <p:txBody>
          <a:bodyPr wrap="square" lIns="0" tIns="0" rIns="0" bIns="0" rtlCol="0" anchor="ctr"/>
          <a:lstStyle/>
          <a:p>
            <a:pPr indent="0" marL="0">
              <a:buNone/>
            </a:pPr>
            <a:r>
              <a:rPr lang="en-US" sz="1300" b="1" dirty="0">
                <a:solidFill>
                  <a:srgbClr val="007F79"/>
                </a:solidFill>
                <a:latin typeface="Georgia" pitchFamily="34" charset="0"/>
                <a:ea typeface="Georgia" pitchFamily="34" charset="-122"/>
                <a:cs typeface="Georgia" pitchFamily="34" charset="-120"/>
              </a:rPr>
              <a:t>Weeks 8–10</a:t>
            </a:r>
            <a:endParaRPr lang="en-US" sz="1300" dirty="0"/>
          </a:p>
        </p:txBody>
      </p:sp>
      <p:sp>
        <p:nvSpPr>
          <p:cNvPr id="23" name="Text 19"/>
          <p:cNvSpPr txBox="1"/>
          <p:nvPr/>
        </p:nvSpPr>
        <p:spPr>
          <a:xfrm>
            <a:off x="9668866" y="4983480"/>
            <a:ext cx="1834286" cy="960120"/>
          </a:xfrm>
          <a:prstGeom prst="rect">
            <a:avLst/>
          </a:prstGeom>
          <a:noFill/>
          <a:ln/>
        </p:spPr>
        <p:txBody>
          <a:bodyPr wrap="square" lIns="0" tIns="0" rIns="0" bIns="0" rtlCol="0" anchor="t"/>
          <a:lstStyle/>
          <a:p>
            <a:pPr indent="0" marL="0">
              <a:buNone/>
            </a:pPr>
            <a:r>
              <a:rPr lang="en-US" sz="1050" dirty="0">
                <a:solidFill>
                  <a:srgbClr val="1B2A36"/>
                </a:solidFill>
                <a:latin typeface="Arial" pitchFamily="34" charset="0"/>
                <a:ea typeface="Arial" pitchFamily="34" charset="-122"/>
                <a:cs typeface="Arial" pitchFamily="34" charset="-120"/>
              </a:rPr>
              <a:t>Held-out evaluation, paired report, go / no-go</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7F0"/>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007F79"/>
                </a:solidFill>
                <a:latin typeface="Arial" pitchFamily="34" charset="0"/>
                <a:ea typeface="Arial" pitchFamily="34" charset="-122"/>
                <a:cs typeface="Arial" pitchFamily="34" charset="-120"/>
              </a:rPr>
              <a:t>REFERENCES</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800" b="1" dirty="0">
                <a:solidFill>
                  <a:srgbClr val="10283D"/>
                </a:solidFill>
                <a:latin typeface="Georgia" pitchFamily="34" charset="0"/>
                <a:ea typeface="Georgia" pitchFamily="34" charset="-122"/>
                <a:cs typeface="Georgia" pitchFamily="34" charset="-120"/>
              </a:rPr>
              <a:t>Sources and companion material</a:t>
            </a:r>
            <a:endParaRPr lang="en-US" sz="2800" dirty="0"/>
          </a:p>
        </p:txBody>
      </p:sp>
      <p:sp>
        <p:nvSpPr>
          <p:cNvPr id="4" name="Shape 2"/>
          <p:cNvSpPr/>
          <p:nvPr/>
        </p:nvSpPr>
        <p:spPr>
          <a:xfrm>
            <a:off x="548640" y="1280160"/>
            <a:ext cx="1097280" cy="0"/>
          </a:xfrm>
          <a:prstGeom prst="line">
            <a:avLst/>
          </a:prstGeom>
          <a:noFill/>
          <a:ln w="31750">
            <a:solidFill>
              <a:srgbClr val="F3BD58"/>
            </a:solidFill>
            <a:prstDash val="solid"/>
          </a:ln>
        </p:spPr>
      </p:sp>
      <p:sp>
        <p:nvSpPr>
          <p:cNvPr id="5" name="Text 3"/>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900" dirty="0">
                <a:solidFill>
                  <a:srgbClr val="526575"/>
                </a:solidFill>
                <a:latin typeface="Arial" pitchFamily="34" charset="0"/>
                <a:ea typeface="Arial" pitchFamily="34" charset="-122"/>
                <a:cs typeface="Arial" pitchFamily="34" charset="-120"/>
              </a:rPr>
              <a:t>BPP + iPhUMI on the Unitree G1 · step by step</a:t>
            </a:r>
            <a:endParaRPr lang="en-US" sz="900" dirty="0"/>
          </a:p>
        </p:txBody>
      </p:sp>
      <p:sp>
        <p:nvSpPr>
          <p:cNvPr id="6" name="Text 4"/>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26575"/>
                </a:solidFill>
                <a:latin typeface="Arial" pitchFamily="34" charset="0"/>
                <a:ea typeface="Arial" pitchFamily="34" charset="-122"/>
                <a:cs typeface="Arial" pitchFamily="34" charset="-120"/>
              </a:rPr>
              <a:t>15 / 15</a:t>
            </a:r>
            <a:endParaRPr lang="en-US" sz="900" dirty="0"/>
          </a:p>
        </p:txBody>
      </p:sp>
      <p:sp>
        <p:nvSpPr>
          <p:cNvPr id="8" name="Text 5"/>
          <p:cNvSpPr txBox="1"/>
          <p:nvPr/>
        </p:nvSpPr>
        <p:spPr>
          <a:xfrm>
            <a:off x="548640" y="1554480"/>
            <a:ext cx="3575304" cy="1188720"/>
          </a:xfrm>
          <a:prstGeom prst="rect">
            <a:avLst/>
          </a:prstGeom>
          <a:noFill/>
          <a:ln/>
        </p:spPr>
        <p:txBody>
          <a:bodyPr wrap="square" lIns="0" tIns="0" rIns="0" bIns="0" rtlCol="0" anchor="t"/>
          <a:lstStyle/>
          <a:p>
            <a:pPr indent="0" marL="0">
              <a:buNone/>
            </a:pPr>
            <a:r>
              <a:rPr lang="en-US" sz="1200" b="1" u="sng" dirty="0">
                <a:solidFill>
                  <a:srgbClr val="007F79"/>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Behavior Prompting Policy: Demonstrations as Prompts for Manipulation</a:t>
            </a:r>
            <a:pPr indent="0" marL="0">
              <a:buNone/>
            </a:pPr>
            <a:endParaRPr lang="en-US" sz="1200" dirty="0"/>
          </a:p>
          <a:p>
            <a:pPr indent="0" marL="0">
              <a:buNone/>
            </a:pPr>
            <a:r>
              <a:rPr lang="en-US" sz="1000" dirty="0">
                <a:solidFill>
                  <a:srgbClr val="526575"/>
                </a:solidFill>
                <a:latin typeface="Arial" pitchFamily="34" charset="0"/>
                <a:ea typeface="Arial" pitchFamily="34" charset="-122"/>
                <a:cs typeface="Arial" pitchFamily="34" charset="-120"/>
              </a:rPr>
              <a:t>Patel, Pekarek, Castro Hernandez, Song · arXiv:2606.30457 · 2026</a:t>
            </a:r>
            <a:endParaRPr lang="en-US" sz="1200" dirty="0"/>
          </a:p>
        </p:txBody>
      </p:sp>
      <p:sp>
        <p:nvSpPr>
          <p:cNvPr id="9" name="Text 6"/>
          <p:cNvSpPr txBox="1"/>
          <p:nvPr/>
        </p:nvSpPr>
        <p:spPr>
          <a:xfrm>
            <a:off x="4306824" y="1554480"/>
            <a:ext cx="3575304" cy="1188720"/>
          </a:xfrm>
          <a:prstGeom prst="rect">
            <a:avLst/>
          </a:prstGeom>
          <a:noFill/>
          <a:ln/>
        </p:spPr>
        <p:txBody>
          <a:bodyPr wrap="square" lIns="0" tIns="0" rIns="0" bIns="0" rtlCol="0" anchor="t"/>
          <a:lstStyle/>
          <a:p>
            <a:pPr indent="0" marL="0">
              <a:buNone/>
            </a:pPr>
            <a:r>
              <a:rPr lang="en-US" sz="1200" b="1" u="sng" dirty="0">
                <a:solidFill>
                  <a:srgbClr val="007F79"/>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real-stanford/behavior_prompting</a:t>
            </a:r>
            <a:pPr indent="0" marL="0">
              <a:buNone/>
            </a:pPr>
            <a:endParaRPr lang="en-US" sz="1200" dirty="0"/>
          </a:p>
          <a:p>
            <a:pPr indent="0" marL="0">
              <a:buNone/>
            </a:pPr>
            <a:r>
              <a:rPr lang="en-US" sz="1000" dirty="0">
                <a:solidFill>
                  <a:srgbClr val="526575"/>
                </a:solidFill>
                <a:latin typeface="Arial" pitchFamily="34" charset="0"/>
                <a:ea typeface="Arial" pitchFamily="34" charset="-122"/>
                <a:cs typeface="Arial" pitchFamily="34" charset="-120"/>
              </a:rPr>
              <a:t>Code, datasets, checkpoints, deployment (MIT)</a:t>
            </a:r>
            <a:endParaRPr lang="en-US" sz="1200" dirty="0"/>
          </a:p>
        </p:txBody>
      </p:sp>
      <p:sp>
        <p:nvSpPr>
          <p:cNvPr id="10" name="Text 7"/>
          <p:cNvSpPr txBox="1"/>
          <p:nvPr/>
        </p:nvSpPr>
        <p:spPr>
          <a:xfrm>
            <a:off x="8065008" y="1554480"/>
            <a:ext cx="3575304" cy="1188720"/>
          </a:xfrm>
          <a:prstGeom prst="rect">
            <a:avLst/>
          </a:prstGeom>
          <a:noFill/>
          <a:ln/>
        </p:spPr>
        <p:txBody>
          <a:bodyPr wrap="square" lIns="0" tIns="0" rIns="0" bIns="0" rtlCol="0" anchor="t"/>
          <a:lstStyle/>
          <a:p>
            <a:pPr indent="0" marL="0">
              <a:buNone/>
            </a:pPr>
            <a:r>
              <a:rPr lang="en-US" sz="1200" b="1" u="sng" dirty="0">
                <a:solidFill>
                  <a:srgbClr val="007F79"/>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real-stanford/iPhUMI</a:t>
            </a:r>
            <a:pPr indent="0" marL="0">
              <a:buNone/>
            </a:pPr>
            <a:endParaRPr lang="en-US" sz="1200" dirty="0"/>
          </a:p>
          <a:p>
            <a:pPr indent="0" marL="0">
              <a:buNone/>
            </a:pPr>
            <a:r>
              <a:rPr lang="en-US" sz="1000" dirty="0">
                <a:solidFill>
                  <a:srgbClr val="526575"/>
                </a:solidFill>
                <a:latin typeface="Arial" pitchFamily="34" charset="0"/>
                <a:ea typeface="Arial" pitchFamily="34" charset="-122"/>
                <a:cs typeface="Arial" pitchFamily="34" charset="-120"/>
              </a:rPr>
              <a:t>Handheld interface, iOS app, hardware files</a:t>
            </a:r>
            <a:endParaRPr lang="en-US" sz="1200" dirty="0"/>
          </a:p>
        </p:txBody>
      </p:sp>
      <p:sp>
        <p:nvSpPr>
          <p:cNvPr id="11" name="Text 8"/>
          <p:cNvSpPr txBox="1"/>
          <p:nvPr/>
        </p:nvSpPr>
        <p:spPr>
          <a:xfrm>
            <a:off x="548640" y="2880360"/>
            <a:ext cx="3575304" cy="1188720"/>
          </a:xfrm>
          <a:prstGeom prst="rect">
            <a:avLst/>
          </a:prstGeom>
          <a:noFill/>
          <a:ln/>
        </p:spPr>
        <p:txBody>
          <a:bodyPr wrap="square" lIns="0" tIns="0" rIns="0" bIns="0" rtlCol="0" anchor="t"/>
          <a:lstStyle/>
          <a:p>
            <a:pPr indent="0" marL="0">
              <a:buNone/>
            </a:pPr>
            <a:r>
              <a:rPr lang="en-US" sz="1200" b="1" u="sng" dirty="0">
                <a:solidFill>
                  <a:srgbClr val="007F79"/>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Project page</a:t>
            </a:r>
            <a:pPr indent="0" marL="0">
              <a:buNone/>
            </a:pPr>
            <a:endParaRPr lang="en-US" sz="1200" dirty="0"/>
          </a:p>
          <a:p>
            <a:pPr indent="0" marL="0">
              <a:buNone/>
            </a:pPr>
            <a:r>
              <a:rPr lang="en-US" sz="1000" dirty="0">
                <a:solidFill>
                  <a:srgbClr val="526575"/>
                </a:solidFill>
                <a:latin typeface="Arial" pitchFamily="34" charset="0"/>
                <a:ea typeface="Arial" pitchFamily="34" charset="-122"/>
                <a:cs typeface="Arial" pitchFamily="34" charset="-120"/>
              </a:rPr>
              <a:t>behavior-prompting.github.io</a:t>
            </a:r>
            <a:endParaRPr lang="en-US" sz="1200" dirty="0"/>
          </a:p>
        </p:txBody>
      </p:sp>
      <p:sp>
        <p:nvSpPr>
          <p:cNvPr id="12" name="Text 9"/>
          <p:cNvSpPr txBox="1"/>
          <p:nvPr/>
        </p:nvSpPr>
        <p:spPr>
          <a:xfrm>
            <a:off x="4306824" y="2880360"/>
            <a:ext cx="3575304" cy="1188720"/>
          </a:xfrm>
          <a:prstGeom prst="rect">
            <a:avLst/>
          </a:prstGeom>
          <a:noFill/>
          <a:ln/>
        </p:spPr>
        <p:txBody>
          <a:bodyPr wrap="square" lIns="0" tIns="0" rIns="0" bIns="0" rtlCol="0" anchor="t"/>
          <a:lstStyle/>
          <a:p>
            <a:pPr indent="0" marL="0">
              <a:buNone/>
            </a:pPr>
            <a:r>
              <a:rPr lang="en-US" sz="1200" b="1" u="sng" dirty="0">
                <a:solidFill>
                  <a:srgbClr val="007F79"/>
                </a:solidFill>
                <a:latin typeface="Arial" pitchFamily="34" charset="0"/>
                <a:ea typeface="Arial" pitchFamily="34" charset="-122"/>
                <a:cs typeface="Arial" pitchFamily="34" charset="-120"/>
                <a:hlinkClick r:id="rId5" invalidUrl="" action="" tgtFrame="" tooltip="" history="1" highlightClick="0" endSnd="0">
                  <a:extLst>
                    <a:ext uri="{A12FA001-AC4F-418D-AE19-62706E023703}">
                      <ahyp:hlinkClr xmlns:ahyp="http://schemas.microsoft.com/office/drawing/2018/hyperlinkcolor" val="tx"/>
                    </a:ext>
                  </a:extLst>
                </a:hlinkClick>
              </a:rPr>
              <a:t>Universal Manipulation Interface (UMI)</a:t>
            </a:r>
            <a:pPr indent="0" marL="0">
              <a:buNone/>
            </a:pPr>
            <a:endParaRPr lang="en-US" sz="1200" dirty="0"/>
          </a:p>
          <a:p>
            <a:pPr indent="0" marL="0">
              <a:buNone/>
            </a:pPr>
            <a:r>
              <a:rPr lang="en-US" sz="1000" dirty="0">
                <a:solidFill>
                  <a:srgbClr val="526575"/>
                </a:solidFill>
                <a:latin typeface="Arial" pitchFamily="34" charset="0"/>
                <a:ea typeface="Arial" pitchFamily="34" charset="-122"/>
                <a:cs typeface="Arial" pitchFamily="34" charset="-120"/>
              </a:rPr>
              <a:t>Chi et al. · RSS 2024 · the gripper and action convention BPP inherits</a:t>
            </a:r>
            <a:endParaRPr lang="en-US" sz="1200" dirty="0"/>
          </a:p>
        </p:txBody>
      </p:sp>
      <p:sp>
        <p:nvSpPr>
          <p:cNvPr id="13" name="Text 10"/>
          <p:cNvSpPr txBox="1"/>
          <p:nvPr/>
        </p:nvSpPr>
        <p:spPr>
          <a:xfrm>
            <a:off x="8065008" y="2880360"/>
            <a:ext cx="3575304" cy="1188720"/>
          </a:xfrm>
          <a:prstGeom prst="rect">
            <a:avLst/>
          </a:prstGeom>
          <a:noFill/>
          <a:ln/>
        </p:spPr>
        <p:txBody>
          <a:bodyPr wrap="square" lIns="0" tIns="0" rIns="0" bIns="0" rtlCol="0" anchor="t"/>
          <a:lstStyle/>
          <a:p>
            <a:pPr indent="0" marL="0">
              <a:buNone/>
            </a:pPr>
            <a:r>
              <a:rPr lang="en-US" sz="1200" b="1" u="sng" dirty="0">
                <a:solidFill>
                  <a:srgbClr val="007F79"/>
                </a:solidFill>
                <a:latin typeface="Arial" pitchFamily="34" charset="0"/>
                <a:ea typeface="Arial" pitchFamily="34" charset="-122"/>
                <a:cs typeface="Arial" pitchFamily="34" charset="-120"/>
                <a:hlinkClick r:id="rId6" invalidUrl="" action="" tgtFrame="" tooltip="" history="1" highlightClick="0" endSnd="0">
                  <a:extLst>
                    <a:ext uri="{A12FA001-AC4F-418D-AE19-62706E023703}">
                      <ahyp:hlinkClr xmlns:ahyp="http://schemas.microsoft.com/office/drawing/2018/hyperlinkcolor" val="tx"/>
                    </a:ext>
                  </a:extLst>
                </a:hlinkClick>
              </a:rPr>
              <a:t>Diffusion Policy</a:t>
            </a:r>
            <a:pPr indent="0" marL="0">
              <a:buNone/>
            </a:pPr>
            <a:endParaRPr lang="en-US" sz="1200" dirty="0"/>
          </a:p>
          <a:p>
            <a:pPr indent="0" marL="0">
              <a:buNone/>
            </a:pPr>
            <a:r>
              <a:rPr lang="en-US" sz="1000" dirty="0">
                <a:solidFill>
                  <a:srgbClr val="526575"/>
                </a:solidFill>
                <a:latin typeface="Arial" pitchFamily="34" charset="0"/>
                <a:ea typeface="Arial" pitchFamily="34" charset="-122"/>
                <a:cs typeface="Arial" pitchFamily="34" charset="-120"/>
              </a:rPr>
              <a:t>Chi et al. · RSS 2023 · the action decoder</a:t>
            </a:r>
            <a:endParaRPr lang="en-US" sz="1200" dirty="0"/>
          </a:p>
        </p:txBody>
      </p:sp>
      <p:sp>
        <p:nvSpPr>
          <p:cNvPr id="14" name="Text 11"/>
          <p:cNvSpPr txBox="1"/>
          <p:nvPr/>
        </p:nvSpPr>
        <p:spPr>
          <a:xfrm>
            <a:off x="548640" y="4206240"/>
            <a:ext cx="3575304" cy="1188720"/>
          </a:xfrm>
          <a:prstGeom prst="rect">
            <a:avLst/>
          </a:prstGeom>
          <a:noFill/>
          <a:ln/>
        </p:spPr>
        <p:txBody>
          <a:bodyPr wrap="square" lIns="0" tIns="0" rIns="0" bIns="0" rtlCol="0" anchor="t"/>
          <a:lstStyle/>
          <a:p>
            <a:pPr indent="0" marL="0">
              <a:buNone/>
            </a:pPr>
            <a:r>
              <a:rPr lang="en-US" sz="1200" b="1" u="sng" dirty="0">
                <a:solidFill>
                  <a:srgbClr val="007F79"/>
                </a:solidFill>
                <a:latin typeface="Arial" pitchFamily="34" charset="0"/>
                <a:ea typeface="Arial" pitchFamily="34" charset="-122"/>
                <a:cs typeface="Arial" pitchFamily="34" charset="-120"/>
                <a:hlinkClick r:id="rId7" invalidUrl="" action="" tgtFrame="" tooltip="" history="1" highlightClick="0" endSnd="0">
                  <a:extLst>
                    <a:ext uri="{A12FA001-AC4F-418D-AE19-62706E023703}">
                      <ahyp:hlinkClr xmlns:ahyp="http://schemas.microsoft.com/office/drawing/2018/hyperlinkcolor" val="tx"/>
                    </a:ext>
                  </a:extLst>
                </a:hlinkClick>
              </a:rPr>
              <a:t>ICRT: In-Context Imitation Learning via Next-Token Prediction</a:t>
            </a:r>
            <a:pPr indent="0" marL="0">
              <a:buNone/>
            </a:pPr>
            <a:endParaRPr lang="en-US" sz="1200" dirty="0"/>
          </a:p>
          <a:p>
            <a:pPr indent="0" marL="0">
              <a:buNone/>
            </a:pPr>
            <a:r>
              <a:rPr lang="en-US" sz="1000" dirty="0">
                <a:solidFill>
                  <a:srgbClr val="526575"/>
                </a:solidFill>
                <a:latin typeface="Arial" pitchFamily="34" charset="0"/>
                <a:ea typeface="Arial" pitchFamily="34" charset="-122"/>
                <a:cs typeface="Arial" pitchFamily="34" charset="-120"/>
              </a:rPr>
              <a:t>Fu et al. · ICRA 2025 · the fallback route</a:t>
            </a:r>
            <a:endParaRPr lang="en-US" sz="1200" dirty="0"/>
          </a:p>
        </p:txBody>
      </p:sp>
      <p:sp>
        <p:nvSpPr>
          <p:cNvPr id="15" name="Text 12"/>
          <p:cNvSpPr txBox="1"/>
          <p:nvPr/>
        </p:nvSpPr>
        <p:spPr>
          <a:xfrm>
            <a:off x="4306824" y="4206240"/>
            <a:ext cx="3575304" cy="1188720"/>
          </a:xfrm>
          <a:prstGeom prst="rect">
            <a:avLst/>
          </a:prstGeom>
          <a:noFill/>
          <a:ln/>
        </p:spPr>
        <p:txBody>
          <a:bodyPr wrap="square" lIns="0" tIns="0" rIns="0" bIns="0" rtlCol="0" anchor="t"/>
          <a:lstStyle/>
          <a:p>
            <a:pPr indent="0" marL="0">
              <a:buNone/>
            </a:pPr>
            <a:r>
              <a:rPr lang="en-US" sz="1200" b="1" u="sng" dirty="0">
                <a:solidFill>
                  <a:srgbClr val="007F79"/>
                </a:solidFill>
                <a:latin typeface="Arial" pitchFamily="34" charset="0"/>
                <a:ea typeface="Arial" pitchFamily="34" charset="-122"/>
                <a:cs typeface="Arial" pitchFamily="34" charset="-120"/>
                <a:hlinkClick r:id="rId8" invalidUrl="" action="" tgtFrame="" tooltip="" history="1" highlightClick="0" endSnd="0">
                  <a:extLst>
                    <a:ext uri="{A12FA001-AC4F-418D-AE19-62706E023703}">
                      <ahyp:hlinkClr xmlns:ahyp="http://schemas.microsoft.com/office/drawing/2018/hyperlinkcolor" val="tx"/>
                    </a:ext>
                  </a:extLst>
                </a:hlinkClick>
              </a:rPr>
              <a:t>Gated Memory Policy</a:t>
            </a:r>
            <a:pPr indent="0" marL="0">
              <a:buNone/>
            </a:pPr>
            <a:endParaRPr lang="en-US" sz="1200" dirty="0"/>
          </a:p>
          <a:p>
            <a:pPr indent="0" marL="0">
              <a:buNone/>
            </a:pPr>
            <a:r>
              <a:rPr lang="en-US" sz="1000" dirty="0">
                <a:solidFill>
                  <a:srgbClr val="526575"/>
                </a:solidFill>
                <a:latin typeface="Arial" pitchFamily="34" charset="0"/>
                <a:ea typeface="Arial" pitchFamily="34" charset="-122"/>
                <a:cs typeface="Arial" pitchFamily="34" charset="-120"/>
              </a:rPr>
              <a:t>Gao et al. · 2026 · in-the-wild iPhUMI cup-placement checkpoint</a:t>
            </a:r>
            <a:endParaRPr lang="en-US" sz="1200" dirty="0"/>
          </a:p>
        </p:txBody>
      </p:sp>
      <p:sp>
        <p:nvSpPr>
          <p:cNvPr id="16" name="Text 13"/>
          <p:cNvSpPr txBox="1"/>
          <p:nvPr/>
        </p:nvSpPr>
        <p:spPr>
          <a:xfrm>
            <a:off x="8065008" y="4206240"/>
            <a:ext cx="3575304" cy="1188720"/>
          </a:xfrm>
          <a:prstGeom prst="rect">
            <a:avLst/>
          </a:prstGeom>
          <a:noFill/>
          <a:ln/>
        </p:spPr>
        <p:txBody>
          <a:bodyPr wrap="square" lIns="0" tIns="0" rIns="0" bIns="0" rtlCol="0" anchor="t"/>
          <a:lstStyle/>
          <a:p>
            <a:pPr indent="0" marL="0">
              <a:buNone/>
            </a:pPr>
            <a:r>
              <a:rPr lang="en-US" sz="1200" b="1" dirty="0">
                <a:solidFill>
                  <a:srgbClr val="007F79"/>
                </a:solidFill>
                <a:latin typeface="Arial" pitchFamily="34" charset="0"/>
                <a:ea typeface="Arial" pitchFamily="34" charset="-122"/>
                <a:cs typeface="Arial" pitchFamily="34" charset="-120"/>
              </a:rPr>
              <a:t>Team deck &amp; engineering guide</a:t>
            </a:r>
            <a:pPr indent="0" marL="0">
              <a:buNone/>
            </a:pPr>
            <a:endParaRPr lang="en-US" sz="1200" dirty="0"/>
          </a:p>
          <a:p>
            <a:pPr indent="0" marL="0">
              <a:buNone/>
            </a:pPr>
            <a:r>
              <a:rPr lang="en-US" sz="1000" dirty="0">
                <a:solidFill>
                  <a:srgbClr val="526575"/>
                </a:solidFill>
                <a:latin typeface="Arial" pitchFamily="34" charset="0"/>
                <a:ea typeface="Arial" pitchFamily="34" charset="-122"/>
                <a:cs typeface="Arial" pitchFamily="34" charset="-120"/>
              </a:rPr>
              <a:t>G1_ICL_Team_Presentation · G1_Open_Source_ICL_Engineering_Guide</a:t>
            </a:r>
            <a:endParaRPr lang="en-US" sz="1200" dirty="0"/>
          </a:p>
        </p:txBody>
      </p:sp>
      <p:sp>
        <p:nvSpPr>
          <p:cNvPr id="17" name="Shape 14"/>
          <p:cNvSpPr/>
          <p:nvPr/>
        </p:nvSpPr>
        <p:spPr>
          <a:xfrm>
            <a:off x="548640" y="5669280"/>
            <a:ext cx="11091672" cy="457200"/>
          </a:xfrm>
          <a:prstGeom prst="rect">
            <a:avLst/>
          </a:prstGeom>
          <a:solidFill>
            <a:srgbClr val="FBF1DC"/>
          </a:solidFill>
          <a:ln w="12700">
            <a:solidFill>
              <a:srgbClr val="FBF1DC"/>
            </a:solidFill>
            <a:prstDash val="solid"/>
          </a:ln>
        </p:spPr>
      </p:sp>
      <p:sp>
        <p:nvSpPr>
          <p:cNvPr id="18" name="Shape 15"/>
          <p:cNvSpPr/>
          <p:nvPr/>
        </p:nvSpPr>
        <p:spPr>
          <a:xfrm>
            <a:off x="548640" y="5669280"/>
            <a:ext cx="82296" cy="457200"/>
          </a:xfrm>
          <a:prstGeom prst="rect">
            <a:avLst/>
          </a:prstGeom>
          <a:solidFill>
            <a:srgbClr val="F3BD58"/>
          </a:solidFill>
          <a:ln w="12700">
            <a:solidFill>
              <a:srgbClr val="F3BD58"/>
            </a:solidFill>
            <a:prstDash val="solid"/>
          </a:ln>
        </p:spPr>
      </p:sp>
      <p:sp>
        <p:nvSpPr>
          <p:cNvPr id="19" name="Text 16"/>
          <p:cNvSpPr txBox="1"/>
          <p:nvPr/>
        </p:nvSpPr>
        <p:spPr>
          <a:xfrm>
            <a:off x="822960" y="5669280"/>
            <a:ext cx="10543032" cy="457200"/>
          </a:xfrm>
          <a:prstGeom prst="rect">
            <a:avLst/>
          </a:prstGeom>
          <a:noFill/>
          <a:ln/>
        </p:spPr>
        <p:txBody>
          <a:bodyPr wrap="square" lIns="0" tIns="0" rIns="0" bIns="0" rtlCol="0" anchor="ctr"/>
          <a:lstStyle/>
          <a:p>
            <a:pPr indent="0" marL="0">
              <a:buNone/>
            </a:pPr>
            <a:r>
              <a:rPr lang="en-US" sz="1250" dirty="0">
                <a:solidFill>
                  <a:srgbClr val="10283D"/>
                </a:solidFill>
                <a:latin typeface="Arial" pitchFamily="34" charset="0"/>
                <a:ea typeface="Arial" pitchFamily="34" charset="-122"/>
                <a:cs typeface="Arial" pitchFamily="34" charset="-120"/>
              </a:rPr>
              <a:t>G1-specific values (rates, offsets, budgets, weeks) are proposals; no G1 hardware validation was performed for this deck.</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2026-09-17T18:20:56Z</dcterms:created>
  <dcterms:modified xsi:type="dcterms:W3CDTF">2026-09-17T18:20:56Z</dcterms:modified>
</cp:coreProperties>
</file>