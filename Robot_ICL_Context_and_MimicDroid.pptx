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follows the structure of the essay: why context, three kinds of uncertainty, robot demos, human video, task-agnostic motion, pretraining-scale context, selection and state, open problems, cheat sheet. Part 2 is a mechanical walkthrough of MimicDroid with the paper's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VLA is π(a_t | o_t, l): current frame + proprio + language. The clean form hides a Markov assumption: everything needed to pick the next action is in the current frame, with history compressed into the weights. Language modelling made the same bet with n-grams and it died of long-range dependency and data sparsity. Robotics is in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policy into the part frozen at training time and the part determined by context: π(a|o,l,C) = f_θ(a|o,z), z = z(C). The question is whether the context gives you the name of z or sample points on f_z. Only the third row is learning: after reading, the function that turns observations into actions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induction ability comes from the objective (One-Shot IL pairs a demo with an execution and optimises performance after reading the demo). The form the demo takes decides how hard induction is. And you need enough demo–query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Teleop is expensive on both ends. Human video is cheap and abundant but carries no joint angles or grip force, and the mapping the model must induce has an embodiment gap running through it. Three ways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Camera moved 20 cm; task, demo and image all look fine; action lands in the wrong place. The missing information is not the task but the system: under this camera and body, what does an action do to the image? Everything else assumes the system configuration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Qwen-RobotManip conditions on recent (o, s, a) triplets from the same episode to adapt behavioural style with no parameter updates, and reports the context shortcut. GEN-1.5 is the only reported case of ICL appearing without being trained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π0.7 packs language, next subtask, episode metadata and subgoal images into one prompt — a powerful control interface, but the mappings already exist in the weights. Memory methods solve partial observability inside a task. Test-time training writes the same evidence into weights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Emergence, representation, and context scaling. The third is not the LLM long-context problem: there the cost is latency; here the control loop may stop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Reproduced from the essay's cheat sheet with light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to note for the team: MimicDroid's real-world humanoid is the Fourier GR1, not a Unitree G1. The method is embodiment-agnostic in task space (wrist pose + IK), so a G1 port is a retargeting exercise, but no G1 result or checkpoint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at test time the robot gets 1–3 RGB videos of a human doing a novel task and must perform it under different object placements, weights frozen. Training data: only human play videos, 10–20 minutes per session, curiosity-driven, ~18× faster to collect than teleop and inherently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operator interacts freely with the scene, driven by curiosity: open the oven, put bread on the tray, later move it elsewhere. Play captures more diversity of interactions and object configurations than goal-directed teleop because there are no task goals and no task-specific resets.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has no action labels, so the future hand pose is treated as the action. An off-the-shelf hand pose estimator (WiLoR) predicts the wrist pose and a grasp signal from finger joint angles, per frame. Real world: k = 1, 6-DoF wrist pose w.r.t. the workspace camera plus a binary gripper. The current hand pose is also fed as proprioception.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Meta-ICL needs (context, target) pairs from the same task, but play videos have no task labels. MimicDroid samples a target segment, embeds it, and retrieves the top-k most similar segments across the dataset as context. Similarity is cosine over [mean-pooled DINOv2 frame features, a₁ … a_T]. k = 50 as the retrieval pool balances diversity against noise; each training sample uses 3 context trajectories + 1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Kinematic: predicted human wrist poses are retargeted to humanoid wrist poses and inverse kinematics gives joint angles. Visual: random patch masking during training, applied with probability p = 0.8, masking 1–16 patches, so the policy stops relying on human-specific appearance. Removing masking costs 17 points on transfer to the humanoid versus 3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Behaviour cloning with the Meta-ICL objective: each instance = 3 context segments + 1 target; predict 32-step action chunks for the target with an L1 loss, conditioned on its past observations/actions and the context. Backbone: long-context transformer with modality-specific encoders. Segments are 256 steps in sim and 128 in the real world, inputs downsampled ×4 for cost, output rate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receives 1–3 human RGB videos of the new task, possibly with novel objects and environments, processes them exactly as in step 2, places them in context, and predicts action chunks conditioned on its own past observations and the context. No parameter updates. Performance improves from 1 to 3 examples and plateaus at 4–6 because of training-time context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trained on the same play videos with identical augmentation: H2R (goal-image), Vid2Robot (video-conditioned, no actions in context), PEFT (test-time fine-tuning). Sim numbers are success rates on the authors' RoboCasa-based benchmark; real numbers are on the GR1.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stated limitations: reliance on curated play video (web video is the extension), hand-pose failure when hands vanish, and treating demos as low-level state–action sequences — it learns how, not why, so it cannot generalise across semantically equivalent tasks; language–trajectory meta-training is the suggested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with the team deck's Act 2: BPP is the first frozen-weight candidate because it ships checkpoints; MimicDroid is the humanoid-native end state because its prompt is a plain video and it needs no robot data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sinwang20.github.io/blog/robot-icl-en/" TargetMode="External"/><Relationship Id="rId2" Type="http://schemas.openxmlformats.org/officeDocument/2006/relationships/hyperlink" Target="https://arxiv.org/abs/2509.09769" TargetMode="External"/><Relationship Id="rId3" Type="http://schemas.openxmlformats.org/officeDocument/2006/relationships/hyperlink" Target="https://ut-austin-rpl.github.io/MimicDroid/" TargetMode="External"/><Relationship Id="rId4" Type="http://schemas.openxmlformats.org/officeDocument/2006/relationships/hyperlink" Target="https://arxiv.org/abs/1703.07326" TargetMode="External"/><Relationship Id="rId5" Type="http://schemas.openxmlformats.org/officeDocument/2006/relationships/hyperlink" Target="https://arxiv.org/abs/2408.15980" TargetMode="External"/><Relationship Id="rId6" Type="http://schemas.openxmlformats.org/officeDocument/2006/relationships/hyperlink" Target="https://arxiv.org/abs/2411.12633" TargetMode="External"/><Relationship Id="rId7" Type="http://schemas.openxmlformats.org/officeDocument/2006/relationships/hyperlink" Target="https://arxiv.org/abs/2606.30457" TargetMode="External"/><Relationship Id="rId8" Type="http://schemas.openxmlformats.org/officeDocument/2006/relationships/hyperlink" Target="https://arxiv.org/abs/2508.02062" TargetMode="External"/><Relationship Id="rId9" Type="http://schemas.openxmlformats.org/officeDocument/2006/relationships/hyperlink" Target="https://arxiv.org/abs/2403.12943" TargetMode="External"/><Relationship Id="rId10" Type="http://schemas.openxmlformats.org/officeDocument/2006/relationships/hyperlink" Target="https://arxiv.org/abs/2502.20391" TargetMode="External"/><Relationship Id="rId11" Type="http://schemas.openxmlformats.org/officeDocument/2006/relationships/hyperlink" Target="https://arxiv.org/abs/2606.26025" TargetMode="External"/><Relationship Id="rId12" Type="http://schemas.openxmlformats.org/officeDocument/2006/relationships/hyperlink" Target="https://arxiv.org/abs/2606.17846" TargetMode="External"/><Relationship Id="rId13" Type="http://schemas.openxmlformats.org/officeDocument/2006/relationships/hyperlink" Target="https://generalistai.com/blog/gen-1.5" TargetMode="External"/><Relationship Id="rId14" Type="http://schemas.openxmlformats.org/officeDocument/2006/relationships/hyperlink" Target="https://arxiv.org/abs/2604.15483" TargetMode="External"/><Relationship Id="rId15" Type="http://schemas.openxmlformats.org/officeDocument/2006/relationships/hyperlink" Target="https://arxiv.org/abs/2607.15275" TargetMode="External"/><Relationship Id="rId16" Type="http://schemas.openxmlformats.org/officeDocument/2006/relationships/slideLayout" Target="../slideLayouts/slideLayout1.xml"/><Relationship Id="rId1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4E79"/>
          </a:solidFill>
          <a:ln w="12700">
            <a:solidFill>
              <a:srgbClr val="1F4E79"/>
            </a:solidFill>
            <a:prstDash val="solid"/>
          </a:ln>
        </p:spPr>
      </p:sp>
      <p:sp>
        <p:nvSpPr>
          <p:cNvPr id="3" name="Text 1"/>
          <p:cNvSpPr txBox="1"/>
          <p:nvPr/>
        </p:nvSpPr>
        <p:spPr>
          <a:xfrm>
            <a:off x="914400" y="731520"/>
            <a:ext cx="10058400" cy="365760"/>
          </a:xfrm>
          <a:prstGeom prst="rect">
            <a:avLst/>
          </a:prstGeom>
          <a:noFill/>
          <a:ln/>
        </p:spPr>
        <p:txBody>
          <a:bodyPr wrap="square" lIns="0" tIns="0" rIns="0" bIns="0" rtlCol="0" anchor="ctr"/>
          <a:lstStyle/>
          <a:p>
            <a:pPr indent="0" marL="0">
              <a:buNone/>
            </a:pPr>
            <a:r>
              <a:rPr lang="en-US" sz="1200" b="1" spc="200" kern="0" dirty="0">
                <a:solidFill>
                  <a:srgbClr val="2E86AB"/>
                </a:solidFill>
                <a:latin typeface="Arial" pitchFamily="34" charset="0"/>
                <a:ea typeface="Arial" pitchFamily="34" charset="-122"/>
                <a:cs typeface="Arial" pitchFamily="34" charset="-120"/>
              </a:rPr>
              <a:t>TWO-PART DECK · 18 SEPTEMBER 2026</a:t>
            </a:r>
            <a:endParaRPr lang="en-US" sz="1200" dirty="0"/>
          </a:p>
        </p:txBody>
      </p:sp>
      <p:sp>
        <p:nvSpPr>
          <p:cNvPr id="4" name="Text 2"/>
          <p:cNvSpPr txBox="1"/>
          <p:nvPr/>
        </p:nvSpPr>
        <p:spPr>
          <a:xfrm>
            <a:off x="914400" y="1280160"/>
            <a:ext cx="10515600" cy="1645920"/>
          </a:xfrm>
          <a:prstGeom prst="rect">
            <a:avLst/>
          </a:prstGeom>
          <a:noFill/>
          <a:ln/>
        </p:spPr>
        <p:txBody>
          <a:bodyPr wrap="square" lIns="0" tIns="0" rIns="0" bIns="0" rtlCol="0" anchor="t"/>
          <a:lstStyle/>
          <a:p>
            <a:pPr indent="0" marL="0">
              <a:buNone/>
            </a:pPr>
            <a:r>
              <a:rPr lang="en-US" sz="3600" b="1" dirty="0">
                <a:solidFill>
                  <a:srgbClr val="1A1A1A"/>
                </a:solidFill>
                <a:latin typeface="Georgia" pitchFamily="34" charset="0"/>
                <a:ea typeface="Georgia" pitchFamily="34" charset="-122"/>
                <a:cs typeface="Georgia" pitchFamily="34" charset="-120"/>
              </a:rPr>
              <a:t>In-context learning for robots:</a:t>
            </a:r>
            <a:endParaRPr lang="en-US" sz="3600" dirty="0"/>
          </a:p>
          <a:p>
            <a:pPr indent="0" marL="0">
              <a:buNone/>
            </a:pPr>
            <a:r>
              <a:rPr lang="en-US" sz="3600" b="1" dirty="0">
                <a:solidFill>
                  <a:srgbClr val="1A1A1A"/>
                </a:solidFill>
                <a:latin typeface="Georgia" pitchFamily="34" charset="0"/>
                <a:ea typeface="Georgia" pitchFamily="34" charset="-122"/>
                <a:cs typeface="Georgia" pitchFamily="34" charset="-120"/>
              </a:rPr>
              <a:t>what should actually go in the context?</a:t>
            </a:r>
            <a:endParaRPr lang="en-US" sz="3600" dirty="0"/>
          </a:p>
        </p:txBody>
      </p:sp>
      <p:sp>
        <p:nvSpPr>
          <p:cNvPr id="5" name="Text 3"/>
          <p:cNvSpPr txBox="1"/>
          <p:nvPr/>
        </p:nvSpPr>
        <p:spPr>
          <a:xfrm>
            <a:off x="914400" y="3200400"/>
            <a:ext cx="10515600" cy="1097280"/>
          </a:xfrm>
          <a:prstGeom prst="rect">
            <a:avLst/>
          </a:prstGeom>
          <a:noFill/>
          <a:ln/>
        </p:spPr>
        <p:txBody>
          <a:bodyPr wrap="square" lIns="0" tIns="0" rIns="0" bIns="0" rtlCol="0" anchor="t"/>
          <a:lstStyle/>
          <a:p>
            <a:pPr indent="0" marL="0">
              <a:lnSpc>
                <a:spcPct val="130000"/>
              </a:lnSpc>
              <a:buNone/>
            </a:pPr>
            <a:r>
              <a:rPr lang="en-US" sz="1800" dirty="0">
                <a:solidFill>
                  <a:srgbClr val="1F4E79"/>
                </a:solidFill>
                <a:latin typeface="Arial" pitchFamily="34" charset="0"/>
                <a:ea typeface="Arial" pitchFamily="34" charset="-122"/>
                <a:cs typeface="Arial" pitchFamily="34" charset="-120"/>
              </a:rPr>
              <a:t>Part 1 · A taxonomy of robot context, after Siyin Wang's essay (Aug 2026)</a:t>
            </a:r>
            <a:endParaRPr lang="en-US" sz="1800" dirty="0"/>
          </a:p>
          <a:p>
            <a:pPr indent="0" marL="0">
              <a:lnSpc>
                <a:spcPct val="130000"/>
              </a:lnSpc>
              <a:buNone/>
            </a:pPr>
            <a:r>
              <a:rPr lang="en-US" sz="1800" dirty="0">
                <a:solidFill>
                  <a:srgbClr val="1F4E79"/>
                </a:solidFill>
                <a:latin typeface="Arial" pitchFamily="34" charset="0"/>
                <a:ea typeface="Arial" pitchFamily="34" charset="-122"/>
                <a:cs typeface="Arial" pitchFamily="34" charset="-120"/>
              </a:rPr>
              <a:t>Part 2 · MimicDroid, step by step: humanoid ICL from human play videos</a:t>
            </a:r>
            <a:endParaRPr lang="en-US" sz="1800" dirty="0"/>
          </a:p>
        </p:txBody>
      </p:sp>
      <p:sp>
        <p:nvSpPr>
          <p:cNvPr id="6" name="Text 4"/>
          <p:cNvSpPr txBox="1"/>
          <p:nvPr/>
        </p:nvSpPr>
        <p:spPr>
          <a:xfrm>
            <a:off x="914400" y="4572000"/>
            <a:ext cx="10515600" cy="822960"/>
          </a:xfrm>
          <a:prstGeom prst="rect">
            <a:avLst/>
          </a:prstGeom>
          <a:noFill/>
          <a:ln/>
        </p:spPr>
        <p:txBody>
          <a:bodyPr wrap="square" lIns="0" tIns="0" rIns="0" bIns="0" rtlCol="0" anchor="ctr"/>
          <a:lstStyle/>
          <a:p>
            <a:pPr indent="0" marL="0">
              <a:buNone/>
            </a:pPr>
            <a:r>
              <a:rPr lang="en-US" sz="1500" i="1" dirty="0">
                <a:solidFill>
                  <a:srgbClr val="5F6B73"/>
                </a:solidFill>
                <a:latin typeface="Georgia" pitchFamily="34" charset="0"/>
                <a:ea typeface="Georgia" pitchFamily="34" charset="-122"/>
                <a:cs typeface="Georgia" pitchFamily="34" charset="-120"/>
              </a:rPr>
              <a:t>The question worth caring about is not how many tokens are in the context. It is whether the context contains the specific information the policy is missing but the task requires.</a:t>
            </a:r>
            <a:endParaRPr lang="en-US" sz="1500" dirty="0"/>
          </a:p>
        </p:txBody>
      </p:sp>
      <p:sp>
        <p:nvSpPr>
          <p:cNvPr id="7" name="Text 5"/>
          <p:cNvSpPr txBox="1"/>
          <p:nvPr/>
        </p:nvSpPr>
        <p:spPr>
          <a:xfrm>
            <a:off x="914400" y="6126480"/>
            <a:ext cx="10515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Sources: sinwang20.github.io/blog/robot-icl-en · Shah et al., MimicDroid, arXiv:2509.09769 (ICRA 2026) · ut-austin-rpl.github.io/MimicDroid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WHY CONTEXT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Why a policy needs context at all</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02 / 23</a:t>
            </a:r>
            <a:endParaRPr lang="en-US" sz="900" dirty="0"/>
          </a:p>
        </p:txBody>
      </p:sp>
      <p:sp>
        <p:nvSpPr>
          <p:cNvPr id="8" name="Shape 5"/>
          <p:cNvSpPr/>
          <p:nvPr/>
        </p:nvSpPr>
        <p:spPr>
          <a:xfrm>
            <a:off x="548640" y="1508760"/>
            <a:ext cx="5440680" cy="2331720"/>
          </a:xfrm>
          <a:prstGeom prst="rect">
            <a:avLst/>
          </a:prstGeom>
          <a:solidFill>
            <a:srgbClr val="FFFFFF"/>
          </a:solidFill>
          <a:ln w="12700">
            <a:solidFill>
              <a:srgbClr val="D9DEE3"/>
            </a:solidFill>
            <a:prstDash val="solid"/>
          </a:ln>
        </p:spPr>
      </p:sp>
      <p:sp>
        <p:nvSpPr>
          <p:cNvPr id="9" name="Shape 6"/>
          <p:cNvSpPr/>
          <p:nvPr/>
        </p:nvSpPr>
        <p:spPr>
          <a:xfrm>
            <a:off x="548640" y="1508760"/>
            <a:ext cx="5440680" cy="54864"/>
          </a:xfrm>
          <a:prstGeom prst="rect">
            <a:avLst/>
          </a:prstGeom>
          <a:solidFill>
            <a:srgbClr val="1F4E79"/>
          </a:solidFill>
          <a:ln w="12700">
            <a:solidFill>
              <a:srgbClr val="1F4E79"/>
            </a:solidFill>
            <a:prstDash val="solid"/>
          </a:ln>
        </p:spPr>
      </p:sp>
      <p:sp>
        <p:nvSpPr>
          <p:cNvPr id="10" name="Text 7"/>
          <p:cNvSpPr txBox="1"/>
          <p:nvPr/>
        </p:nvSpPr>
        <p:spPr>
          <a:xfrm>
            <a:off x="74980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standard form and its bet</a:t>
            </a:r>
            <a:endParaRPr lang="en-US" sz="1500" dirty="0"/>
          </a:p>
        </p:txBody>
      </p:sp>
      <p:sp>
        <p:nvSpPr>
          <p:cNvPr id="11" name="Text 8"/>
          <p:cNvSpPr txBox="1"/>
          <p:nvPr/>
        </p:nvSpPr>
        <p:spPr>
          <a:xfrm>
            <a:off x="749808" y="2103120"/>
            <a:ext cx="5038344" cy="155448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π(aₜ | oₜ, l): current observation plus a language instruction → next action.</a:t>
            </a:r>
            <a:endParaRPr lang="en-US" sz="1250" dirty="0"/>
          </a:p>
          <a:p>
            <a:pPr indent="0" marL="0">
              <a:spcAft>
                <a:spcPts val="600"/>
              </a:spcAft>
              <a:buNone/>
            </a:pPr>
            <a:r>
              <a:rPr lang="en-US" sz="1250" dirty="0">
                <a:solidFill>
                  <a:srgbClr val="1A1A1A"/>
                </a:solidFill>
                <a:latin typeface="Arial" pitchFamily="34" charset="0"/>
                <a:ea typeface="Arial" pitchFamily="34" charset="-122"/>
                <a:cs typeface="Arial" pitchFamily="34" charset="-120"/>
              </a:rPr>
              <a:t>Hidden assumption: the current frame is sufficient. History's role has been compressed into the weights.</a:t>
            </a:r>
            <a:endParaRPr lang="en-US" sz="1250" dirty="0"/>
          </a:p>
        </p:txBody>
      </p:sp>
      <p:sp>
        <p:nvSpPr>
          <p:cNvPr id="12" name="Shape 9"/>
          <p:cNvSpPr/>
          <p:nvPr/>
        </p:nvSpPr>
        <p:spPr>
          <a:xfrm>
            <a:off x="6172200" y="1508760"/>
            <a:ext cx="5440680" cy="2331720"/>
          </a:xfrm>
          <a:prstGeom prst="rect">
            <a:avLst/>
          </a:prstGeom>
          <a:solidFill>
            <a:srgbClr val="FFFFFF"/>
          </a:solidFill>
          <a:ln w="12700">
            <a:solidFill>
              <a:srgbClr val="D9DEE3"/>
            </a:solidFill>
            <a:prstDash val="solid"/>
          </a:ln>
        </p:spPr>
      </p:sp>
      <p:sp>
        <p:nvSpPr>
          <p:cNvPr id="13" name="Shape 10"/>
          <p:cNvSpPr/>
          <p:nvPr/>
        </p:nvSpPr>
        <p:spPr>
          <a:xfrm>
            <a:off x="6172200" y="1508760"/>
            <a:ext cx="5440680" cy="54864"/>
          </a:xfrm>
          <a:prstGeom prst="rect">
            <a:avLst/>
          </a:prstGeom>
          <a:solidFill>
            <a:srgbClr val="1F4E79"/>
          </a:solidFill>
          <a:ln w="12700">
            <a:solidFill>
              <a:srgbClr val="1F4E79"/>
            </a:solidFill>
            <a:prstDash val="solid"/>
          </a:ln>
        </p:spPr>
      </p:sp>
      <p:sp>
        <p:nvSpPr>
          <p:cNvPr id="14" name="Text 11"/>
          <p:cNvSpPr txBox="1"/>
          <p:nvPr/>
        </p:nvSpPr>
        <p:spPr>
          <a:xfrm>
            <a:off x="637336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Where the bet breaks at deployment</a:t>
            </a:r>
            <a:endParaRPr lang="en-US" sz="1500" dirty="0"/>
          </a:p>
        </p:txBody>
      </p:sp>
      <p:sp>
        <p:nvSpPr>
          <p:cNvPr id="15" name="Text 12"/>
          <p:cNvSpPr txBox="1"/>
          <p:nvPr/>
        </p:nvSpPr>
        <p:spPr>
          <a:xfrm>
            <a:off x="6373368" y="2103120"/>
            <a:ext cx="5038344" cy="155448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 Frame doesn't reveal how far into the task you are</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Camera moved: pixel motion ↔ robot coordinates changed</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Arm or end-effector swapped: same command, new kinematics</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Same task admits many styles: fast, slow, careful</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New objects, scenes, combinations</a:t>
            </a:r>
            <a:endParaRPr lang="en-US" sz="1200" dirty="0"/>
          </a:p>
        </p:txBody>
      </p:sp>
      <p:sp>
        <p:nvSpPr>
          <p:cNvPr id="16" name="Text 13"/>
          <p:cNvSpPr txBox="1"/>
          <p:nvPr/>
        </p:nvSpPr>
        <p:spPr>
          <a:xfrm>
            <a:off x="548640" y="4069080"/>
            <a:ext cx="11091672" cy="640080"/>
          </a:xfrm>
          <a:prstGeom prst="rect">
            <a:avLst/>
          </a:prstGeom>
          <a:noFill/>
          <a:ln/>
        </p:spPr>
        <p:txBody>
          <a:bodyPr wrap="square" lIns="0" tIns="0" rIns="0" bIns="0" rtlCol="0" anchor="ctr"/>
          <a:lstStyle/>
          <a:p>
            <a:pPr algn="ctr" indent="0" marL="0">
              <a:buNone/>
            </a:pPr>
            <a:r>
              <a:rPr lang="en-US" sz="2800" dirty="0">
                <a:solidFill>
                  <a:srgbClr val="1F4E79"/>
                </a:solidFill>
                <a:latin typeface="Georgia" pitchFamily="34" charset="0"/>
                <a:ea typeface="Georgia" pitchFamily="34" charset="-122"/>
                <a:cs typeface="Georgia" pitchFamily="34" charset="-120"/>
              </a:rPr>
              <a:t>π( aₜ | oₜ , l , 𝒞 )</a:t>
            </a:r>
            <a:endParaRPr lang="en-US" sz="2800" dirty="0"/>
          </a:p>
        </p:txBody>
      </p:sp>
      <p:sp>
        <p:nvSpPr>
          <p:cNvPr id="17" name="Text 14"/>
          <p:cNvSpPr txBox="1"/>
          <p:nvPr/>
        </p:nvSpPr>
        <p:spPr>
          <a:xfrm>
            <a:off x="548640" y="4709160"/>
            <a:ext cx="11091672" cy="457200"/>
          </a:xfrm>
          <a:prstGeom prst="rect">
            <a:avLst/>
          </a:prstGeom>
          <a:noFill/>
          <a:ln/>
        </p:spPr>
        <p:txBody>
          <a:bodyPr wrap="square" lIns="0" tIns="0" rIns="0" bIns="0" rtlCol="0" anchor="ctr"/>
          <a:lstStyle/>
          <a:p>
            <a:pPr algn="ctr" indent="0" marL="0">
              <a:buNone/>
            </a:pPr>
            <a:r>
              <a:rPr lang="en-US" sz="1250" dirty="0">
                <a:solidFill>
                  <a:srgbClr val="5F6B73"/>
                </a:solidFill>
                <a:latin typeface="Arial" pitchFamily="34" charset="0"/>
                <a:ea typeface="Arial" pitchFamily="34" charset="-122"/>
                <a:cs typeface="Arial" pitchFamily="34" charset="-120"/>
              </a:rPr>
              <a:t>𝒞 is the context: a demonstration trajectory, a human video, a goal image, a few seconds of the robot's own poking around, or the execution history so far.</a:t>
            </a:r>
            <a:endParaRPr lang="en-US" sz="1250" dirty="0"/>
          </a:p>
        </p:txBody>
      </p:sp>
      <p:sp>
        <p:nvSpPr>
          <p:cNvPr id="18" name="Shape 15"/>
          <p:cNvSpPr/>
          <p:nvPr/>
        </p:nvSpPr>
        <p:spPr>
          <a:xfrm>
            <a:off x="548640" y="5349240"/>
            <a:ext cx="11091672" cy="731520"/>
          </a:xfrm>
          <a:prstGeom prst="rect">
            <a:avLst/>
          </a:prstGeom>
          <a:solidFill>
            <a:srgbClr val="E8F1F8"/>
          </a:solidFill>
          <a:ln w="12700">
            <a:solidFill>
              <a:srgbClr val="E8F1F8"/>
            </a:solidFill>
            <a:prstDash val="solid"/>
          </a:ln>
        </p:spPr>
      </p:sp>
      <p:sp>
        <p:nvSpPr>
          <p:cNvPr id="19" name="Shape 16"/>
          <p:cNvSpPr/>
          <p:nvPr/>
        </p:nvSpPr>
        <p:spPr>
          <a:xfrm>
            <a:off x="548640" y="5349240"/>
            <a:ext cx="73152" cy="731520"/>
          </a:xfrm>
          <a:prstGeom prst="rect">
            <a:avLst/>
          </a:prstGeom>
          <a:solidFill>
            <a:srgbClr val="1F4E79"/>
          </a:solidFill>
          <a:ln w="12700">
            <a:solidFill>
              <a:srgbClr val="1F4E79"/>
            </a:solidFill>
            <a:prstDash val="solid"/>
          </a:ln>
        </p:spPr>
      </p:sp>
      <p:sp>
        <p:nvSpPr>
          <p:cNvPr id="20" name="Text 17"/>
          <p:cNvSpPr txBox="1"/>
          <p:nvPr/>
        </p:nvSpPr>
        <p:spPr>
          <a:xfrm>
            <a:off x="822960" y="5349240"/>
            <a:ext cx="10543032"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The n-gram lesson: "The keys to the cabinet ___ on the table" needs a word five tokens back. Every token you add to the context makes sparsity worse — unless you stop counting and start generalising. Which leaves exactly one question: what should go in 𝒞?</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THE TAXONOMY</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Which uncertainty is the context resolving?</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03 / 23</a:t>
            </a:r>
            <a:endParaRPr lang="en-US" sz="900" dirty="0"/>
          </a:p>
        </p:txBody>
      </p:sp>
      <p:sp>
        <p:nvSpPr>
          <p:cNvPr id="8" name="Text 5"/>
          <p:cNvSpPr txBox="1"/>
          <p:nvPr/>
        </p:nvSpPr>
        <p:spPr>
          <a:xfrm>
            <a:off x="548640" y="1463040"/>
            <a:ext cx="11091672" cy="502920"/>
          </a:xfrm>
          <a:prstGeom prst="rect">
            <a:avLst/>
          </a:prstGeom>
          <a:noFill/>
          <a:ln/>
        </p:spPr>
        <p:txBody>
          <a:bodyPr wrap="square" lIns="0" tIns="0" rIns="0" bIns="0" rtlCol="0" anchor="ctr"/>
          <a:lstStyle/>
          <a:p>
            <a:pPr indent="0" marL="0">
              <a:buNone/>
            </a:pPr>
            <a:r>
              <a:rPr lang="en-US" sz="2200" dirty="0">
                <a:solidFill>
                  <a:srgbClr val="1F4E79"/>
                </a:solidFill>
                <a:latin typeface="Georgia" pitchFamily="34" charset="0"/>
                <a:ea typeface="Georgia" pitchFamily="34" charset="-122"/>
                <a:cs typeface="Georgia" pitchFamily="34" charset="-120"/>
              </a:rPr>
              <a:t>π(aₜ | oₜ, l, 𝒞) = f_θ(aₜ | oₜ, z),   z = z(𝒞)</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1371600"/>
                <a:gridCol w="2377440"/>
                <a:gridCol w="1645920"/>
                <a:gridCol w="2377440"/>
                <a:gridCol w="3319272"/>
              </a:tblGrid>
              <a:tr h="0">
                <a:tc>
                  <a:txBody>
                    <a:bodyPr/>
                    <a:lstStyle/>
                    <a:p>
                      <a:pPr indent="0" marL="0">
                        <a:buNone/>
                      </a:pP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z is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z(𝒞) is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the context contains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examples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Selection</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an index into existing mappings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 lookup</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 description of z</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language, goal image, URDF, episode metadata (π0.7)</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State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the hidden state of this episode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filtering / retrieval</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fragments of world state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last frames; MemoryVLA, MemER, MEM, HiMe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Learning</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the mapping itself</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induction</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samples from f_z</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demo trajectories, human video, random-motion triplets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bl>
          </a:graphicData>
        </a:graphic>
      </p:graphicFrame>
      <p:sp>
        <p:nvSpPr>
          <p:cNvPr id="10" name="Shape 6"/>
          <p:cNvSpPr/>
          <p:nvPr/>
        </p:nvSpPr>
        <p:spPr>
          <a:xfrm>
            <a:off x="548640" y="4160520"/>
            <a:ext cx="11091672" cy="731520"/>
          </a:xfrm>
          <a:prstGeom prst="rect">
            <a:avLst/>
          </a:prstGeom>
          <a:solidFill>
            <a:srgbClr val="E8F1F8"/>
          </a:solidFill>
          <a:ln w="12700">
            <a:solidFill>
              <a:srgbClr val="E8F1F8"/>
            </a:solidFill>
            <a:prstDash val="solid"/>
          </a:ln>
        </p:spPr>
      </p:sp>
      <p:sp>
        <p:nvSpPr>
          <p:cNvPr id="11" name="Shape 7"/>
          <p:cNvSpPr/>
          <p:nvPr/>
        </p:nvSpPr>
        <p:spPr>
          <a:xfrm>
            <a:off x="548640" y="4160520"/>
            <a:ext cx="73152" cy="731520"/>
          </a:xfrm>
          <a:prstGeom prst="rect">
            <a:avLst/>
          </a:prstGeom>
          <a:solidFill>
            <a:srgbClr val="1F4E79"/>
          </a:solidFill>
          <a:ln w="12700">
            <a:solidFill>
              <a:srgbClr val="1F4E79"/>
            </a:solidFill>
            <a:prstDash val="solid"/>
          </a:ln>
        </p:spPr>
      </p:sp>
      <p:sp>
        <p:nvSpPr>
          <p:cNvPr id="12" name="Text 8"/>
          <p:cNvSpPr txBox="1"/>
          <p:nvPr/>
        </p:nvSpPr>
        <p:spPr>
          <a:xfrm>
            <a:off x="822960" y="4160520"/>
            <a:ext cx="10543032" cy="7315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Only the third one is learning. Selection and state are just as useful and just as context-dependent — but after the model finishes reading, the function it uses to turn observations into actions has not changed.</a:t>
            </a:r>
            <a:endParaRPr lang="en-US" sz="1250" dirty="0"/>
          </a:p>
        </p:txBody>
      </p:sp>
      <p:sp>
        <p:nvSpPr>
          <p:cNvPr id="13" name="Shape 9"/>
          <p:cNvSpPr/>
          <p:nvPr/>
        </p:nvSpPr>
        <p:spPr>
          <a:xfrm>
            <a:off x="548640" y="5029200"/>
            <a:ext cx="5440680" cy="1234440"/>
          </a:xfrm>
          <a:prstGeom prst="rect">
            <a:avLst/>
          </a:prstGeom>
          <a:solidFill>
            <a:srgbClr val="FFFFFF"/>
          </a:solidFill>
          <a:ln w="12700">
            <a:solidFill>
              <a:srgbClr val="D9DEE3"/>
            </a:solidFill>
            <a:prstDash val="solid"/>
          </a:ln>
        </p:spPr>
      </p:sp>
      <p:sp>
        <p:nvSpPr>
          <p:cNvPr id="14" name="Shape 10"/>
          <p:cNvSpPr/>
          <p:nvPr/>
        </p:nvSpPr>
        <p:spPr>
          <a:xfrm>
            <a:off x="548640" y="5029200"/>
            <a:ext cx="5440680" cy="54864"/>
          </a:xfrm>
          <a:prstGeom prst="rect">
            <a:avLst/>
          </a:prstGeom>
          <a:solidFill>
            <a:srgbClr val="1F4E79"/>
          </a:solidFill>
          <a:ln w="12700">
            <a:solidFill>
              <a:srgbClr val="1F4E79"/>
            </a:solidFill>
            <a:prstDash val="solid"/>
          </a:ln>
        </p:spPr>
      </p:sp>
      <p:sp>
        <p:nvSpPr>
          <p:cNvPr id="15" name="Text 11"/>
          <p:cNvSpPr txBox="1"/>
          <p:nvPr/>
        </p:nvSpPr>
        <p:spPr>
          <a:xfrm>
            <a:off x="749808" y="516636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LM origin</a:t>
            </a:r>
            <a:endParaRPr lang="en-US" sz="1500" dirty="0"/>
          </a:p>
        </p:txBody>
      </p:sp>
      <p:sp>
        <p:nvSpPr>
          <p:cNvPr id="16" name="Text 12"/>
          <p:cNvSpPr txBox="1"/>
          <p:nvPr/>
        </p:nvSpPr>
        <p:spPr>
          <a:xfrm>
            <a:off x="749808" y="5623560"/>
            <a:ext cx="5038344" cy="45720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Three English→French pairs in the prompt; the model writes "fromage" for cheese. Acquired inside the window (in-context) and holds on unseen inputs (learning).</a:t>
            </a:r>
            <a:endParaRPr lang="en-US" sz="1150" dirty="0"/>
          </a:p>
        </p:txBody>
      </p:sp>
      <p:sp>
        <p:nvSpPr>
          <p:cNvPr id="17" name="Shape 13"/>
          <p:cNvSpPr/>
          <p:nvPr/>
        </p:nvSpPr>
        <p:spPr>
          <a:xfrm>
            <a:off x="6172200" y="5029200"/>
            <a:ext cx="5440680" cy="1234440"/>
          </a:xfrm>
          <a:prstGeom prst="rect">
            <a:avLst/>
          </a:prstGeom>
          <a:solidFill>
            <a:srgbClr val="FFFFFF"/>
          </a:solidFill>
          <a:ln w="12700">
            <a:solidFill>
              <a:srgbClr val="D9DEE3"/>
            </a:solidFill>
            <a:prstDash val="solid"/>
          </a:ln>
        </p:spPr>
      </p:sp>
      <p:sp>
        <p:nvSpPr>
          <p:cNvPr id="18" name="Shape 14"/>
          <p:cNvSpPr/>
          <p:nvPr/>
        </p:nvSpPr>
        <p:spPr>
          <a:xfrm>
            <a:off x="6172200" y="5029200"/>
            <a:ext cx="5440680" cy="54864"/>
          </a:xfrm>
          <a:prstGeom prst="rect">
            <a:avLst/>
          </a:prstGeom>
          <a:solidFill>
            <a:srgbClr val="1F4E79"/>
          </a:solidFill>
          <a:ln w="12700">
            <a:solidFill>
              <a:srgbClr val="1F4E79"/>
            </a:solidFill>
            <a:prstDash val="solid"/>
          </a:ln>
        </p:spPr>
      </p:sp>
      <p:sp>
        <p:nvSpPr>
          <p:cNvPr id="19" name="Text 15"/>
          <p:cNvSpPr txBox="1"/>
          <p:nvPr/>
        </p:nvSpPr>
        <p:spPr>
          <a:xfrm>
            <a:off x="6373368" y="516636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robot analogue</a:t>
            </a:r>
            <a:endParaRPr lang="en-US" sz="1500" dirty="0"/>
          </a:p>
        </p:txBody>
      </p:sp>
      <p:sp>
        <p:nvSpPr>
          <p:cNvPr id="20" name="Text 16"/>
          <p:cNvSpPr txBox="1"/>
          <p:nvPr/>
        </p:nvSpPr>
        <p:spPr>
          <a:xfrm>
            <a:off x="6373368" y="5623560"/>
            <a:ext cx="5038344" cy="45720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Instruction = spec; demonstration = worked example of (observation, action) pairs from which the model infers what this task is, then does it in a new scene. Weights frozen.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LEARNING FROM ROBOT DEMOS</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Teleop trajectories as context: three things must hold</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04 / 23</a:t>
            </a:r>
            <a:endParaRPr lang="en-US" sz="900" dirty="0"/>
          </a:p>
        </p:txBody>
      </p:sp>
      <p:sp>
        <p:nvSpPr>
          <p:cNvPr id="8" name="Shape 5"/>
          <p:cNvSpPr/>
          <p:nvPr/>
        </p:nvSpPr>
        <p:spPr>
          <a:xfrm>
            <a:off x="548640" y="160020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Text 7"/>
          <p:cNvSpPr txBox="1"/>
          <p:nvPr/>
        </p:nvSpPr>
        <p:spPr>
          <a:xfrm>
            <a:off x="1325880" y="1508760"/>
            <a:ext cx="10314432" cy="3657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objective creates the ability</a:t>
            </a:r>
            <a:endParaRPr lang="en-US" sz="1500" dirty="0"/>
          </a:p>
        </p:txBody>
      </p:sp>
      <p:sp>
        <p:nvSpPr>
          <p:cNvPr id="11" name="Text 8"/>
          <p:cNvSpPr txBox="1"/>
          <p:nvPr/>
        </p:nvSpPr>
        <p:spPr>
          <a:xfrm>
            <a:off x="1325880" y="1892808"/>
            <a:ext cx="10314432" cy="105156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One-Shot IL (2017): many distinct tasks, each with one demo and one execution; optimise performance after reading the demo. The demo is a task condition, not a history buffer.</a:t>
            </a:r>
            <a:endParaRPr lang="en-US" sz="1150" dirty="0"/>
          </a:p>
        </p:txBody>
      </p:sp>
      <p:sp>
        <p:nvSpPr>
          <p:cNvPr id="12" name="Shape 9"/>
          <p:cNvSpPr/>
          <p:nvPr/>
        </p:nvSpPr>
        <p:spPr>
          <a:xfrm>
            <a:off x="1325880" y="2926080"/>
            <a:ext cx="10314432" cy="0"/>
          </a:xfrm>
          <a:prstGeom prst="line">
            <a:avLst/>
          </a:prstGeom>
          <a:noFill/>
          <a:ln w="9525">
            <a:solidFill>
              <a:srgbClr val="D9DEE3"/>
            </a:solidFill>
            <a:prstDash val="solid"/>
          </a:ln>
        </p:spPr>
      </p:sp>
      <p:sp>
        <p:nvSpPr>
          <p:cNvPr id="13" name="Shape 10"/>
          <p:cNvSpPr/>
          <p:nvPr/>
        </p:nvSpPr>
        <p:spPr>
          <a:xfrm>
            <a:off x="548640" y="3108960"/>
            <a:ext cx="548640" cy="548640"/>
          </a:xfrm>
          <a:prstGeom prst="ellipse">
            <a:avLst/>
          </a:prstGeom>
          <a:solidFill>
            <a:srgbClr val="1F4E79"/>
          </a:solidFill>
          <a:ln w="12700">
            <a:solidFill>
              <a:srgbClr val="1F4E79"/>
            </a:solidFill>
            <a:prstDash val="solid"/>
          </a:ln>
        </p:spPr>
      </p:sp>
      <p:sp>
        <p:nvSpPr>
          <p:cNvPr id="14" name="Text 11"/>
          <p:cNvSpPr txBox="1"/>
          <p:nvPr/>
        </p:nvSpPr>
        <p:spPr>
          <a:xfrm>
            <a:off x="548640" y="31089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5" name="Text 12"/>
          <p:cNvSpPr txBox="1"/>
          <p:nvPr/>
        </p:nvSpPr>
        <p:spPr>
          <a:xfrm>
            <a:off x="1325880" y="3017520"/>
            <a:ext cx="10314432" cy="3657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form decides the difficulty</a:t>
            </a:r>
            <a:endParaRPr lang="en-US" sz="1500" dirty="0"/>
          </a:p>
        </p:txBody>
      </p:sp>
      <p:sp>
        <p:nvSpPr>
          <p:cNvPr id="16" name="Text 13"/>
          <p:cNvSpPr txBox="1"/>
          <p:nvPr/>
        </p:nvSpPr>
        <p:spPr>
          <a:xfrm>
            <a:off x="1325880" y="3401568"/>
            <a:ext cx="10314432" cy="105156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ICRT: interleave image/state/action tokens, next-token prediction, prepend 1–2 trajectories at test time. Instant Policy: demo, observation and future actions as graph nodes; diffusion over the graph. KAT: keypoints + action tokens read by a text Transformer. BPP: cross-attend a compressed demo embedding with the current observation. StellaVLA: task plans, subgoals and 3D motion in structured form.</a:t>
            </a:r>
            <a:endParaRPr lang="en-US" sz="1150" dirty="0"/>
          </a:p>
        </p:txBody>
      </p:sp>
      <p:sp>
        <p:nvSpPr>
          <p:cNvPr id="17" name="Shape 14"/>
          <p:cNvSpPr/>
          <p:nvPr/>
        </p:nvSpPr>
        <p:spPr>
          <a:xfrm>
            <a:off x="1325880" y="4434840"/>
            <a:ext cx="10314432" cy="0"/>
          </a:xfrm>
          <a:prstGeom prst="line">
            <a:avLst/>
          </a:prstGeom>
          <a:noFill/>
          <a:ln w="9525">
            <a:solidFill>
              <a:srgbClr val="D9DEE3"/>
            </a:solidFill>
            <a:prstDash val="solid"/>
          </a:ln>
        </p:spPr>
      </p:sp>
      <p:sp>
        <p:nvSpPr>
          <p:cNvPr id="18" name="Shape 15"/>
          <p:cNvSpPr/>
          <p:nvPr/>
        </p:nvSpPr>
        <p:spPr>
          <a:xfrm>
            <a:off x="548640" y="4617720"/>
            <a:ext cx="548640" cy="548640"/>
          </a:xfrm>
          <a:prstGeom prst="ellipse">
            <a:avLst/>
          </a:prstGeom>
          <a:solidFill>
            <a:srgbClr val="1F4E79"/>
          </a:solidFill>
          <a:ln w="12700">
            <a:solidFill>
              <a:srgbClr val="1F4E79"/>
            </a:solidFill>
            <a:prstDash val="solid"/>
          </a:ln>
        </p:spPr>
      </p:sp>
      <p:sp>
        <p:nvSpPr>
          <p:cNvPr id="19" name="Text 16"/>
          <p:cNvSpPr txBox="1"/>
          <p:nvPr/>
        </p:nvSpPr>
        <p:spPr>
          <a:xfrm>
            <a:off x="548640" y="46177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0" name="Text 17"/>
          <p:cNvSpPr txBox="1"/>
          <p:nvPr/>
        </p:nvSpPr>
        <p:spPr>
          <a:xfrm>
            <a:off x="1325880" y="4526280"/>
            <a:ext cx="10314432" cy="36576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Pairs have to come from somewhere</a:t>
            </a:r>
            <a:endParaRPr lang="en-US" sz="1500" dirty="0"/>
          </a:p>
        </p:txBody>
      </p:sp>
      <p:sp>
        <p:nvSpPr>
          <p:cNvPr id="21" name="Text 18"/>
          <p:cNvSpPr txBox="1"/>
          <p:nvPr/>
        </p:nvSpPr>
        <p:spPr>
          <a:xfrm>
            <a:off x="1325880" y="4910328"/>
            <a:ext cx="10314432" cy="105156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Recombine: one demo as prompt, others of the same task as queries (ICRT, BPP). Generate: procedural tasks in sim (One-Shot IL), pseudo-demos (Instant Policy), purely synthetic RGB (SynthICL). Bolt on: RICL retrieves snippets from 10–20 user demos into a post-trained π0-FAST.</a:t>
            </a:r>
            <a:endParaRPr lang="en-US" sz="1150" dirty="0"/>
          </a:p>
        </p:txBody>
      </p:sp>
      <p:sp>
        <p:nvSpPr>
          <p:cNvPr id="22" name="Shape 19"/>
          <p:cNvSpPr/>
          <p:nvPr/>
        </p:nvSpPr>
        <p:spPr>
          <a:xfrm>
            <a:off x="548640" y="6035040"/>
            <a:ext cx="11091672" cy="594360"/>
          </a:xfrm>
          <a:prstGeom prst="rect">
            <a:avLst/>
          </a:prstGeom>
          <a:solidFill>
            <a:srgbClr val="E8F1F8"/>
          </a:solidFill>
          <a:ln w="12700">
            <a:solidFill>
              <a:srgbClr val="E8F1F8"/>
            </a:solidFill>
            <a:prstDash val="solid"/>
          </a:ln>
        </p:spPr>
      </p:sp>
      <p:sp>
        <p:nvSpPr>
          <p:cNvPr id="23" name="Shape 20"/>
          <p:cNvSpPr/>
          <p:nvPr/>
        </p:nvSpPr>
        <p:spPr>
          <a:xfrm>
            <a:off x="548640" y="6035040"/>
            <a:ext cx="73152" cy="594360"/>
          </a:xfrm>
          <a:prstGeom prst="rect">
            <a:avLst/>
          </a:prstGeom>
          <a:solidFill>
            <a:srgbClr val="1F4E79"/>
          </a:solidFill>
          <a:ln w="12700">
            <a:solidFill>
              <a:srgbClr val="1F4E79"/>
            </a:solidFill>
            <a:prstDash val="solid"/>
          </a:ln>
        </p:spPr>
      </p:sp>
      <p:sp>
        <p:nvSpPr>
          <p:cNvPr id="24" name="Text 21"/>
          <p:cNvSpPr txBox="1"/>
          <p:nvPr/>
        </p:nvSpPr>
        <p:spPr>
          <a:xfrm>
            <a:off x="822960" y="6035040"/>
            <a:ext cx="10543032" cy="59436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Tokenization matters on the action side too: a tokenizer that reconstructs trajectories well may not preserve temporal smoothness (Action Tokenizer Matters → LipVQ-VAE; HiST-AT). Discontinuous action tokens turn good demo correspondences into jerky control.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HUMAN VIDEO AS THE DEMO</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300" b="1" dirty="0">
                <a:solidFill>
                  <a:srgbClr val="1A1A1A"/>
                </a:solidFill>
                <a:latin typeface="Georgia" pitchFamily="34" charset="0"/>
                <a:ea typeface="Georgia" pitchFamily="34" charset="-122"/>
                <a:cs typeface="Georgia" pitchFamily="34" charset="-120"/>
              </a:rPr>
              <a:t>Video has no action labels, and a human body is not a robot body</a:t>
            </a:r>
            <a:endParaRPr lang="en-US" sz="23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05 / 23</a:t>
            </a:r>
            <a:endParaRPr lang="en-US" sz="900" dirty="0"/>
          </a:p>
        </p:txBody>
      </p:sp>
      <p:sp>
        <p:nvSpPr>
          <p:cNvPr id="8" name="Shape 5"/>
          <p:cNvSpPr/>
          <p:nvPr/>
        </p:nvSpPr>
        <p:spPr>
          <a:xfrm>
            <a:off x="548640" y="1508760"/>
            <a:ext cx="3566160" cy="3291840"/>
          </a:xfrm>
          <a:prstGeom prst="rect">
            <a:avLst/>
          </a:prstGeom>
          <a:solidFill>
            <a:srgbClr val="FFFFFF"/>
          </a:solidFill>
          <a:ln w="12700">
            <a:solidFill>
              <a:srgbClr val="D9DEE3"/>
            </a:solidFill>
            <a:prstDash val="solid"/>
          </a:ln>
        </p:spPr>
      </p:sp>
      <p:sp>
        <p:nvSpPr>
          <p:cNvPr id="9" name="Shape 6"/>
          <p:cNvSpPr/>
          <p:nvPr/>
        </p:nvSpPr>
        <p:spPr>
          <a:xfrm>
            <a:off x="548640" y="1508760"/>
            <a:ext cx="3566160" cy="54864"/>
          </a:xfrm>
          <a:prstGeom prst="rect">
            <a:avLst/>
          </a:prstGeom>
          <a:solidFill>
            <a:srgbClr val="1F4E79"/>
          </a:solidFill>
          <a:ln w="12700">
            <a:solidFill>
              <a:srgbClr val="1F4E79"/>
            </a:solidFill>
            <a:prstDash val="solid"/>
          </a:ln>
        </p:spPr>
      </p:sp>
      <p:sp>
        <p:nvSpPr>
          <p:cNvPr id="10" name="Text 7"/>
          <p:cNvSpPr txBox="1"/>
          <p:nvPr/>
        </p:nvSpPr>
        <p:spPr>
          <a:xfrm>
            <a:off x="74980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Vid2Robot · align directly</a:t>
            </a:r>
            <a:endParaRPr lang="en-US" sz="1500" dirty="0"/>
          </a:p>
        </p:txBody>
      </p:sp>
      <p:sp>
        <p:nvSpPr>
          <p:cNvPr id="11" name="Text 8"/>
          <p:cNvSpPr txBox="1"/>
          <p:nvPr/>
        </p:nvSpPr>
        <p:spPr>
          <a:xfrm>
            <a:off x="749808" y="2103120"/>
            <a:ext cx="3163824" cy="25146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Human video + robot state → actions via cross-attention. Trained on video–trajectory pairs with a contrastive loss pulling human-video and robot-video representations together. Shows cross-object motion transfer.</a:t>
            </a:r>
            <a:endParaRPr lang="en-US" sz="1200" dirty="0"/>
          </a:p>
        </p:txBody>
      </p:sp>
      <p:sp>
        <p:nvSpPr>
          <p:cNvPr id="12" name="Shape 9"/>
          <p:cNvSpPr/>
          <p:nvPr/>
        </p:nvSpPr>
        <p:spPr>
          <a:xfrm>
            <a:off x="4297680" y="1508760"/>
            <a:ext cx="3566160" cy="3291840"/>
          </a:xfrm>
          <a:prstGeom prst="rect">
            <a:avLst/>
          </a:prstGeom>
          <a:solidFill>
            <a:srgbClr val="FFFFFF"/>
          </a:solidFill>
          <a:ln w="12700">
            <a:solidFill>
              <a:srgbClr val="D9DEE3"/>
            </a:solidFill>
            <a:prstDash val="solid"/>
          </a:ln>
        </p:spPr>
      </p:sp>
      <p:sp>
        <p:nvSpPr>
          <p:cNvPr id="13" name="Shape 10"/>
          <p:cNvSpPr/>
          <p:nvPr/>
        </p:nvSpPr>
        <p:spPr>
          <a:xfrm>
            <a:off x="4297680" y="1508760"/>
            <a:ext cx="3566160" cy="54864"/>
          </a:xfrm>
          <a:prstGeom prst="rect">
            <a:avLst/>
          </a:prstGeom>
          <a:solidFill>
            <a:srgbClr val="1F4E79"/>
          </a:solidFill>
          <a:ln w="12700">
            <a:solidFill>
              <a:srgbClr val="1F4E79"/>
            </a:solidFill>
            <a:prstDash val="solid"/>
          </a:ln>
        </p:spPr>
      </p:sp>
      <p:sp>
        <p:nvSpPr>
          <p:cNvPr id="14" name="Text 11"/>
          <p:cNvSpPr txBox="1"/>
          <p:nvPr/>
        </p:nvSpPr>
        <p:spPr>
          <a:xfrm>
            <a:off x="449884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MimicDroid · skip the pairing</a:t>
            </a:r>
            <a:endParaRPr lang="en-US" sz="1500" dirty="0"/>
          </a:p>
        </p:txBody>
      </p:sp>
      <p:sp>
        <p:nvSpPr>
          <p:cNvPr id="15" name="Text 12"/>
          <p:cNvSpPr txBox="1"/>
          <p:nvPr/>
        </p:nvSpPr>
        <p:spPr>
          <a:xfrm>
            <a:off x="4498848" y="2103120"/>
            <a:ext cx="3163824" cy="25146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Only continuous, unlabeled human play video. Mine trajectory pairs with similar behaviour; train to watch one and predict the other. Human video is both context and supervision; no robot data to form pairs. Wrist-pose retargeting + random patch masking close the gap.</a:t>
            </a:r>
            <a:endParaRPr lang="en-US" sz="1200" dirty="0"/>
          </a:p>
        </p:txBody>
      </p:sp>
      <p:sp>
        <p:nvSpPr>
          <p:cNvPr id="16" name="Shape 13"/>
          <p:cNvSpPr/>
          <p:nvPr/>
        </p:nvSpPr>
        <p:spPr>
          <a:xfrm>
            <a:off x="8046720" y="1508760"/>
            <a:ext cx="3566160" cy="3291840"/>
          </a:xfrm>
          <a:prstGeom prst="rect">
            <a:avLst/>
          </a:prstGeom>
          <a:solidFill>
            <a:srgbClr val="FFFFFF"/>
          </a:solidFill>
          <a:ln w="12700">
            <a:solidFill>
              <a:srgbClr val="D9DEE3"/>
            </a:solidFill>
            <a:prstDash val="solid"/>
          </a:ln>
        </p:spPr>
      </p:sp>
      <p:sp>
        <p:nvSpPr>
          <p:cNvPr id="17" name="Shape 14"/>
          <p:cNvSpPr/>
          <p:nvPr/>
        </p:nvSpPr>
        <p:spPr>
          <a:xfrm>
            <a:off x="8046720" y="1508760"/>
            <a:ext cx="3566160" cy="54864"/>
          </a:xfrm>
          <a:prstGeom prst="rect">
            <a:avLst/>
          </a:prstGeom>
          <a:solidFill>
            <a:srgbClr val="1F4E79"/>
          </a:solidFill>
          <a:ln w="12700">
            <a:solidFill>
              <a:srgbClr val="1F4E79"/>
            </a:solidFill>
            <a:prstDash val="solid"/>
          </a:ln>
        </p:spPr>
      </p:sp>
      <p:sp>
        <p:nvSpPr>
          <p:cNvPr id="18" name="Text 15"/>
          <p:cNvSpPr txBox="1"/>
          <p:nvPr/>
        </p:nvSpPr>
        <p:spPr>
          <a:xfrm>
            <a:off x="824788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Point Policy · shared representation</a:t>
            </a:r>
            <a:endParaRPr lang="en-US" sz="1500" dirty="0"/>
          </a:p>
        </p:txBody>
      </p:sp>
      <p:sp>
        <p:nvSpPr>
          <p:cNvPr id="19" name="Text 16"/>
          <p:cNvSpPr txBox="1"/>
          <p:nvPr/>
        </p:nvSpPr>
        <p:spPr>
          <a:xfrm>
            <a:off x="8247888" y="2103120"/>
            <a:ext cx="3163824" cy="25146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Human hand pose and object state → semantic keypoints. Humans and robots look different in pixels and similar in keypoint space, so the mapping is easier to induce. Robust to novel objects and distractors on 8 real tasks.</a:t>
            </a:r>
            <a:endParaRPr lang="en-US" sz="1200" dirty="0"/>
          </a:p>
        </p:txBody>
      </p:sp>
      <p:sp>
        <p:nvSpPr>
          <p:cNvPr id="20" name="Shape 17"/>
          <p:cNvSpPr/>
          <p:nvPr/>
        </p:nvSpPr>
        <p:spPr>
          <a:xfrm>
            <a:off x="548640" y="5029200"/>
            <a:ext cx="11091672" cy="594360"/>
          </a:xfrm>
          <a:prstGeom prst="rect">
            <a:avLst/>
          </a:prstGeom>
          <a:solidFill>
            <a:srgbClr val="E8F1F8"/>
          </a:solidFill>
          <a:ln w="12700">
            <a:solidFill>
              <a:srgbClr val="E8F1F8"/>
            </a:solidFill>
            <a:prstDash val="solid"/>
          </a:ln>
        </p:spPr>
      </p:sp>
      <p:sp>
        <p:nvSpPr>
          <p:cNvPr id="21" name="Shape 18"/>
          <p:cNvSpPr/>
          <p:nvPr/>
        </p:nvSpPr>
        <p:spPr>
          <a:xfrm>
            <a:off x="548640" y="5029200"/>
            <a:ext cx="73152" cy="594360"/>
          </a:xfrm>
          <a:prstGeom prst="rect">
            <a:avLst/>
          </a:prstGeom>
          <a:solidFill>
            <a:srgbClr val="1F4E79"/>
          </a:solidFill>
          <a:ln w="12700">
            <a:solidFill>
              <a:srgbClr val="1F4E79"/>
            </a:solidFill>
            <a:prstDash val="solid"/>
          </a:ln>
        </p:spPr>
      </p:sp>
      <p:sp>
        <p:nvSpPr>
          <p:cNvPr id="22" name="Text 19"/>
          <p:cNvSpPr txBox="1"/>
          <p:nvPr/>
        </p:nvSpPr>
        <p:spPr>
          <a:xfrm>
            <a:off x="822960" y="5029200"/>
            <a:ext cx="10543032" cy="59436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MimicDroid's question is not "how do we back-fill action labels onto video" but "which part of human behaviour is structurally reusable across embodiments". Part 2 of this deck walks it step by step.</a:t>
            </a:r>
            <a:endParaRPr lang="en-US" sz="1250" dirty="0"/>
          </a:p>
        </p:txBody>
      </p:sp>
      <p:sp>
        <p:nvSpPr>
          <p:cNvPr id="23" name="Text 20"/>
          <p:cNvSpPr txBox="1"/>
          <p:nvPr/>
        </p:nvSpPr>
        <p:spPr>
          <a:xfrm>
            <a:off x="548640" y="5760720"/>
            <a:ext cx="11091672" cy="41148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Costs to remember: video shows how the hand moved, not how hard the gripper squeezed; hand-pose estimators fail when hands vanish behind furniture.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SYSTEM, NOT TASK</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Random motion is also a good demonstration (ICWM)</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06 / 23</a:t>
            </a:r>
            <a:endParaRPr lang="en-US" sz="900" dirty="0"/>
          </a:p>
        </p:txBody>
      </p:sp>
      <p:sp>
        <p:nvSpPr>
          <p:cNvPr id="8" name="Shape 5"/>
          <p:cNvSpPr/>
          <p:nvPr/>
        </p:nvSpPr>
        <p:spPr>
          <a:xfrm>
            <a:off x="548640" y="1508760"/>
            <a:ext cx="5440680" cy="2651760"/>
          </a:xfrm>
          <a:prstGeom prst="rect">
            <a:avLst/>
          </a:prstGeom>
          <a:solidFill>
            <a:srgbClr val="FFFFFF"/>
          </a:solidFill>
          <a:ln w="12700">
            <a:solidFill>
              <a:srgbClr val="D9DEE3"/>
            </a:solidFill>
            <a:prstDash val="solid"/>
          </a:ln>
        </p:spPr>
      </p:sp>
      <p:sp>
        <p:nvSpPr>
          <p:cNvPr id="9" name="Shape 6"/>
          <p:cNvSpPr/>
          <p:nvPr/>
        </p:nvSpPr>
        <p:spPr>
          <a:xfrm>
            <a:off x="548640" y="1508760"/>
            <a:ext cx="5440680" cy="54864"/>
          </a:xfrm>
          <a:prstGeom prst="rect">
            <a:avLst/>
          </a:prstGeom>
          <a:solidFill>
            <a:srgbClr val="1F4E79"/>
          </a:solidFill>
          <a:ln w="12700">
            <a:solidFill>
              <a:srgbClr val="1F4E79"/>
            </a:solidFill>
            <a:prstDash val="solid"/>
          </a:ln>
        </p:spPr>
      </p:sp>
      <p:sp>
        <p:nvSpPr>
          <p:cNvPr id="10" name="Text 7"/>
          <p:cNvSpPr txBox="1"/>
          <p:nvPr/>
        </p:nvSpPr>
        <p:spPr>
          <a:xfrm>
            <a:off x="74980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ICWM · In-Context World Modeling</a:t>
            </a:r>
            <a:endParaRPr lang="en-US" sz="1500" dirty="0"/>
          </a:p>
        </p:txBody>
      </p:sp>
      <p:sp>
        <p:nvSpPr>
          <p:cNvPr id="11" name="Text 8"/>
          <p:cNvSpPr txBox="1"/>
          <p:nvPr/>
        </p:nvSpPr>
        <p:spPr>
          <a:xfrm>
            <a:off x="749808" y="2103120"/>
            <a:ext cx="5038344" cy="187452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Before the task, let the robot move randomly for a few seconds. Record (o_start, a, o_end) triplets and pack them into the context. They say nothing about where to go; they say what an action does to the image in this system.</a:t>
            </a:r>
            <a:endParaRPr lang="en-US" sz="1250" dirty="0"/>
          </a:p>
        </p:txBody>
      </p:sp>
      <p:sp>
        <p:nvSpPr>
          <p:cNvPr id="12" name="Shape 9"/>
          <p:cNvSpPr/>
          <p:nvPr/>
        </p:nvSpPr>
        <p:spPr>
          <a:xfrm>
            <a:off x="6172200" y="1508760"/>
            <a:ext cx="5440680" cy="2651760"/>
          </a:xfrm>
          <a:prstGeom prst="rect">
            <a:avLst/>
          </a:prstGeom>
          <a:solidFill>
            <a:srgbClr val="FFFFFF"/>
          </a:solidFill>
          <a:ln w="12700">
            <a:solidFill>
              <a:srgbClr val="D9DEE3"/>
            </a:solidFill>
            <a:prstDash val="solid"/>
          </a:ln>
        </p:spPr>
      </p:sp>
      <p:sp>
        <p:nvSpPr>
          <p:cNvPr id="13" name="Shape 10"/>
          <p:cNvSpPr/>
          <p:nvPr/>
        </p:nvSpPr>
        <p:spPr>
          <a:xfrm>
            <a:off x="6172200" y="1508760"/>
            <a:ext cx="5440680" cy="54864"/>
          </a:xfrm>
          <a:prstGeom prst="rect">
            <a:avLst/>
          </a:prstGeom>
          <a:solidFill>
            <a:srgbClr val="1F4E79"/>
          </a:solidFill>
          <a:ln w="12700">
            <a:solidFill>
              <a:srgbClr val="1F4E79"/>
            </a:solidFill>
            <a:prstDash val="solid"/>
          </a:ln>
        </p:spPr>
      </p:sp>
      <p:sp>
        <p:nvSpPr>
          <p:cNvPr id="14" name="Text 11"/>
          <p:cNvSpPr txBox="1"/>
          <p:nvPr/>
        </p:nvSpPr>
        <p:spPr>
          <a:xfrm>
            <a:off x="637336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Why it still counts as learning</a:t>
            </a:r>
            <a:endParaRPr lang="en-US" sz="1500" dirty="0"/>
          </a:p>
        </p:txBody>
      </p:sp>
      <p:sp>
        <p:nvSpPr>
          <p:cNvPr id="15" name="Text 12"/>
          <p:cNvSpPr txBox="1"/>
          <p:nvPr/>
        </p:nvSpPr>
        <p:spPr>
          <a:xfrm>
            <a:off x="6373368" y="2103120"/>
            <a:ext cx="5038344" cy="187452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After reading the triplets, the way the model turns observations into actions has changed — not a selection among mappings, not a state estimate. The object of induction switched from the task to the system.</a:t>
            </a:r>
            <a:endParaRPr lang="en-US" sz="1250" dirty="0"/>
          </a:p>
        </p:txBody>
      </p:sp>
      <p:sp>
        <p:nvSpPr>
          <p:cNvPr id="16" name="Shape 13"/>
          <p:cNvSpPr/>
          <p:nvPr/>
        </p:nvSpPr>
        <p:spPr>
          <a:xfrm>
            <a:off x="548640" y="4389120"/>
            <a:ext cx="11091672" cy="640080"/>
          </a:xfrm>
          <a:prstGeom prst="rect">
            <a:avLst/>
          </a:prstGeom>
          <a:solidFill>
            <a:srgbClr val="E8F1F8"/>
          </a:solidFill>
          <a:ln w="12700">
            <a:solidFill>
              <a:srgbClr val="E8F1F8"/>
            </a:solidFill>
            <a:prstDash val="solid"/>
          </a:ln>
        </p:spPr>
      </p:sp>
      <p:sp>
        <p:nvSpPr>
          <p:cNvPr id="17" name="Shape 14"/>
          <p:cNvSpPr/>
          <p:nvPr/>
        </p:nvSpPr>
        <p:spPr>
          <a:xfrm>
            <a:off x="548640" y="4389120"/>
            <a:ext cx="73152" cy="640080"/>
          </a:xfrm>
          <a:prstGeom prst="rect">
            <a:avLst/>
          </a:prstGeom>
          <a:solidFill>
            <a:srgbClr val="1F4E79"/>
          </a:solidFill>
          <a:ln w="12700">
            <a:solidFill>
              <a:srgbClr val="1F4E79"/>
            </a:solidFill>
            <a:prstDash val="solid"/>
          </a:ln>
        </p:spPr>
      </p:sp>
      <p:sp>
        <p:nvSpPr>
          <p:cNvPr id="18" name="Text 15"/>
          <p:cNvSpPr txBox="1"/>
          <p:nvPr/>
        </p:nvSpPr>
        <p:spPr>
          <a:xfrm>
            <a:off x="822960" y="4389120"/>
            <a:ext cx="10543032" cy="64008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Collection cost drops to nothing: no human, no labels, no task binding. One exploration segment serves every task at that workstation; bump the camera or swap the gripper and you re-run a few seconds.</a:t>
            </a:r>
            <a:endParaRPr lang="en-US" sz="1250" dirty="0"/>
          </a:p>
        </p:txBody>
      </p:sp>
      <p:sp>
        <p:nvSpPr>
          <p:cNvPr id="19" name="Text 16"/>
          <p:cNvSpPr txBox="1"/>
          <p:nvPr/>
        </p:nvSpPr>
        <p:spPr>
          <a:xfrm>
            <a:off x="548640" y="5257800"/>
            <a:ext cx="11091672" cy="411480"/>
          </a:xfrm>
          <a:prstGeom prst="rect">
            <a:avLst/>
          </a:prstGeom>
          <a:noFill/>
          <a:ln/>
        </p:spPr>
        <p:txBody>
          <a:bodyPr wrap="square" lIns="0" tIns="0" rIns="0" bIns="0" rtlCol="0" anchor="ctr"/>
          <a:lstStyle/>
          <a:p>
            <a:pPr indent="0" marL="0">
              <a:buNone/>
            </a:pPr>
            <a:r>
              <a:rPr lang="en-US" sz="1200" i="1" dirty="0">
                <a:solidFill>
                  <a:srgbClr val="5F6B73"/>
                </a:solidFill>
                <a:latin typeface="Arial" pitchFamily="34" charset="0"/>
                <a:ea typeface="Arial" pitchFamily="34" charset="-122"/>
                <a:cs typeface="Arial" pitchFamily="34" charset="-120"/>
              </a:rPr>
              <a:t>For our G1: this is the cheapest recalibration primitive on the list, and it composes with any of the task-context methods.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WHEN CONTEXT REACHES PRETRAINING SCALE</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Two lessons from large models: shortcuts and emergence</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07 / 23</a:t>
            </a:r>
            <a:endParaRPr lang="en-US" sz="900" dirty="0"/>
          </a:p>
        </p:txBody>
      </p:sp>
      <p:sp>
        <p:nvSpPr>
          <p:cNvPr id="8" name="Shape 5"/>
          <p:cNvSpPr/>
          <p:nvPr/>
        </p:nvSpPr>
        <p:spPr>
          <a:xfrm>
            <a:off x="548640" y="1508760"/>
            <a:ext cx="5440680" cy="3383280"/>
          </a:xfrm>
          <a:prstGeom prst="rect">
            <a:avLst/>
          </a:prstGeom>
          <a:solidFill>
            <a:srgbClr val="FFFFFF"/>
          </a:solidFill>
          <a:ln w="12700">
            <a:solidFill>
              <a:srgbClr val="D9DEE3"/>
            </a:solidFill>
            <a:prstDash val="solid"/>
          </a:ln>
        </p:spPr>
      </p:sp>
      <p:sp>
        <p:nvSpPr>
          <p:cNvPr id="9" name="Shape 6"/>
          <p:cNvSpPr/>
          <p:nvPr/>
        </p:nvSpPr>
        <p:spPr>
          <a:xfrm>
            <a:off x="548640" y="1508760"/>
            <a:ext cx="5440680" cy="54864"/>
          </a:xfrm>
          <a:prstGeom prst="rect">
            <a:avLst/>
          </a:prstGeom>
          <a:solidFill>
            <a:srgbClr val="1F4E79"/>
          </a:solidFill>
          <a:ln w="12700">
            <a:solidFill>
              <a:srgbClr val="1F4E79"/>
            </a:solidFill>
            <a:prstDash val="solid"/>
          </a:ln>
        </p:spPr>
      </p:sp>
      <p:sp>
        <p:nvSpPr>
          <p:cNvPr id="10" name="Text 7"/>
          <p:cNvSpPr txBox="1"/>
          <p:nvPr/>
        </p:nvSpPr>
        <p:spPr>
          <a:xfrm>
            <a:off x="74980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Qwen-RobotManip · the context shortcut</a:t>
            </a:r>
            <a:endParaRPr lang="en-US" sz="1500" dirty="0"/>
          </a:p>
        </p:txBody>
      </p:sp>
      <p:sp>
        <p:nvSpPr>
          <p:cNvPr id="11" name="Text 8"/>
          <p:cNvSpPr txBox="1"/>
          <p:nvPr/>
        </p:nvSpPr>
        <p:spPr>
          <a:xfrm>
            <a:off x="749808" y="2103120"/>
            <a:ext cx="5038344" cy="260604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If training always supplies the H chunks right before the current step, the model copies the last chunk's actions: low loss, useless context, collapse when recent history is atypical.</a:t>
            </a:r>
            <a:endParaRPr lang="en-US" sz="1150" dirty="0"/>
          </a:p>
          <a:p>
            <a:pPr indent="0" marL="0">
              <a:spcAft>
                <a:spcPts val="600"/>
              </a:spcAft>
              <a:buNone/>
            </a:pPr>
            <a:endParaRPr lang="en-US" sz="1150" dirty="0"/>
          </a:p>
          <a:p>
            <a:pPr indent="0" marL="0">
              <a:spcAft>
                <a:spcPts val="600"/>
              </a:spcAft>
              <a:buNone/>
            </a:pPr>
            <a:r>
              <a:rPr lang="en-US" sz="1150" dirty="0">
                <a:solidFill>
                  <a:srgbClr val="1A1A1A"/>
                </a:solidFill>
                <a:latin typeface="Arial" pitchFamily="34" charset="0"/>
                <a:ea typeface="Arial" pitchFamily="34" charset="-122"/>
                <a:cs typeface="Arial" pitchFamily="34" charset="-120"/>
              </a:rPr>
              <a:t>Fix: stochastic context sampling — sample the window from random positions in the episode so recency cannot be exploited; deploy with a rolling window. Remove it and you get very low training loss and very poor success.</a:t>
            </a:r>
            <a:endParaRPr lang="en-US" sz="1150" dirty="0"/>
          </a:p>
        </p:txBody>
      </p:sp>
      <p:sp>
        <p:nvSpPr>
          <p:cNvPr id="12" name="Shape 9"/>
          <p:cNvSpPr/>
          <p:nvPr/>
        </p:nvSpPr>
        <p:spPr>
          <a:xfrm>
            <a:off x="6172200" y="1508760"/>
            <a:ext cx="5440680" cy="3383280"/>
          </a:xfrm>
          <a:prstGeom prst="rect">
            <a:avLst/>
          </a:prstGeom>
          <a:solidFill>
            <a:srgbClr val="FFFFFF"/>
          </a:solidFill>
          <a:ln w="12700">
            <a:solidFill>
              <a:srgbClr val="D9DEE3"/>
            </a:solidFill>
            <a:prstDash val="solid"/>
          </a:ln>
        </p:spPr>
      </p:sp>
      <p:sp>
        <p:nvSpPr>
          <p:cNvPr id="13" name="Shape 10"/>
          <p:cNvSpPr/>
          <p:nvPr/>
        </p:nvSpPr>
        <p:spPr>
          <a:xfrm>
            <a:off x="6172200" y="1508760"/>
            <a:ext cx="5440680" cy="54864"/>
          </a:xfrm>
          <a:prstGeom prst="rect">
            <a:avLst/>
          </a:prstGeom>
          <a:solidFill>
            <a:srgbClr val="1F4E79"/>
          </a:solidFill>
          <a:ln w="12700">
            <a:solidFill>
              <a:srgbClr val="1F4E79"/>
            </a:solidFill>
            <a:prstDash val="solid"/>
          </a:ln>
        </p:spPr>
      </p:sp>
      <p:sp>
        <p:nvSpPr>
          <p:cNvPr id="14" name="Text 11"/>
          <p:cNvSpPr txBox="1"/>
          <p:nvPr/>
        </p:nvSpPr>
        <p:spPr>
          <a:xfrm>
            <a:off x="6373368" y="164592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GEN-1.5 · a one-shot ability nobody trained for</a:t>
            </a:r>
            <a:endParaRPr lang="en-US" sz="1500" dirty="0"/>
          </a:p>
        </p:txBody>
      </p:sp>
      <p:sp>
        <p:nvSpPr>
          <p:cNvPr id="15" name="Text 12"/>
          <p:cNvSpPr txBox="1"/>
          <p:nvPr/>
        </p:nvSpPr>
        <p:spPr>
          <a:xfrm>
            <a:off x="6373368" y="2103120"/>
            <a:ext cx="5038344" cy="260604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Physical prompt = 3–12 s of sensorimotor data in a 30 s window. 59% ± 10% one-shot across 10 tasks; 83% ± 9% after 10 gradient steps on 5 minutes. No ICL architecture, no auxiliary objective, prompts introduce time jumps never seen in training.</a:t>
            </a:r>
            <a:endParaRPr lang="en-US" sz="1150" dirty="0"/>
          </a:p>
          <a:p>
            <a:pPr indent="0" marL="0">
              <a:spcAft>
                <a:spcPts val="600"/>
              </a:spcAft>
              <a:buNone/>
            </a:pPr>
            <a:endParaRPr lang="en-US" sz="1150" dirty="0"/>
          </a:p>
          <a:p>
            <a:pPr indent="0" marL="0">
              <a:spcAft>
                <a:spcPts val="600"/>
              </a:spcAft>
              <a:buNone/>
            </a:pPr>
            <a:r>
              <a:rPr lang="en-US" sz="1150" dirty="0">
                <a:solidFill>
                  <a:srgbClr val="1A1A1A"/>
                </a:solidFill>
                <a:latin typeface="Arial" pitchFamily="34" charset="0"/>
                <a:ea typeface="Arial" pitchFamily="34" charset="-122"/>
                <a:cs typeface="Arial" pitchFamily="34" charset="-120"/>
              </a:rPr>
              <a:t>Derivatives: composed prompts, sim-recorded prompts, human hands in view, 1-step adaptation at 66.5%.</a:t>
            </a:r>
            <a:endParaRPr lang="en-US" sz="1150" dirty="0"/>
          </a:p>
        </p:txBody>
      </p:sp>
      <p:sp>
        <p:nvSpPr>
          <p:cNvPr id="16" name="Shape 13"/>
          <p:cNvSpPr/>
          <p:nvPr/>
        </p:nvSpPr>
        <p:spPr>
          <a:xfrm>
            <a:off x="548640" y="5120640"/>
            <a:ext cx="11091672" cy="594360"/>
          </a:xfrm>
          <a:prstGeom prst="rect">
            <a:avLst/>
          </a:prstGeom>
          <a:solidFill>
            <a:srgbClr val="E8F1F8"/>
          </a:solidFill>
          <a:ln w="12700">
            <a:solidFill>
              <a:srgbClr val="E8F1F8"/>
            </a:solidFill>
            <a:prstDash val="solid"/>
          </a:ln>
        </p:spPr>
      </p:sp>
      <p:sp>
        <p:nvSpPr>
          <p:cNvPr id="17" name="Shape 14"/>
          <p:cNvSpPr/>
          <p:nvPr/>
        </p:nvSpPr>
        <p:spPr>
          <a:xfrm>
            <a:off x="548640" y="5120640"/>
            <a:ext cx="73152" cy="594360"/>
          </a:xfrm>
          <a:prstGeom prst="rect">
            <a:avLst/>
          </a:prstGeom>
          <a:solidFill>
            <a:srgbClr val="1F4E79"/>
          </a:solidFill>
          <a:ln w="12700">
            <a:solidFill>
              <a:srgbClr val="1F4E79"/>
            </a:solidFill>
            <a:prstDash val="solid"/>
          </a:ln>
        </p:spPr>
      </p:sp>
      <p:sp>
        <p:nvSpPr>
          <p:cNvPr id="18" name="Text 15"/>
          <p:cNvSpPr txBox="1"/>
          <p:nvPr/>
        </p:nvSpPr>
        <p:spPr>
          <a:xfrm>
            <a:off x="822960" y="5120640"/>
            <a:ext cx="10543032" cy="59436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Same category as human video (sensorimotor pairs → task mapping), with one difference: the source of the context does not have to share an embodiment with the executor.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THE OTHER TWO USES OF A WINDOW</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300" b="1" dirty="0">
                <a:solidFill>
                  <a:srgbClr val="1A1A1A"/>
                </a:solidFill>
                <a:latin typeface="Georgia" pitchFamily="34" charset="0"/>
                <a:ea typeface="Georgia" pitchFamily="34" charset="-122"/>
                <a:cs typeface="Georgia" pitchFamily="34" charset="-120"/>
              </a:rPr>
              <a:t>Selection, state, and the orthogonal road of test-time training</a:t>
            </a:r>
            <a:endParaRPr lang="en-US" sz="23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08 / 23</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737360"/>
                <a:gridCol w="2926080"/>
                <a:gridCol w="4480560"/>
                <a:gridCol w="194767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Use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it resolves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Representative work</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Does f change?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Selection</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Which existing mapping to run; style, speed, grasp choice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π0.7 (language + subtask + metadata + subgoal images)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 — metadata picks one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State / memory</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Where did I put the cup; which stage am I on</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MemoryVLA, MemER, ContextVLA, MEM (15-min tasks), HiMe (Executor / Sentry / Planner)</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 — the state fed to f changes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Selection &amp; compression</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Which frames to keep; spurious long-sequence correlations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Big Picture Policies (VLM picks keyframes), Gated Memory Policy (learns when to read)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Test-time training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Same deployment evidence, written into weights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RoboTTT (8K steps into fast weights), VANE (commit updates only if visual outcomes support them)</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θ changes, not z</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4617720"/>
            <a:ext cx="11091672" cy="548640"/>
          </a:xfrm>
          <a:prstGeom prst="rect">
            <a:avLst/>
          </a:prstGeom>
          <a:solidFill>
            <a:srgbClr val="E8F1F8"/>
          </a:solidFill>
          <a:ln w="12700">
            <a:solidFill>
              <a:srgbClr val="E8F1F8"/>
            </a:solidFill>
            <a:prstDash val="solid"/>
          </a:ln>
        </p:spPr>
      </p:sp>
      <p:sp>
        <p:nvSpPr>
          <p:cNvPr id="10" name="Shape 6"/>
          <p:cNvSpPr/>
          <p:nvPr/>
        </p:nvSpPr>
        <p:spPr>
          <a:xfrm>
            <a:off x="548640" y="4617720"/>
            <a:ext cx="73152" cy="548640"/>
          </a:xfrm>
          <a:prstGeom prst="rect">
            <a:avLst/>
          </a:prstGeom>
          <a:solidFill>
            <a:srgbClr val="1F4E79"/>
          </a:solidFill>
          <a:ln w="12700">
            <a:solidFill>
              <a:srgbClr val="1F4E79"/>
            </a:solidFill>
            <a:prstDash val="solid"/>
          </a:ln>
        </p:spPr>
      </p:sp>
      <p:sp>
        <p:nvSpPr>
          <p:cNvPr id="11" name="Text 7"/>
          <p:cNvSpPr txBox="1"/>
          <p:nvPr/>
        </p:nvSpPr>
        <p:spPr>
          <a:xfrm>
            <a:off x="822960" y="4617720"/>
            <a:ext cx="10543032" cy="5486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Execution history written out — (o₁,a₁),(o₂,a₂),… — is formally identical to a demonstration. The difference is what changes after you read it.</a:t>
            </a:r>
            <a:endParaRPr lang="en-US" sz="1250" dirty="0"/>
          </a:p>
        </p:txBody>
      </p:sp>
      <p:sp>
        <p:nvSpPr>
          <p:cNvPr id="12" name="Text 8"/>
          <p:cNvSpPr txBox="1"/>
          <p:nvPr/>
        </p:nvSpPr>
        <p:spPr>
          <a:xfrm>
            <a:off x="548640" y="5394960"/>
            <a:ext cx="11091672" cy="41148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Test-time training overlaps ICL in goals but not costs: it needs gradients, is hard to roll back, and adds online safety requirements.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WHAT IS STILL OPEN</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Three open problems the essay leaves us with</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09 / 23</a:t>
            </a:r>
            <a:endParaRPr lang="en-US" sz="900" dirty="0"/>
          </a:p>
        </p:txBody>
      </p:sp>
      <p:sp>
        <p:nvSpPr>
          <p:cNvPr id="8" name="Shape 5"/>
          <p:cNvSpPr/>
          <p:nvPr/>
        </p:nvSpPr>
        <p:spPr>
          <a:xfrm>
            <a:off x="548640" y="1508760"/>
            <a:ext cx="3566160" cy="3840480"/>
          </a:xfrm>
          <a:prstGeom prst="rect">
            <a:avLst/>
          </a:prstGeom>
          <a:solidFill>
            <a:srgbClr val="FFFFFF"/>
          </a:solidFill>
          <a:ln w="12700">
            <a:solidFill>
              <a:srgbClr val="D9DEE3"/>
            </a:solidFill>
            <a:prstDash val="solid"/>
          </a:ln>
        </p:spPr>
      </p:sp>
      <p:sp>
        <p:nvSpPr>
          <p:cNvPr id="9" name="Shape 6"/>
          <p:cNvSpPr/>
          <p:nvPr/>
        </p:nvSpPr>
        <p:spPr>
          <a:xfrm>
            <a:off x="548640" y="1508760"/>
            <a:ext cx="3566160" cy="54864"/>
          </a:xfrm>
          <a:prstGeom prst="rect">
            <a:avLst/>
          </a:prstGeom>
          <a:solidFill>
            <a:srgbClr val="1F4E79"/>
          </a:solidFill>
          <a:ln w="12700">
            <a:solidFill>
              <a:srgbClr val="1F4E79"/>
            </a:solidFill>
            <a:prstDash val="solid"/>
          </a:ln>
        </p:spPr>
      </p:sp>
      <p:sp>
        <p:nvSpPr>
          <p:cNvPr id="10" name="Text 7"/>
          <p:cNvSpPr txBox="1"/>
          <p:nvPr/>
        </p:nvSpPr>
        <p:spPr>
          <a:xfrm>
            <a:off x="74980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1 · How does ICL emerge?</a:t>
            </a:r>
            <a:endParaRPr lang="en-US" sz="1500" dirty="0"/>
          </a:p>
        </p:txBody>
      </p:sp>
      <p:sp>
        <p:nvSpPr>
          <p:cNvPr id="11" name="Text 8"/>
          <p:cNvSpPr txBox="1"/>
          <p:nvPr/>
        </p:nvSpPr>
        <p:spPr>
          <a:xfrm>
            <a:off x="749808" y="2103120"/>
            <a:ext cx="3163824" cy="306324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LLM ICL was not trained; it appeared from next-token prediction. Robotics runs the other way — almost everything trains the ability explicitly. GEN-1.5 is the only reported emergent case, mechanism unstudied.</a:t>
            </a:r>
            <a:endParaRPr lang="en-US" sz="1150" dirty="0"/>
          </a:p>
          <a:p>
            <a:pPr indent="0" marL="0">
              <a:spcAft>
                <a:spcPts val="600"/>
              </a:spcAft>
              <a:buNone/>
            </a:pPr>
            <a:endParaRPr lang="en-US" sz="1150" dirty="0"/>
          </a:p>
          <a:p>
            <a:pPr indent="0" marL="0">
              <a:spcAft>
                <a:spcPts val="600"/>
              </a:spcAft>
              <a:buNone/>
            </a:pPr>
            <a:r>
              <a:rPr lang="en-US" sz="1150" dirty="0">
                <a:solidFill>
                  <a:srgbClr val="1A1A1A"/>
                </a:solidFill>
                <a:latin typeface="Arial" pitchFamily="34" charset="0"/>
                <a:ea typeface="Arial" pitchFamily="34" charset="-122"/>
                <a:cs typeface="Arial" pitchFamily="34" charset="-120"/>
              </a:rPr>
              <a:t>What data distributions produce it? Does explicitly trained ICL generalise differently from emergent ICL?</a:t>
            </a:r>
            <a:endParaRPr lang="en-US" sz="1150" dirty="0"/>
          </a:p>
        </p:txBody>
      </p:sp>
      <p:sp>
        <p:nvSpPr>
          <p:cNvPr id="12" name="Shape 9"/>
          <p:cNvSpPr/>
          <p:nvPr/>
        </p:nvSpPr>
        <p:spPr>
          <a:xfrm>
            <a:off x="4297680" y="1508760"/>
            <a:ext cx="3566160" cy="3840480"/>
          </a:xfrm>
          <a:prstGeom prst="rect">
            <a:avLst/>
          </a:prstGeom>
          <a:solidFill>
            <a:srgbClr val="FFFFFF"/>
          </a:solidFill>
          <a:ln w="12700">
            <a:solidFill>
              <a:srgbClr val="D9DEE3"/>
            </a:solidFill>
            <a:prstDash val="solid"/>
          </a:ln>
        </p:spPr>
      </p:sp>
      <p:sp>
        <p:nvSpPr>
          <p:cNvPr id="13" name="Shape 10"/>
          <p:cNvSpPr/>
          <p:nvPr/>
        </p:nvSpPr>
        <p:spPr>
          <a:xfrm>
            <a:off x="4297680" y="1508760"/>
            <a:ext cx="3566160" cy="54864"/>
          </a:xfrm>
          <a:prstGeom prst="rect">
            <a:avLst/>
          </a:prstGeom>
          <a:solidFill>
            <a:srgbClr val="1F4E79"/>
          </a:solidFill>
          <a:ln w="12700">
            <a:solidFill>
              <a:srgbClr val="1F4E79"/>
            </a:solidFill>
            <a:prstDash val="solid"/>
          </a:ln>
        </p:spPr>
      </p:sp>
      <p:sp>
        <p:nvSpPr>
          <p:cNvPr id="14" name="Text 11"/>
          <p:cNvSpPr txBox="1"/>
          <p:nvPr/>
        </p:nvSpPr>
        <p:spPr>
          <a:xfrm>
            <a:off x="449884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2 · What form does a demo take?</a:t>
            </a:r>
            <a:endParaRPr lang="en-US" sz="1500" dirty="0"/>
          </a:p>
        </p:txBody>
      </p:sp>
      <p:sp>
        <p:nvSpPr>
          <p:cNvPr id="15" name="Text 12"/>
          <p:cNvSpPr txBox="1"/>
          <p:nvPr/>
        </p:nvSpPr>
        <p:spPr>
          <a:xfrm>
            <a:off x="4498848" y="2103120"/>
            <a:ext cx="3163824" cy="306324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Interleaved tokens, graph nodes, keypoints, chunk embeddings, structured plans, interaction triplets, raw sensorimotor sequences — almost never compared head to head.</a:t>
            </a:r>
            <a:endParaRPr lang="en-US" sz="1150" dirty="0"/>
          </a:p>
          <a:p>
            <a:pPr indent="0" marL="0">
              <a:spcAft>
                <a:spcPts val="600"/>
              </a:spcAft>
              <a:buNone/>
            </a:pPr>
            <a:endParaRPr lang="en-US" sz="1150" dirty="0"/>
          </a:p>
          <a:p>
            <a:pPr indent="0" marL="0">
              <a:spcAft>
                <a:spcPts val="600"/>
              </a:spcAft>
              <a:buNone/>
            </a:pPr>
            <a:r>
              <a:rPr lang="en-US" sz="1150" dirty="0">
                <a:solidFill>
                  <a:srgbClr val="1A1A1A"/>
                </a:solidFill>
                <a:latin typeface="Arial" pitchFamily="34" charset="0"/>
                <a:ea typeface="Arial" pitchFamily="34" charset="-122"/>
                <a:cs typeface="Arial" pitchFamily="34" charset="-120"/>
              </a:rPr>
              <a:t>High abstraction eases induction but discards contact, force and material; low abstraction keeps everything and makes the model find correspondence itself.</a:t>
            </a:r>
            <a:endParaRPr lang="en-US" sz="1150" dirty="0"/>
          </a:p>
        </p:txBody>
      </p:sp>
      <p:sp>
        <p:nvSpPr>
          <p:cNvPr id="16" name="Shape 13"/>
          <p:cNvSpPr/>
          <p:nvPr/>
        </p:nvSpPr>
        <p:spPr>
          <a:xfrm>
            <a:off x="8046720" y="1508760"/>
            <a:ext cx="3566160" cy="3840480"/>
          </a:xfrm>
          <a:prstGeom prst="rect">
            <a:avLst/>
          </a:prstGeom>
          <a:solidFill>
            <a:srgbClr val="FFFFFF"/>
          </a:solidFill>
          <a:ln w="12700">
            <a:solidFill>
              <a:srgbClr val="D9DEE3"/>
            </a:solidFill>
            <a:prstDash val="solid"/>
          </a:ln>
        </p:spPr>
      </p:sp>
      <p:sp>
        <p:nvSpPr>
          <p:cNvPr id="17" name="Shape 14"/>
          <p:cNvSpPr/>
          <p:nvPr/>
        </p:nvSpPr>
        <p:spPr>
          <a:xfrm>
            <a:off x="8046720" y="1508760"/>
            <a:ext cx="3566160" cy="54864"/>
          </a:xfrm>
          <a:prstGeom prst="rect">
            <a:avLst/>
          </a:prstGeom>
          <a:solidFill>
            <a:srgbClr val="1F4E79"/>
          </a:solidFill>
          <a:ln w="12700">
            <a:solidFill>
              <a:srgbClr val="1F4E79"/>
            </a:solidFill>
            <a:prstDash val="solid"/>
          </a:ln>
        </p:spPr>
      </p:sp>
      <p:sp>
        <p:nvSpPr>
          <p:cNvPr id="18" name="Text 15"/>
          <p:cNvSpPr txBox="1"/>
          <p:nvPr/>
        </p:nvSpPr>
        <p:spPr>
          <a:xfrm>
            <a:off x="8247888" y="164592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3 · How do we scale context?</a:t>
            </a:r>
            <a:endParaRPr lang="en-US" sz="1500" dirty="0"/>
          </a:p>
        </p:txBody>
      </p:sp>
      <p:sp>
        <p:nvSpPr>
          <p:cNvPr id="19" name="Text 16"/>
          <p:cNvSpPr txBox="1"/>
          <p:nvPr/>
        </p:nvSpPr>
        <p:spPr>
          <a:xfrm>
            <a:off x="8247888" y="2103120"/>
            <a:ext cx="3163824" cy="306324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A VLA must emit actions at a high rate; every token adds cost to every decision. Which information must be kept frame by frame, which can be squeezed into a token, which can be dropped?</a:t>
            </a:r>
            <a:endParaRPr lang="en-US" sz="1150" dirty="0"/>
          </a:p>
          <a:p>
            <a:pPr indent="0" marL="0">
              <a:spcAft>
                <a:spcPts val="600"/>
              </a:spcAft>
              <a:buNone/>
            </a:pPr>
            <a:endParaRPr lang="en-US" sz="1150" dirty="0"/>
          </a:p>
          <a:p>
            <a:pPr indent="0" marL="0">
              <a:spcAft>
                <a:spcPts val="600"/>
              </a:spcAft>
              <a:buNone/>
            </a:pPr>
            <a:r>
              <a:rPr lang="en-US" sz="1150" dirty="0">
                <a:solidFill>
                  <a:srgbClr val="1A1A1A"/>
                </a:solidFill>
                <a:latin typeface="Arial" pitchFamily="34" charset="0"/>
                <a:ea typeface="Arial" pitchFamily="34" charset="-122"/>
                <a:cs typeface="Arial" pitchFamily="34" charset="-120"/>
              </a:rPr>
              <a:t>MimicDroid hits this directly: gains plateau beyond 3 in-context examples because of training-time context length.</a:t>
            </a:r>
            <a:endParaRPr lang="en-US" sz="1150" dirty="0"/>
          </a:p>
        </p:txBody>
      </p:sp>
      <p:sp>
        <p:nvSpPr>
          <p:cNvPr id="20" name="Shape 17"/>
          <p:cNvSpPr/>
          <p:nvPr/>
        </p:nvSpPr>
        <p:spPr>
          <a:xfrm>
            <a:off x="548640" y="5577840"/>
            <a:ext cx="11091672" cy="548640"/>
          </a:xfrm>
          <a:prstGeom prst="rect">
            <a:avLst/>
          </a:prstGeom>
          <a:solidFill>
            <a:srgbClr val="E8F1F8"/>
          </a:solidFill>
          <a:ln w="12700">
            <a:solidFill>
              <a:srgbClr val="E8F1F8"/>
            </a:solidFill>
            <a:prstDash val="solid"/>
          </a:ln>
        </p:spPr>
      </p:sp>
      <p:sp>
        <p:nvSpPr>
          <p:cNvPr id="21" name="Shape 18"/>
          <p:cNvSpPr/>
          <p:nvPr/>
        </p:nvSpPr>
        <p:spPr>
          <a:xfrm>
            <a:off x="548640" y="5577840"/>
            <a:ext cx="73152" cy="548640"/>
          </a:xfrm>
          <a:prstGeom prst="rect">
            <a:avLst/>
          </a:prstGeom>
          <a:solidFill>
            <a:srgbClr val="1F4E79"/>
          </a:solidFill>
          <a:ln w="12700">
            <a:solidFill>
              <a:srgbClr val="1F4E79"/>
            </a:solidFill>
            <a:prstDash val="solid"/>
          </a:ln>
        </p:spPr>
      </p:sp>
      <p:sp>
        <p:nvSpPr>
          <p:cNvPr id="22" name="Text 19"/>
          <p:cNvSpPr txBox="1"/>
          <p:nvPr/>
        </p:nvSpPr>
        <p:spPr>
          <a:xfrm>
            <a:off x="822960" y="5577840"/>
            <a:ext cx="10543032" cy="5486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Conclusion of the essay: robot ICL is moving past transplanting the GPT prompt analogy. What it changes is what the policy looks at — and whether that contains the information the task requires.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1 · CHEAT SHEET</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What goes in, what gets induced, at what budget</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10 / 23</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011680"/>
                <a:gridCol w="3291840"/>
                <a:gridCol w="3291840"/>
                <a:gridCol w="2496312"/>
              </a:tblGrid>
              <a:tr h="0">
                <a:tc>
                  <a:txBody>
                    <a:bodyPr/>
                    <a:lstStyle/>
                    <a:p>
                      <a:pPr indent="0" marL="0">
                        <a:buNone/>
                      </a:pPr>
                      <a:r>
                        <a:rPr lang="en-US" sz="1050" b="1" dirty="0">
                          <a:solidFill>
                            <a:srgbClr val="FFFFFF"/>
                          </a:solidFill>
                          <a:latin typeface="Arial" pitchFamily="34" charset="0"/>
                          <a:ea typeface="Arial" pitchFamily="34" charset="-122"/>
                          <a:cs typeface="Arial" pitchFamily="34" charset="-120"/>
                        </a:rPr>
                        <a:t>Method</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goes in the context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gets induced</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Adaptation budget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One-Shot IL</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one robot demo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 rule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 demo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ICRT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1–2 teleop trajectories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 rule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1–2 demos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RICL</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snippets retrieved from 10–20 demos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 rule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10–20 demos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Instant Policy</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demo + current obs (as a graph)</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 and local correspondence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1–2 demos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BPP</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one handheld-collected demo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new behaviour</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 demo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KAT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keypoints + action tokens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vision–action correspondence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~10 demos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Vid2Robot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human manipulation video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motion intent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 video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MimicDroid</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unlabeled human play video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cross-embodiment reusable behaviour structure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1–3 clips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Point Policy</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human video → semantic keypoints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morphology-agnostic intent</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offline video</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ICWM</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task-agnostic random interaction triplets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this system's observation–action mapping</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 few seconds of motion</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GEN-1.5</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3–12 s human demonstration</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task rule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3–12 seconds</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050" dirty="0">
                          <a:solidFill>
                            <a:srgbClr val="1A1A1A"/>
                          </a:solidFill>
                          <a:latin typeface="Arial" pitchFamily="34" charset="0"/>
                          <a:ea typeface="Arial" pitchFamily="34" charset="-122"/>
                          <a:cs typeface="Arial" pitchFamily="34" charset="-120"/>
                        </a:rPr>
                        <a:t>Qwen-RobotManip</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within-episode execution history</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current embodiment identity / style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within-episode</a:t>
                      </a:r>
                      <a:endParaRPr lang="en-US" sz="10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4E79"/>
          </a:solidFill>
          <a:ln w="12700">
            <a:solidFill>
              <a:srgbClr val="1F4E79"/>
            </a:solidFill>
            <a:prstDash val="solid"/>
          </a:ln>
        </p:spPr>
      </p:sp>
      <p:sp>
        <p:nvSpPr>
          <p:cNvPr id="3" name="Text 1"/>
          <p:cNvSpPr txBox="1"/>
          <p:nvPr/>
        </p:nvSpPr>
        <p:spPr>
          <a:xfrm>
            <a:off x="914400" y="1097280"/>
            <a:ext cx="10058400" cy="365760"/>
          </a:xfrm>
          <a:prstGeom prst="rect">
            <a:avLst/>
          </a:prstGeom>
          <a:noFill/>
          <a:ln/>
        </p:spPr>
        <p:txBody>
          <a:bodyPr wrap="square" lIns="0" tIns="0" rIns="0" bIns="0" rtlCol="0" anchor="ctr"/>
          <a:lstStyle/>
          <a:p>
            <a:pPr indent="0" marL="0">
              <a:buNone/>
            </a:pPr>
            <a:r>
              <a:rPr lang="en-US" sz="1200" b="1" spc="200" kern="0" dirty="0">
                <a:solidFill>
                  <a:srgbClr val="2E86AB"/>
                </a:solidFill>
                <a:latin typeface="Arial" pitchFamily="34" charset="0"/>
                <a:ea typeface="Arial" pitchFamily="34" charset="-122"/>
                <a:cs typeface="Arial" pitchFamily="34" charset="-120"/>
              </a:rPr>
              <a:t>PART 2</a:t>
            </a:r>
            <a:endParaRPr lang="en-US" sz="1200" dirty="0"/>
          </a:p>
        </p:txBody>
      </p:sp>
      <p:sp>
        <p:nvSpPr>
          <p:cNvPr id="4" name="Text 2"/>
          <p:cNvSpPr txBox="1"/>
          <p:nvPr/>
        </p:nvSpPr>
        <p:spPr>
          <a:xfrm>
            <a:off x="914400" y="1554480"/>
            <a:ext cx="10515600" cy="914400"/>
          </a:xfrm>
          <a:prstGeom prst="rect">
            <a:avLst/>
          </a:prstGeom>
          <a:noFill/>
          <a:ln/>
        </p:spPr>
        <p:txBody>
          <a:bodyPr wrap="square" lIns="0" tIns="0" rIns="0" bIns="0" rtlCol="0" anchor="ctr"/>
          <a:lstStyle/>
          <a:p>
            <a:pPr indent="0" marL="0">
              <a:buNone/>
            </a:pPr>
            <a:r>
              <a:rPr lang="en-US" sz="3800" b="1" dirty="0">
                <a:solidFill>
                  <a:srgbClr val="1A1A1A"/>
                </a:solidFill>
                <a:latin typeface="Georgia" pitchFamily="34" charset="0"/>
                <a:ea typeface="Georgia" pitchFamily="34" charset="-122"/>
                <a:cs typeface="Georgia" pitchFamily="34" charset="-120"/>
              </a:rPr>
              <a:t>MimicDroid, step by step</a:t>
            </a:r>
            <a:endParaRPr lang="en-US" sz="3800" dirty="0"/>
          </a:p>
        </p:txBody>
      </p:sp>
      <p:sp>
        <p:nvSpPr>
          <p:cNvPr id="5" name="Text 3"/>
          <p:cNvSpPr txBox="1"/>
          <p:nvPr/>
        </p:nvSpPr>
        <p:spPr>
          <a:xfrm>
            <a:off x="914400" y="2560320"/>
            <a:ext cx="10515600" cy="914400"/>
          </a:xfrm>
          <a:prstGeom prst="rect">
            <a:avLst/>
          </a:prstGeom>
          <a:noFill/>
          <a:ln/>
        </p:spPr>
        <p:txBody>
          <a:bodyPr wrap="square" lIns="0" tIns="0" rIns="0" bIns="0" rtlCol="0" anchor="ctr"/>
          <a:lstStyle/>
          <a:p>
            <a:pPr indent="0" marL="0">
              <a:lnSpc>
                <a:spcPct val="130000"/>
              </a:lnSpc>
              <a:buNone/>
            </a:pPr>
            <a:r>
              <a:rPr lang="en-US" sz="1600" dirty="0">
                <a:solidFill>
                  <a:srgbClr val="1F4E79"/>
                </a:solidFill>
                <a:latin typeface="Arial" pitchFamily="34" charset="0"/>
                <a:ea typeface="Arial" pitchFamily="34" charset="-122"/>
                <a:cs typeface="Arial" pitchFamily="34" charset="-120"/>
              </a:rPr>
              <a:t>In-context learning for humanoid manipulation from human play videos</a:t>
            </a:r>
            <a:endParaRPr lang="en-US" sz="1600" dirty="0"/>
          </a:p>
          <a:p>
            <a:pPr indent="0" marL="0">
              <a:lnSpc>
                <a:spcPct val="130000"/>
              </a:lnSpc>
              <a:buNone/>
            </a:pPr>
            <a:r>
              <a:rPr lang="en-US" sz="1600" dirty="0">
                <a:solidFill>
                  <a:srgbClr val="1F4E79"/>
                </a:solidFill>
                <a:latin typeface="Arial" pitchFamily="34" charset="0"/>
                <a:ea typeface="Arial" pitchFamily="34" charset="-122"/>
                <a:cs typeface="Arial" pitchFamily="34" charset="-120"/>
              </a:rPr>
              <a:t>Shah, Liu, Wang, Jiang, Kumar, Seo, Martín-Martín, Zhu · UT Austin · ICRA 2026</a:t>
            </a:r>
            <a:endParaRPr lang="en-US" sz="1600" dirty="0"/>
          </a:p>
        </p:txBody>
      </p:sp>
      <p:sp>
        <p:nvSpPr>
          <p:cNvPr id="6" name="Shape 4"/>
          <p:cNvSpPr/>
          <p:nvPr/>
        </p:nvSpPr>
        <p:spPr>
          <a:xfrm>
            <a:off x="914400" y="3794760"/>
            <a:ext cx="292608" cy="292608"/>
          </a:xfrm>
          <a:prstGeom prst="ellipse">
            <a:avLst/>
          </a:prstGeom>
          <a:solidFill>
            <a:srgbClr val="1F4E79"/>
          </a:solidFill>
          <a:ln w="12700">
            <a:solidFill>
              <a:srgbClr val="1F4E79"/>
            </a:solidFill>
            <a:prstDash val="solid"/>
          </a:ln>
        </p:spPr>
      </p:sp>
      <p:sp>
        <p:nvSpPr>
          <p:cNvPr id="7" name="Text 5"/>
          <p:cNvSpPr txBox="1"/>
          <p:nvPr/>
        </p:nvSpPr>
        <p:spPr>
          <a:xfrm>
            <a:off x="914400" y="37947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Text 6"/>
          <p:cNvSpPr txBox="1"/>
          <p:nvPr/>
        </p:nvSpPr>
        <p:spPr>
          <a:xfrm>
            <a:off x="1325880" y="374904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Collect play videos</a:t>
            </a:r>
            <a:endParaRPr lang="en-US" sz="1400" dirty="0"/>
          </a:p>
        </p:txBody>
      </p:sp>
      <p:sp>
        <p:nvSpPr>
          <p:cNvPr id="9" name="Shape 7"/>
          <p:cNvSpPr/>
          <p:nvPr/>
        </p:nvSpPr>
        <p:spPr>
          <a:xfrm>
            <a:off x="914400" y="4206240"/>
            <a:ext cx="292608" cy="292608"/>
          </a:xfrm>
          <a:prstGeom prst="ellipse">
            <a:avLst/>
          </a:prstGeom>
          <a:solidFill>
            <a:srgbClr val="1F4E79"/>
          </a:solidFill>
          <a:ln w="12700">
            <a:solidFill>
              <a:srgbClr val="1F4E79"/>
            </a:solidFill>
            <a:prstDash val="solid"/>
          </a:ln>
        </p:spPr>
      </p:sp>
      <p:sp>
        <p:nvSpPr>
          <p:cNvPr id="10" name="Text 8"/>
          <p:cNvSpPr txBox="1"/>
          <p:nvPr/>
        </p:nvSpPr>
        <p:spPr>
          <a:xfrm>
            <a:off x="914400" y="42062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Text 9"/>
          <p:cNvSpPr txBox="1"/>
          <p:nvPr/>
        </p:nvSpPr>
        <p:spPr>
          <a:xfrm>
            <a:off x="1325880" y="416052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Extract actions from hands</a:t>
            </a:r>
            <a:endParaRPr lang="en-US" sz="1400" dirty="0"/>
          </a:p>
        </p:txBody>
      </p:sp>
      <p:sp>
        <p:nvSpPr>
          <p:cNvPr id="12" name="Shape 10"/>
          <p:cNvSpPr/>
          <p:nvPr/>
        </p:nvSpPr>
        <p:spPr>
          <a:xfrm>
            <a:off x="914400" y="4617720"/>
            <a:ext cx="292608" cy="292608"/>
          </a:xfrm>
          <a:prstGeom prst="ellipse">
            <a:avLst/>
          </a:prstGeom>
          <a:solidFill>
            <a:srgbClr val="1F4E79"/>
          </a:solidFill>
          <a:ln w="12700">
            <a:solidFill>
              <a:srgbClr val="1F4E79"/>
            </a:solidFill>
            <a:prstDash val="solid"/>
          </a:ln>
        </p:spPr>
      </p:sp>
      <p:sp>
        <p:nvSpPr>
          <p:cNvPr id="13" name="Text 11"/>
          <p:cNvSpPr txBox="1"/>
          <p:nvPr/>
        </p:nvSpPr>
        <p:spPr>
          <a:xfrm>
            <a:off x="914400" y="46177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4" name="Text 12"/>
          <p:cNvSpPr txBox="1"/>
          <p:nvPr/>
        </p:nvSpPr>
        <p:spPr>
          <a:xfrm>
            <a:off x="1325880" y="457200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Mine context–target pairs</a:t>
            </a:r>
            <a:endParaRPr lang="en-US" sz="1400" dirty="0"/>
          </a:p>
        </p:txBody>
      </p:sp>
      <p:sp>
        <p:nvSpPr>
          <p:cNvPr id="15" name="Shape 13"/>
          <p:cNvSpPr/>
          <p:nvPr/>
        </p:nvSpPr>
        <p:spPr>
          <a:xfrm>
            <a:off x="914400" y="5029200"/>
            <a:ext cx="292608" cy="292608"/>
          </a:xfrm>
          <a:prstGeom prst="ellipse">
            <a:avLst/>
          </a:prstGeom>
          <a:solidFill>
            <a:srgbClr val="1F4E79"/>
          </a:solidFill>
          <a:ln w="12700">
            <a:solidFill>
              <a:srgbClr val="1F4E79"/>
            </a:solidFill>
            <a:prstDash val="solid"/>
          </a:ln>
        </p:spPr>
      </p:sp>
      <p:sp>
        <p:nvSpPr>
          <p:cNvPr id="16" name="Text 14"/>
          <p:cNvSpPr txBox="1"/>
          <p:nvPr/>
        </p:nvSpPr>
        <p:spPr>
          <a:xfrm>
            <a:off x="914400" y="50292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Text 15"/>
          <p:cNvSpPr txBox="1"/>
          <p:nvPr/>
        </p:nvSpPr>
        <p:spPr>
          <a:xfrm>
            <a:off x="1325880" y="498348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Bridge the embodiment gap</a:t>
            </a:r>
            <a:endParaRPr lang="en-US" sz="1400" dirty="0"/>
          </a:p>
        </p:txBody>
      </p:sp>
      <p:sp>
        <p:nvSpPr>
          <p:cNvPr id="18" name="Shape 16"/>
          <p:cNvSpPr/>
          <p:nvPr/>
        </p:nvSpPr>
        <p:spPr>
          <a:xfrm>
            <a:off x="914400" y="5440680"/>
            <a:ext cx="292608" cy="292608"/>
          </a:xfrm>
          <a:prstGeom prst="ellipse">
            <a:avLst/>
          </a:prstGeom>
          <a:solidFill>
            <a:srgbClr val="1F4E79"/>
          </a:solidFill>
          <a:ln w="12700">
            <a:solidFill>
              <a:srgbClr val="1F4E79"/>
            </a:solidFill>
            <a:prstDash val="solid"/>
          </a:ln>
        </p:spPr>
      </p:sp>
      <p:sp>
        <p:nvSpPr>
          <p:cNvPr id="19" name="Text 17"/>
          <p:cNvSpPr txBox="1"/>
          <p:nvPr/>
        </p:nvSpPr>
        <p:spPr>
          <a:xfrm>
            <a:off x="914400" y="54406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Text 18"/>
          <p:cNvSpPr txBox="1"/>
          <p:nvPr/>
        </p:nvSpPr>
        <p:spPr>
          <a:xfrm>
            <a:off x="1325880" y="539496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Meta-train for ICL</a:t>
            </a:r>
            <a:endParaRPr lang="en-US" sz="1400" dirty="0"/>
          </a:p>
        </p:txBody>
      </p:sp>
      <p:sp>
        <p:nvSpPr>
          <p:cNvPr id="21" name="Shape 19"/>
          <p:cNvSpPr/>
          <p:nvPr/>
        </p:nvSpPr>
        <p:spPr>
          <a:xfrm>
            <a:off x="914400" y="5852160"/>
            <a:ext cx="292608" cy="292608"/>
          </a:xfrm>
          <a:prstGeom prst="ellipse">
            <a:avLst/>
          </a:prstGeom>
          <a:solidFill>
            <a:srgbClr val="1F4E79"/>
          </a:solidFill>
          <a:ln w="12700">
            <a:solidFill>
              <a:srgbClr val="1F4E79"/>
            </a:solidFill>
            <a:prstDash val="solid"/>
          </a:ln>
        </p:spPr>
      </p:sp>
      <p:sp>
        <p:nvSpPr>
          <p:cNvPr id="22" name="Text 20"/>
          <p:cNvSpPr txBox="1"/>
          <p:nvPr/>
        </p:nvSpPr>
        <p:spPr>
          <a:xfrm>
            <a:off x="914400" y="58521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3" name="Text 21"/>
          <p:cNvSpPr txBox="1"/>
          <p:nvPr/>
        </p:nvSpPr>
        <p:spPr>
          <a:xfrm>
            <a:off x="1325880" y="5806440"/>
            <a:ext cx="9144000" cy="384048"/>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Prompt the humanoid with 1–3 videos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OVERVIEW</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What MimicDroid is, in one picture</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12 / 23</a:t>
            </a:r>
            <a:endParaRPr lang="en-US" sz="900" dirty="0"/>
          </a:p>
        </p:txBody>
      </p:sp>
      <p:sp>
        <p:nvSpPr>
          <p:cNvPr id="8" name="Shape 5"/>
          <p:cNvSpPr/>
          <p:nvPr/>
        </p:nvSpPr>
        <p:spPr>
          <a:xfrm>
            <a:off x="548640" y="1737360"/>
            <a:ext cx="1965960" cy="1188720"/>
          </a:xfrm>
          <a:prstGeom prst="roundRect">
            <a:avLst>
              <a:gd name="adj" fmla="val 7692"/>
            </a:avLst>
          </a:prstGeom>
          <a:solidFill>
            <a:srgbClr val="FFFFFF"/>
          </a:solidFill>
          <a:ln w="12700">
            <a:solidFill>
              <a:srgbClr val="D9DEE3"/>
            </a:solidFill>
            <a:prstDash val="solid"/>
          </a:ln>
        </p:spPr>
      </p:sp>
      <p:sp>
        <p:nvSpPr>
          <p:cNvPr id="9" name="Text 6"/>
          <p:cNvSpPr txBox="1"/>
          <p:nvPr/>
        </p:nvSpPr>
        <p:spPr>
          <a:xfrm>
            <a:off x="640080" y="1810512"/>
            <a:ext cx="178308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Georgia" pitchFamily="34" charset="0"/>
                <a:ea typeface="Georgia" pitchFamily="34" charset="-122"/>
                <a:cs typeface="Georgia" pitchFamily="34" charset="-120"/>
              </a:rPr>
              <a:t>Play videos</a:t>
            </a:r>
            <a:endParaRPr lang="en-US" sz="1500" dirty="0"/>
          </a:p>
        </p:txBody>
      </p:sp>
      <p:sp>
        <p:nvSpPr>
          <p:cNvPr id="10" name="Text 7"/>
          <p:cNvSpPr txBox="1"/>
          <p:nvPr/>
        </p:nvSpPr>
        <p:spPr>
          <a:xfrm>
            <a:off x="640080" y="2267712"/>
            <a:ext cx="1783080" cy="594360"/>
          </a:xfrm>
          <a:prstGeom prst="rect">
            <a:avLst/>
          </a:prstGeom>
          <a:noFill/>
          <a:ln/>
        </p:spPr>
        <p:txBody>
          <a:bodyPr wrap="square" lIns="0" tIns="0" rIns="0" bIns="0" rtlCol="0" anchor="t"/>
          <a:lstStyle/>
          <a:p>
            <a:pPr algn="ctr" indent="0" marL="0">
              <a:buNone/>
            </a:pPr>
            <a:r>
              <a:rPr lang="en-US" sz="1050" dirty="0">
                <a:solidFill>
                  <a:srgbClr val="5F6B73"/>
                </a:solidFill>
                <a:latin typeface="Arial" pitchFamily="34" charset="0"/>
                <a:ea typeface="Arial" pitchFamily="34" charset="-122"/>
                <a:cs typeface="Arial" pitchFamily="34" charset="-120"/>
              </a:rPr>
              <a:t>10-min sessions, one static RGB camera</a:t>
            </a:r>
            <a:endParaRPr lang="en-US" sz="1050" dirty="0"/>
          </a:p>
        </p:txBody>
      </p:sp>
      <p:sp>
        <p:nvSpPr>
          <p:cNvPr id="11" name="Shape 8"/>
          <p:cNvSpPr/>
          <p:nvPr/>
        </p:nvSpPr>
        <p:spPr>
          <a:xfrm>
            <a:off x="2560320" y="2194560"/>
            <a:ext cx="224028" cy="320040"/>
          </a:xfrm>
          <a:prstGeom prst="rightArrow">
            <a:avLst/>
          </a:prstGeom>
          <a:solidFill>
            <a:srgbClr val="2E86AB"/>
          </a:solidFill>
          <a:ln w="12700">
            <a:solidFill>
              <a:srgbClr val="2E86AB"/>
            </a:solidFill>
            <a:prstDash val="solid"/>
          </a:ln>
        </p:spPr>
      </p:sp>
      <p:sp>
        <p:nvSpPr>
          <p:cNvPr id="12" name="Shape 9"/>
          <p:cNvSpPr/>
          <p:nvPr/>
        </p:nvSpPr>
        <p:spPr>
          <a:xfrm>
            <a:off x="2830068" y="1737360"/>
            <a:ext cx="1965960" cy="1188720"/>
          </a:xfrm>
          <a:prstGeom prst="roundRect">
            <a:avLst>
              <a:gd name="adj" fmla="val 7692"/>
            </a:avLst>
          </a:prstGeom>
          <a:solidFill>
            <a:srgbClr val="FFFFFF"/>
          </a:solidFill>
          <a:ln w="12700">
            <a:solidFill>
              <a:srgbClr val="D9DEE3"/>
            </a:solidFill>
            <a:prstDash val="solid"/>
          </a:ln>
        </p:spPr>
      </p:sp>
      <p:sp>
        <p:nvSpPr>
          <p:cNvPr id="13" name="Text 10"/>
          <p:cNvSpPr txBox="1"/>
          <p:nvPr/>
        </p:nvSpPr>
        <p:spPr>
          <a:xfrm>
            <a:off x="2921508" y="1810512"/>
            <a:ext cx="178308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Georgia" pitchFamily="34" charset="0"/>
                <a:ea typeface="Georgia" pitchFamily="34" charset="-122"/>
                <a:cs typeface="Georgia" pitchFamily="34" charset="-120"/>
              </a:rPr>
              <a:t>Hand poses</a:t>
            </a:r>
            <a:endParaRPr lang="en-US" sz="1500" dirty="0"/>
          </a:p>
        </p:txBody>
      </p:sp>
      <p:sp>
        <p:nvSpPr>
          <p:cNvPr id="14" name="Text 11"/>
          <p:cNvSpPr txBox="1"/>
          <p:nvPr/>
        </p:nvSpPr>
        <p:spPr>
          <a:xfrm>
            <a:off x="2921508" y="2267712"/>
            <a:ext cx="1783080" cy="594360"/>
          </a:xfrm>
          <a:prstGeom prst="rect">
            <a:avLst/>
          </a:prstGeom>
          <a:noFill/>
          <a:ln/>
        </p:spPr>
        <p:txBody>
          <a:bodyPr wrap="square" lIns="0" tIns="0" rIns="0" bIns="0" rtlCol="0" anchor="t"/>
          <a:lstStyle/>
          <a:p>
            <a:pPr algn="ctr" indent="0" marL="0">
              <a:buNone/>
            </a:pPr>
            <a:r>
              <a:rPr lang="en-US" sz="1050" dirty="0">
                <a:solidFill>
                  <a:srgbClr val="5F6B73"/>
                </a:solidFill>
                <a:latin typeface="Arial" pitchFamily="34" charset="0"/>
                <a:ea typeface="Arial" pitchFamily="34" charset="-122"/>
                <a:cs typeface="Arial" pitchFamily="34" charset="-120"/>
              </a:rPr>
              <a:t>WiLoR → wrist 6-DoF + grasp</a:t>
            </a:r>
            <a:endParaRPr lang="en-US" sz="1050" dirty="0"/>
          </a:p>
        </p:txBody>
      </p:sp>
      <p:sp>
        <p:nvSpPr>
          <p:cNvPr id="15" name="Shape 12"/>
          <p:cNvSpPr/>
          <p:nvPr/>
        </p:nvSpPr>
        <p:spPr>
          <a:xfrm>
            <a:off x="4841748" y="2194560"/>
            <a:ext cx="224028" cy="320040"/>
          </a:xfrm>
          <a:prstGeom prst="rightArrow">
            <a:avLst/>
          </a:prstGeom>
          <a:solidFill>
            <a:srgbClr val="2E86AB"/>
          </a:solidFill>
          <a:ln w="12700">
            <a:solidFill>
              <a:srgbClr val="2E86AB"/>
            </a:solidFill>
            <a:prstDash val="solid"/>
          </a:ln>
        </p:spPr>
      </p:sp>
      <p:sp>
        <p:nvSpPr>
          <p:cNvPr id="16" name="Shape 13"/>
          <p:cNvSpPr/>
          <p:nvPr/>
        </p:nvSpPr>
        <p:spPr>
          <a:xfrm>
            <a:off x="5111496" y="1737360"/>
            <a:ext cx="1965960" cy="1188720"/>
          </a:xfrm>
          <a:prstGeom prst="roundRect">
            <a:avLst>
              <a:gd name="adj" fmla="val 7692"/>
            </a:avLst>
          </a:prstGeom>
          <a:solidFill>
            <a:srgbClr val="FFFFFF"/>
          </a:solidFill>
          <a:ln w="12700">
            <a:solidFill>
              <a:srgbClr val="D9DEE3"/>
            </a:solidFill>
            <a:prstDash val="solid"/>
          </a:ln>
        </p:spPr>
      </p:sp>
      <p:sp>
        <p:nvSpPr>
          <p:cNvPr id="17" name="Text 14"/>
          <p:cNvSpPr txBox="1"/>
          <p:nvPr/>
        </p:nvSpPr>
        <p:spPr>
          <a:xfrm>
            <a:off x="5202936" y="1810512"/>
            <a:ext cx="178308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Georgia" pitchFamily="34" charset="0"/>
                <a:ea typeface="Georgia" pitchFamily="34" charset="-122"/>
                <a:cs typeface="Georgia" pitchFamily="34" charset="-120"/>
              </a:rPr>
              <a:t>Similar pairs</a:t>
            </a:r>
            <a:endParaRPr lang="en-US" sz="1500" dirty="0"/>
          </a:p>
        </p:txBody>
      </p:sp>
      <p:sp>
        <p:nvSpPr>
          <p:cNvPr id="18" name="Text 15"/>
          <p:cNvSpPr txBox="1"/>
          <p:nvPr/>
        </p:nvSpPr>
        <p:spPr>
          <a:xfrm>
            <a:off x="5202936" y="2267712"/>
            <a:ext cx="1783080" cy="594360"/>
          </a:xfrm>
          <a:prstGeom prst="rect">
            <a:avLst/>
          </a:prstGeom>
          <a:noFill/>
          <a:ln/>
        </p:spPr>
        <p:txBody>
          <a:bodyPr wrap="square" lIns="0" tIns="0" rIns="0" bIns="0" rtlCol="0" anchor="t"/>
          <a:lstStyle/>
          <a:p>
            <a:pPr algn="ctr" indent="0" marL="0">
              <a:buNone/>
            </a:pPr>
            <a:r>
              <a:rPr lang="en-US" sz="1050" dirty="0">
                <a:solidFill>
                  <a:srgbClr val="5F6B73"/>
                </a:solidFill>
                <a:latin typeface="Arial" pitchFamily="34" charset="0"/>
                <a:ea typeface="Arial" pitchFamily="34" charset="-122"/>
                <a:cs typeface="Arial" pitchFamily="34" charset="-120"/>
              </a:rPr>
              <a:t>DINOv2 + actions, cosine top-k</a:t>
            </a:r>
            <a:endParaRPr lang="en-US" sz="1050" dirty="0"/>
          </a:p>
        </p:txBody>
      </p:sp>
      <p:sp>
        <p:nvSpPr>
          <p:cNvPr id="19" name="Shape 16"/>
          <p:cNvSpPr/>
          <p:nvPr/>
        </p:nvSpPr>
        <p:spPr>
          <a:xfrm>
            <a:off x="7123176" y="2194560"/>
            <a:ext cx="224028" cy="320040"/>
          </a:xfrm>
          <a:prstGeom prst="rightArrow">
            <a:avLst/>
          </a:prstGeom>
          <a:solidFill>
            <a:srgbClr val="2E86AB"/>
          </a:solidFill>
          <a:ln w="12700">
            <a:solidFill>
              <a:srgbClr val="2E86AB"/>
            </a:solidFill>
            <a:prstDash val="solid"/>
          </a:ln>
        </p:spPr>
      </p:sp>
      <p:sp>
        <p:nvSpPr>
          <p:cNvPr id="20" name="Shape 17"/>
          <p:cNvSpPr/>
          <p:nvPr/>
        </p:nvSpPr>
        <p:spPr>
          <a:xfrm>
            <a:off x="7392924" y="1737360"/>
            <a:ext cx="1965960" cy="1188720"/>
          </a:xfrm>
          <a:prstGeom prst="roundRect">
            <a:avLst>
              <a:gd name="adj" fmla="val 7692"/>
            </a:avLst>
          </a:prstGeom>
          <a:solidFill>
            <a:srgbClr val="FFFFFF"/>
          </a:solidFill>
          <a:ln w="12700">
            <a:solidFill>
              <a:srgbClr val="D9DEE3"/>
            </a:solidFill>
            <a:prstDash val="solid"/>
          </a:ln>
        </p:spPr>
      </p:sp>
      <p:sp>
        <p:nvSpPr>
          <p:cNvPr id="21" name="Text 18"/>
          <p:cNvSpPr txBox="1"/>
          <p:nvPr/>
        </p:nvSpPr>
        <p:spPr>
          <a:xfrm>
            <a:off x="7484364" y="1810512"/>
            <a:ext cx="178308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Georgia" pitchFamily="34" charset="0"/>
                <a:ea typeface="Georgia" pitchFamily="34" charset="-122"/>
                <a:cs typeface="Georgia" pitchFamily="34" charset="-120"/>
              </a:rPr>
              <a:t>Meta-ICL policy</a:t>
            </a:r>
            <a:endParaRPr lang="en-US" sz="1500" dirty="0"/>
          </a:p>
        </p:txBody>
      </p:sp>
      <p:sp>
        <p:nvSpPr>
          <p:cNvPr id="22" name="Text 19"/>
          <p:cNvSpPr txBox="1"/>
          <p:nvPr/>
        </p:nvSpPr>
        <p:spPr>
          <a:xfrm>
            <a:off x="7484364" y="2267712"/>
            <a:ext cx="1783080" cy="594360"/>
          </a:xfrm>
          <a:prstGeom prst="rect">
            <a:avLst/>
          </a:prstGeom>
          <a:noFill/>
          <a:ln/>
        </p:spPr>
        <p:txBody>
          <a:bodyPr wrap="square" lIns="0" tIns="0" rIns="0" bIns="0" rtlCol="0" anchor="t"/>
          <a:lstStyle/>
          <a:p>
            <a:pPr algn="ctr" indent="0" marL="0">
              <a:buNone/>
            </a:pPr>
            <a:r>
              <a:rPr lang="en-US" sz="1050" dirty="0">
                <a:solidFill>
                  <a:srgbClr val="5F6B73"/>
                </a:solidFill>
                <a:latin typeface="Arial" pitchFamily="34" charset="0"/>
                <a:ea typeface="Arial" pitchFamily="34" charset="-122"/>
                <a:cs typeface="Arial" pitchFamily="34" charset="-120"/>
              </a:rPr>
              <a:t>long-context transformer, L1 on 32-step chunks</a:t>
            </a:r>
            <a:endParaRPr lang="en-US" sz="1050" dirty="0"/>
          </a:p>
        </p:txBody>
      </p:sp>
      <p:sp>
        <p:nvSpPr>
          <p:cNvPr id="23" name="Shape 20"/>
          <p:cNvSpPr/>
          <p:nvPr/>
        </p:nvSpPr>
        <p:spPr>
          <a:xfrm>
            <a:off x="9404604" y="2194560"/>
            <a:ext cx="224028" cy="320040"/>
          </a:xfrm>
          <a:prstGeom prst="rightArrow">
            <a:avLst/>
          </a:prstGeom>
          <a:solidFill>
            <a:srgbClr val="2E86AB"/>
          </a:solidFill>
          <a:ln w="12700">
            <a:solidFill>
              <a:srgbClr val="2E86AB"/>
            </a:solidFill>
            <a:prstDash val="solid"/>
          </a:ln>
        </p:spPr>
      </p:sp>
      <p:sp>
        <p:nvSpPr>
          <p:cNvPr id="24" name="Shape 21"/>
          <p:cNvSpPr/>
          <p:nvPr/>
        </p:nvSpPr>
        <p:spPr>
          <a:xfrm>
            <a:off x="9674352" y="1737360"/>
            <a:ext cx="1965960" cy="1188720"/>
          </a:xfrm>
          <a:prstGeom prst="roundRect">
            <a:avLst>
              <a:gd name="adj" fmla="val 7692"/>
            </a:avLst>
          </a:prstGeom>
          <a:solidFill>
            <a:srgbClr val="1F4E79"/>
          </a:solidFill>
          <a:ln w="12700">
            <a:solidFill>
              <a:srgbClr val="1F4E79"/>
            </a:solidFill>
            <a:prstDash val="solid"/>
          </a:ln>
        </p:spPr>
      </p:sp>
      <p:sp>
        <p:nvSpPr>
          <p:cNvPr id="25" name="Text 22"/>
          <p:cNvSpPr txBox="1"/>
          <p:nvPr/>
        </p:nvSpPr>
        <p:spPr>
          <a:xfrm>
            <a:off x="9765792" y="1810512"/>
            <a:ext cx="17830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Humanoid</a:t>
            </a:r>
            <a:endParaRPr lang="en-US" sz="1500" dirty="0"/>
          </a:p>
        </p:txBody>
      </p:sp>
      <p:sp>
        <p:nvSpPr>
          <p:cNvPr id="26" name="Text 23"/>
          <p:cNvSpPr txBox="1"/>
          <p:nvPr/>
        </p:nvSpPr>
        <p:spPr>
          <a:xfrm>
            <a:off x="9765792" y="2267712"/>
            <a:ext cx="1783080" cy="594360"/>
          </a:xfrm>
          <a:prstGeom prst="rect">
            <a:avLst/>
          </a:prstGeom>
          <a:noFill/>
          <a:ln/>
        </p:spPr>
        <p:txBody>
          <a:bodyPr wrap="square" lIns="0" tIns="0" rIns="0" bIns="0" rtlCol="0" anchor="t"/>
          <a:lstStyle/>
          <a:p>
            <a:pPr algn="ctr" indent="0" marL="0">
              <a:buNone/>
            </a:pPr>
            <a:r>
              <a:rPr lang="en-US" sz="1050" dirty="0">
                <a:solidFill>
                  <a:srgbClr val="DCE8F2"/>
                </a:solidFill>
                <a:latin typeface="Arial" pitchFamily="34" charset="0"/>
                <a:ea typeface="Arial" pitchFamily="34" charset="-122"/>
                <a:cs typeface="Arial" pitchFamily="34" charset="-120"/>
              </a:rPr>
              <a:t>retarget wrist → IK → execute</a:t>
            </a:r>
            <a:endParaRPr lang="en-US" sz="1050" dirty="0"/>
          </a:p>
        </p:txBody>
      </p:sp>
      <p:sp>
        <p:nvSpPr>
          <p:cNvPr id="27" name="Shape 24"/>
          <p:cNvSpPr/>
          <p:nvPr/>
        </p:nvSpPr>
        <p:spPr>
          <a:xfrm>
            <a:off x="548640" y="3291840"/>
            <a:ext cx="3566160" cy="2377440"/>
          </a:xfrm>
          <a:prstGeom prst="rect">
            <a:avLst/>
          </a:prstGeom>
          <a:solidFill>
            <a:srgbClr val="FFFFFF"/>
          </a:solidFill>
          <a:ln w="12700">
            <a:solidFill>
              <a:srgbClr val="D9DEE3"/>
            </a:solidFill>
            <a:prstDash val="solid"/>
          </a:ln>
        </p:spPr>
      </p:sp>
      <p:sp>
        <p:nvSpPr>
          <p:cNvPr id="28" name="Shape 25"/>
          <p:cNvSpPr/>
          <p:nvPr/>
        </p:nvSpPr>
        <p:spPr>
          <a:xfrm>
            <a:off x="548640" y="3291840"/>
            <a:ext cx="3566160" cy="54864"/>
          </a:xfrm>
          <a:prstGeom prst="rect">
            <a:avLst/>
          </a:prstGeom>
          <a:solidFill>
            <a:srgbClr val="1F4E79"/>
          </a:solidFill>
          <a:ln w="12700">
            <a:solidFill>
              <a:srgbClr val="1F4E79"/>
            </a:solidFill>
            <a:prstDash val="solid"/>
          </a:ln>
        </p:spPr>
      </p:sp>
      <p:sp>
        <p:nvSpPr>
          <p:cNvPr id="29" name="Text 26"/>
          <p:cNvSpPr txBox="1"/>
          <p:nvPr/>
        </p:nvSpPr>
        <p:spPr>
          <a:xfrm>
            <a:off x="749808" y="34290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setup</a:t>
            </a:r>
            <a:endParaRPr lang="en-US" sz="1500" dirty="0"/>
          </a:p>
        </p:txBody>
      </p:sp>
      <p:sp>
        <p:nvSpPr>
          <p:cNvPr id="30" name="Text 27"/>
          <p:cNvSpPr txBox="1"/>
          <p:nvPr/>
        </p:nvSpPr>
        <p:spPr>
          <a:xfrm>
            <a:off x="749808" y="3886200"/>
            <a:ext cx="3163824" cy="16002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Test: D_test = {τᵢ^demo}, 1–3 human RGB videos of task 𝒯. Train: D_train = human play trajectories only; an implicit task distribution induced by natural play. Policy π_θ must use the demos in context, no parameter updates.</a:t>
            </a:r>
            <a:endParaRPr lang="en-US" sz="1200" dirty="0"/>
          </a:p>
        </p:txBody>
      </p:sp>
      <p:sp>
        <p:nvSpPr>
          <p:cNvPr id="31" name="Shape 28"/>
          <p:cNvSpPr/>
          <p:nvPr/>
        </p:nvSpPr>
        <p:spPr>
          <a:xfrm>
            <a:off x="4297680" y="3291840"/>
            <a:ext cx="3566160" cy="2377440"/>
          </a:xfrm>
          <a:prstGeom prst="rect">
            <a:avLst/>
          </a:prstGeom>
          <a:solidFill>
            <a:srgbClr val="FFFFFF"/>
          </a:solidFill>
          <a:ln w="12700">
            <a:solidFill>
              <a:srgbClr val="D9DEE3"/>
            </a:solidFill>
            <a:prstDash val="solid"/>
          </a:ln>
        </p:spPr>
      </p:sp>
      <p:sp>
        <p:nvSpPr>
          <p:cNvPr id="32" name="Shape 29"/>
          <p:cNvSpPr/>
          <p:nvPr/>
        </p:nvSpPr>
        <p:spPr>
          <a:xfrm>
            <a:off x="4297680" y="3291840"/>
            <a:ext cx="3566160" cy="54864"/>
          </a:xfrm>
          <a:prstGeom prst="rect">
            <a:avLst/>
          </a:prstGeom>
          <a:solidFill>
            <a:srgbClr val="1F4E79"/>
          </a:solidFill>
          <a:ln w="12700">
            <a:solidFill>
              <a:srgbClr val="1F4E79"/>
            </a:solidFill>
            <a:prstDash val="solid"/>
          </a:ln>
        </p:spPr>
      </p:sp>
      <p:sp>
        <p:nvSpPr>
          <p:cNvPr id="33" name="Text 30"/>
          <p:cNvSpPr txBox="1"/>
          <p:nvPr/>
        </p:nvSpPr>
        <p:spPr>
          <a:xfrm>
            <a:off x="4498848" y="34290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two challenges</a:t>
            </a:r>
            <a:endParaRPr lang="en-US" sz="1500" dirty="0"/>
          </a:p>
        </p:txBody>
      </p:sp>
      <p:sp>
        <p:nvSpPr>
          <p:cNvPr id="34" name="Text 31"/>
          <p:cNvSpPr txBox="1"/>
          <p:nvPr/>
        </p:nvSpPr>
        <p:spPr>
          <a:xfrm>
            <a:off x="4498848" y="3886200"/>
            <a:ext cx="3163824" cy="16002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(a) Construct training samples: play video has RGB only — actions, proprio and context–target pairs must be manufactured.</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(b) Cross the embodiment gap: kinematic (human hand → humanoid wrist) and visual (human appearance and occlusion).</a:t>
            </a:r>
            <a:endParaRPr lang="en-US" sz="1200" dirty="0"/>
          </a:p>
        </p:txBody>
      </p:sp>
      <p:sp>
        <p:nvSpPr>
          <p:cNvPr id="35" name="Shape 32"/>
          <p:cNvSpPr/>
          <p:nvPr/>
        </p:nvSpPr>
        <p:spPr>
          <a:xfrm>
            <a:off x="8046720" y="3291840"/>
            <a:ext cx="3566160" cy="2377440"/>
          </a:xfrm>
          <a:prstGeom prst="rect">
            <a:avLst/>
          </a:prstGeom>
          <a:solidFill>
            <a:srgbClr val="FFFFFF"/>
          </a:solidFill>
          <a:ln w="12700">
            <a:solidFill>
              <a:srgbClr val="D9DEE3"/>
            </a:solidFill>
            <a:prstDash val="solid"/>
          </a:ln>
        </p:spPr>
      </p:sp>
      <p:sp>
        <p:nvSpPr>
          <p:cNvPr id="36" name="Shape 33"/>
          <p:cNvSpPr/>
          <p:nvPr/>
        </p:nvSpPr>
        <p:spPr>
          <a:xfrm>
            <a:off x="8046720" y="3291840"/>
            <a:ext cx="3566160" cy="54864"/>
          </a:xfrm>
          <a:prstGeom prst="rect">
            <a:avLst/>
          </a:prstGeom>
          <a:solidFill>
            <a:srgbClr val="1F4E79"/>
          </a:solidFill>
          <a:ln w="12700">
            <a:solidFill>
              <a:srgbClr val="1F4E79"/>
            </a:solidFill>
            <a:prstDash val="solid"/>
          </a:ln>
        </p:spPr>
      </p:sp>
      <p:sp>
        <p:nvSpPr>
          <p:cNvPr id="37" name="Text 34"/>
          <p:cNvSpPr txBox="1"/>
          <p:nvPr/>
        </p:nvSpPr>
        <p:spPr>
          <a:xfrm>
            <a:off x="8247888" y="34290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The claim</a:t>
            </a:r>
            <a:endParaRPr lang="en-US" sz="1500" dirty="0"/>
          </a:p>
        </p:txBody>
      </p:sp>
      <p:sp>
        <p:nvSpPr>
          <p:cNvPr id="38" name="Text 35"/>
          <p:cNvSpPr txBox="1"/>
          <p:nvPr/>
        </p:nvSpPr>
        <p:spPr>
          <a:xfrm>
            <a:off x="8247888" y="3886200"/>
            <a:ext cx="3163824" cy="160020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Trained on play videos alone, the policy adapts in-context to novel objects and environments; nearly 2× the real-world success of the video-conditioned baseline and +26% over test-time fine-tuning, instantly.</a:t>
            </a:r>
            <a:endParaRPr lang="en-US" sz="1200" dirty="0"/>
          </a:p>
        </p:txBody>
      </p:sp>
      <p:sp>
        <p:nvSpPr>
          <p:cNvPr id="39" name="Shape 36"/>
          <p:cNvSpPr/>
          <p:nvPr/>
        </p:nvSpPr>
        <p:spPr>
          <a:xfrm>
            <a:off x="548640" y="5806440"/>
            <a:ext cx="11091672" cy="457200"/>
          </a:xfrm>
          <a:prstGeom prst="rect">
            <a:avLst/>
          </a:prstGeom>
          <a:solidFill>
            <a:srgbClr val="E8F1F8"/>
          </a:solidFill>
          <a:ln w="12700">
            <a:solidFill>
              <a:srgbClr val="E8F1F8"/>
            </a:solidFill>
            <a:prstDash val="solid"/>
          </a:ln>
        </p:spPr>
      </p:sp>
      <p:sp>
        <p:nvSpPr>
          <p:cNvPr id="40" name="Shape 37"/>
          <p:cNvSpPr/>
          <p:nvPr/>
        </p:nvSpPr>
        <p:spPr>
          <a:xfrm>
            <a:off x="548640" y="5806440"/>
            <a:ext cx="73152" cy="457200"/>
          </a:xfrm>
          <a:prstGeom prst="rect">
            <a:avLst/>
          </a:prstGeom>
          <a:solidFill>
            <a:srgbClr val="1F4E79"/>
          </a:solidFill>
          <a:ln w="12700">
            <a:solidFill>
              <a:srgbClr val="1F4E79"/>
            </a:solidFill>
            <a:prstDash val="solid"/>
          </a:ln>
        </p:spPr>
      </p:sp>
      <p:sp>
        <p:nvSpPr>
          <p:cNvPr id="41" name="Text 38"/>
          <p:cNvSpPr txBox="1"/>
          <p:nvPr/>
        </p:nvSpPr>
        <p:spPr>
          <a:xfrm>
            <a:off x="822960" y="5806440"/>
            <a:ext cx="10543032" cy="45720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Meta-ICL objective: 𝔼_𝒯 𝔼_{σᶜᵗˣ, σᵗᵍᵗ} [ ℒ_𝒯( π_θ(σᵗᵍᵗ | σᶜᵗˣ) ) ] — context trajectories show how; the target trajectory supervises.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1</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300" b="1" dirty="0">
                <a:solidFill>
                  <a:srgbClr val="1A1A1A"/>
                </a:solidFill>
                <a:latin typeface="Georgia" pitchFamily="34" charset="0"/>
                <a:ea typeface="Georgia" pitchFamily="34" charset="-122"/>
                <a:cs typeface="Georgia" pitchFamily="34" charset="-120"/>
              </a:rPr>
              <a:t>Collect human play videos — no robot, no labels, no task resets</a:t>
            </a:r>
            <a:endParaRPr lang="en-US" sz="23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13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Point one static RGB camera at a workspace and let a person play for ten minutes.</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2194560"/>
                <a:gridCol w="4206240"/>
                <a:gridCol w="4690872"/>
              </a:tblGrid>
              <a:tr h="0">
                <a:tc>
                  <a:txBody>
                    <a:bodyPr/>
                    <a:lstStyle/>
                    <a:p>
                      <a:pPr indent="0" marL="0">
                        <a:buNone/>
                      </a:pP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Real world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Simulation (benchmark)</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Interaction</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Operator's own single hand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Two free-floating 6-DoF hands via space mouse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Session length</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~10 minutes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20 minutes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Cameras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One static RGB camera</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Three cameras to cover the workspace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Total collected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45 min · 80k frames (1 h in appendix)</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8 h · 320k timesteps · 30 objects · 8 kitchens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Layout</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Randomised kitchen and object layouts per session</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RoboCasa scenes, randomised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bl>
          </a:graphicData>
        </a:graphic>
      </p:graphicFrame>
      <p:sp>
        <p:nvSpPr>
          <p:cNvPr id="12" name="Shape 8"/>
          <p:cNvSpPr/>
          <p:nvPr/>
        </p:nvSpPr>
        <p:spPr>
          <a:xfrm>
            <a:off x="548640" y="5120640"/>
            <a:ext cx="11091672" cy="685800"/>
          </a:xfrm>
          <a:prstGeom prst="rect">
            <a:avLst/>
          </a:prstGeom>
          <a:solidFill>
            <a:srgbClr val="E8F1F8"/>
          </a:solidFill>
          <a:ln w="12700">
            <a:solidFill>
              <a:srgbClr val="E8F1F8"/>
            </a:solidFill>
            <a:prstDash val="solid"/>
          </a:ln>
        </p:spPr>
      </p:sp>
      <p:sp>
        <p:nvSpPr>
          <p:cNvPr id="13" name="Shape 9"/>
          <p:cNvSpPr/>
          <p:nvPr/>
        </p:nvSpPr>
        <p:spPr>
          <a:xfrm>
            <a:off x="548640" y="5120640"/>
            <a:ext cx="73152" cy="685800"/>
          </a:xfrm>
          <a:prstGeom prst="rect">
            <a:avLst/>
          </a:prstGeom>
          <a:solidFill>
            <a:srgbClr val="1F4E79"/>
          </a:solidFill>
          <a:ln w="12700">
            <a:solidFill>
              <a:srgbClr val="1F4E79"/>
            </a:solidFill>
            <a:prstDash val="solid"/>
          </a:ln>
        </p:spPr>
      </p:sp>
      <p:sp>
        <p:nvSpPr>
          <p:cNvPr id="14" name="Text 10"/>
          <p:cNvSpPr txBox="1"/>
          <p:nvPr/>
        </p:nvSpPr>
        <p:spPr>
          <a:xfrm>
            <a:off x="822960" y="5120640"/>
            <a:ext cx="10543032" cy="68580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Output of step 1: raw trajectories τ = {sₜ}, RGB frames only. Compared with teleop, play data is about 18× faster to collect and naturally contains recurring behaviours ("bread to oven" … "bagel to oven") that step 3 will mine.</a:t>
            </a:r>
            <a:endParaRPr lang="en-US" sz="1250" dirty="0"/>
          </a:p>
        </p:txBody>
      </p:sp>
      <p:sp>
        <p:nvSpPr>
          <p:cNvPr id="15" name="Text 11"/>
          <p:cNvSpPr txBox="1"/>
          <p:nvPr/>
        </p:nvSpPr>
        <p:spPr>
          <a:xfrm>
            <a:off x="548640" y="5897880"/>
            <a:ext cx="11091672" cy="41148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Real evaluation and play data in the paper use the Fourier GR1 humanoid. For a Unitree G1 the videos are the same; only the retargeting target changes (step 4).</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2</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Extract actions and proprioception from the hands</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14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Run a hand-pose model on every frame; the next pose becomes this frame's action.</a:t>
            </a:r>
            <a:endParaRPr lang="en-US" sz="1800" dirty="0"/>
          </a:p>
        </p:txBody>
      </p:sp>
      <p:sp>
        <p:nvSpPr>
          <p:cNvPr id="11" name="Shape 8"/>
          <p:cNvSpPr/>
          <p:nvPr/>
        </p:nvSpPr>
        <p:spPr>
          <a:xfrm>
            <a:off x="548640" y="2286000"/>
            <a:ext cx="6766560" cy="2286000"/>
          </a:xfrm>
          <a:prstGeom prst="rect">
            <a:avLst/>
          </a:prstGeom>
          <a:solidFill>
            <a:srgbClr val="F3F5F7"/>
          </a:solidFill>
          <a:ln w="12700">
            <a:solidFill>
              <a:srgbClr val="D9DEE3"/>
            </a:solidFill>
            <a:prstDash val="solid"/>
          </a:ln>
        </p:spPr>
      </p:sp>
      <p:sp>
        <p:nvSpPr>
          <p:cNvPr id="12" name="Text 9"/>
          <p:cNvSpPr txBox="1"/>
          <p:nvPr/>
        </p:nvSpPr>
        <p:spPr>
          <a:xfrm>
            <a:off x="731520" y="2423160"/>
            <a:ext cx="6400800" cy="2011680"/>
          </a:xfrm>
          <a:prstGeom prst="rect">
            <a:avLst/>
          </a:prstGeom>
          <a:noFill/>
          <a:ln/>
        </p:spPr>
        <p:txBody>
          <a:bodyPr wrap="square" lIns="0" tIns="0" rIns="0" bIns="0" rtlCol="0" anchor="t"/>
          <a:lstStyle/>
          <a:p>
            <a:pPr indent="0" marL="0">
              <a:buNone/>
            </a:pPr>
            <a:r>
              <a:rPr lang="en-US" sz="1150" dirty="0">
                <a:solidFill>
                  <a:srgbClr val="1A1A1A"/>
                </a:solidFill>
                <a:latin typeface="Courier New" pitchFamily="34" charset="0"/>
                <a:ea typeface="Courier New" pitchFamily="34" charset="-122"/>
                <a:cs typeface="Courier New" pitchFamily="34" charset="-120"/>
              </a:rPr>
              <a:t>for each frame s_t in a play video:</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h_t      = WiLoR(s_t)              # wrist 6-DoF (camera frame) + grasp from finger angles</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a_t      = h_{t+k}                 # intended action = future hand pose  (real world: k = 1)</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s'_t     = { s_t, h_t }            # observation = object-centric RGB crop + proprio (hand pose)</a:t>
            </a:r>
            <a:endParaRPr lang="en-US" sz="1150" dirty="0"/>
          </a:p>
          <a:p>
            <a:pPr indent="0" marL="0">
              <a:buNone/>
            </a:pP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processed trajectory:  τ' = { (s'_t, a_t) }_{t=1..T}</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action chunking:       predict l = 32 future actions per step</a:t>
            </a:r>
            <a:endParaRPr lang="en-US" sz="1150" dirty="0"/>
          </a:p>
        </p:txBody>
      </p:sp>
      <p:sp>
        <p:nvSpPr>
          <p:cNvPr id="13" name="Shape 10"/>
          <p:cNvSpPr/>
          <p:nvPr/>
        </p:nvSpPr>
        <p:spPr>
          <a:xfrm>
            <a:off x="7498080" y="2286000"/>
            <a:ext cx="4142232" cy="2286000"/>
          </a:xfrm>
          <a:prstGeom prst="rect">
            <a:avLst/>
          </a:prstGeom>
          <a:solidFill>
            <a:srgbClr val="FFFFFF"/>
          </a:solidFill>
          <a:ln w="12700">
            <a:solidFill>
              <a:srgbClr val="D9DEE3"/>
            </a:solidFill>
            <a:prstDash val="solid"/>
          </a:ln>
        </p:spPr>
      </p:sp>
      <p:sp>
        <p:nvSpPr>
          <p:cNvPr id="14" name="Shape 11"/>
          <p:cNvSpPr/>
          <p:nvPr/>
        </p:nvSpPr>
        <p:spPr>
          <a:xfrm>
            <a:off x="7498080" y="2286000"/>
            <a:ext cx="4142232" cy="54864"/>
          </a:xfrm>
          <a:prstGeom prst="rect">
            <a:avLst/>
          </a:prstGeom>
          <a:solidFill>
            <a:srgbClr val="1F4E79"/>
          </a:solidFill>
          <a:ln w="12700">
            <a:solidFill>
              <a:srgbClr val="1F4E79"/>
            </a:solidFill>
            <a:prstDash val="solid"/>
          </a:ln>
        </p:spPr>
      </p:sp>
      <p:sp>
        <p:nvSpPr>
          <p:cNvPr id="15" name="Text 12"/>
          <p:cNvSpPr txBox="1"/>
          <p:nvPr/>
        </p:nvSpPr>
        <p:spPr>
          <a:xfrm>
            <a:off x="7699248" y="2423160"/>
            <a:ext cx="3739896"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Why this works on a humanoid</a:t>
            </a:r>
            <a:endParaRPr lang="en-US" sz="1500" dirty="0"/>
          </a:p>
        </p:txBody>
      </p:sp>
      <p:sp>
        <p:nvSpPr>
          <p:cNvPr id="16" name="Text 13"/>
          <p:cNvSpPr txBox="1"/>
          <p:nvPr/>
        </p:nvSpPr>
        <p:spPr>
          <a:xfrm>
            <a:off x="7699248" y="2880360"/>
            <a:ext cx="3739896" cy="150876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Operating in task space (Cartesian wrist pose) and exploiting kinematic similarity between humans and humanoids preserves task intent without asking demonstrators to move like a robot (cf. OKAMI, Humanoid Policy ~ Human Policy).</a:t>
            </a:r>
            <a:endParaRPr lang="en-US" sz="1150" dirty="0"/>
          </a:p>
        </p:txBody>
      </p:sp>
      <p:sp>
        <p:nvSpPr>
          <p:cNvPr id="17" name="Shape 14"/>
          <p:cNvSpPr/>
          <p:nvPr/>
        </p:nvSpPr>
        <p:spPr>
          <a:xfrm>
            <a:off x="548640" y="4800600"/>
            <a:ext cx="11091672" cy="502920"/>
          </a:xfrm>
          <a:prstGeom prst="rect">
            <a:avLst/>
          </a:prstGeom>
          <a:solidFill>
            <a:srgbClr val="E8F1F8"/>
          </a:solidFill>
          <a:ln w="12700">
            <a:solidFill>
              <a:srgbClr val="E8F1F8"/>
            </a:solidFill>
            <a:prstDash val="solid"/>
          </a:ln>
        </p:spPr>
      </p:sp>
      <p:sp>
        <p:nvSpPr>
          <p:cNvPr id="18" name="Shape 15"/>
          <p:cNvSpPr/>
          <p:nvPr/>
        </p:nvSpPr>
        <p:spPr>
          <a:xfrm>
            <a:off x="548640" y="4800600"/>
            <a:ext cx="73152" cy="502920"/>
          </a:xfrm>
          <a:prstGeom prst="rect">
            <a:avLst/>
          </a:prstGeom>
          <a:solidFill>
            <a:srgbClr val="1F4E79"/>
          </a:solidFill>
          <a:ln w="12700">
            <a:solidFill>
              <a:srgbClr val="1F4E79"/>
            </a:solidFill>
            <a:prstDash val="solid"/>
          </a:ln>
        </p:spPr>
      </p:sp>
      <p:sp>
        <p:nvSpPr>
          <p:cNvPr id="19" name="Text 16"/>
          <p:cNvSpPr txBox="1"/>
          <p:nvPr/>
        </p:nvSpPr>
        <p:spPr>
          <a:xfrm>
            <a:off x="822960" y="4800600"/>
            <a:ext cx="10543032" cy="50292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Output of step 2: state–action trajectories with the same form as robot data — except every action came from a person's hand.</a:t>
            </a:r>
            <a:endParaRPr lang="en-US" sz="1250" dirty="0"/>
          </a:p>
        </p:txBody>
      </p:sp>
      <p:sp>
        <p:nvSpPr>
          <p:cNvPr id="20" name="Text 17"/>
          <p:cNvSpPr txBox="1"/>
          <p:nvPr/>
        </p:nvSpPr>
        <p:spPr>
          <a:xfrm>
            <a:off x="548640" y="5486400"/>
            <a:ext cx="11091672" cy="54864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Known failure: the estimator handles partial occlusion with hand priors, but fails when hands vanish (reaching into cupboards, behind furniture). The authors suggest adding full-body motion estimation.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3</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Mine context–target pairs from continuous play</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15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Let recurring behaviour in play data define the task groups — no labels needed.</a:t>
            </a:r>
            <a:endParaRPr lang="en-US" sz="1800" dirty="0"/>
          </a:p>
        </p:txBody>
      </p:sp>
      <p:sp>
        <p:nvSpPr>
          <p:cNvPr id="11" name="Shape 8"/>
          <p:cNvSpPr/>
          <p:nvPr/>
        </p:nvSpPr>
        <p:spPr>
          <a:xfrm>
            <a:off x="548640" y="2286000"/>
            <a:ext cx="6766560" cy="1965960"/>
          </a:xfrm>
          <a:prstGeom prst="rect">
            <a:avLst/>
          </a:prstGeom>
          <a:solidFill>
            <a:srgbClr val="F3F5F7"/>
          </a:solidFill>
          <a:ln w="12700">
            <a:solidFill>
              <a:srgbClr val="D9DEE3"/>
            </a:solidFill>
            <a:prstDash val="solid"/>
          </a:ln>
        </p:spPr>
      </p:sp>
      <p:sp>
        <p:nvSpPr>
          <p:cNvPr id="12" name="Text 9"/>
          <p:cNvSpPr txBox="1"/>
          <p:nvPr/>
        </p:nvSpPr>
        <p:spPr>
          <a:xfrm>
            <a:off x="731520" y="2423160"/>
            <a:ext cx="6400800" cy="1691640"/>
          </a:xfrm>
          <a:prstGeom prst="rect">
            <a:avLst/>
          </a:prstGeom>
          <a:noFill/>
          <a:ln/>
        </p:spPr>
        <p:txBody>
          <a:bodyPr wrap="square" lIns="0" tIns="0" rIns="0" bIns="0" rtlCol="0" anchor="t"/>
          <a:lstStyle/>
          <a:p>
            <a:pPr indent="0" marL="0">
              <a:buNone/>
            </a:pPr>
            <a:r>
              <a:rPr lang="en-US" sz="1150" dirty="0">
                <a:solidFill>
                  <a:srgbClr val="1A1A1A"/>
                </a:solidFill>
                <a:latin typeface="Courier New" pitchFamily="34" charset="0"/>
                <a:ea typeface="Courier New" pitchFamily="34" charset="-122"/>
                <a:cs typeface="Courier New" pitchFamily="34" charset="-120"/>
              </a:rPr>
              <a:t>φ(σ) = [ (1/T) Σ_t DINOv2(s_t) ,  a_1, …, a_T ]        # visual summary + action sequence</a:t>
            </a:r>
            <a:endParaRPr lang="en-US" sz="1150" dirty="0"/>
          </a:p>
          <a:p>
            <a:pPr indent="0" marL="0">
              <a:buNone/>
            </a:pP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for each sampled target segment σ_tgt ⊂ τ':</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score(σ) = cos( φ(σ_tgt), φ(σ) )   for every other segment σ in the dataset</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context  = top-k by score            # k = 50 retrieval pool; 3 used per training sample</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  sample   = ( {σ_ctx_i}, σ_tgt )</a:t>
            </a:r>
            <a:endParaRPr lang="en-US" sz="1150" dirty="0"/>
          </a:p>
        </p:txBody>
      </p:sp>
      <p:sp>
        <p:nvSpPr>
          <p:cNvPr id="13" name="Shape 10"/>
          <p:cNvSpPr/>
          <p:nvPr/>
        </p:nvSpPr>
        <p:spPr>
          <a:xfrm>
            <a:off x="7498080" y="2286000"/>
            <a:ext cx="4142232" cy="1965960"/>
          </a:xfrm>
          <a:prstGeom prst="rect">
            <a:avLst/>
          </a:prstGeom>
          <a:solidFill>
            <a:srgbClr val="FFFFFF"/>
          </a:solidFill>
          <a:ln w="12700">
            <a:solidFill>
              <a:srgbClr val="D9DEE3"/>
            </a:solidFill>
            <a:prstDash val="solid"/>
          </a:ln>
        </p:spPr>
      </p:sp>
      <p:sp>
        <p:nvSpPr>
          <p:cNvPr id="14" name="Shape 11"/>
          <p:cNvSpPr/>
          <p:nvPr/>
        </p:nvSpPr>
        <p:spPr>
          <a:xfrm>
            <a:off x="7498080" y="2286000"/>
            <a:ext cx="4142232" cy="54864"/>
          </a:xfrm>
          <a:prstGeom prst="rect">
            <a:avLst/>
          </a:prstGeom>
          <a:solidFill>
            <a:srgbClr val="1F4E79"/>
          </a:solidFill>
          <a:ln w="12700">
            <a:solidFill>
              <a:srgbClr val="1F4E79"/>
            </a:solidFill>
            <a:prstDash val="solid"/>
          </a:ln>
        </p:spPr>
      </p:sp>
      <p:sp>
        <p:nvSpPr>
          <p:cNvPr id="15" name="Text 12"/>
          <p:cNvSpPr txBox="1"/>
          <p:nvPr/>
        </p:nvSpPr>
        <p:spPr>
          <a:xfrm>
            <a:off x="7699248" y="2423160"/>
            <a:ext cx="3739896"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What a pair looks like</a:t>
            </a:r>
            <a:endParaRPr lang="en-US" sz="1500" dirty="0"/>
          </a:p>
        </p:txBody>
      </p:sp>
      <p:sp>
        <p:nvSpPr>
          <p:cNvPr id="16" name="Text 13"/>
          <p:cNvSpPr txBox="1"/>
          <p:nvPr/>
        </p:nvSpPr>
        <p:spPr>
          <a:xfrm>
            <a:off x="7699248" y="2880360"/>
            <a:ext cx="3739896" cy="118872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Target: "move bread from plate to oven". Retrieved context: "move bagel from plate to oven", "move cup from counter to tray" — different objects, same observation–action pattern.</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Choice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Effect reported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Small k</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Limits training diversity</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Large k</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Includes dissimilar segments; performance drops from noise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k = 50</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Balance between diversity and noise (their setting)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Mean-pooled DINOv2 + actions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Robust to background clutter; captures the observation–action distribution rather than pixels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4</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Bridge the embodiment gap: kinematic and visual</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16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Retarget in task space; mask patches so the policy stops looking at the human.</a:t>
            </a:r>
            <a:endParaRPr lang="en-US" sz="1800" dirty="0"/>
          </a:p>
        </p:txBody>
      </p:sp>
      <p:sp>
        <p:nvSpPr>
          <p:cNvPr id="11" name="Shape 8"/>
          <p:cNvSpPr/>
          <p:nvPr/>
        </p:nvSpPr>
        <p:spPr>
          <a:xfrm>
            <a:off x="548640" y="2286000"/>
            <a:ext cx="5440680" cy="2651760"/>
          </a:xfrm>
          <a:prstGeom prst="rect">
            <a:avLst/>
          </a:prstGeom>
          <a:solidFill>
            <a:srgbClr val="FFFFFF"/>
          </a:solidFill>
          <a:ln w="12700">
            <a:solidFill>
              <a:srgbClr val="D9DEE3"/>
            </a:solidFill>
            <a:prstDash val="solid"/>
          </a:ln>
        </p:spPr>
      </p:sp>
      <p:sp>
        <p:nvSpPr>
          <p:cNvPr id="12" name="Shape 9"/>
          <p:cNvSpPr/>
          <p:nvPr/>
        </p:nvSpPr>
        <p:spPr>
          <a:xfrm>
            <a:off x="548640" y="2286000"/>
            <a:ext cx="5440680" cy="54864"/>
          </a:xfrm>
          <a:prstGeom prst="rect">
            <a:avLst/>
          </a:prstGeom>
          <a:solidFill>
            <a:srgbClr val="1F4E79"/>
          </a:solidFill>
          <a:ln w="12700">
            <a:solidFill>
              <a:srgbClr val="1F4E79"/>
            </a:solidFill>
            <a:prstDash val="solid"/>
          </a:ln>
        </p:spPr>
      </p:sp>
      <p:sp>
        <p:nvSpPr>
          <p:cNvPr id="13" name="Text 10"/>
          <p:cNvSpPr txBox="1"/>
          <p:nvPr/>
        </p:nvSpPr>
        <p:spPr>
          <a:xfrm>
            <a:off x="749808" y="242316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Kinematic gap → wrist retargeting</a:t>
            </a:r>
            <a:endParaRPr lang="en-US" sz="1500" dirty="0"/>
          </a:p>
        </p:txBody>
      </p:sp>
      <p:sp>
        <p:nvSpPr>
          <p:cNvPr id="14" name="Text 11"/>
          <p:cNvSpPr txBox="1"/>
          <p:nvPr/>
        </p:nvSpPr>
        <p:spPr>
          <a:xfrm>
            <a:off x="749808" y="2880360"/>
            <a:ext cx="5038344" cy="187452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human wrist pose (camera frame)</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 humanoid wrist pose (robot base frame)</a:t>
            </a: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  → inverse kinematics → arm joint angles</a:t>
            </a:r>
            <a:endParaRPr lang="en-US" sz="1200" dirty="0"/>
          </a:p>
          <a:p>
            <a:pPr indent="0" marL="0">
              <a:spcAft>
                <a:spcPts val="600"/>
              </a:spcAft>
              <a:buNone/>
            </a:pP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Task space preserves intent; the demonstrator never has to mimic robot morphology. Grasp signal → hand open/close.</a:t>
            </a:r>
            <a:endParaRPr lang="en-US" sz="1200" dirty="0"/>
          </a:p>
        </p:txBody>
      </p:sp>
      <p:sp>
        <p:nvSpPr>
          <p:cNvPr id="15" name="Shape 12"/>
          <p:cNvSpPr/>
          <p:nvPr/>
        </p:nvSpPr>
        <p:spPr>
          <a:xfrm>
            <a:off x="6172200" y="2286000"/>
            <a:ext cx="5440680" cy="2651760"/>
          </a:xfrm>
          <a:prstGeom prst="rect">
            <a:avLst/>
          </a:prstGeom>
          <a:solidFill>
            <a:srgbClr val="FFFFFF"/>
          </a:solidFill>
          <a:ln w="12700">
            <a:solidFill>
              <a:srgbClr val="D9DEE3"/>
            </a:solidFill>
            <a:prstDash val="solid"/>
          </a:ln>
        </p:spPr>
      </p:sp>
      <p:sp>
        <p:nvSpPr>
          <p:cNvPr id="16" name="Shape 13"/>
          <p:cNvSpPr/>
          <p:nvPr/>
        </p:nvSpPr>
        <p:spPr>
          <a:xfrm>
            <a:off x="6172200" y="2286000"/>
            <a:ext cx="5440680" cy="54864"/>
          </a:xfrm>
          <a:prstGeom prst="rect">
            <a:avLst/>
          </a:prstGeom>
          <a:solidFill>
            <a:srgbClr val="1F4E79"/>
          </a:solidFill>
          <a:ln w="12700">
            <a:solidFill>
              <a:srgbClr val="1F4E79"/>
            </a:solidFill>
            <a:prstDash val="solid"/>
          </a:ln>
        </p:spPr>
      </p:sp>
      <p:sp>
        <p:nvSpPr>
          <p:cNvPr id="17" name="Text 14"/>
          <p:cNvSpPr txBox="1"/>
          <p:nvPr/>
        </p:nvSpPr>
        <p:spPr>
          <a:xfrm>
            <a:off x="6373368" y="2423160"/>
            <a:ext cx="503834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Visual gap → random patch masking</a:t>
            </a:r>
            <a:endParaRPr lang="en-US" sz="1500" dirty="0"/>
          </a:p>
        </p:txBody>
      </p:sp>
      <p:sp>
        <p:nvSpPr>
          <p:cNvPr id="18" name="Text 15"/>
          <p:cNvSpPr txBox="1"/>
          <p:nvPr/>
        </p:nvSpPr>
        <p:spPr>
          <a:xfrm>
            <a:off x="6373368" y="2880360"/>
            <a:ext cx="5038344" cy="1874520"/>
          </a:xfrm>
          <a:prstGeom prst="rect">
            <a:avLst/>
          </a:prstGeom>
          <a:noFill/>
          <a:ln/>
        </p:spPr>
        <p:txBody>
          <a:bodyPr wrap="square" lIns="0" tIns="0" rIns="0" bIns="0" rtlCol="0" anchor="t"/>
          <a:lstStyle/>
          <a:p>
            <a:pPr indent="0" marL="0">
              <a:spcAft>
                <a:spcPts val="600"/>
              </a:spcAft>
              <a:buNone/>
            </a:pPr>
            <a:r>
              <a:rPr lang="en-US" sz="1200" dirty="0">
                <a:solidFill>
                  <a:srgbClr val="1A1A1A"/>
                </a:solidFill>
                <a:latin typeface="Arial" pitchFamily="34" charset="0"/>
                <a:ea typeface="Arial" pitchFamily="34" charset="-122"/>
                <a:cs typeface="Arial" pitchFamily="34" charset="-120"/>
              </a:rPr>
              <a:t>During training, with probability p = 0.8, mask a uniformly sampled 1–16 patches of the input image.</a:t>
            </a:r>
            <a:endParaRPr lang="en-US" sz="1200" dirty="0"/>
          </a:p>
          <a:p>
            <a:pPr indent="0" marL="0">
              <a:spcAft>
                <a:spcPts val="600"/>
              </a:spcAft>
              <a:buNone/>
            </a:pPr>
            <a:endParaRPr lang="en-US" sz="1200" dirty="0"/>
          </a:p>
          <a:p>
            <a:pPr indent="0" marL="0">
              <a:spcAft>
                <a:spcPts val="600"/>
              </a:spcAft>
              <a:buNone/>
            </a:pPr>
            <a:r>
              <a:rPr lang="en-US" sz="1200" dirty="0">
                <a:solidFill>
                  <a:srgbClr val="1A1A1A"/>
                </a:solidFill>
                <a:latin typeface="Arial" pitchFamily="34" charset="0"/>
                <a:ea typeface="Arial" pitchFamily="34" charset="-122"/>
                <a:cs typeface="Arial" pitchFamily="34" charset="-120"/>
              </a:rPr>
              <a:t>Ablation (sim, averaged L1–L3): abstract→humanoid drop is −17% without masking, −3% with it. Real world: 0.53 vs EgoMimic-style hand masking 0.58, with no SAM segmentation needed.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5120640"/>
          <a:ext cx="11091672" cy="914400"/>
        </p:xfrm>
        <a:graphic>
          <a:graphicData uri="http://schemas.openxmlformats.org/drawingml/2006/table">
            <a:tbl>
              <a:tblPr/>
              <a:tblGrid>
                <a:gridCol w="2377440"/>
                <a:gridCol w="871423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For a Unitree G1</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changes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Retarget target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GR1 wrist frame → G1 wrist frame; G1 arm IK with joint/velocity limits and torso/head collision model</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Hand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Binary grasp → parallel gripper width or Dex3 synergy; calibrate once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Camera</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Static workspace camera pose must be known w.r.t. the G1 base; hand poses were estimated in the camera frame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5</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Meta-train the policy to learn in context</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17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Each gradient step: watch three similar clips, predict the fourth.</a:t>
            </a:r>
            <a:endParaRPr lang="en-US" sz="1800" dirty="0"/>
          </a:p>
        </p:txBody>
      </p:sp>
      <p:sp>
        <p:nvSpPr>
          <p:cNvPr id="11" name="Shape 8"/>
          <p:cNvSpPr/>
          <p:nvPr/>
        </p:nvSpPr>
        <p:spPr>
          <a:xfrm>
            <a:off x="548640" y="2286000"/>
            <a:ext cx="6766560" cy="2103120"/>
          </a:xfrm>
          <a:prstGeom prst="rect">
            <a:avLst/>
          </a:prstGeom>
          <a:solidFill>
            <a:srgbClr val="F3F5F7"/>
          </a:solidFill>
          <a:ln w="12700">
            <a:solidFill>
              <a:srgbClr val="D9DEE3"/>
            </a:solidFill>
            <a:prstDash val="solid"/>
          </a:ln>
        </p:spPr>
      </p:sp>
      <p:sp>
        <p:nvSpPr>
          <p:cNvPr id="12" name="Text 9"/>
          <p:cNvSpPr txBox="1"/>
          <p:nvPr/>
        </p:nvSpPr>
        <p:spPr>
          <a:xfrm>
            <a:off x="731520" y="2423160"/>
            <a:ext cx="6400800" cy="1828800"/>
          </a:xfrm>
          <a:prstGeom prst="rect">
            <a:avLst/>
          </a:prstGeom>
          <a:noFill/>
          <a:ln/>
        </p:spPr>
        <p:txBody>
          <a:bodyPr wrap="square" lIns="0" tIns="0" rIns="0" bIns="0" rtlCol="0" anchor="t"/>
          <a:lstStyle/>
          <a:p>
            <a:pPr indent="0" marL="0">
              <a:buNone/>
            </a:pPr>
            <a:r>
              <a:rPr lang="en-US" sz="1150" dirty="0">
                <a:solidFill>
                  <a:srgbClr val="1A1A1A"/>
                </a:solidFill>
                <a:latin typeface="Courier New" pitchFamily="34" charset="0"/>
                <a:ea typeface="Courier New" pitchFamily="34" charset="-122"/>
                <a:cs typeface="Courier New" pitchFamily="34" charset="-120"/>
              </a:rPr>
              <a:t>L_BC = Σ_t || π( a_{t:t+32} | s'_{1:t}, a_{1:t-1}, {σ_ctx_i}_{i=1..3} ) − a_{t:t+32} ||_1</a:t>
            </a:r>
            <a:endParaRPr lang="en-US" sz="1150" dirty="0"/>
          </a:p>
          <a:p>
            <a:pPr indent="0" marL="0">
              <a:buNone/>
            </a:pP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training sample = 3 context segments + 1 target segment</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segment length  = 256 steps (sim) / 128 steps (real), inputs downsampled ×4</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tokens per step = observation + action tokens;  32-action chunk out per step</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masking         = p = 0.8, 1–16 patches (step 4)</a:t>
            </a:r>
            <a:endParaRPr lang="en-US" sz="1150" dirty="0"/>
          </a:p>
        </p:txBody>
      </p:sp>
      <p:sp>
        <p:nvSpPr>
          <p:cNvPr id="13" name="Shape 10"/>
          <p:cNvSpPr/>
          <p:nvPr/>
        </p:nvSpPr>
        <p:spPr>
          <a:xfrm>
            <a:off x="7498080" y="2286000"/>
            <a:ext cx="4142232" cy="2103120"/>
          </a:xfrm>
          <a:prstGeom prst="rect">
            <a:avLst/>
          </a:prstGeom>
          <a:solidFill>
            <a:srgbClr val="FFFFFF"/>
          </a:solidFill>
          <a:ln w="12700">
            <a:solidFill>
              <a:srgbClr val="D9DEE3"/>
            </a:solidFill>
            <a:prstDash val="solid"/>
          </a:ln>
        </p:spPr>
      </p:sp>
      <p:sp>
        <p:nvSpPr>
          <p:cNvPr id="14" name="Shape 11"/>
          <p:cNvSpPr/>
          <p:nvPr/>
        </p:nvSpPr>
        <p:spPr>
          <a:xfrm>
            <a:off x="7498080" y="2286000"/>
            <a:ext cx="4142232" cy="54864"/>
          </a:xfrm>
          <a:prstGeom prst="rect">
            <a:avLst/>
          </a:prstGeom>
          <a:solidFill>
            <a:srgbClr val="1F4E79"/>
          </a:solidFill>
          <a:ln w="12700">
            <a:solidFill>
              <a:srgbClr val="1F4E79"/>
            </a:solidFill>
            <a:prstDash val="solid"/>
          </a:ln>
        </p:spPr>
      </p:sp>
      <p:sp>
        <p:nvSpPr>
          <p:cNvPr id="15" name="Text 12"/>
          <p:cNvSpPr txBox="1"/>
          <p:nvPr/>
        </p:nvSpPr>
        <p:spPr>
          <a:xfrm>
            <a:off x="7699248" y="2423160"/>
            <a:ext cx="3739896"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Why chunking</a:t>
            </a:r>
            <a:endParaRPr lang="en-US" sz="1500" dirty="0"/>
          </a:p>
        </p:txBody>
      </p:sp>
      <p:sp>
        <p:nvSpPr>
          <p:cNvPr id="16" name="Text 13"/>
          <p:cNvSpPr txBox="1"/>
          <p:nvPr/>
        </p:nvSpPr>
        <p:spPr>
          <a:xfrm>
            <a:off x="7699248" y="2880360"/>
            <a:ext cx="3739896" cy="1325880"/>
          </a:xfrm>
          <a:prstGeom prst="rect">
            <a:avLst/>
          </a:prstGeom>
          <a:noFill/>
          <a:ln/>
        </p:spPr>
        <p:txBody>
          <a:bodyPr wrap="square" lIns="0" tIns="0" rIns="0" bIns="0" rtlCol="0" anchor="t"/>
          <a:lstStyle/>
          <a:p>
            <a:pPr indent="0" marL="0">
              <a:spcAft>
                <a:spcPts val="600"/>
              </a:spcAft>
              <a:buNone/>
            </a:pPr>
            <a:r>
              <a:rPr lang="en-US" sz="1150" dirty="0">
                <a:solidFill>
                  <a:srgbClr val="1A1A1A"/>
                </a:solidFill>
                <a:latin typeface="Arial" pitchFamily="34" charset="0"/>
                <a:ea typeface="Arial" pitchFamily="34" charset="-122"/>
                <a:cs typeface="Arial" pitchFamily="34" charset="-120"/>
              </a:rPr>
              <a:t>Play data is multimodal; predicting 32 future actions per step (ACT-style) models that better than next-action prediction and keeps the output rate high while inputs are downsampled.</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1672" cy="914400"/>
        </p:xfrm>
        <a:graphic>
          <a:graphicData uri="http://schemas.openxmlformats.org/drawingml/2006/table">
            <a:tbl>
              <a:tblPr/>
              <a:tblGrid>
                <a:gridCol w="4572000"/>
                <a:gridCol w="3255264"/>
                <a:gridCol w="3264408"/>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Scaling result (sim)</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128k frames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320k frames</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L1 · seen objects, seen env</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35%</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59%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L2 · unseen objects, seen env</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21%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L3 · unseen objects, unseen env</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16%</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27%</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bl>
          </a:graphicData>
        </a:graphic>
      </p:graphicFrame>
      <p:sp>
        <p:nvSpPr>
          <p:cNvPr id="18" name="Text 14"/>
          <p:cNvSpPr txBox="1"/>
          <p:nvPr/>
        </p:nvSpPr>
        <p:spPr>
          <a:xfrm>
            <a:off x="548640" y="5989320"/>
            <a:ext cx="11091672" cy="32004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Consistent gains at every level as play data grows — the argument that this data source scales.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STEP 6</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Test time: show the humanoid one to three human videos</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18 / 23</a:t>
            </a:r>
            <a:endParaRPr lang="en-US" sz="900" dirty="0"/>
          </a:p>
        </p:txBody>
      </p:sp>
      <p:sp>
        <p:nvSpPr>
          <p:cNvPr id="8" name="Shape 5"/>
          <p:cNvSpPr/>
          <p:nvPr/>
        </p:nvSpPr>
        <p:spPr>
          <a:xfrm>
            <a:off x="548640" y="1554480"/>
            <a:ext cx="548640" cy="548640"/>
          </a:xfrm>
          <a:prstGeom prst="ellipse">
            <a:avLst/>
          </a:prstGeom>
          <a:solidFill>
            <a:srgbClr val="1F4E79"/>
          </a:solidFill>
          <a:ln w="12700">
            <a:solidFill>
              <a:srgbClr val="1F4E79"/>
            </a:solidFill>
            <a:prstDash val="solid"/>
          </a:ln>
        </p:spPr>
      </p:sp>
      <p:sp>
        <p:nvSpPr>
          <p:cNvPr id="9" name="Text 6"/>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6</a:t>
            </a:r>
            <a:endParaRPr lang="en-US" sz="2000" dirty="0"/>
          </a:p>
        </p:txBody>
      </p:sp>
      <p:sp>
        <p:nvSpPr>
          <p:cNvPr id="10" name="Text 7"/>
          <p:cNvSpPr txBox="1"/>
          <p:nvPr/>
        </p:nvSpPr>
        <p:spPr>
          <a:xfrm>
            <a:off x="1280160" y="1554480"/>
            <a:ext cx="10332720" cy="548640"/>
          </a:xfrm>
          <a:prstGeom prst="rect">
            <a:avLst/>
          </a:prstGeom>
          <a:noFill/>
          <a:ln/>
        </p:spPr>
        <p:txBody>
          <a:bodyPr wrap="square" lIns="0" tIns="0" rIns="0" bIns="0" rtlCol="0" anchor="ctr"/>
          <a:lstStyle/>
          <a:p>
            <a:pPr indent="0" marL="0">
              <a:buNone/>
            </a:pPr>
            <a:r>
              <a:rPr lang="en-US" sz="1800" dirty="0">
                <a:solidFill>
                  <a:srgbClr val="1A1A1A"/>
                </a:solidFill>
                <a:latin typeface="Georgia" pitchFamily="34" charset="0"/>
                <a:ea typeface="Georgia" pitchFamily="34" charset="-122"/>
                <a:cs typeface="Georgia" pitchFamily="34" charset="-120"/>
              </a:rPr>
              <a:t>Film a person, hand the clips to the frozen policy, let the humanoid go.</a:t>
            </a:r>
            <a:endParaRPr lang="en-US" sz="1800" dirty="0"/>
          </a:p>
        </p:txBody>
      </p:sp>
      <p:sp>
        <p:nvSpPr>
          <p:cNvPr id="11" name="Shape 8"/>
          <p:cNvSpPr/>
          <p:nvPr/>
        </p:nvSpPr>
        <p:spPr>
          <a:xfrm>
            <a:off x="548640" y="2286000"/>
            <a:ext cx="2072030" cy="1600200"/>
          </a:xfrm>
          <a:prstGeom prst="rect">
            <a:avLst/>
          </a:prstGeom>
          <a:solidFill>
            <a:srgbClr val="FFFFFF"/>
          </a:solidFill>
          <a:ln w="12700">
            <a:solidFill>
              <a:srgbClr val="D9DEE3"/>
            </a:solidFill>
            <a:prstDash val="solid"/>
          </a:ln>
        </p:spPr>
      </p:sp>
      <p:sp>
        <p:nvSpPr>
          <p:cNvPr id="12" name="Shape 9"/>
          <p:cNvSpPr/>
          <p:nvPr/>
        </p:nvSpPr>
        <p:spPr>
          <a:xfrm>
            <a:off x="548640" y="2286000"/>
            <a:ext cx="2072030" cy="54864"/>
          </a:xfrm>
          <a:prstGeom prst="rect">
            <a:avLst/>
          </a:prstGeom>
          <a:solidFill>
            <a:srgbClr val="1F4E79"/>
          </a:solidFill>
          <a:ln w="12700">
            <a:solidFill>
              <a:srgbClr val="1F4E79"/>
            </a:solidFill>
            <a:prstDash val="solid"/>
          </a:ln>
        </p:spPr>
      </p:sp>
      <p:sp>
        <p:nvSpPr>
          <p:cNvPr id="13" name="Text 10"/>
          <p:cNvSpPr txBox="1"/>
          <p:nvPr/>
        </p:nvSpPr>
        <p:spPr>
          <a:xfrm>
            <a:off x="685800" y="2395728"/>
            <a:ext cx="1797710" cy="36576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Record</a:t>
            </a:r>
            <a:endParaRPr lang="en-US" sz="1400" dirty="0"/>
          </a:p>
        </p:txBody>
      </p:sp>
      <p:sp>
        <p:nvSpPr>
          <p:cNvPr id="14" name="Text 11"/>
          <p:cNvSpPr txBox="1"/>
          <p:nvPr/>
        </p:nvSpPr>
        <p:spPr>
          <a:xfrm>
            <a:off x="685800" y="2788920"/>
            <a:ext cx="1797710" cy="105156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1–3 human videos of the novel task, same static camera</a:t>
            </a:r>
            <a:endParaRPr lang="en-US" sz="1100" dirty="0"/>
          </a:p>
        </p:txBody>
      </p:sp>
      <p:sp>
        <p:nvSpPr>
          <p:cNvPr id="15" name="Shape 12"/>
          <p:cNvSpPr/>
          <p:nvPr/>
        </p:nvSpPr>
        <p:spPr>
          <a:xfrm>
            <a:off x="2638958" y="2926080"/>
            <a:ext cx="146304" cy="320040"/>
          </a:xfrm>
          <a:prstGeom prst="rightArrow">
            <a:avLst/>
          </a:prstGeom>
          <a:solidFill>
            <a:srgbClr val="2E86AB"/>
          </a:solidFill>
          <a:ln w="12700">
            <a:solidFill>
              <a:srgbClr val="2E86AB"/>
            </a:solidFill>
            <a:prstDash val="solid"/>
          </a:ln>
        </p:spPr>
      </p:sp>
      <p:sp>
        <p:nvSpPr>
          <p:cNvPr id="16" name="Shape 13"/>
          <p:cNvSpPr/>
          <p:nvPr/>
        </p:nvSpPr>
        <p:spPr>
          <a:xfrm>
            <a:off x="2803550" y="2286000"/>
            <a:ext cx="2072030" cy="1600200"/>
          </a:xfrm>
          <a:prstGeom prst="rect">
            <a:avLst/>
          </a:prstGeom>
          <a:solidFill>
            <a:srgbClr val="FFFFFF"/>
          </a:solidFill>
          <a:ln w="12700">
            <a:solidFill>
              <a:srgbClr val="D9DEE3"/>
            </a:solidFill>
            <a:prstDash val="solid"/>
          </a:ln>
        </p:spPr>
      </p:sp>
      <p:sp>
        <p:nvSpPr>
          <p:cNvPr id="17" name="Shape 14"/>
          <p:cNvSpPr/>
          <p:nvPr/>
        </p:nvSpPr>
        <p:spPr>
          <a:xfrm>
            <a:off x="2803550" y="2286000"/>
            <a:ext cx="2072030" cy="54864"/>
          </a:xfrm>
          <a:prstGeom prst="rect">
            <a:avLst/>
          </a:prstGeom>
          <a:solidFill>
            <a:srgbClr val="1F4E79"/>
          </a:solidFill>
          <a:ln w="12700">
            <a:solidFill>
              <a:srgbClr val="1F4E79"/>
            </a:solidFill>
            <a:prstDash val="solid"/>
          </a:ln>
        </p:spPr>
      </p:sp>
      <p:sp>
        <p:nvSpPr>
          <p:cNvPr id="18" name="Text 15"/>
          <p:cNvSpPr txBox="1"/>
          <p:nvPr/>
        </p:nvSpPr>
        <p:spPr>
          <a:xfrm>
            <a:off x="2940710" y="2395728"/>
            <a:ext cx="1797710" cy="36576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Process</a:t>
            </a:r>
            <a:endParaRPr lang="en-US" sz="1400" dirty="0"/>
          </a:p>
        </p:txBody>
      </p:sp>
      <p:sp>
        <p:nvSpPr>
          <p:cNvPr id="19" name="Text 16"/>
          <p:cNvSpPr txBox="1"/>
          <p:nvPr/>
        </p:nvSpPr>
        <p:spPr>
          <a:xfrm>
            <a:off x="2940710" y="2788920"/>
            <a:ext cx="1797710" cy="105156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WiLoR poses → (s', a) sequences, as in step 2</a:t>
            </a:r>
            <a:endParaRPr lang="en-US" sz="1100" dirty="0"/>
          </a:p>
        </p:txBody>
      </p:sp>
      <p:sp>
        <p:nvSpPr>
          <p:cNvPr id="20" name="Shape 17"/>
          <p:cNvSpPr/>
          <p:nvPr/>
        </p:nvSpPr>
        <p:spPr>
          <a:xfrm>
            <a:off x="4893869" y="2926080"/>
            <a:ext cx="146304" cy="320040"/>
          </a:xfrm>
          <a:prstGeom prst="rightArrow">
            <a:avLst/>
          </a:prstGeom>
          <a:solidFill>
            <a:srgbClr val="2E86AB"/>
          </a:solidFill>
          <a:ln w="12700">
            <a:solidFill>
              <a:srgbClr val="2E86AB"/>
            </a:solidFill>
            <a:prstDash val="solid"/>
          </a:ln>
        </p:spPr>
      </p:sp>
      <p:sp>
        <p:nvSpPr>
          <p:cNvPr id="21" name="Shape 18"/>
          <p:cNvSpPr/>
          <p:nvPr/>
        </p:nvSpPr>
        <p:spPr>
          <a:xfrm>
            <a:off x="5058461" y="2286000"/>
            <a:ext cx="2072030" cy="1600200"/>
          </a:xfrm>
          <a:prstGeom prst="rect">
            <a:avLst/>
          </a:prstGeom>
          <a:solidFill>
            <a:srgbClr val="FFFFFF"/>
          </a:solidFill>
          <a:ln w="12700">
            <a:solidFill>
              <a:srgbClr val="D9DEE3"/>
            </a:solidFill>
            <a:prstDash val="solid"/>
          </a:ln>
        </p:spPr>
      </p:sp>
      <p:sp>
        <p:nvSpPr>
          <p:cNvPr id="22" name="Shape 19"/>
          <p:cNvSpPr/>
          <p:nvPr/>
        </p:nvSpPr>
        <p:spPr>
          <a:xfrm>
            <a:off x="5058461" y="2286000"/>
            <a:ext cx="2072030" cy="54864"/>
          </a:xfrm>
          <a:prstGeom prst="rect">
            <a:avLst/>
          </a:prstGeom>
          <a:solidFill>
            <a:srgbClr val="1F4E79"/>
          </a:solidFill>
          <a:ln w="12700">
            <a:solidFill>
              <a:srgbClr val="1F4E79"/>
            </a:solidFill>
            <a:prstDash val="solid"/>
          </a:ln>
        </p:spPr>
      </p:sp>
      <p:sp>
        <p:nvSpPr>
          <p:cNvPr id="23" name="Text 20"/>
          <p:cNvSpPr txBox="1"/>
          <p:nvPr/>
        </p:nvSpPr>
        <p:spPr>
          <a:xfrm>
            <a:off x="5195621" y="2395728"/>
            <a:ext cx="1797710" cy="36576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Context</a:t>
            </a:r>
            <a:endParaRPr lang="en-US" sz="1400" dirty="0"/>
          </a:p>
        </p:txBody>
      </p:sp>
      <p:sp>
        <p:nvSpPr>
          <p:cNvPr id="24" name="Text 21"/>
          <p:cNvSpPr txBox="1"/>
          <p:nvPr/>
        </p:nvSpPr>
        <p:spPr>
          <a:xfrm>
            <a:off x="5195621" y="2788920"/>
            <a:ext cx="1797710" cy="105156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Place the processed clips in the transformer context</a:t>
            </a:r>
            <a:endParaRPr lang="en-US" sz="1100" dirty="0"/>
          </a:p>
        </p:txBody>
      </p:sp>
      <p:sp>
        <p:nvSpPr>
          <p:cNvPr id="25" name="Shape 22"/>
          <p:cNvSpPr/>
          <p:nvPr/>
        </p:nvSpPr>
        <p:spPr>
          <a:xfrm>
            <a:off x="7148779" y="2926080"/>
            <a:ext cx="146304" cy="320040"/>
          </a:xfrm>
          <a:prstGeom prst="rightArrow">
            <a:avLst/>
          </a:prstGeom>
          <a:solidFill>
            <a:srgbClr val="2E86AB"/>
          </a:solidFill>
          <a:ln w="12700">
            <a:solidFill>
              <a:srgbClr val="2E86AB"/>
            </a:solidFill>
            <a:prstDash val="solid"/>
          </a:ln>
        </p:spPr>
      </p:sp>
      <p:sp>
        <p:nvSpPr>
          <p:cNvPr id="26" name="Shape 23"/>
          <p:cNvSpPr/>
          <p:nvPr/>
        </p:nvSpPr>
        <p:spPr>
          <a:xfrm>
            <a:off x="7313371" y="2286000"/>
            <a:ext cx="2072030" cy="1600200"/>
          </a:xfrm>
          <a:prstGeom prst="rect">
            <a:avLst/>
          </a:prstGeom>
          <a:solidFill>
            <a:srgbClr val="FFFFFF"/>
          </a:solidFill>
          <a:ln w="12700">
            <a:solidFill>
              <a:srgbClr val="D9DEE3"/>
            </a:solidFill>
            <a:prstDash val="solid"/>
          </a:ln>
        </p:spPr>
      </p:sp>
      <p:sp>
        <p:nvSpPr>
          <p:cNvPr id="27" name="Shape 24"/>
          <p:cNvSpPr/>
          <p:nvPr/>
        </p:nvSpPr>
        <p:spPr>
          <a:xfrm>
            <a:off x="7313371" y="2286000"/>
            <a:ext cx="2072030" cy="54864"/>
          </a:xfrm>
          <a:prstGeom prst="rect">
            <a:avLst/>
          </a:prstGeom>
          <a:solidFill>
            <a:srgbClr val="1F4E79"/>
          </a:solidFill>
          <a:ln w="12700">
            <a:solidFill>
              <a:srgbClr val="1F4E79"/>
            </a:solidFill>
            <a:prstDash val="solid"/>
          </a:ln>
        </p:spPr>
      </p:sp>
      <p:sp>
        <p:nvSpPr>
          <p:cNvPr id="28" name="Text 25"/>
          <p:cNvSpPr txBox="1"/>
          <p:nvPr/>
        </p:nvSpPr>
        <p:spPr>
          <a:xfrm>
            <a:off x="7450531" y="2395728"/>
            <a:ext cx="1797710" cy="36576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Predict</a:t>
            </a:r>
            <a:endParaRPr lang="en-US" sz="1400" dirty="0"/>
          </a:p>
        </p:txBody>
      </p:sp>
      <p:sp>
        <p:nvSpPr>
          <p:cNvPr id="29" name="Text 26"/>
          <p:cNvSpPr txBox="1"/>
          <p:nvPr/>
        </p:nvSpPr>
        <p:spPr>
          <a:xfrm>
            <a:off x="7450531" y="2788920"/>
            <a:ext cx="1797710" cy="105156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32-step chunk of humanoid wrist poses + grasp, conditioned on own history + context</a:t>
            </a:r>
            <a:endParaRPr lang="en-US" sz="1100" dirty="0"/>
          </a:p>
        </p:txBody>
      </p:sp>
      <p:sp>
        <p:nvSpPr>
          <p:cNvPr id="30" name="Shape 27"/>
          <p:cNvSpPr/>
          <p:nvPr/>
        </p:nvSpPr>
        <p:spPr>
          <a:xfrm>
            <a:off x="9403690" y="2926080"/>
            <a:ext cx="146304" cy="320040"/>
          </a:xfrm>
          <a:prstGeom prst="rightArrow">
            <a:avLst/>
          </a:prstGeom>
          <a:solidFill>
            <a:srgbClr val="2E86AB"/>
          </a:solidFill>
          <a:ln w="12700">
            <a:solidFill>
              <a:srgbClr val="2E86AB"/>
            </a:solidFill>
            <a:prstDash val="solid"/>
          </a:ln>
        </p:spPr>
      </p:sp>
      <p:sp>
        <p:nvSpPr>
          <p:cNvPr id="31" name="Shape 28"/>
          <p:cNvSpPr/>
          <p:nvPr/>
        </p:nvSpPr>
        <p:spPr>
          <a:xfrm>
            <a:off x="9568282" y="2286000"/>
            <a:ext cx="2072030" cy="1600200"/>
          </a:xfrm>
          <a:prstGeom prst="rect">
            <a:avLst/>
          </a:prstGeom>
          <a:solidFill>
            <a:srgbClr val="E8F1F8"/>
          </a:solidFill>
          <a:ln w="12700">
            <a:solidFill>
              <a:srgbClr val="D9DEE3"/>
            </a:solidFill>
            <a:prstDash val="solid"/>
          </a:ln>
        </p:spPr>
      </p:sp>
      <p:sp>
        <p:nvSpPr>
          <p:cNvPr id="32" name="Shape 29"/>
          <p:cNvSpPr/>
          <p:nvPr/>
        </p:nvSpPr>
        <p:spPr>
          <a:xfrm>
            <a:off x="9568282" y="2286000"/>
            <a:ext cx="2072030" cy="54864"/>
          </a:xfrm>
          <a:prstGeom prst="rect">
            <a:avLst/>
          </a:prstGeom>
          <a:solidFill>
            <a:srgbClr val="1F4E79"/>
          </a:solidFill>
          <a:ln w="12700">
            <a:solidFill>
              <a:srgbClr val="1F4E79"/>
            </a:solidFill>
            <a:prstDash val="solid"/>
          </a:ln>
        </p:spPr>
      </p:sp>
      <p:sp>
        <p:nvSpPr>
          <p:cNvPr id="33" name="Text 30"/>
          <p:cNvSpPr txBox="1"/>
          <p:nvPr/>
        </p:nvSpPr>
        <p:spPr>
          <a:xfrm>
            <a:off x="9705442" y="2395728"/>
            <a:ext cx="1797710" cy="36576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Execute</a:t>
            </a:r>
            <a:endParaRPr lang="en-US" sz="1400" dirty="0"/>
          </a:p>
        </p:txBody>
      </p:sp>
      <p:sp>
        <p:nvSpPr>
          <p:cNvPr id="34" name="Text 31"/>
          <p:cNvSpPr txBox="1"/>
          <p:nvPr/>
        </p:nvSpPr>
        <p:spPr>
          <a:xfrm>
            <a:off x="9705442" y="2788920"/>
            <a:ext cx="1797710" cy="105156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Retarget → IK → joint targets; re-observe; repeat</a:t>
            </a:r>
            <a:endParaRPr lang="en-US" sz="1100" dirty="0"/>
          </a:p>
        </p:txBody>
      </p:sp>
      <p:sp>
        <p:nvSpPr>
          <p:cNvPr id="35" name="Shape 32"/>
          <p:cNvSpPr/>
          <p:nvPr/>
        </p:nvSpPr>
        <p:spPr>
          <a:xfrm>
            <a:off x="548640" y="4114800"/>
            <a:ext cx="11091672" cy="914400"/>
          </a:xfrm>
          <a:prstGeom prst="rect">
            <a:avLst/>
          </a:prstGeom>
          <a:solidFill>
            <a:srgbClr val="F3F5F7"/>
          </a:solidFill>
          <a:ln w="12700">
            <a:solidFill>
              <a:srgbClr val="D9DEE3"/>
            </a:solidFill>
            <a:prstDash val="solid"/>
          </a:ln>
        </p:spPr>
      </p:sp>
      <p:sp>
        <p:nvSpPr>
          <p:cNvPr id="36" name="Text 33"/>
          <p:cNvSpPr txBox="1"/>
          <p:nvPr/>
        </p:nvSpPr>
        <p:spPr>
          <a:xfrm>
            <a:off x="731520" y="4251960"/>
            <a:ext cx="10725912" cy="640080"/>
          </a:xfrm>
          <a:prstGeom prst="rect">
            <a:avLst/>
          </a:prstGeom>
          <a:noFill/>
          <a:ln/>
        </p:spPr>
        <p:txBody>
          <a:bodyPr wrap="square" lIns="0" tIns="0" rIns="0" bIns="0" rtlCol="0" anchor="t"/>
          <a:lstStyle/>
          <a:p>
            <a:pPr indent="0" marL="0">
              <a:buNone/>
            </a:pPr>
            <a:r>
              <a:rPr lang="en-US" sz="1150" dirty="0">
                <a:solidFill>
                  <a:srgbClr val="1A1A1A"/>
                </a:solidFill>
                <a:latin typeface="Courier New" pitchFamily="34" charset="0"/>
                <a:ea typeface="Courier New" pitchFamily="34" charset="-122"/>
                <a:cs typeface="Courier New" pitchFamily="34" charset="-120"/>
              </a:rPr>
              <a:t>INPUT  = { human video 1..3 as (s', a) }  +  robot's own s'_{1:t}, a_{1:t-1}</a:t>
            </a:r>
            <a:endParaRPr lang="en-US" sz="1150" dirty="0"/>
          </a:p>
          <a:p>
            <a:pPr indent="0" marL="0">
              <a:buNone/>
            </a:pPr>
            <a:r>
              <a:rPr lang="en-US" sz="1150" dirty="0">
                <a:solidFill>
                  <a:srgbClr val="1A1A1A"/>
                </a:solidFill>
                <a:latin typeface="Courier New" pitchFamily="34" charset="0"/>
                <a:ea typeface="Courier New" pitchFamily="34" charset="-122"/>
                <a:cs typeface="Courier New" pitchFamily="34" charset="-120"/>
              </a:rPr>
              <a:t>OUTPUT = a_{t:t+32}  →  humanoid wrist pose + grasp per step  →  IK  →  joints</a:t>
            </a:r>
            <a:endParaRPr lang="en-US" sz="1150" dirty="0"/>
          </a:p>
        </p:txBody>
      </p:sp>
      <p:sp>
        <p:nvSpPr>
          <p:cNvPr id="37" name="Shape 34"/>
          <p:cNvSpPr/>
          <p:nvPr/>
        </p:nvSpPr>
        <p:spPr>
          <a:xfrm>
            <a:off x="548640" y="5257800"/>
            <a:ext cx="11091672" cy="548640"/>
          </a:xfrm>
          <a:prstGeom prst="rect">
            <a:avLst/>
          </a:prstGeom>
          <a:solidFill>
            <a:srgbClr val="E8F1F8"/>
          </a:solidFill>
          <a:ln w="12700">
            <a:solidFill>
              <a:srgbClr val="E8F1F8"/>
            </a:solidFill>
            <a:prstDash val="solid"/>
          </a:ln>
        </p:spPr>
      </p:sp>
      <p:sp>
        <p:nvSpPr>
          <p:cNvPr id="38" name="Shape 35"/>
          <p:cNvSpPr/>
          <p:nvPr/>
        </p:nvSpPr>
        <p:spPr>
          <a:xfrm>
            <a:off x="548640" y="5257800"/>
            <a:ext cx="73152" cy="548640"/>
          </a:xfrm>
          <a:prstGeom prst="rect">
            <a:avLst/>
          </a:prstGeom>
          <a:solidFill>
            <a:srgbClr val="1F4E79"/>
          </a:solidFill>
          <a:ln w="12700">
            <a:solidFill>
              <a:srgbClr val="1F4E79"/>
            </a:solidFill>
            <a:prstDash val="solid"/>
          </a:ln>
        </p:spPr>
      </p:sp>
      <p:sp>
        <p:nvSpPr>
          <p:cNvPr id="39" name="Text 36"/>
          <p:cNvSpPr txBox="1"/>
          <p:nvPr/>
        </p:nvSpPr>
        <p:spPr>
          <a:xfrm>
            <a:off x="822960" y="5257800"/>
            <a:ext cx="10543032" cy="5486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Swap the videos, keep the weights: a different task on the same scene. This is the same two-cup test we use for BPP — only the prompt modality (video of a person) differs.</a:t>
            </a:r>
            <a:endParaRPr lang="en-US" sz="1250" dirty="0"/>
          </a:p>
        </p:txBody>
      </p:sp>
      <p:sp>
        <p:nvSpPr>
          <p:cNvPr id="40" name="Text 37"/>
          <p:cNvSpPr txBox="1"/>
          <p:nvPr/>
        </p:nvSpPr>
        <p:spPr>
          <a:xfrm>
            <a:off x="548640" y="5897880"/>
            <a:ext cx="11091672" cy="365760"/>
          </a:xfrm>
          <a:prstGeom prst="rect">
            <a:avLst/>
          </a:prstGeom>
          <a:noFill/>
          <a:ln/>
        </p:spPr>
        <p:txBody>
          <a:bodyPr wrap="square" lIns="0" tIns="0" rIns="0" bIns="0" rtlCol="0" anchor="ctr"/>
          <a:lstStyle/>
          <a:p>
            <a:pPr indent="0" marL="0">
              <a:buNone/>
            </a:pPr>
            <a:r>
              <a:rPr lang="en-US" sz="1150" i="1" dirty="0">
                <a:solidFill>
                  <a:srgbClr val="5F6B73"/>
                </a:solidFill>
                <a:latin typeface="Arial" pitchFamily="34" charset="0"/>
                <a:ea typeface="Arial" pitchFamily="34" charset="-122"/>
                <a:cs typeface="Arial" pitchFamily="34" charset="-120"/>
              </a:rPr>
              <a:t>Context-count result: +gain from 1→3 examples, diminishing at 4–6; extending context length scales memory and compute linearly.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RESULTS</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What the paper measured</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19 / 23</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862072"/>
                <a:gridCol w="1371600"/>
                <a:gridCol w="1371600"/>
                <a:gridCol w="1371600"/>
                <a:gridCol w="1371600"/>
                <a:gridCol w="1371600"/>
                <a:gridCol w="1371600"/>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Method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Abstract L1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L2</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GR1 L1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L2</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H2R (goal image)</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0.05</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0.00</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0.00</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Vid2Robot (video)</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0.44</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0.40</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0.12</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0.41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0.11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PEFT (fine-tune at test)</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0.47</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0.35</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0.00</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MimicDroid w/o masking</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0.59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0.51</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0.22</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0.37</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0.35</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Arial" pitchFamily="34" charset="0"/>
                          <a:ea typeface="Arial" pitchFamily="34" charset="-122"/>
                          <a:cs typeface="Arial" pitchFamily="34" charset="-120"/>
                        </a:rPr>
                        <a:t>MimicDroid</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0.73</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0.39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0.27</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0.59</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0.44</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0.26</a:t>
                      </a:r>
                      <a:endParaRPr lang="en-US" sz="115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bl>
          </a:graphicData>
        </a:graphic>
      </p:graphicFrame>
      <p:sp>
        <p:nvSpPr>
          <p:cNvPr id="9" name="Shape 5"/>
          <p:cNvSpPr/>
          <p:nvPr/>
        </p:nvSpPr>
        <p:spPr>
          <a:xfrm>
            <a:off x="548640" y="3977640"/>
            <a:ext cx="3566160" cy="2103120"/>
          </a:xfrm>
          <a:prstGeom prst="rect">
            <a:avLst/>
          </a:prstGeom>
          <a:solidFill>
            <a:srgbClr val="FFFFFF"/>
          </a:solidFill>
          <a:ln w="12700">
            <a:solidFill>
              <a:srgbClr val="D9DEE3"/>
            </a:solidFill>
            <a:prstDash val="solid"/>
          </a:ln>
        </p:spPr>
      </p:sp>
      <p:sp>
        <p:nvSpPr>
          <p:cNvPr id="10" name="Shape 6"/>
          <p:cNvSpPr/>
          <p:nvPr/>
        </p:nvSpPr>
        <p:spPr>
          <a:xfrm>
            <a:off x="548640" y="3977640"/>
            <a:ext cx="3566160" cy="54864"/>
          </a:xfrm>
          <a:prstGeom prst="rect">
            <a:avLst/>
          </a:prstGeom>
          <a:solidFill>
            <a:srgbClr val="1F4E79"/>
          </a:solidFill>
          <a:ln w="12700">
            <a:solidFill>
              <a:srgbClr val="1F4E79"/>
            </a:solidFill>
            <a:prstDash val="solid"/>
          </a:ln>
        </p:spPr>
      </p:sp>
      <p:sp>
        <p:nvSpPr>
          <p:cNvPr id="11" name="Text 7"/>
          <p:cNvSpPr txBox="1"/>
          <p:nvPr/>
        </p:nvSpPr>
        <p:spPr>
          <a:xfrm>
            <a:off x="749808" y="41148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Real world · GR1</a:t>
            </a:r>
            <a:endParaRPr lang="en-US" sz="1500" dirty="0"/>
          </a:p>
        </p:txBody>
      </p:sp>
      <p:sp>
        <p:nvSpPr>
          <p:cNvPr id="12" name="Text 8"/>
          <p:cNvSpPr txBox="1"/>
          <p:nvPr/>
        </p:nvSpPr>
        <p:spPr>
          <a:xfrm>
            <a:off x="749808" y="4572000"/>
            <a:ext cx="3163824" cy="1325880"/>
          </a:xfrm>
          <a:prstGeom prst="rect">
            <a:avLst/>
          </a:prstGeom>
          <a:noFill/>
          <a:ln/>
        </p:spPr>
        <p:txBody>
          <a:bodyPr wrap="square" lIns="0" tIns="0" rIns="0" bIns="0" rtlCol="0" anchor="t"/>
          <a:lstStyle/>
          <a:p>
            <a:pPr indent="0" marL="0">
              <a:spcAft>
                <a:spcPts val="600"/>
              </a:spcAft>
              <a:buNone/>
            </a:pPr>
            <a:r>
              <a:rPr lang="en-US" sz="1100" dirty="0">
                <a:solidFill>
                  <a:srgbClr val="1A1A1A"/>
                </a:solidFill>
                <a:latin typeface="Arial" pitchFamily="34" charset="0"/>
                <a:ea typeface="Arial" pitchFamily="34" charset="-122"/>
                <a:cs typeface="Arial" pitchFamily="34" charset="-120"/>
              </a:rPr>
              <a:t>MimicDroid 0.53 / 0.23 / 0.08 (L1 / L2 / L3) vs Vid2Robot 0.28 / 0.08 / 0.00 — nearly twofold. Tasks: pick-and-place to receptacles, opening and closing an oven tray; seen objects (chips, bread, apples) and unseen (potatoes, garlic, cloth).</a:t>
            </a:r>
            <a:endParaRPr lang="en-US" sz="1100" dirty="0"/>
          </a:p>
        </p:txBody>
      </p:sp>
      <p:sp>
        <p:nvSpPr>
          <p:cNvPr id="13" name="Shape 9"/>
          <p:cNvSpPr/>
          <p:nvPr/>
        </p:nvSpPr>
        <p:spPr>
          <a:xfrm>
            <a:off x="4297680" y="3977640"/>
            <a:ext cx="3566160" cy="2103120"/>
          </a:xfrm>
          <a:prstGeom prst="rect">
            <a:avLst/>
          </a:prstGeom>
          <a:solidFill>
            <a:srgbClr val="FFFFFF"/>
          </a:solidFill>
          <a:ln w="12700">
            <a:solidFill>
              <a:srgbClr val="D9DEE3"/>
            </a:solidFill>
            <a:prstDash val="solid"/>
          </a:ln>
        </p:spPr>
      </p:sp>
      <p:sp>
        <p:nvSpPr>
          <p:cNvPr id="14" name="Shape 10"/>
          <p:cNvSpPr/>
          <p:nvPr/>
        </p:nvSpPr>
        <p:spPr>
          <a:xfrm>
            <a:off x="4297680" y="3977640"/>
            <a:ext cx="3566160" cy="54864"/>
          </a:xfrm>
          <a:prstGeom prst="rect">
            <a:avLst/>
          </a:prstGeom>
          <a:solidFill>
            <a:srgbClr val="1F4E79"/>
          </a:solidFill>
          <a:ln w="12700">
            <a:solidFill>
              <a:srgbClr val="1F4E79"/>
            </a:solidFill>
            <a:prstDash val="solid"/>
          </a:ln>
        </p:spPr>
      </p:sp>
      <p:sp>
        <p:nvSpPr>
          <p:cNvPr id="15" name="Text 11"/>
          <p:cNvSpPr txBox="1"/>
          <p:nvPr/>
        </p:nvSpPr>
        <p:spPr>
          <a:xfrm>
            <a:off x="4498848" y="41148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Versus fine-tuning</a:t>
            </a:r>
            <a:endParaRPr lang="en-US" sz="1500" dirty="0"/>
          </a:p>
        </p:txBody>
      </p:sp>
      <p:sp>
        <p:nvSpPr>
          <p:cNvPr id="16" name="Text 12"/>
          <p:cNvSpPr txBox="1"/>
          <p:nvPr/>
        </p:nvSpPr>
        <p:spPr>
          <a:xfrm>
            <a:off x="4498848" y="4572000"/>
            <a:ext cx="3163824" cy="1325880"/>
          </a:xfrm>
          <a:prstGeom prst="rect">
            <a:avLst/>
          </a:prstGeom>
          <a:noFill/>
          <a:ln/>
        </p:spPr>
        <p:txBody>
          <a:bodyPr wrap="square" lIns="0" tIns="0" rIns="0" bIns="0" rtlCol="0" anchor="t"/>
          <a:lstStyle/>
          <a:p>
            <a:pPr indent="0" marL="0">
              <a:spcAft>
                <a:spcPts val="600"/>
              </a:spcAft>
              <a:buNone/>
            </a:pPr>
            <a:r>
              <a:rPr lang="en-US" sz="1100" dirty="0">
                <a:solidFill>
                  <a:srgbClr val="1A1A1A"/>
                </a:solidFill>
                <a:latin typeface="Arial" pitchFamily="34" charset="0"/>
                <a:ea typeface="Arial" pitchFamily="34" charset="-122"/>
                <a:cs typeface="Arial" pitchFamily="34" charset="-120"/>
              </a:rPr>
              <a:t>+29% (abstract) and +26% (humanoid) over PEFT, and instant. PEFT fails at L3 (forgetting under large shift) and overfits the source embodiment: −10% abstract→humanoid vs −3% for ICL.</a:t>
            </a:r>
            <a:endParaRPr lang="en-US" sz="1100" dirty="0"/>
          </a:p>
        </p:txBody>
      </p:sp>
      <p:sp>
        <p:nvSpPr>
          <p:cNvPr id="17" name="Shape 13"/>
          <p:cNvSpPr/>
          <p:nvPr/>
        </p:nvSpPr>
        <p:spPr>
          <a:xfrm>
            <a:off x="8046720" y="3977640"/>
            <a:ext cx="3566160" cy="2103120"/>
          </a:xfrm>
          <a:prstGeom prst="rect">
            <a:avLst/>
          </a:prstGeom>
          <a:solidFill>
            <a:srgbClr val="FFFFFF"/>
          </a:solidFill>
          <a:ln w="12700">
            <a:solidFill>
              <a:srgbClr val="D9DEE3"/>
            </a:solidFill>
            <a:prstDash val="solid"/>
          </a:ln>
        </p:spPr>
      </p:sp>
      <p:sp>
        <p:nvSpPr>
          <p:cNvPr id="18" name="Shape 14"/>
          <p:cNvSpPr/>
          <p:nvPr/>
        </p:nvSpPr>
        <p:spPr>
          <a:xfrm>
            <a:off x="8046720" y="3977640"/>
            <a:ext cx="3566160" cy="54864"/>
          </a:xfrm>
          <a:prstGeom prst="rect">
            <a:avLst/>
          </a:prstGeom>
          <a:solidFill>
            <a:srgbClr val="1F4E79"/>
          </a:solidFill>
          <a:ln w="12700">
            <a:solidFill>
              <a:srgbClr val="1F4E79"/>
            </a:solidFill>
            <a:prstDash val="solid"/>
          </a:ln>
        </p:spPr>
      </p:sp>
      <p:sp>
        <p:nvSpPr>
          <p:cNvPr id="19" name="Text 15"/>
          <p:cNvSpPr txBox="1"/>
          <p:nvPr/>
        </p:nvSpPr>
        <p:spPr>
          <a:xfrm>
            <a:off x="8247888" y="411480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Failure analysis</a:t>
            </a:r>
            <a:endParaRPr lang="en-US" sz="1500" dirty="0"/>
          </a:p>
        </p:txBody>
      </p:sp>
      <p:sp>
        <p:nvSpPr>
          <p:cNvPr id="20" name="Text 16"/>
          <p:cNvSpPr txBox="1"/>
          <p:nvPr/>
        </p:nvSpPr>
        <p:spPr>
          <a:xfrm>
            <a:off x="8247888" y="4572000"/>
            <a:ext cx="3163824" cy="1325880"/>
          </a:xfrm>
          <a:prstGeom prst="rect">
            <a:avLst/>
          </a:prstGeom>
          <a:noFill/>
          <a:ln/>
        </p:spPr>
        <p:txBody>
          <a:bodyPr wrap="square" lIns="0" tIns="0" rIns="0" bIns="0" rtlCol="0" anchor="t"/>
          <a:lstStyle/>
          <a:p>
            <a:pPr indent="0" marL="0">
              <a:spcAft>
                <a:spcPts val="600"/>
              </a:spcAft>
              <a:buNone/>
            </a:pPr>
            <a:r>
              <a:rPr lang="en-US" sz="1100" dirty="0">
                <a:solidFill>
                  <a:srgbClr val="1A1A1A"/>
                </a:solidFill>
                <a:latin typeface="Arial" pitchFamily="34" charset="0"/>
                <a:ea typeface="Arial" pitchFamily="34" charset="-122"/>
                <a:cs typeface="Arial" pitchFamily="34" charset="-120"/>
              </a:rPr>
              <a:t>Task misidentification 26%, missed grasps 16%, other 8% (incomplete closure, missed placement). ICL cuts misidentification by 15 points vs Vid2Robot. L3 still hard: novel motions (a bottom-to-top faucet) and overfitting to one operator's hand size.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LIMITS AND OUR USE</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300" b="1" dirty="0">
                <a:solidFill>
                  <a:srgbClr val="1A1A1A"/>
                </a:solidFill>
                <a:latin typeface="Georgia" pitchFamily="34" charset="0"/>
                <a:ea typeface="Georgia" pitchFamily="34" charset="-122"/>
                <a:cs typeface="Georgia" pitchFamily="34" charset="-120"/>
              </a:rPr>
              <a:t>Limitations the authors state, and what a G1 port would need</a:t>
            </a:r>
            <a:endParaRPr lang="en-US" sz="23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20 / 23</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94560"/>
                <a:gridCol w="4572000"/>
                <a:gridCol w="4325112"/>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Implication for us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Released artifacts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Benchmark code and dataset (RoboCasa-based); no policy checkpoint verified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A training project, not a download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Real-world embodiment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Fourier GR1, not Unitree G1</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Retargeting target and IK change; the pipeline does not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Prompt modality</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Plain RGB video of a person, 1–3 clips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Cheapest possible demonstration; fits phase 3 of the plan</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Data needed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45 min real play gave the reported GR1 results; scales with more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Film several operators to avoid hand-size overfitting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Context budget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Gains plateau beyond 3 clips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Do not plan on many-shot prompting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Contact / force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Not modelled; grasp is a binary signal from finger angles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Pair with a NEXT-style external-torque verifier on the G1</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120640"/>
            <a:ext cx="11091672" cy="777240"/>
          </a:xfrm>
          <a:prstGeom prst="rect">
            <a:avLst/>
          </a:prstGeom>
          <a:solidFill>
            <a:srgbClr val="E8F1F8"/>
          </a:solidFill>
          <a:ln w="12700">
            <a:solidFill>
              <a:srgbClr val="E8F1F8"/>
            </a:solidFill>
            <a:prstDash val="solid"/>
          </a:ln>
        </p:spPr>
      </p:sp>
      <p:sp>
        <p:nvSpPr>
          <p:cNvPr id="10" name="Shape 6"/>
          <p:cNvSpPr/>
          <p:nvPr/>
        </p:nvSpPr>
        <p:spPr>
          <a:xfrm>
            <a:off x="548640" y="5120640"/>
            <a:ext cx="73152" cy="777240"/>
          </a:xfrm>
          <a:prstGeom prst="rect">
            <a:avLst/>
          </a:prstGeom>
          <a:solidFill>
            <a:srgbClr val="1F4E79"/>
          </a:solidFill>
          <a:ln w="12700">
            <a:solidFill>
              <a:srgbClr val="1F4E79"/>
            </a:solidFill>
            <a:prstDash val="solid"/>
          </a:ln>
        </p:spPr>
      </p:sp>
      <p:sp>
        <p:nvSpPr>
          <p:cNvPr id="11" name="Text 7"/>
          <p:cNvSpPr txBox="1"/>
          <p:nvPr/>
        </p:nvSpPr>
        <p:spPr>
          <a:xfrm>
            <a:off x="822960" y="5120640"/>
            <a:ext cx="10543032" cy="7772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Reading the essay's taxonomy back onto MimicDroid: its context carries samples of the mapping (row 3, learning), sourced from a different embodiment, with the pairing manufactured by similarity instead of labels. That is why it belongs with GEN-1.5 and S1 conceptually — and why it is the only open one of the three.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PART 2 · COMPARISON</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MimicDroid next to the other demo-in-context methods</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21 / 23</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828800"/>
                <a:gridCol w="2468880"/>
                <a:gridCol w="2377440"/>
                <a:gridCol w="2103120"/>
                <a:gridCol w="2313432"/>
              </a:tblGrid>
              <a:tr h="0">
                <a:tc>
                  <a:txBody>
                    <a:bodyPr/>
                    <a:lstStyle/>
                    <a:p>
                      <a:pPr indent="0" marL="0">
                        <a:buNone/>
                      </a:pP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MimicDroid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BPP + iPhUMI</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ICRT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GEN-1.5 / S1</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Context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1–3 human RGB videos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One handheld sensorimotor demo</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1–2 teleop trajectories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3–12 s sensorimotor clip / one video</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Training data</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Human play video only</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Diverse handheld demos, many tasks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Teleop demos, multi-task</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Large proprietary engines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Pairing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Mined by similarity, no labels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Same task group</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Same task</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Emergent / undisclosed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Embodiment gap</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Wrist retargeting + patch masking</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Matched wrist camera + gripper</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Same robot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Handled in-model</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Weights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Not released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Released (MIT)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Released (Franka)</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Closed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3F5F7"/>
                    </a:solidFill>
                  </a:tcPr>
                </a:tc>
              </a:tr>
              <a:tr h="0">
                <a:tc>
                  <a:txBody>
                    <a:bodyPr/>
                    <a:lstStyle/>
                    <a:p>
                      <a:pPr indent="0" marL="0">
                        <a:buNone/>
                      </a:pPr>
                      <a:r>
                        <a:rPr lang="en-US" sz="1100" dirty="0">
                          <a:solidFill>
                            <a:srgbClr val="1A1A1A"/>
                          </a:solidFill>
                          <a:latin typeface="Arial" pitchFamily="34" charset="0"/>
                          <a:ea typeface="Arial" pitchFamily="34" charset="-122"/>
                          <a:cs typeface="Arial" pitchFamily="34" charset="-120"/>
                        </a:rPr>
                        <a:t>Where it fits for us</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Phase 3 training target</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First frozen-weight candidate</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Fallback if BPP won't map</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Concept and upper bound</a:t>
                      </a:r>
                      <a:endParaRPr lang="en-US" sz="1100" dirty="0">
                        <a:latin typeface="Arial" charset="0"/>
                        <a:ea typeface="Arial" charset="0"/>
                        <a:cs typeface="Arial" charset="0"/>
                      </a:endParaRPr>
                    </a:p>
                  </a:txBody>
                  <a:tcPr marL="54864" marR="54864" marT="54864" marB="54864"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394960"/>
            <a:ext cx="11091672" cy="548640"/>
          </a:xfrm>
          <a:prstGeom prst="rect">
            <a:avLst/>
          </a:prstGeom>
          <a:solidFill>
            <a:srgbClr val="E8F1F8"/>
          </a:solidFill>
          <a:ln w="12700">
            <a:solidFill>
              <a:srgbClr val="E8F1F8"/>
            </a:solidFill>
            <a:prstDash val="solid"/>
          </a:ln>
        </p:spPr>
      </p:sp>
      <p:sp>
        <p:nvSpPr>
          <p:cNvPr id="10" name="Shape 6"/>
          <p:cNvSpPr/>
          <p:nvPr/>
        </p:nvSpPr>
        <p:spPr>
          <a:xfrm>
            <a:off x="548640" y="5394960"/>
            <a:ext cx="73152" cy="548640"/>
          </a:xfrm>
          <a:prstGeom prst="rect">
            <a:avLst/>
          </a:prstGeom>
          <a:solidFill>
            <a:srgbClr val="1F4E79"/>
          </a:solidFill>
          <a:ln w="12700">
            <a:solidFill>
              <a:srgbClr val="1F4E79"/>
            </a:solidFill>
            <a:prstDash val="solid"/>
          </a:ln>
        </p:spPr>
      </p:sp>
      <p:sp>
        <p:nvSpPr>
          <p:cNvPr id="11" name="Text 7"/>
          <p:cNvSpPr txBox="1"/>
          <p:nvPr/>
        </p:nvSpPr>
        <p:spPr>
          <a:xfrm>
            <a:off x="822960" y="5394960"/>
            <a:ext cx="10543032" cy="54864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Same acceptance test for all: change only the prompt, hold weights and scene fixed, and the behaviour must follow the prompt on held-out conditions.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REFERENCES</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Sources</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22 / 23</a:t>
            </a:r>
            <a:endParaRPr lang="en-US" sz="900" dirty="0"/>
          </a:p>
        </p:txBody>
      </p:sp>
      <p:sp>
        <p:nvSpPr>
          <p:cNvPr id="7" name="Text 5"/>
          <p:cNvSpPr txBox="1"/>
          <p:nvPr/>
        </p:nvSpPr>
        <p:spPr>
          <a:xfrm>
            <a:off x="548640" y="146304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In-Context Learning for Robots: What Should Actually Go in the Context?</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Siyin Wang · blog · Aug 22, 2026</a:t>
            </a:r>
            <a:endParaRPr lang="en-US" sz="1100" dirty="0"/>
          </a:p>
        </p:txBody>
      </p:sp>
      <p:sp>
        <p:nvSpPr>
          <p:cNvPr id="8" name="Text 6"/>
          <p:cNvSpPr txBox="1"/>
          <p:nvPr/>
        </p:nvSpPr>
        <p:spPr>
          <a:xfrm>
            <a:off x="4306824" y="146304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MimicDroid: In-Context Learning for Humanoid Robot Manipulation from Human Play Videos</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Shah et al. · ICRA 2026 · arXiv:2509.09769</a:t>
            </a:r>
            <a:endParaRPr lang="en-US" sz="1100" dirty="0"/>
          </a:p>
        </p:txBody>
      </p:sp>
      <p:sp>
        <p:nvSpPr>
          <p:cNvPr id="9" name="Text 7"/>
          <p:cNvSpPr txBox="1"/>
          <p:nvPr/>
        </p:nvSpPr>
        <p:spPr>
          <a:xfrm>
            <a:off x="8065008" y="146304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MimicDroid project page and benchmark</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ut-austin-rpl.github.io/MimicDroid · UT-Austin-RPL/mimicdroid-robocasa</a:t>
            </a:r>
            <a:endParaRPr lang="en-US" sz="1100" dirty="0"/>
          </a:p>
        </p:txBody>
      </p:sp>
      <p:sp>
        <p:nvSpPr>
          <p:cNvPr id="10" name="Text 8"/>
          <p:cNvSpPr txBox="1"/>
          <p:nvPr/>
        </p:nvSpPr>
        <p:spPr>
          <a:xfrm>
            <a:off x="548640" y="242316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One-Shot Imitation Learning</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Duan et al. · NeurIPS 2017</a:t>
            </a:r>
            <a:endParaRPr lang="en-US" sz="1100" dirty="0"/>
          </a:p>
        </p:txBody>
      </p:sp>
      <p:sp>
        <p:nvSpPr>
          <p:cNvPr id="11" name="Text 9"/>
          <p:cNvSpPr txBox="1"/>
          <p:nvPr/>
        </p:nvSpPr>
        <p:spPr>
          <a:xfrm>
            <a:off x="4306824" y="242316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ICRT</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Fu et al. · ICRA 2025</a:t>
            </a:r>
            <a:endParaRPr lang="en-US" sz="1100" dirty="0"/>
          </a:p>
        </p:txBody>
      </p:sp>
      <p:sp>
        <p:nvSpPr>
          <p:cNvPr id="12" name="Text 10"/>
          <p:cNvSpPr txBox="1"/>
          <p:nvPr/>
        </p:nvSpPr>
        <p:spPr>
          <a:xfrm>
            <a:off x="8065008" y="242316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Instant Policy</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Vosylius &amp; Johns · ICLR 2025</a:t>
            </a:r>
            <a:endParaRPr lang="en-US" sz="1100" dirty="0"/>
          </a:p>
        </p:txBody>
      </p:sp>
      <p:sp>
        <p:nvSpPr>
          <p:cNvPr id="13" name="Text 11"/>
          <p:cNvSpPr txBox="1"/>
          <p:nvPr/>
        </p:nvSpPr>
        <p:spPr>
          <a:xfrm>
            <a:off x="548640" y="338328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Behavior Prompting Policy</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Patel et al. · 2026</a:t>
            </a:r>
            <a:endParaRPr lang="en-US" sz="1100" dirty="0"/>
          </a:p>
        </p:txBody>
      </p:sp>
      <p:sp>
        <p:nvSpPr>
          <p:cNvPr id="14" name="Text 12"/>
          <p:cNvSpPr txBox="1"/>
          <p:nvPr/>
        </p:nvSpPr>
        <p:spPr>
          <a:xfrm>
            <a:off x="4306824" y="338328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RICL</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Sridhar et al. · CoRL 2025</a:t>
            </a:r>
            <a:endParaRPr lang="en-US" sz="1100" dirty="0"/>
          </a:p>
        </p:txBody>
      </p:sp>
      <p:sp>
        <p:nvSpPr>
          <p:cNvPr id="15" name="Text 13"/>
          <p:cNvSpPr txBox="1"/>
          <p:nvPr/>
        </p:nvSpPr>
        <p:spPr>
          <a:xfrm>
            <a:off x="8065008" y="338328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Vid2Robot</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Jain et al. · RSS 2024</a:t>
            </a:r>
            <a:endParaRPr lang="en-US" sz="1100" dirty="0"/>
          </a:p>
        </p:txBody>
      </p:sp>
      <p:sp>
        <p:nvSpPr>
          <p:cNvPr id="16" name="Text 14"/>
          <p:cNvSpPr txBox="1"/>
          <p:nvPr/>
        </p:nvSpPr>
        <p:spPr>
          <a:xfrm>
            <a:off x="548640" y="434340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Point Policy</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2025</a:t>
            </a:r>
            <a:endParaRPr lang="en-US" sz="1100" dirty="0"/>
          </a:p>
        </p:txBody>
      </p:sp>
      <p:sp>
        <p:nvSpPr>
          <p:cNvPr id="17" name="Text 15"/>
          <p:cNvSpPr txBox="1"/>
          <p:nvPr/>
        </p:nvSpPr>
        <p:spPr>
          <a:xfrm>
            <a:off x="4306824" y="434340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In-Context World Modeling for Robotic Control (ICWM)</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2026</a:t>
            </a:r>
            <a:endParaRPr lang="en-US" sz="1100" dirty="0"/>
          </a:p>
        </p:txBody>
      </p:sp>
      <p:sp>
        <p:nvSpPr>
          <p:cNvPr id="18" name="Text 16"/>
          <p:cNvSpPr txBox="1"/>
          <p:nvPr/>
        </p:nvSpPr>
        <p:spPr>
          <a:xfrm>
            <a:off x="8065008" y="434340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Qwen-RobotManip Technical Report</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2026</a:t>
            </a:r>
            <a:endParaRPr lang="en-US" sz="1100" dirty="0"/>
          </a:p>
        </p:txBody>
      </p:sp>
      <p:sp>
        <p:nvSpPr>
          <p:cNvPr id="19" name="Text 17"/>
          <p:cNvSpPr txBox="1"/>
          <p:nvPr/>
        </p:nvSpPr>
        <p:spPr>
          <a:xfrm>
            <a:off x="548640" y="530352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GEN-1.5</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Generalist AI · Aug 2026</a:t>
            </a:r>
            <a:endParaRPr lang="en-US" sz="1100" dirty="0"/>
          </a:p>
        </p:txBody>
      </p:sp>
      <p:sp>
        <p:nvSpPr>
          <p:cNvPr id="20" name="Text 18"/>
          <p:cNvSpPr txBox="1"/>
          <p:nvPr/>
        </p:nvSpPr>
        <p:spPr>
          <a:xfrm>
            <a:off x="4306824" y="530352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π0.7</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Physical Intelligence · 2026</a:t>
            </a:r>
            <a:endParaRPr lang="en-US" sz="1100" dirty="0"/>
          </a:p>
        </p:txBody>
      </p:sp>
      <p:sp>
        <p:nvSpPr>
          <p:cNvPr id="21" name="Text 19"/>
          <p:cNvSpPr txBox="1"/>
          <p:nvPr/>
        </p:nvSpPr>
        <p:spPr>
          <a:xfrm>
            <a:off x="8065008" y="5303520"/>
            <a:ext cx="3575304" cy="868680"/>
          </a:xfrm>
          <a:prstGeom prst="rect">
            <a:avLst/>
          </a:prstGeom>
          <a:noFill/>
          <a:ln/>
        </p:spPr>
        <p:txBody>
          <a:bodyPr wrap="square" lIns="0" tIns="0" rIns="0" bIns="0" rtlCol="0" anchor="t"/>
          <a:lstStyle/>
          <a:p>
            <a:pPr indent="0" marL="0">
              <a:buNone/>
            </a:pPr>
            <a:r>
              <a:rPr lang="en-US" sz="1100" b="1" u="sng" dirty="0">
                <a:solidFill>
                  <a:srgbClr val="1F4E7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RoboTTT · VANE · MEM · HiMe · Gated Memory Policy</a:t>
            </a:r>
            <a:pPr indent="0" marL="0">
              <a:buNone/>
            </a:pPr>
            <a:endParaRPr lang="en-US" sz="1100" dirty="0"/>
          </a:p>
          <a:p>
            <a:pPr indent="0" marL="0">
              <a:buNone/>
            </a:pPr>
            <a:r>
              <a:rPr lang="en-US" sz="950" dirty="0">
                <a:solidFill>
                  <a:srgbClr val="5F6B73"/>
                </a:solidFill>
                <a:latin typeface="Arial" pitchFamily="34" charset="0"/>
                <a:ea typeface="Arial" pitchFamily="34" charset="-122"/>
                <a:cs typeface="Arial" pitchFamily="34" charset="-120"/>
              </a:rPr>
              <a:t>2026 memory and test-time-training references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050" b="1" spc="200" kern="0" dirty="0">
                <a:solidFill>
                  <a:srgbClr val="2E86AB"/>
                </a:solidFill>
                <a:latin typeface="Arial" pitchFamily="34" charset="0"/>
                <a:ea typeface="Arial" pitchFamily="34" charset="-122"/>
                <a:cs typeface="Arial" pitchFamily="34" charset="-120"/>
              </a:rPr>
              <a:t>CLOSING</a:t>
            </a:r>
            <a:endParaRPr lang="en-US" sz="1050" dirty="0"/>
          </a:p>
        </p:txBody>
      </p:sp>
      <p:sp>
        <p:nvSpPr>
          <p:cNvPr id="3" name="Text 1"/>
          <p:cNvSpPr txBox="1"/>
          <p:nvPr/>
        </p:nvSpPr>
        <p:spPr>
          <a:xfrm>
            <a:off x="548640" y="566928"/>
            <a:ext cx="11091672" cy="685800"/>
          </a:xfrm>
          <a:prstGeom prst="rect">
            <a:avLst/>
          </a:prstGeom>
          <a:noFill/>
          <a:ln/>
        </p:spPr>
        <p:txBody>
          <a:bodyPr wrap="square" lIns="0" tIns="0" rIns="0" bIns="0" rtlCol="0" anchor="ctr"/>
          <a:lstStyle/>
          <a:p>
            <a:pPr indent="0" marL="0">
              <a:buNone/>
            </a:pPr>
            <a:r>
              <a:rPr lang="en-US" sz="2700" b="1" dirty="0">
                <a:solidFill>
                  <a:srgbClr val="1A1A1A"/>
                </a:solidFill>
                <a:latin typeface="Georgia" pitchFamily="34" charset="0"/>
                <a:ea typeface="Georgia" pitchFamily="34" charset="-122"/>
                <a:cs typeface="Georgia" pitchFamily="34" charset="-120"/>
              </a:rPr>
              <a:t>Three takeaways</a:t>
            </a:r>
            <a:endParaRPr lang="en-US" sz="2700" dirty="0"/>
          </a:p>
        </p:txBody>
      </p:sp>
      <p:sp>
        <p:nvSpPr>
          <p:cNvPr id="4" name="Shape 2"/>
          <p:cNvSpPr/>
          <p:nvPr/>
        </p:nvSpPr>
        <p:spPr>
          <a:xfrm>
            <a:off x="548640" y="1280160"/>
            <a:ext cx="1097280" cy="0"/>
          </a:xfrm>
          <a:prstGeom prst="line">
            <a:avLst/>
          </a:prstGeom>
          <a:noFill/>
          <a:ln w="31750">
            <a:solidFill>
              <a:srgbClr val="1F4E79"/>
            </a:solidFill>
            <a:prstDash val="solid"/>
          </a:ln>
        </p:spPr>
      </p:sp>
      <p:sp>
        <p:nvSpPr>
          <p:cNvPr id="5" name="Text 3"/>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5F6B73"/>
                </a:solidFill>
                <a:latin typeface="Arial" pitchFamily="34" charset="0"/>
                <a:ea typeface="Arial" pitchFamily="34" charset="-122"/>
                <a:cs typeface="Arial" pitchFamily="34" charset="-120"/>
              </a:rPr>
              <a:t>Robot in-context learning: what goes in the context · MimicDroid step by step</a:t>
            </a:r>
            <a:endParaRPr lang="en-US" sz="900" dirty="0"/>
          </a:p>
        </p:txBody>
      </p:sp>
      <p:sp>
        <p:nvSpPr>
          <p:cNvPr id="6" name="Text 4"/>
          <p:cNvSpPr txBox="1"/>
          <p:nvPr/>
        </p:nvSpPr>
        <p:spPr>
          <a:xfrm>
            <a:off x="10268712" y="6400800"/>
            <a:ext cx="1371600" cy="274320"/>
          </a:xfrm>
          <a:prstGeom prst="rect">
            <a:avLst/>
          </a:prstGeom>
          <a:noFill/>
          <a:ln/>
        </p:spPr>
        <p:txBody>
          <a:bodyPr wrap="square" lIns="0" tIns="0" rIns="0" bIns="0" rtlCol="0" anchor="ctr"/>
          <a:lstStyle/>
          <a:p>
            <a:pPr algn="r" indent="0" marL="0">
              <a:buNone/>
            </a:pPr>
            <a:r>
              <a:rPr lang="en-US" sz="900" dirty="0">
                <a:solidFill>
                  <a:srgbClr val="5F6B73"/>
                </a:solidFill>
                <a:latin typeface="Arial" pitchFamily="34" charset="0"/>
                <a:ea typeface="Arial" pitchFamily="34" charset="-122"/>
                <a:cs typeface="Arial" pitchFamily="34" charset="-120"/>
              </a:rPr>
              <a:t>23 / 23</a:t>
            </a:r>
            <a:endParaRPr lang="en-US" sz="900" dirty="0"/>
          </a:p>
        </p:txBody>
      </p:sp>
      <p:sp>
        <p:nvSpPr>
          <p:cNvPr id="7" name="Shape 5"/>
          <p:cNvSpPr/>
          <p:nvPr/>
        </p:nvSpPr>
        <p:spPr>
          <a:xfrm>
            <a:off x="548640" y="1554480"/>
            <a:ext cx="3566160" cy="4023360"/>
          </a:xfrm>
          <a:prstGeom prst="rect">
            <a:avLst/>
          </a:prstGeom>
          <a:solidFill>
            <a:srgbClr val="FFFFFF"/>
          </a:solidFill>
          <a:ln w="12700">
            <a:solidFill>
              <a:srgbClr val="D9DEE3"/>
            </a:solidFill>
            <a:prstDash val="solid"/>
          </a:ln>
        </p:spPr>
      </p:sp>
      <p:sp>
        <p:nvSpPr>
          <p:cNvPr id="8" name="Shape 6"/>
          <p:cNvSpPr/>
          <p:nvPr/>
        </p:nvSpPr>
        <p:spPr>
          <a:xfrm>
            <a:off x="548640" y="1554480"/>
            <a:ext cx="3566160" cy="54864"/>
          </a:xfrm>
          <a:prstGeom prst="rect">
            <a:avLst/>
          </a:prstGeom>
          <a:solidFill>
            <a:srgbClr val="1F4E79"/>
          </a:solidFill>
          <a:ln w="12700">
            <a:solidFill>
              <a:srgbClr val="1F4E79"/>
            </a:solidFill>
            <a:prstDash val="solid"/>
          </a:ln>
        </p:spPr>
      </p:sp>
      <p:sp>
        <p:nvSpPr>
          <p:cNvPr id="9" name="Text 7"/>
          <p:cNvSpPr txBox="1"/>
          <p:nvPr/>
        </p:nvSpPr>
        <p:spPr>
          <a:xfrm>
            <a:off x="749808" y="169164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Ask what is missing</a:t>
            </a:r>
            <a:endParaRPr lang="en-US" sz="1500" dirty="0"/>
          </a:p>
        </p:txBody>
      </p:sp>
      <p:sp>
        <p:nvSpPr>
          <p:cNvPr id="10" name="Text 8"/>
          <p:cNvSpPr txBox="1"/>
          <p:nvPr/>
        </p:nvSpPr>
        <p:spPr>
          <a:xfrm>
            <a:off x="749808" y="2148840"/>
            <a:ext cx="3163824" cy="324612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Context is worth adding only when it carries the specific information the current frame lacks and the task requires: the mapping (learning), the episode state, or which existing mapping to run (selection). Name which one before choosing a method.</a:t>
            </a:r>
            <a:endParaRPr lang="en-US" sz="1250" dirty="0"/>
          </a:p>
        </p:txBody>
      </p:sp>
      <p:sp>
        <p:nvSpPr>
          <p:cNvPr id="11" name="Shape 9"/>
          <p:cNvSpPr/>
          <p:nvPr/>
        </p:nvSpPr>
        <p:spPr>
          <a:xfrm>
            <a:off x="4297680" y="1554480"/>
            <a:ext cx="3566160" cy="4023360"/>
          </a:xfrm>
          <a:prstGeom prst="rect">
            <a:avLst/>
          </a:prstGeom>
          <a:solidFill>
            <a:srgbClr val="FFFFFF"/>
          </a:solidFill>
          <a:ln w="12700">
            <a:solidFill>
              <a:srgbClr val="D9DEE3"/>
            </a:solidFill>
            <a:prstDash val="solid"/>
          </a:ln>
        </p:spPr>
      </p:sp>
      <p:sp>
        <p:nvSpPr>
          <p:cNvPr id="12" name="Shape 10"/>
          <p:cNvSpPr/>
          <p:nvPr/>
        </p:nvSpPr>
        <p:spPr>
          <a:xfrm>
            <a:off x="4297680" y="1554480"/>
            <a:ext cx="3566160" cy="54864"/>
          </a:xfrm>
          <a:prstGeom prst="rect">
            <a:avLst/>
          </a:prstGeom>
          <a:solidFill>
            <a:srgbClr val="1F4E79"/>
          </a:solidFill>
          <a:ln w="12700">
            <a:solidFill>
              <a:srgbClr val="1F4E79"/>
            </a:solidFill>
            <a:prstDash val="solid"/>
          </a:ln>
        </p:spPr>
      </p:sp>
      <p:sp>
        <p:nvSpPr>
          <p:cNvPr id="13" name="Text 11"/>
          <p:cNvSpPr txBox="1"/>
          <p:nvPr/>
        </p:nvSpPr>
        <p:spPr>
          <a:xfrm>
            <a:off x="4498848" y="169164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Video can be the demo</a:t>
            </a:r>
            <a:endParaRPr lang="en-US" sz="1500" dirty="0"/>
          </a:p>
        </p:txBody>
      </p:sp>
      <p:sp>
        <p:nvSpPr>
          <p:cNvPr id="14" name="Text 12"/>
          <p:cNvSpPr txBox="1"/>
          <p:nvPr/>
        </p:nvSpPr>
        <p:spPr>
          <a:xfrm>
            <a:off x="4498848" y="2148840"/>
            <a:ext cx="3163824" cy="324612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MimicDroid shows the full pipeline from a person's play video to a humanoid's wrist trajectory with no robot data: hand poses as actions, similarity-mined pairs as tasks, retargeting plus masking as the bridge. Nearly 2× real-world success over video conditioning; +26% over test-time fine-tuning.</a:t>
            </a:r>
            <a:endParaRPr lang="en-US" sz="1250" dirty="0"/>
          </a:p>
        </p:txBody>
      </p:sp>
      <p:sp>
        <p:nvSpPr>
          <p:cNvPr id="15" name="Shape 13"/>
          <p:cNvSpPr/>
          <p:nvPr/>
        </p:nvSpPr>
        <p:spPr>
          <a:xfrm>
            <a:off x="8046720" y="1554480"/>
            <a:ext cx="3566160" cy="4023360"/>
          </a:xfrm>
          <a:prstGeom prst="rect">
            <a:avLst/>
          </a:prstGeom>
          <a:solidFill>
            <a:srgbClr val="FFFFFF"/>
          </a:solidFill>
          <a:ln w="12700">
            <a:solidFill>
              <a:srgbClr val="D9DEE3"/>
            </a:solidFill>
            <a:prstDash val="solid"/>
          </a:ln>
        </p:spPr>
      </p:sp>
      <p:sp>
        <p:nvSpPr>
          <p:cNvPr id="16" name="Shape 14"/>
          <p:cNvSpPr/>
          <p:nvPr/>
        </p:nvSpPr>
        <p:spPr>
          <a:xfrm>
            <a:off x="8046720" y="1554480"/>
            <a:ext cx="3566160" cy="54864"/>
          </a:xfrm>
          <a:prstGeom prst="rect">
            <a:avLst/>
          </a:prstGeom>
          <a:solidFill>
            <a:srgbClr val="1F4E79"/>
          </a:solidFill>
          <a:ln w="12700">
            <a:solidFill>
              <a:srgbClr val="1F4E79"/>
            </a:solidFill>
            <a:prstDash val="solid"/>
          </a:ln>
        </p:spPr>
      </p:sp>
      <p:sp>
        <p:nvSpPr>
          <p:cNvPr id="17" name="Text 15"/>
          <p:cNvSpPr txBox="1"/>
          <p:nvPr/>
        </p:nvSpPr>
        <p:spPr>
          <a:xfrm>
            <a:off x="8247888" y="1691640"/>
            <a:ext cx="3163824" cy="411480"/>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Know the boundaries</a:t>
            </a:r>
            <a:endParaRPr lang="en-US" sz="1500" dirty="0"/>
          </a:p>
        </p:txBody>
      </p:sp>
      <p:sp>
        <p:nvSpPr>
          <p:cNvPr id="18" name="Text 16"/>
          <p:cNvSpPr txBox="1"/>
          <p:nvPr/>
        </p:nvSpPr>
        <p:spPr>
          <a:xfrm>
            <a:off x="8247888" y="2148840"/>
            <a:ext cx="3163824" cy="3246120"/>
          </a:xfrm>
          <a:prstGeom prst="rect">
            <a:avLst/>
          </a:prstGeom>
          <a:noFill/>
          <a:ln/>
        </p:spPr>
        <p:txBody>
          <a:bodyPr wrap="square" lIns="0" tIns="0" rIns="0" bIns="0" rtlCol="0" anchor="t"/>
          <a:lstStyle/>
          <a:p>
            <a:pPr indent="0" marL="0">
              <a:spcAft>
                <a:spcPts val="600"/>
              </a:spcAft>
              <a:buNone/>
            </a:pPr>
            <a:r>
              <a:rPr lang="en-US" sz="1250" dirty="0">
                <a:solidFill>
                  <a:srgbClr val="1A1A1A"/>
                </a:solidFill>
                <a:latin typeface="Arial" pitchFamily="34" charset="0"/>
                <a:ea typeface="Arial" pitchFamily="34" charset="-122"/>
                <a:cs typeface="Arial" pitchFamily="34" charset="-120"/>
              </a:rPr>
              <a:t>No released MimicDroid weights; real results are on a GR1; gains plateau beyond 3 clips; contact is a binary grasp. For our G1: film play data now, train later, and keep BPP as the first frozen-weight route while this one is built.</a:t>
            </a:r>
            <a:endParaRPr lang="en-US" sz="1250" dirty="0"/>
          </a:p>
        </p:txBody>
      </p:sp>
      <p:sp>
        <p:nvSpPr>
          <p:cNvPr id="19" name="Shape 17"/>
          <p:cNvSpPr/>
          <p:nvPr/>
        </p:nvSpPr>
        <p:spPr>
          <a:xfrm>
            <a:off x="548640" y="5806440"/>
            <a:ext cx="11091672" cy="457200"/>
          </a:xfrm>
          <a:prstGeom prst="rect">
            <a:avLst/>
          </a:prstGeom>
          <a:solidFill>
            <a:srgbClr val="FFF6E5"/>
          </a:solidFill>
          <a:ln w="12700">
            <a:solidFill>
              <a:srgbClr val="FFF6E5"/>
            </a:solidFill>
            <a:prstDash val="solid"/>
          </a:ln>
        </p:spPr>
      </p:sp>
      <p:sp>
        <p:nvSpPr>
          <p:cNvPr id="20" name="Shape 18"/>
          <p:cNvSpPr/>
          <p:nvPr/>
        </p:nvSpPr>
        <p:spPr>
          <a:xfrm>
            <a:off x="548640" y="5806440"/>
            <a:ext cx="73152" cy="457200"/>
          </a:xfrm>
          <a:prstGeom prst="rect">
            <a:avLst/>
          </a:prstGeom>
          <a:solidFill>
            <a:srgbClr val="C97B00"/>
          </a:solidFill>
          <a:ln w="12700">
            <a:solidFill>
              <a:srgbClr val="C97B00"/>
            </a:solidFill>
            <a:prstDash val="solid"/>
          </a:ln>
        </p:spPr>
      </p:sp>
      <p:sp>
        <p:nvSpPr>
          <p:cNvPr id="21" name="Text 19"/>
          <p:cNvSpPr txBox="1"/>
          <p:nvPr/>
        </p:nvSpPr>
        <p:spPr>
          <a:xfrm>
            <a:off x="822960" y="5806440"/>
            <a:ext cx="10543032" cy="457200"/>
          </a:xfrm>
          <a:prstGeom prst="rect">
            <a:avLst/>
          </a:prstGeom>
          <a:noFill/>
          <a:ln/>
        </p:spPr>
        <p:txBody>
          <a:bodyPr wrap="square" lIns="0" tIns="0" rIns="0" bIns="0" rtlCol="0" anchor="ctr"/>
          <a:lstStyle/>
          <a:p>
            <a:pPr indent="0" marL="0">
              <a:buNone/>
            </a:pPr>
            <a:r>
              <a:rPr lang="en-US" sz="1250" dirty="0">
                <a:solidFill>
                  <a:srgbClr val="1A1A1A"/>
                </a:solidFill>
                <a:latin typeface="Arial" pitchFamily="34" charset="0"/>
                <a:ea typeface="Arial" pitchFamily="34" charset="-122"/>
                <a:cs typeface="Arial" pitchFamily="34" charset="-120"/>
              </a:rPr>
              <a:t>Next step on our side: a 10-minute play-video pilot with the cup task on our bench, processed through WiLoR, to confirm hand-pose quality before committing training compute.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2026-09-17T18:31:11Z</dcterms:created>
  <dcterms:modified xsi:type="dcterms:W3CDTF">2026-09-17T18:31:11Z</dcterms:modified>
</cp:coreProperties>
</file>