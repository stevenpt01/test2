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architecture and implementation design, not evidence of verified real-G1 task success. Focus on separating semantic task planning, active perception, navigation goals, and VLA pick/place execution. Two examples are studied: move a red cup to a kitchen counter; dispose of a user-authorized disposable cup in a trash bin.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raw detector does not translate an instruction into where to look. The high-level planner must issue a grounded search specification; a separate active perception agent resolves that specification using memory, viewpoints, and the existing 3D detector. Only after the object is grounded may the task planner request navigation and manipulation.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must not implicitly throw away reusable household property just because the task says clean the table. In the second case the target is a disposable cup explicitly designated for trash, or confirmed by an authorized user/approved disposal policy. The same seven-stage execution chain is reused.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planner typically uses RynnBrain-Plan-8B or a deterministic BT. Active perception can be a deterministic state machine. Semantic world is a separate persistent service. Navigation uses Nav2-style geometric planning plus a G1-compatible locomotion adapter. VLA manipulation uses a task-trained GR00T N1.7 policy with compatible embodiment. Safety is independent and cannot be bypassed by the VLM.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intentionally separates three loops: (1) mission planning chooses the next semantic skill, (2) active perception searches for ungrounded objects, and (3) skill execution and verification update the world model. Shared world receives 3D detections, costmap, reconstruction references and robot localization, though costmap remains geometrically authoritative in navigation. Nav2 does not directly control G1 balance; the locomotion interface must be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sequence is the core change requested. Stage 3 navigation ends at an approach pose with confirmed arrival; Stage 4 is independently invoked VLA pick. Stage 5 navigation transports the verified object while attached, Stage 6 is a separately invoked VLA place. Do not equate action goal acceptance with physical task completion. Observe→act→verify occurs at every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structured mission should include target attributes, room/surface relation, explicit destination, permitted skills and task policies. Case A move cup to kitchen counter; Case B clear table by disposing of a specifically user-authorized disposable cup. Validate schema and semantic constraints before running any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 registry should track last_seen, pose covariance, source, observation count, association probability and object lifecycle. Fresh+confirmed still needs near-task verification. Stale triggers verification at known location, no match triggers search. The semantics of NOT_FOUND vs NOT_OBSERVED should be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 ActivePerception as a ROS 2 action: goal target query, budget and authorized search region; feedback current viewpoint, coverage, candidate IDs, reason; terminal results FOUND / NOT_OBSERVED / UNSAFE / TIMEOUT / CANCELED. Search uses memory before motion. A viewpoint is an observation pose, different from a manipulation approach pose. Robots never move to unvalidated waypoints.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illustrative 2D map stands for a 3D geometry-aware viewpoint planner. Candidate points around table are sampled in traversable free space; FOV and visibility estimated by raycasting or coverage; cost from Nav2; safety from torso and limb clearance. Reject camera viewpoints in inaccessible or unstable areas. Choose in order of expected information gain balanced with travel and risk, then stop after the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may be vision_msgs/Detection3DArray from an existing 3D detector with synchronized image. The detector may not supply color; add an RGB crop classifier or projected point colors. Use 3D support geometry to test on_top_of(table_03) with tolerances; do not conflate proximity with support. Ground an object only if constraints and confidence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 registry can initially be SQLite with objects, observations, relations and events; schema needs stable IDs, pose uncertainty, last_seen, deleted/stale flags, transform source, and event version. Do not duplicate full mesh. Store geometry_ref and map_version, let geometric service resolve voxels or mesh. Optional Spark-DSG scene graph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 ID must not change when cup relocates. New observations are gated by lifecycle and tracking: ATTACHED is derived from hand-to-object transform and not re-associated as a new scene object. After VLA place reports release, set PLACE_PENDING, then verify cup in destination. The original Semantic-nav-amr only label+distance merges and cannot handle mobile object lifecycle robustly.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distinct geometric problems: view selection for observing an object, and manipulation base pose selection for safely reaching it. Use arm IK/manipulability and contact feasibility, 3D body clearance, no-go zones, costmap path, balance and standing orientation. The approach goal is a candidate PoseStamped that can be validated and passed to Nav2; never simply use the detected object center or a fixed 0.7m offset.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Nav2 NavigateToPose emits goal accepted, feedback and final result. ROS2 action semantics distinguish goal acceptance from physical completion. A separate G1 locomotion bridge must transform Nav2 path/pose commands into validated whole-body locomotion and ensure balance. Nav2 is NOT automatically a G1 balance controller. The handoff to VLA happens only after locomotion reports a stable terminal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GR00T N1.7 G1 SONIC interface is documented as a post-training embodiment; you need compatible fine-tuned checkpoint, task demonstrations and tested observation / action mappings. Do not treat unadapted base checkpoint as guaranteed pick skill. VLA command is pick(cup_17), not navigation. Verify grasp using camera/hand sensors and target motion, with timeout. Only then transition object to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navigation starts a second, independent ROS action targeting the destination approach pose. Object stays attached to robot link, and original support relationship is removed. Carrying changes body envelope, dynamic constraints, safe gait/arm policy. If obstruction occurs, local route recovery may happen without task-level replan; if cup slips or collision risk increases, stop and escalate. G1 navigation interface still requires validated locomotion/WBC.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G1 finishes navigation to kitchen counter before switching to manipulation policy. Goal should contain object ID, destination geometry, target placement zone, contact constraints, camera frame, and timeout. Policy places then releases; independent perception verifies object support, no slipping/drop, hand detachment. Registry transitions from PLACE_PENDING to AVAILABLE at new location only after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episode is complete if goal predicates satisfy the requested state, with fresh observations and no unresolved safety issue. Success metrics include actual object placement, no accidental disposal, stable final pose, and correct identity. Report pending/incomplete if camera cannot inspect final target, even if VLA returns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trace is design illustration, not measured robot execution. Benchmark should log event IDs, pose transforms, object state, retry count, action results, last observation, costmap version and reference geometry for each step. Validate each transition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user explicitly says put this cup in the trash, the planner can respect the instruction subject to robot safety and any household-level policy. If the instruction is only clean the table, do not infer every cup is trash. Classify disposable or request approval. The end-to-end task is object removal, not wiping, disinfection, dirt estimation, or autonomous waste sorting beyond supported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trash example is deliberately handled as seven independent high-level skills. Active perception may need to find the bin as well as the cup, or use existing bin registry and fresh verification. The VLA PLACE skill should be trained for bin aperture and release, not just arbitrary counter placement. The robot must confirm disposal success with evidence, and avoid placing when the bin is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the instruction clean the table as underspecified. A reusable mug should not be thrown into a bin on an inferred policy. Require explicit disposal target or stored household rule; the user example of throwing a cup in trash should be treated as disposable or specifically authorized. In test scenarios, tag object truth labels; measure false disposal rate and uncertainty abstention.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Long-horizon cleaning means object inventory, destination assignment, ordering, repeated independent skill execution. Do not equate object relocation with full cleaning tasks such as wiping; that requires a separate trained tool-use skill. Task graph can optimize carrying, accessibility, priority, and retry budget. Agents should maintain goal predicates for each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unobservable cup, search next safe viewpoint. For ambiguous cup, do not choose one at random. For navigation blocked, Nav2 local recovery can replan. For failed grasp, VLA local bounded retry only after perception refresh. For drop, release attachment and re-ground identity. Bin full should trigger mission replan. Every recovery budget and action status must be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 2 actions fit long-running active search, navigation and manipulation because they have Goal/Feedback/Result and cancellation. FindObjects is a fast world query service. Detections, tracked objects, TF2, costmap should be streamed. These names are proposals, not upstream published interface names. Standardize versions, map frame, timestamps, IDs, and terminal result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.action files with explicit goal, feedback and result. Keep an object_id as a stable identifier and references into world state instead of repeating large geometry. Include `mission_id`, `event_id` and `schema_version` for tracking. Validate allowed skills, map frame, freshness, safety and authorization. Avoid LLM output directly becoming low-level torques or joint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logic is intentionally deterministic and testable; high-level model can propose a structured mission but it is not the authority on robot state. Active perception relies on safe views and budget. Real implementation needs ROS 2 action clients and server state handling, asynchronous cancellation, telemetry, persistence transaction boundaries, safety stops, and retry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logical deployment partition, not a promise that each model fits a specific GPU. Profile VLM and GR00T GPU requirements, camera bandwidth, ROS2 DDS latency and network reliability. Original RynnBrain weights are available, but benchmark against fixed deterministic planner too. Codex subscription may assist software development but must not be used as the robot runtime planner. GR00T N1.7 G1 SONIC requires fine-tuned checkpoint as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benchmark: first use oracle object and skill mocks to isolate planner, then closed loop physics with G1 and fixed low-level policies, then supervised hardware. Tasks: find cup, occluded cup, navigate pickup, pick, navigate while holding, place, room tidying, discard authorized cup. Stratify unseen layouts, illumination, dynamic obstacles, position noise, failed grasp, full bin. Report separate metrics with confidence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Milestones are logical rather than hard schedule promises: M0 contract design, M1 registry and persistence, M2 active perception using existing detector, M3 navigation using costmap and validated G1 controller, M4 fine-tuned GR00T N1.7 and state machine, M5 integration and benchmark. Codex can implement a phase only after approved design. Physical G1 motion always requires human authorization and safety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 URLs: https://github.com/Gukdoli/Semantic-nav-amr ; https://docs.nav2.org ; https://design.ros2.org/articles/actions.html ; https://github.com/ros-perception/vision_msgs ; https://github.com/MIT-SPARK/Spark-DSG ; https://nvlabs.github.io/GR00T-WholeBodyControl/tutorials/vla_workflow.html ; https://github.com/isaac-sim/IsaacLab-Arena ; https://huggingface.co/Alibaba-DAMO-Academy/RynnBrain-Plan-8B . Note licensed components separately. All G1_semantic_world interface names and examples in deck are proposed, not existing upstream interfaces.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594360" y="658368"/>
            <a:ext cx="502920" cy="45720"/>
          </a:xfrm>
          <a:prstGeom prst="rect">
            <a:avLst/>
          </a:prstGeom>
          <a:solidFill>
            <a:srgbClr val="65D5E9"/>
          </a:solidFill>
          <a:ln w="10795">
            <a:solidFill>
              <a:srgbClr val="65D5E9"/>
            </a:solidFill>
            <a:prstDash val="solid"/>
          </a:ln>
        </p:spPr>
      </p:sp>
      <p:sp>
        <p:nvSpPr>
          <p:cNvPr id="4" name="Text 2"/>
          <p:cNvSpPr/>
          <p:nvPr/>
        </p:nvSpPr>
        <p:spPr>
          <a:xfrm>
            <a:off x="1252728" y="594360"/>
            <a:ext cx="4572000" cy="201168"/>
          </a:xfrm>
          <a:prstGeom prst="rect">
            <a:avLst/>
          </a:prstGeom>
          <a:noFill/>
          <a:ln/>
        </p:spPr>
        <p:txBody>
          <a:bodyPr wrap="square" lIns="0" tIns="0" rIns="0" bIns="0" rtlCol="0" anchor="ctr"/>
          <a:lstStyle/>
          <a:p>
            <a:pPr algn="l" indent="0" marL="0">
              <a:lnSpc>
                <a:spcPct val="100000"/>
              </a:lnSpc>
              <a:buNone/>
            </a:pPr>
            <a:r>
              <a:rPr lang="en-US" sz="1050" b="1" spc="110" kern="0" dirty="0">
                <a:solidFill>
                  <a:srgbClr val="A1B2C4"/>
                </a:solidFill>
                <a:latin typeface="Inter" pitchFamily="34" charset="0"/>
                <a:ea typeface="Inter" pitchFamily="34" charset="-122"/>
                <a:cs typeface="Inter" pitchFamily="34" charset="-120"/>
              </a:rPr>
              <a:t>SYSTEM DESIGN / IMPLEMENTATION BLUEPRINT</a:t>
            </a:r>
            <a:endParaRPr lang="en-US" sz="1050" dirty="0"/>
          </a:p>
        </p:txBody>
      </p:sp>
      <p:sp>
        <p:nvSpPr>
          <p:cNvPr id="5" name="Text 3"/>
          <p:cNvSpPr/>
          <p:nvPr/>
        </p:nvSpPr>
        <p:spPr>
          <a:xfrm>
            <a:off x="658368" y="1143000"/>
            <a:ext cx="6492240" cy="1700784"/>
          </a:xfrm>
          <a:prstGeom prst="rect">
            <a:avLst/>
          </a:prstGeom>
          <a:noFill/>
          <a:ln/>
        </p:spPr>
        <p:txBody>
          <a:bodyPr wrap="square" lIns="0" tIns="0" rIns="0" bIns="0" rtlCol="0" anchor="ctr"/>
          <a:lstStyle/>
          <a:p>
            <a:pPr algn="l" indent="0" marL="0">
              <a:lnSpc>
                <a:spcPct val="100000"/>
              </a:lnSpc>
              <a:buNone/>
            </a:pPr>
            <a:r>
              <a:rPr lang="en-US" sz="3200" b="1" dirty="0">
                <a:solidFill>
                  <a:srgbClr val="F5F7FC"/>
                </a:solidFill>
                <a:latin typeface="Inter" pitchFamily="34" charset="0"/>
                <a:ea typeface="Inter" pitchFamily="34" charset="-122"/>
                <a:cs typeface="Inter" pitchFamily="34" charset="-120"/>
              </a:rPr>
              <a:t>FROM INSTRUCTION</a:t>
            </a:r>
            <a:endParaRPr lang="en-US" sz="3200" dirty="0"/>
          </a:p>
          <a:p>
            <a:pPr algn="l" indent="0" marL="0">
              <a:lnSpc>
                <a:spcPct val="100000"/>
              </a:lnSpc>
              <a:buNone/>
            </a:pPr>
            <a:r>
              <a:rPr lang="en-US" sz="3200" b="1" dirty="0">
                <a:solidFill>
                  <a:srgbClr val="F5F7FC"/>
                </a:solidFill>
                <a:latin typeface="Inter" pitchFamily="34" charset="0"/>
                <a:ea typeface="Inter" pitchFamily="34" charset="-122"/>
                <a:cs typeface="Inter" pitchFamily="34" charset="-120"/>
              </a:rPr>
              <a:t>TO GROUNDED ACTION</a:t>
            </a:r>
            <a:endParaRPr lang="en-US" sz="3200" dirty="0"/>
          </a:p>
        </p:txBody>
      </p:sp>
      <p:sp>
        <p:nvSpPr>
          <p:cNvPr id="6" name="Text 4"/>
          <p:cNvSpPr/>
          <p:nvPr/>
        </p:nvSpPr>
        <p:spPr>
          <a:xfrm>
            <a:off x="685800" y="3145536"/>
            <a:ext cx="5852160" cy="804672"/>
          </a:xfrm>
          <a:prstGeom prst="rect">
            <a:avLst/>
          </a:prstGeom>
          <a:noFill/>
          <a:ln/>
        </p:spPr>
        <p:txBody>
          <a:bodyPr wrap="square" lIns="0" tIns="0" rIns="0" bIns="0" rtlCol="0" anchor="t"/>
          <a:lstStyle/>
          <a:p>
            <a:pPr algn="l" indent="0" marL="0">
              <a:lnSpc>
                <a:spcPct val="100000"/>
              </a:lnSpc>
              <a:buNone/>
            </a:pPr>
            <a:r>
              <a:rPr lang="en-US" sz="1600" dirty="0">
                <a:solidFill>
                  <a:srgbClr val="A1B2C4"/>
                </a:solidFill>
                <a:latin typeface="Inter" pitchFamily="34" charset="0"/>
                <a:ea typeface="Inter" pitchFamily="34" charset="-122"/>
                <a:cs typeface="Inter" pitchFamily="34" charset="-120"/>
              </a:rPr>
              <a:t>Unitree G1  •  Active perception  •  Semantic memory</a:t>
            </a:r>
            <a:endParaRPr lang="en-US" sz="1600" dirty="0"/>
          </a:p>
          <a:p>
            <a:pPr algn="l" indent="0" marL="0">
              <a:lnSpc>
                <a:spcPct val="100000"/>
              </a:lnSpc>
              <a:buNone/>
            </a:pPr>
            <a:r>
              <a:rPr lang="en-US" sz="1600" dirty="0">
                <a:solidFill>
                  <a:srgbClr val="A1B2C4"/>
                </a:solidFill>
                <a:latin typeface="Inter" pitchFamily="34" charset="0"/>
                <a:ea typeface="Inter" pitchFamily="34" charset="-122"/>
                <a:cs typeface="Inter" pitchFamily="34" charset="-120"/>
              </a:rPr>
              <a:t>Nav2 navigation  •  GR00T VLA pick &amp; place</a:t>
            </a:r>
            <a:endParaRPr lang="en-US" sz="1600" dirty="0"/>
          </a:p>
        </p:txBody>
      </p:sp>
      <p:sp>
        <p:nvSpPr>
          <p:cNvPr id="7" name="Shape 5"/>
          <p:cNvSpPr/>
          <p:nvPr/>
        </p:nvSpPr>
        <p:spPr>
          <a:xfrm>
            <a:off x="685800" y="4379976"/>
            <a:ext cx="2414016" cy="338328"/>
          </a:xfrm>
          <a:prstGeom prst="roundRect">
            <a:avLst>
              <a:gd name="adj" fmla="val 48649"/>
            </a:avLst>
          </a:prstGeom>
          <a:solidFill>
            <a:srgbClr val="48D7B2">
              <a:alpha val="16000"/>
            </a:srgbClr>
          </a:solidFill>
          <a:ln w="10795">
            <a:solidFill>
              <a:srgbClr val="48D7B2"/>
            </a:solidFill>
            <a:prstDash val="solid"/>
          </a:ln>
        </p:spPr>
      </p:sp>
      <p:sp>
        <p:nvSpPr>
          <p:cNvPr id="8" name="Text 6"/>
          <p:cNvSpPr/>
          <p:nvPr/>
        </p:nvSpPr>
        <p:spPr>
          <a:xfrm>
            <a:off x="740664" y="4389120"/>
            <a:ext cx="2304288" cy="320040"/>
          </a:xfrm>
          <a:prstGeom prst="rect">
            <a:avLst/>
          </a:prstGeom>
          <a:noFill/>
          <a:ln/>
        </p:spPr>
        <p:txBody>
          <a:bodyPr wrap="square" lIns="0" tIns="0" rIns="0" bIns="0" rtlCol="0" anchor="ctr"/>
          <a:lstStyle/>
          <a:p>
            <a:pPr algn="ctr" indent="0" marL="0">
              <a:lnSpc>
                <a:spcPct val="100000"/>
              </a:lnSpc>
              <a:buNone/>
            </a:pPr>
            <a:r>
              <a:rPr lang="en-US" sz="1000" b="1" dirty="0">
                <a:solidFill>
                  <a:srgbClr val="48D7B2"/>
                </a:solidFill>
                <a:latin typeface="Inter" pitchFamily="34" charset="0"/>
                <a:ea typeface="Inter" pitchFamily="34" charset="-122"/>
                <a:cs typeface="Inter" pitchFamily="34" charset="-120"/>
              </a:rPr>
              <a:t>2 COMPLETE WORKED TASKS</a:t>
            </a:r>
            <a:endParaRPr lang="en-US" sz="1000" dirty="0"/>
          </a:p>
        </p:txBody>
      </p:sp>
      <p:sp>
        <p:nvSpPr>
          <p:cNvPr id="9" name="Shape 7"/>
          <p:cNvSpPr/>
          <p:nvPr/>
        </p:nvSpPr>
        <p:spPr>
          <a:xfrm>
            <a:off x="3246120" y="4379976"/>
            <a:ext cx="1682496" cy="338328"/>
          </a:xfrm>
          <a:prstGeom prst="roundRect">
            <a:avLst>
              <a:gd name="adj" fmla="val 48649"/>
            </a:avLst>
          </a:prstGeom>
          <a:solidFill>
            <a:srgbClr val="6B9BFF">
              <a:alpha val="16000"/>
            </a:srgbClr>
          </a:solidFill>
          <a:ln w="10795">
            <a:solidFill>
              <a:srgbClr val="6B9BFF"/>
            </a:solidFill>
            <a:prstDash val="solid"/>
          </a:ln>
        </p:spPr>
      </p:sp>
      <p:sp>
        <p:nvSpPr>
          <p:cNvPr id="10" name="Text 8"/>
          <p:cNvSpPr/>
          <p:nvPr/>
        </p:nvSpPr>
        <p:spPr>
          <a:xfrm>
            <a:off x="3300984" y="4389120"/>
            <a:ext cx="1572768" cy="320040"/>
          </a:xfrm>
          <a:prstGeom prst="rect">
            <a:avLst/>
          </a:prstGeom>
          <a:noFill/>
          <a:ln/>
        </p:spPr>
        <p:txBody>
          <a:bodyPr wrap="square" lIns="0" tIns="0" rIns="0" bIns="0" rtlCol="0" anchor="ctr"/>
          <a:lstStyle/>
          <a:p>
            <a:pPr algn="ctr" indent="0" marL="0">
              <a:lnSpc>
                <a:spcPct val="100000"/>
              </a:lnSpc>
              <a:buNone/>
            </a:pPr>
            <a:r>
              <a:rPr lang="en-US" sz="1000" b="1" dirty="0">
                <a:solidFill>
                  <a:srgbClr val="6B9BFF"/>
                </a:solidFill>
                <a:latin typeface="Inter" pitchFamily="34" charset="0"/>
                <a:ea typeface="Inter" pitchFamily="34" charset="-122"/>
                <a:cs typeface="Inter" pitchFamily="34" charset="-120"/>
              </a:rPr>
              <a:t>OFFLINE-FIRST</a:t>
            </a:r>
            <a:endParaRPr lang="en-US" sz="1000" dirty="0"/>
          </a:p>
        </p:txBody>
      </p:sp>
      <p:sp>
        <p:nvSpPr>
          <p:cNvPr id="11" name="Shape 9"/>
          <p:cNvSpPr/>
          <p:nvPr/>
        </p:nvSpPr>
        <p:spPr>
          <a:xfrm>
            <a:off x="7342632" y="950976"/>
            <a:ext cx="4151376" cy="5020056"/>
          </a:xfrm>
          <a:prstGeom prst="roundRect">
            <a:avLst>
              <a:gd name="adj" fmla="val 3965"/>
            </a:avLst>
          </a:prstGeom>
          <a:solidFill>
            <a:srgbClr val="102335"/>
          </a:solidFill>
          <a:ln w="10795">
            <a:solidFill>
              <a:srgbClr val="294056"/>
            </a:solidFill>
            <a:prstDash val="solid"/>
          </a:ln>
        </p:spPr>
      </p:sp>
      <p:sp>
        <p:nvSpPr>
          <p:cNvPr id="12" name="Shape 10"/>
          <p:cNvSpPr/>
          <p:nvPr/>
        </p:nvSpPr>
        <p:spPr>
          <a:xfrm>
            <a:off x="7662672" y="1344168"/>
            <a:ext cx="3493008" cy="530352"/>
          </a:xfrm>
          <a:prstGeom prst="roundRect">
            <a:avLst>
              <a:gd name="adj" fmla="val 15517"/>
            </a:avLst>
          </a:prstGeom>
          <a:solidFill>
            <a:srgbClr val="152B40"/>
          </a:solidFill>
          <a:ln w="10795">
            <a:solidFill>
              <a:srgbClr val="B5A0F8"/>
            </a:solidFill>
            <a:prstDash val="solid"/>
          </a:ln>
        </p:spPr>
      </p:sp>
      <p:sp>
        <p:nvSpPr>
          <p:cNvPr id="13" name="Text 11"/>
          <p:cNvSpPr/>
          <p:nvPr/>
        </p:nvSpPr>
        <p:spPr>
          <a:xfrm>
            <a:off x="7845552" y="1444752"/>
            <a:ext cx="3118104" cy="292608"/>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LANGUAGE</a:t>
            </a:r>
            <a:endParaRPr lang="en-US" sz="1400" dirty="0"/>
          </a:p>
        </p:txBody>
      </p:sp>
      <p:sp>
        <p:nvSpPr>
          <p:cNvPr id="14" name="Shape 12"/>
          <p:cNvSpPr/>
          <p:nvPr/>
        </p:nvSpPr>
        <p:spPr>
          <a:xfrm>
            <a:off x="9409176" y="1874520"/>
            <a:ext cx="0" cy="219456"/>
          </a:xfrm>
          <a:prstGeom prst="line">
            <a:avLst/>
          </a:prstGeom>
          <a:noFill/>
          <a:ln w="22860">
            <a:solidFill>
              <a:srgbClr val="B5A0F8"/>
            </a:solidFill>
            <a:prstDash val="solid"/>
            <a:headEnd type="none"/>
            <a:tailEnd type="triangle"/>
          </a:ln>
        </p:spPr>
      </p:sp>
      <p:sp>
        <p:nvSpPr>
          <p:cNvPr id="15" name="Shape 13"/>
          <p:cNvSpPr/>
          <p:nvPr/>
        </p:nvSpPr>
        <p:spPr>
          <a:xfrm>
            <a:off x="7662672" y="2185416"/>
            <a:ext cx="3493008" cy="530352"/>
          </a:xfrm>
          <a:prstGeom prst="roundRect">
            <a:avLst>
              <a:gd name="adj" fmla="val 15517"/>
            </a:avLst>
          </a:prstGeom>
          <a:solidFill>
            <a:srgbClr val="152B40"/>
          </a:solidFill>
          <a:ln w="10795">
            <a:solidFill>
              <a:srgbClr val="65D5E9"/>
            </a:solidFill>
            <a:prstDash val="solid"/>
          </a:ln>
        </p:spPr>
      </p:sp>
      <p:sp>
        <p:nvSpPr>
          <p:cNvPr id="16" name="Text 14"/>
          <p:cNvSpPr/>
          <p:nvPr/>
        </p:nvSpPr>
        <p:spPr>
          <a:xfrm>
            <a:off x="7845552" y="2286000"/>
            <a:ext cx="3118104" cy="292608"/>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ACTIVE PERCEPTION</a:t>
            </a:r>
            <a:endParaRPr lang="en-US" sz="1400" dirty="0"/>
          </a:p>
        </p:txBody>
      </p:sp>
      <p:sp>
        <p:nvSpPr>
          <p:cNvPr id="17" name="Shape 15"/>
          <p:cNvSpPr/>
          <p:nvPr/>
        </p:nvSpPr>
        <p:spPr>
          <a:xfrm>
            <a:off x="9409176" y="2715768"/>
            <a:ext cx="0" cy="219456"/>
          </a:xfrm>
          <a:prstGeom prst="line">
            <a:avLst/>
          </a:prstGeom>
          <a:noFill/>
          <a:ln w="22860">
            <a:solidFill>
              <a:srgbClr val="65D5E9"/>
            </a:solidFill>
            <a:prstDash val="solid"/>
            <a:headEnd type="none"/>
            <a:tailEnd type="triangle"/>
          </a:ln>
        </p:spPr>
      </p:sp>
      <p:sp>
        <p:nvSpPr>
          <p:cNvPr id="18" name="Shape 16"/>
          <p:cNvSpPr/>
          <p:nvPr/>
        </p:nvSpPr>
        <p:spPr>
          <a:xfrm>
            <a:off x="7662672" y="3026664"/>
            <a:ext cx="3493008" cy="530352"/>
          </a:xfrm>
          <a:prstGeom prst="roundRect">
            <a:avLst>
              <a:gd name="adj" fmla="val 15517"/>
            </a:avLst>
          </a:prstGeom>
          <a:solidFill>
            <a:srgbClr val="152B40"/>
          </a:solidFill>
          <a:ln w="10795">
            <a:solidFill>
              <a:srgbClr val="48D7B2"/>
            </a:solidFill>
            <a:prstDash val="solid"/>
          </a:ln>
        </p:spPr>
      </p:sp>
      <p:sp>
        <p:nvSpPr>
          <p:cNvPr id="19" name="Text 17"/>
          <p:cNvSpPr/>
          <p:nvPr/>
        </p:nvSpPr>
        <p:spPr>
          <a:xfrm>
            <a:off x="7845552" y="3127248"/>
            <a:ext cx="3118104" cy="292608"/>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SEMANTIC WORLD</a:t>
            </a:r>
            <a:endParaRPr lang="en-US" sz="1400" dirty="0"/>
          </a:p>
        </p:txBody>
      </p:sp>
      <p:sp>
        <p:nvSpPr>
          <p:cNvPr id="20" name="Shape 18"/>
          <p:cNvSpPr/>
          <p:nvPr/>
        </p:nvSpPr>
        <p:spPr>
          <a:xfrm>
            <a:off x="9409176" y="3557016"/>
            <a:ext cx="0" cy="219456"/>
          </a:xfrm>
          <a:prstGeom prst="line">
            <a:avLst/>
          </a:prstGeom>
          <a:noFill/>
          <a:ln w="22860">
            <a:solidFill>
              <a:srgbClr val="48D7B2"/>
            </a:solidFill>
            <a:prstDash val="solid"/>
            <a:headEnd type="none"/>
            <a:tailEnd type="triangle"/>
          </a:ln>
        </p:spPr>
      </p:sp>
      <p:sp>
        <p:nvSpPr>
          <p:cNvPr id="21" name="Shape 19"/>
          <p:cNvSpPr/>
          <p:nvPr/>
        </p:nvSpPr>
        <p:spPr>
          <a:xfrm>
            <a:off x="7662672" y="3867912"/>
            <a:ext cx="3493008" cy="530352"/>
          </a:xfrm>
          <a:prstGeom prst="roundRect">
            <a:avLst>
              <a:gd name="adj" fmla="val 15517"/>
            </a:avLst>
          </a:prstGeom>
          <a:solidFill>
            <a:srgbClr val="152B40"/>
          </a:solidFill>
          <a:ln w="10795">
            <a:solidFill>
              <a:srgbClr val="6B9BFF"/>
            </a:solidFill>
            <a:prstDash val="solid"/>
          </a:ln>
        </p:spPr>
      </p:sp>
      <p:sp>
        <p:nvSpPr>
          <p:cNvPr id="22" name="Text 20"/>
          <p:cNvSpPr/>
          <p:nvPr/>
        </p:nvSpPr>
        <p:spPr>
          <a:xfrm>
            <a:off x="7845552" y="3968496"/>
            <a:ext cx="3118104" cy="292608"/>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NAVIGATION</a:t>
            </a:r>
            <a:endParaRPr lang="en-US" sz="1400" dirty="0"/>
          </a:p>
        </p:txBody>
      </p:sp>
      <p:sp>
        <p:nvSpPr>
          <p:cNvPr id="23" name="Shape 21"/>
          <p:cNvSpPr/>
          <p:nvPr/>
        </p:nvSpPr>
        <p:spPr>
          <a:xfrm>
            <a:off x="9409176" y="4398264"/>
            <a:ext cx="0" cy="219456"/>
          </a:xfrm>
          <a:prstGeom prst="line">
            <a:avLst/>
          </a:prstGeom>
          <a:noFill/>
          <a:ln w="22860">
            <a:solidFill>
              <a:srgbClr val="6B9BFF"/>
            </a:solidFill>
            <a:prstDash val="solid"/>
            <a:headEnd type="none"/>
            <a:tailEnd type="triangle"/>
          </a:ln>
        </p:spPr>
      </p:sp>
      <p:sp>
        <p:nvSpPr>
          <p:cNvPr id="24" name="Shape 22"/>
          <p:cNvSpPr/>
          <p:nvPr/>
        </p:nvSpPr>
        <p:spPr>
          <a:xfrm>
            <a:off x="7662672" y="4709160"/>
            <a:ext cx="3493008" cy="530352"/>
          </a:xfrm>
          <a:prstGeom prst="roundRect">
            <a:avLst>
              <a:gd name="adj" fmla="val 15517"/>
            </a:avLst>
          </a:prstGeom>
          <a:solidFill>
            <a:srgbClr val="152B40"/>
          </a:solidFill>
          <a:ln w="10795">
            <a:solidFill>
              <a:srgbClr val="FFC176"/>
            </a:solidFill>
            <a:prstDash val="solid"/>
          </a:ln>
        </p:spPr>
      </p:sp>
      <p:sp>
        <p:nvSpPr>
          <p:cNvPr id="25" name="Text 23"/>
          <p:cNvSpPr/>
          <p:nvPr/>
        </p:nvSpPr>
        <p:spPr>
          <a:xfrm>
            <a:off x="7845552" y="4809744"/>
            <a:ext cx="3118104" cy="292608"/>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VLA MANIPULATION</a:t>
            </a:r>
            <a:endParaRPr lang="en-US" sz="1400" dirty="0"/>
          </a:p>
        </p:txBody>
      </p:sp>
      <p:sp>
        <p:nvSpPr>
          <p:cNvPr id="26" name="Text 24"/>
          <p:cNvSpPr/>
          <p:nvPr/>
        </p:nvSpPr>
        <p:spPr>
          <a:xfrm>
            <a:off x="704088" y="6364224"/>
            <a:ext cx="5669280" cy="201168"/>
          </a:xfrm>
          <a:prstGeom prst="rect">
            <a:avLst/>
          </a:prstGeom>
          <a:noFill/>
          <a:ln/>
        </p:spPr>
        <p:txBody>
          <a:bodyPr wrap="square" lIns="0" tIns="0" rIns="0" bIns="0" rtlCol="0" anchor="ctr"/>
          <a:lstStyle/>
          <a:p>
            <a:pPr algn="l" indent="0" marL="0">
              <a:lnSpc>
                <a:spcPct val="100000"/>
              </a:lnSpc>
              <a:buNone/>
            </a:pPr>
            <a:r>
              <a:rPr lang="en-US" sz="1000" b="1" dirty="0">
                <a:solidFill>
                  <a:srgbClr val="647F96"/>
                </a:solidFill>
                <a:latin typeface="Inter" pitchFamily="34" charset="0"/>
                <a:ea typeface="Inter" pitchFamily="34" charset="-122"/>
                <a:cs typeface="Inter" pitchFamily="34" charset="-120"/>
              </a:rPr>
              <a:t>DETAILED TECHNICAL DECK  •  OCT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MOTIVATION</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The difficult part happens before grasping</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A camera can detect a cup only after the robot observes the right place.</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02</a:t>
            </a:r>
            <a:endParaRPr lang="en-US" sz="1100" dirty="0"/>
          </a:p>
        </p:txBody>
      </p:sp>
      <p:sp>
        <p:nvSpPr>
          <p:cNvPr id="11" name="Shape 9"/>
          <p:cNvSpPr/>
          <p:nvPr/>
        </p:nvSpPr>
        <p:spPr>
          <a:xfrm>
            <a:off x="548640" y="2221992"/>
            <a:ext cx="11064240" cy="859536"/>
          </a:xfrm>
          <a:prstGeom prst="roundRect">
            <a:avLst>
              <a:gd name="adj" fmla="val 14894"/>
            </a:avLst>
          </a:prstGeom>
          <a:solidFill>
            <a:srgbClr val="102335"/>
          </a:solidFill>
          <a:ln w="10795">
            <a:solidFill>
              <a:srgbClr val="294056"/>
            </a:solidFill>
            <a:prstDash val="solid"/>
          </a:ln>
        </p:spPr>
      </p:sp>
      <p:sp>
        <p:nvSpPr>
          <p:cNvPr id="12" name="Text 10"/>
          <p:cNvSpPr/>
          <p:nvPr/>
        </p:nvSpPr>
        <p:spPr>
          <a:xfrm>
            <a:off x="777240" y="2368296"/>
            <a:ext cx="10607040" cy="566928"/>
          </a:xfrm>
          <a:prstGeom prst="rect">
            <a:avLst/>
          </a:prstGeom>
          <a:noFill/>
          <a:ln/>
        </p:spPr>
        <p:txBody>
          <a:bodyPr wrap="square" lIns="0" tIns="0" rIns="0" bIns="0" rtlCol="0" anchor="ctr"/>
          <a:lstStyle/>
          <a:p>
            <a:pPr algn="ctr" indent="0" marL="0">
              <a:lnSpc>
                <a:spcPct val="100000"/>
              </a:lnSpc>
              <a:buNone/>
            </a:pPr>
            <a:r>
              <a:rPr lang="en-US" sz="2000" b="1" dirty="0">
                <a:solidFill>
                  <a:srgbClr val="F5F7FC"/>
                </a:solidFill>
                <a:latin typeface="Inter" pitchFamily="34" charset="0"/>
                <a:ea typeface="Inter" pitchFamily="34" charset="-122"/>
                <a:cs typeface="Inter" pitchFamily="34" charset="-120"/>
              </a:rPr>
              <a:t>“Find the red cup on the living-room table, pick it up, and place it on the kitchen counter.”</a:t>
            </a:r>
            <a:endParaRPr lang="en-US" sz="2000" dirty="0"/>
          </a:p>
        </p:txBody>
      </p:sp>
      <p:sp>
        <p:nvSpPr>
          <p:cNvPr id="13" name="Shape 11"/>
          <p:cNvSpPr/>
          <p:nvPr/>
        </p:nvSpPr>
        <p:spPr>
          <a:xfrm>
            <a:off x="594360" y="3438144"/>
            <a:ext cx="3511296" cy="2084832"/>
          </a:xfrm>
          <a:prstGeom prst="roundRect">
            <a:avLst>
              <a:gd name="adj" fmla="val 6140"/>
            </a:avLst>
          </a:prstGeom>
          <a:solidFill>
            <a:srgbClr val="102335"/>
          </a:solidFill>
          <a:ln w="10795">
            <a:solidFill>
              <a:srgbClr val="294056"/>
            </a:solidFill>
            <a:prstDash val="solid"/>
          </a:ln>
        </p:spPr>
      </p:sp>
      <p:sp>
        <p:nvSpPr>
          <p:cNvPr id="14" name="Shape 12"/>
          <p:cNvSpPr/>
          <p:nvPr/>
        </p:nvSpPr>
        <p:spPr>
          <a:xfrm>
            <a:off x="740664" y="3602736"/>
            <a:ext cx="41148" cy="1755648"/>
          </a:xfrm>
          <a:prstGeom prst="rect">
            <a:avLst/>
          </a:prstGeom>
          <a:solidFill>
            <a:srgbClr val="B5A0F8"/>
          </a:solidFill>
          <a:ln w="10795">
            <a:solidFill>
              <a:srgbClr val="B5A0F8"/>
            </a:solidFill>
            <a:prstDash val="solid"/>
          </a:ln>
        </p:spPr>
      </p:sp>
      <p:sp>
        <p:nvSpPr>
          <p:cNvPr id="15" name="Text 13"/>
          <p:cNvSpPr/>
          <p:nvPr/>
        </p:nvSpPr>
        <p:spPr>
          <a:xfrm>
            <a:off x="886968" y="3621024"/>
            <a:ext cx="2990088" cy="384048"/>
          </a:xfrm>
          <a:prstGeom prst="rect">
            <a:avLst/>
          </a:prstGeom>
          <a:noFill/>
          <a:ln/>
        </p:spPr>
        <p:txBody>
          <a:bodyPr wrap="square" lIns="0" tIns="0" rIns="0" bIns="0" rtlCol="0" anchor="ctr"/>
          <a:lstStyle/>
          <a:p>
            <a:pPr algn="l" indent="0" marL="0">
              <a:lnSpc>
                <a:spcPct val="100000"/>
              </a:lnSpc>
              <a:buNone/>
            </a:pPr>
            <a:r>
              <a:rPr lang="en-US" sz="1800" b="1" dirty="0">
                <a:solidFill>
                  <a:srgbClr val="F5F7FC"/>
                </a:solidFill>
                <a:latin typeface="Inter" pitchFamily="34" charset="0"/>
                <a:ea typeface="Inter" pitchFamily="34" charset="-122"/>
                <a:cs typeface="Inter" pitchFamily="34" charset="-120"/>
              </a:rPr>
              <a:t>WHAT?</a:t>
            </a:r>
            <a:endParaRPr lang="en-US" sz="1800" dirty="0"/>
          </a:p>
        </p:txBody>
      </p:sp>
      <p:sp>
        <p:nvSpPr>
          <p:cNvPr id="16" name="Text 14"/>
          <p:cNvSpPr/>
          <p:nvPr/>
        </p:nvSpPr>
        <p:spPr>
          <a:xfrm>
            <a:off x="886968" y="4069080"/>
            <a:ext cx="2999232" cy="1316736"/>
          </a:xfrm>
          <a:prstGeom prst="rect">
            <a:avLst/>
          </a:prstGeom>
          <a:noFill/>
          <a:ln/>
        </p:spPr>
        <p:txBody>
          <a:bodyPr wrap="square" lIns="0" tIns="0" rIns="0" bIns="0" rtlCol="0" anchor="t"/>
          <a:lstStyle/>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Identify the correct object, attributes, support surface, and destination.</a:t>
            </a:r>
            <a:endParaRPr lang="en-US" sz="1500" dirty="0"/>
          </a:p>
        </p:txBody>
      </p:sp>
      <p:sp>
        <p:nvSpPr>
          <p:cNvPr id="17" name="Shape 15"/>
          <p:cNvSpPr/>
          <p:nvPr/>
        </p:nvSpPr>
        <p:spPr>
          <a:xfrm>
            <a:off x="4352544" y="3438144"/>
            <a:ext cx="3511296" cy="2084832"/>
          </a:xfrm>
          <a:prstGeom prst="roundRect">
            <a:avLst>
              <a:gd name="adj" fmla="val 6140"/>
            </a:avLst>
          </a:prstGeom>
          <a:solidFill>
            <a:srgbClr val="102335"/>
          </a:solidFill>
          <a:ln w="10795">
            <a:solidFill>
              <a:srgbClr val="294056"/>
            </a:solidFill>
            <a:prstDash val="solid"/>
          </a:ln>
        </p:spPr>
      </p:sp>
      <p:sp>
        <p:nvSpPr>
          <p:cNvPr id="18" name="Shape 16"/>
          <p:cNvSpPr/>
          <p:nvPr/>
        </p:nvSpPr>
        <p:spPr>
          <a:xfrm>
            <a:off x="4498848" y="3602736"/>
            <a:ext cx="41148" cy="1755648"/>
          </a:xfrm>
          <a:prstGeom prst="rect">
            <a:avLst/>
          </a:prstGeom>
          <a:solidFill>
            <a:srgbClr val="65D5E9"/>
          </a:solidFill>
          <a:ln w="10795">
            <a:solidFill>
              <a:srgbClr val="65D5E9"/>
            </a:solidFill>
            <a:prstDash val="solid"/>
          </a:ln>
        </p:spPr>
      </p:sp>
      <p:sp>
        <p:nvSpPr>
          <p:cNvPr id="19" name="Text 17"/>
          <p:cNvSpPr/>
          <p:nvPr/>
        </p:nvSpPr>
        <p:spPr>
          <a:xfrm>
            <a:off x="4645152" y="3621024"/>
            <a:ext cx="2990088" cy="384048"/>
          </a:xfrm>
          <a:prstGeom prst="rect">
            <a:avLst/>
          </a:prstGeom>
          <a:noFill/>
          <a:ln/>
        </p:spPr>
        <p:txBody>
          <a:bodyPr wrap="square" lIns="0" tIns="0" rIns="0" bIns="0" rtlCol="0" anchor="ctr"/>
          <a:lstStyle/>
          <a:p>
            <a:pPr algn="l" indent="0" marL="0">
              <a:lnSpc>
                <a:spcPct val="100000"/>
              </a:lnSpc>
              <a:buNone/>
            </a:pPr>
            <a:r>
              <a:rPr lang="en-US" sz="1800" b="1" dirty="0">
                <a:solidFill>
                  <a:srgbClr val="F5F7FC"/>
                </a:solidFill>
                <a:latin typeface="Inter" pitchFamily="34" charset="0"/>
                <a:ea typeface="Inter" pitchFamily="34" charset="-122"/>
                <a:cs typeface="Inter" pitchFamily="34" charset="-120"/>
              </a:rPr>
              <a:t>WHERE?</a:t>
            </a:r>
            <a:endParaRPr lang="en-US" sz="1800" dirty="0"/>
          </a:p>
        </p:txBody>
      </p:sp>
      <p:sp>
        <p:nvSpPr>
          <p:cNvPr id="20" name="Text 18"/>
          <p:cNvSpPr/>
          <p:nvPr/>
        </p:nvSpPr>
        <p:spPr>
          <a:xfrm>
            <a:off x="4645152" y="4069080"/>
            <a:ext cx="2999232" cy="1316736"/>
          </a:xfrm>
          <a:prstGeom prst="rect">
            <a:avLst/>
          </a:prstGeom>
          <a:noFill/>
          <a:ln/>
        </p:spPr>
        <p:txBody>
          <a:bodyPr wrap="square" lIns="0" tIns="0" rIns="0" bIns="0" rtlCol="0" anchor="t"/>
          <a:lstStyle/>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Use world memory or actively select viewpoints to search the scene.</a:t>
            </a:r>
            <a:endParaRPr lang="en-US" sz="1500" dirty="0"/>
          </a:p>
        </p:txBody>
      </p:sp>
      <p:sp>
        <p:nvSpPr>
          <p:cNvPr id="21" name="Shape 19"/>
          <p:cNvSpPr/>
          <p:nvPr/>
        </p:nvSpPr>
        <p:spPr>
          <a:xfrm>
            <a:off x="8110728" y="3438144"/>
            <a:ext cx="3511296" cy="2084832"/>
          </a:xfrm>
          <a:prstGeom prst="roundRect">
            <a:avLst>
              <a:gd name="adj" fmla="val 6140"/>
            </a:avLst>
          </a:prstGeom>
          <a:solidFill>
            <a:srgbClr val="102335"/>
          </a:solidFill>
          <a:ln w="10795">
            <a:solidFill>
              <a:srgbClr val="294056"/>
            </a:solidFill>
            <a:prstDash val="solid"/>
          </a:ln>
        </p:spPr>
      </p:sp>
      <p:sp>
        <p:nvSpPr>
          <p:cNvPr id="22" name="Shape 20"/>
          <p:cNvSpPr/>
          <p:nvPr/>
        </p:nvSpPr>
        <p:spPr>
          <a:xfrm>
            <a:off x="8257032" y="3602736"/>
            <a:ext cx="41148" cy="1755648"/>
          </a:xfrm>
          <a:prstGeom prst="rect">
            <a:avLst/>
          </a:prstGeom>
          <a:solidFill>
            <a:srgbClr val="FFC176"/>
          </a:solidFill>
          <a:ln w="10795">
            <a:solidFill>
              <a:srgbClr val="FFC176"/>
            </a:solidFill>
            <a:prstDash val="solid"/>
          </a:ln>
        </p:spPr>
      </p:sp>
      <p:sp>
        <p:nvSpPr>
          <p:cNvPr id="23" name="Text 21"/>
          <p:cNvSpPr/>
          <p:nvPr/>
        </p:nvSpPr>
        <p:spPr>
          <a:xfrm>
            <a:off x="8403336" y="3621024"/>
            <a:ext cx="2990088" cy="384048"/>
          </a:xfrm>
          <a:prstGeom prst="rect">
            <a:avLst/>
          </a:prstGeom>
          <a:noFill/>
          <a:ln/>
        </p:spPr>
        <p:txBody>
          <a:bodyPr wrap="square" lIns="0" tIns="0" rIns="0" bIns="0" rtlCol="0" anchor="ctr"/>
          <a:lstStyle/>
          <a:p>
            <a:pPr algn="l" indent="0" marL="0">
              <a:lnSpc>
                <a:spcPct val="100000"/>
              </a:lnSpc>
              <a:buNone/>
            </a:pPr>
            <a:r>
              <a:rPr lang="en-US" sz="1800" b="1" dirty="0">
                <a:solidFill>
                  <a:srgbClr val="F5F7FC"/>
                </a:solidFill>
                <a:latin typeface="Inter" pitchFamily="34" charset="0"/>
                <a:ea typeface="Inter" pitchFamily="34" charset="-122"/>
                <a:cs typeface="Inter" pitchFamily="34" charset="-120"/>
              </a:rPr>
              <a:t>HOW?</a:t>
            </a:r>
            <a:endParaRPr lang="en-US" sz="1800" dirty="0"/>
          </a:p>
        </p:txBody>
      </p:sp>
      <p:sp>
        <p:nvSpPr>
          <p:cNvPr id="24" name="Text 22"/>
          <p:cNvSpPr/>
          <p:nvPr/>
        </p:nvSpPr>
        <p:spPr>
          <a:xfrm>
            <a:off x="8403336" y="4069080"/>
            <a:ext cx="2999232" cy="1316736"/>
          </a:xfrm>
          <a:prstGeom prst="rect">
            <a:avLst/>
          </a:prstGeom>
          <a:noFill/>
          <a:ln/>
        </p:spPr>
        <p:txBody>
          <a:bodyPr wrap="square" lIns="0" tIns="0" rIns="0" bIns="0" rtlCol="0" anchor="t"/>
          <a:lstStyle/>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Use separate navigation, VLA pick, navigation, and VLA place skills.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SCOPE</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Two tasks, one reusable execution contract</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Same world model and skill interfaces; different destinations and task policies.</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03</a:t>
            </a:r>
            <a:endParaRPr lang="en-US" sz="1100" dirty="0"/>
          </a:p>
        </p:txBody>
      </p:sp>
      <p:sp>
        <p:nvSpPr>
          <p:cNvPr id="11" name="Shape 9"/>
          <p:cNvSpPr/>
          <p:nvPr/>
        </p:nvSpPr>
        <p:spPr>
          <a:xfrm>
            <a:off x="603504" y="2157984"/>
            <a:ext cx="5413248" cy="3566160"/>
          </a:xfrm>
          <a:prstGeom prst="roundRect">
            <a:avLst>
              <a:gd name="adj" fmla="val 3590"/>
            </a:avLst>
          </a:prstGeom>
          <a:solidFill>
            <a:srgbClr val="102335"/>
          </a:solidFill>
          <a:ln w="10795">
            <a:solidFill>
              <a:srgbClr val="294056"/>
            </a:solidFill>
            <a:prstDash val="solid"/>
          </a:ln>
        </p:spPr>
      </p:sp>
      <p:sp>
        <p:nvSpPr>
          <p:cNvPr id="12" name="Shape 10"/>
          <p:cNvSpPr/>
          <p:nvPr/>
        </p:nvSpPr>
        <p:spPr>
          <a:xfrm>
            <a:off x="832104" y="2395728"/>
            <a:ext cx="1847088" cy="310896"/>
          </a:xfrm>
          <a:prstGeom prst="roundRect">
            <a:avLst>
              <a:gd name="adj" fmla="val 52941"/>
            </a:avLst>
          </a:prstGeom>
          <a:solidFill>
            <a:srgbClr val="6B9BFF">
              <a:alpha val="16000"/>
            </a:srgbClr>
          </a:solidFill>
          <a:ln w="10795">
            <a:solidFill>
              <a:srgbClr val="6B9BFF"/>
            </a:solidFill>
            <a:prstDash val="solid"/>
          </a:ln>
        </p:spPr>
      </p:sp>
      <p:sp>
        <p:nvSpPr>
          <p:cNvPr id="13" name="Text 11"/>
          <p:cNvSpPr/>
          <p:nvPr/>
        </p:nvSpPr>
        <p:spPr>
          <a:xfrm>
            <a:off x="886968" y="2404872"/>
            <a:ext cx="1737360"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6B9BFF"/>
                </a:solidFill>
                <a:latin typeface="Inter" pitchFamily="34" charset="0"/>
                <a:ea typeface="Inter" pitchFamily="34" charset="-122"/>
                <a:cs typeface="Inter" pitchFamily="34" charset="-120"/>
              </a:rPr>
              <a:t>CASE A  /  DELIVERY</a:t>
            </a:r>
            <a:endParaRPr lang="en-US" sz="1000" dirty="0"/>
          </a:p>
        </p:txBody>
      </p:sp>
      <p:sp>
        <p:nvSpPr>
          <p:cNvPr id="14" name="Shape 12"/>
          <p:cNvSpPr/>
          <p:nvPr/>
        </p:nvSpPr>
        <p:spPr>
          <a:xfrm>
            <a:off x="1088136" y="2980944"/>
            <a:ext cx="1207008" cy="250180"/>
          </a:xfrm>
          <a:prstGeom prst="roundRect">
            <a:avLst>
              <a:gd name="adj" fmla="val 18275"/>
            </a:avLst>
          </a:prstGeom>
          <a:solidFill>
            <a:srgbClr val="B49A77">
              <a:alpha val="85000"/>
            </a:srgbClr>
          </a:solidFill>
          <a:ln w="10795">
            <a:solidFill>
              <a:srgbClr val="B49A77"/>
            </a:solidFill>
            <a:prstDash val="solid"/>
          </a:ln>
        </p:spPr>
      </p:sp>
      <p:sp>
        <p:nvSpPr>
          <p:cNvPr id="15" name="Shape 13"/>
          <p:cNvSpPr/>
          <p:nvPr/>
        </p:nvSpPr>
        <p:spPr>
          <a:xfrm>
            <a:off x="1184697" y="3189427"/>
            <a:ext cx="108631" cy="465612"/>
          </a:xfrm>
          <a:prstGeom prst="rect">
            <a:avLst/>
          </a:prstGeom>
          <a:solidFill>
            <a:srgbClr val="B49A77"/>
          </a:solidFill>
          <a:ln w="10795">
            <a:solidFill>
              <a:srgbClr val="B49A77"/>
            </a:solidFill>
            <a:prstDash val="solid"/>
          </a:ln>
        </p:spPr>
      </p:sp>
      <p:sp>
        <p:nvSpPr>
          <p:cNvPr id="16" name="Shape 14"/>
          <p:cNvSpPr/>
          <p:nvPr/>
        </p:nvSpPr>
        <p:spPr>
          <a:xfrm>
            <a:off x="2077883" y="3189427"/>
            <a:ext cx="108631" cy="465612"/>
          </a:xfrm>
          <a:prstGeom prst="rect">
            <a:avLst/>
          </a:prstGeom>
          <a:solidFill>
            <a:srgbClr val="B49A77"/>
          </a:solidFill>
          <a:ln w="10795">
            <a:solidFill>
              <a:srgbClr val="B49A77"/>
            </a:solidFill>
            <a:prstDash val="solid"/>
          </a:ln>
        </p:spPr>
      </p:sp>
      <p:sp>
        <p:nvSpPr>
          <p:cNvPr id="17" name="Shape 15"/>
          <p:cNvSpPr/>
          <p:nvPr/>
        </p:nvSpPr>
        <p:spPr>
          <a:xfrm>
            <a:off x="1562710" y="2793492"/>
            <a:ext cx="185623" cy="51206"/>
          </a:xfrm>
          <a:prstGeom prst="ellipse">
            <a:avLst/>
          </a:prstGeom>
          <a:solidFill>
            <a:srgbClr val="FF8790"/>
          </a:solidFill>
          <a:ln w="12700">
            <a:solidFill>
              <a:srgbClr val="FF8790"/>
            </a:solidFill>
            <a:prstDash val="solid"/>
          </a:ln>
        </p:spPr>
      </p:sp>
      <p:sp>
        <p:nvSpPr>
          <p:cNvPr id="18" name="Shape 16"/>
          <p:cNvSpPr/>
          <p:nvPr/>
        </p:nvSpPr>
        <p:spPr>
          <a:xfrm>
            <a:off x="1578712" y="2812694"/>
            <a:ext cx="156820" cy="166421"/>
          </a:xfrm>
          <a:prstGeom prst="roundRect">
            <a:avLst>
              <a:gd name="adj" fmla="val 23324"/>
            </a:avLst>
          </a:prstGeom>
          <a:solidFill>
            <a:srgbClr val="FF8790"/>
          </a:solidFill>
          <a:ln w="10795">
            <a:solidFill>
              <a:srgbClr val="FF8790"/>
            </a:solidFill>
            <a:prstDash val="solid"/>
          </a:ln>
        </p:spPr>
      </p:sp>
      <p:sp>
        <p:nvSpPr>
          <p:cNvPr id="19" name="Shape 17"/>
          <p:cNvSpPr/>
          <p:nvPr/>
        </p:nvSpPr>
        <p:spPr>
          <a:xfrm>
            <a:off x="1562710" y="2940710"/>
            <a:ext cx="185623" cy="57607"/>
          </a:xfrm>
          <a:prstGeom prst="ellipse">
            <a:avLst/>
          </a:prstGeom>
          <a:solidFill>
            <a:srgbClr val="FF8790"/>
          </a:solidFill>
          <a:ln w="12700">
            <a:solidFill>
              <a:srgbClr val="FF8790"/>
            </a:solidFill>
            <a:prstDash val="solid"/>
          </a:ln>
        </p:spPr>
      </p:sp>
      <p:sp>
        <p:nvSpPr>
          <p:cNvPr id="20" name="Shape 18"/>
          <p:cNvSpPr/>
          <p:nvPr/>
        </p:nvSpPr>
        <p:spPr>
          <a:xfrm>
            <a:off x="1722730" y="2857500"/>
            <a:ext cx="83210" cy="89611"/>
          </a:xfrm>
          <a:prstGeom prst="ellipse">
            <a:avLst/>
          </a:prstGeom>
          <a:solidFill>
            <a:srgbClr val="07131F"/>
          </a:solidFill>
          <a:ln w="17780">
            <a:solidFill>
              <a:srgbClr val="FF8790"/>
            </a:solidFill>
            <a:prstDash val="solid"/>
          </a:ln>
        </p:spPr>
      </p:sp>
      <p:sp>
        <p:nvSpPr>
          <p:cNvPr id="21" name="Shape 19"/>
          <p:cNvSpPr/>
          <p:nvPr/>
        </p:nvSpPr>
        <p:spPr>
          <a:xfrm>
            <a:off x="3017520" y="2990088"/>
            <a:ext cx="227137" cy="227137"/>
          </a:xfrm>
          <a:prstGeom prst="ellipse">
            <a:avLst/>
          </a:prstGeom>
          <a:solidFill>
            <a:srgbClr val="6B9BFF"/>
          </a:solidFill>
          <a:ln w="12700">
            <a:solidFill>
              <a:srgbClr val="6B9BFF"/>
            </a:solidFill>
            <a:prstDash val="solid"/>
          </a:ln>
        </p:spPr>
      </p:sp>
      <p:sp>
        <p:nvSpPr>
          <p:cNvPr id="22" name="Shape 20"/>
          <p:cNvSpPr/>
          <p:nvPr/>
        </p:nvSpPr>
        <p:spPr>
          <a:xfrm>
            <a:off x="2992283" y="3234050"/>
            <a:ext cx="286024" cy="361737"/>
          </a:xfrm>
          <a:prstGeom prst="roundRect">
            <a:avLst>
              <a:gd name="adj" fmla="val 15985"/>
            </a:avLst>
          </a:prstGeom>
          <a:solidFill>
            <a:srgbClr val="6B9BFF"/>
          </a:solidFill>
          <a:ln w="10795">
            <a:solidFill>
              <a:srgbClr val="6B9BFF"/>
            </a:solidFill>
            <a:prstDash val="solid"/>
          </a:ln>
        </p:spPr>
      </p:sp>
      <p:sp>
        <p:nvSpPr>
          <p:cNvPr id="23" name="Shape 21"/>
          <p:cNvSpPr/>
          <p:nvPr/>
        </p:nvSpPr>
        <p:spPr>
          <a:xfrm>
            <a:off x="3000695" y="3309762"/>
            <a:ext cx="-147218" cy="176662"/>
          </a:xfrm>
          <a:prstGeom prst="line">
            <a:avLst/>
          </a:prstGeom>
          <a:noFill/>
          <a:ln w="46736">
            <a:solidFill>
              <a:srgbClr val="6B9BFF"/>
            </a:solidFill>
            <a:prstDash val="solid"/>
            <a:headEnd type="none"/>
            <a:tailEnd type="none"/>
          </a:ln>
        </p:spPr>
      </p:sp>
      <p:sp>
        <p:nvSpPr>
          <p:cNvPr id="24" name="Shape 22"/>
          <p:cNvSpPr/>
          <p:nvPr/>
        </p:nvSpPr>
        <p:spPr>
          <a:xfrm>
            <a:off x="3261482" y="3309762"/>
            <a:ext cx="143012" cy="176662"/>
          </a:xfrm>
          <a:prstGeom prst="line">
            <a:avLst/>
          </a:prstGeom>
          <a:noFill/>
          <a:ln w="46736">
            <a:solidFill>
              <a:srgbClr val="6B9BFF"/>
            </a:solidFill>
            <a:prstDash val="solid"/>
            <a:headEnd type="none"/>
            <a:tailEnd type="none"/>
          </a:ln>
        </p:spPr>
      </p:sp>
      <p:sp>
        <p:nvSpPr>
          <p:cNvPr id="25" name="Shape 23"/>
          <p:cNvSpPr/>
          <p:nvPr/>
        </p:nvSpPr>
        <p:spPr>
          <a:xfrm>
            <a:off x="3059582" y="3578962"/>
            <a:ext cx="-33650" cy="210312"/>
          </a:xfrm>
          <a:prstGeom prst="line">
            <a:avLst/>
          </a:prstGeom>
          <a:noFill/>
          <a:ln w="46736">
            <a:solidFill>
              <a:srgbClr val="6B9BFF"/>
            </a:solidFill>
            <a:prstDash val="solid"/>
            <a:headEnd type="none"/>
            <a:tailEnd type="none"/>
          </a:ln>
        </p:spPr>
      </p:sp>
      <p:sp>
        <p:nvSpPr>
          <p:cNvPr id="26" name="Shape 24"/>
          <p:cNvSpPr/>
          <p:nvPr/>
        </p:nvSpPr>
        <p:spPr>
          <a:xfrm>
            <a:off x="3219420" y="3578962"/>
            <a:ext cx="16825" cy="210312"/>
          </a:xfrm>
          <a:prstGeom prst="line">
            <a:avLst/>
          </a:prstGeom>
          <a:noFill/>
          <a:ln w="46736">
            <a:solidFill>
              <a:srgbClr val="6B9BFF"/>
            </a:solidFill>
            <a:prstDash val="solid"/>
            <a:headEnd type="none"/>
            <a:tailEnd type="none"/>
          </a:ln>
        </p:spPr>
      </p:sp>
      <p:sp>
        <p:nvSpPr>
          <p:cNvPr id="27" name="Shape 25"/>
          <p:cNvSpPr/>
          <p:nvPr/>
        </p:nvSpPr>
        <p:spPr>
          <a:xfrm>
            <a:off x="3794760" y="3383280"/>
            <a:ext cx="612648" cy="0"/>
          </a:xfrm>
          <a:prstGeom prst="line">
            <a:avLst/>
          </a:prstGeom>
          <a:noFill/>
          <a:ln w="30480">
            <a:solidFill>
              <a:srgbClr val="48D7B2"/>
            </a:solidFill>
            <a:prstDash val="solid"/>
            <a:headEnd type="none"/>
            <a:tailEnd type="triangle"/>
          </a:ln>
        </p:spPr>
      </p:sp>
      <p:sp>
        <p:nvSpPr>
          <p:cNvPr id="28" name="Shape 26"/>
          <p:cNvSpPr/>
          <p:nvPr/>
        </p:nvSpPr>
        <p:spPr>
          <a:xfrm>
            <a:off x="4636008" y="2990088"/>
            <a:ext cx="859536" cy="777240"/>
          </a:xfrm>
          <a:prstGeom prst="roundRect">
            <a:avLst>
              <a:gd name="adj" fmla="val 8235"/>
            </a:avLst>
          </a:prstGeom>
          <a:solidFill>
            <a:srgbClr val="3E5368"/>
          </a:solidFill>
          <a:ln w="10795">
            <a:solidFill>
              <a:srgbClr val="658198"/>
            </a:solidFill>
            <a:prstDash val="solid"/>
          </a:ln>
        </p:spPr>
      </p:sp>
      <p:sp>
        <p:nvSpPr>
          <p:cNvPr id="29" name="Shape 27"/>
          <p:cNvSpPr/>
          <p:nvPr/>
        </p:nvSpPr>
        <p:spPr>
          <a:xfrm>
            <a:off x="4636008" y="2990088"/>
            <a:ext cx="859536" cy="139903"/>
          </a:xfrm>
          <a:prstGeom prst="roundRect">
            <a:avLst>
              <a:gd name="adj" fmla="val 26144"/>
            </a:avLst>
          </a:prstGeom>
          <a:solidFill>
            <a:srgbClr val="B6A68D"/>
          </a:solidFill>
          <a:ln w="10795">
            <a:solidFill>
              <a:srgbClr val="B6A68D"/>
            </a:solidFill>
            <a:prstDash val="solid"/>
          </a:ln>
        </p:spPr>
      </p:sp>
      <p:sp>
        <p:nvSpPr>
          <p:cNvPr id="30" name="Shape 28"/>
          <p:cNvSpPr/>
          <p:nvPr/>
        </p:nvSpPr>
        <p:spPr>
          <a:xfrm>
            <a:off x="5065776" y="3207715"/>
            <a:ext cx="0" cy="474116"/>
          </a:xfrm>
          <a:prstGeom prst="line">
            <a:avLst/>
          </a:prstGeom>
          <a:noFill/>
          <a:ln w="12700">
            <a:solidFill>
              <a:srgbClr val="8198AD"/>
            </a:solidFill>
            <a:prstDash val="solid"/>
            <a:headEnd type="none"/>
            <a:tailEnd type="none"/>
          </a:ln>
        </p:spPr>
      </p:sp>
      <p:sp>
        <p:nvSpPr>
          <p:cNvPr id="31" name="Text 29"/>
          <p:cNvSpPr/>
          <p:nvPr/>
        </p:nvSpPr>
        <p:spPr>
          <a:xfrm>
            <a:off x="914400" y="4160520"/>
            <a:ext cx="4846320" cy="384048"/>
          </a:xfrm>
          <a:prstGeom prst="rect">
            <a:avLst/>
          </a:prstGeom>
          <a:noFill/>
          <a:ln/>
        </p:spPr>
        <p:txBody>
          <a:bodyPr wrap="square" lIns="0" tIns="0" rIns="0" bIns="0" rtlCol="0" anchor="ctr"/>
          <a:lstStyle/>
          <a:p>
            <a:pPr algn="l" indent="0" marL="0">
              <a:lnSpc>
                <a:spcPct val="100000"/>
              </a:lnSpc>
              <a:buNone/>
            </a:pPr>
            <a:r>
              <a:rPr lang="en-US" sz="1800" b="1" dirty="0">
                <a:solidFill>
                  <a:srgbClr val="F5F7FC"/>
                </a:solidFill>
                <a:latin typeface="Inter" pitchFamily="34" charset="0"/>
                <a:ea typeface="Inter" pitchFamily="34" charset="-122"/>
                <a:cs typeface="Inter" pitchFamily="34" charset="-120"/>
              </a:rPr>
              <a:t>Red cup → kitchen counter</a:t>
            </a:r>
            <a:endParaRPr lang="en-US" sz="1800" dirty="0"/>
          </a:p>
        </p:txBody>
      </p:sp>
      <p:sp>
        <p:nvSpPr>
          <p:cNvPr id="32" name="Text 30"/>
          <p:cNvSpPr/>
          <p:nvPr/>
        </p:nvSpPr>
        <p:spPr>
          <a:xfrm>
            <a:off x="914400" y="4626864"/>
            <a:ext cx="4645152" cy="603504"/>
          </a:xfrm>
          <a:prstGeom prst="rect">
            <a:avLst/>
          </a:prstGeom>
          <a:noFill/>
          <a:ln/>
        </p:spPr>
        <p:txBody>
          <a:bodyPr wrap="square" lIns="0" tIns="0" rIns="0" bIns="0" rtlCol="0" anchor="t"/>
          <a:lstStyle/>
          <a:p>
            <a:pPr algn="l" indent="0" marL="0">
              <a:lnSpc>
                <a:spcPct val="100000"/>
              </a:lnSpc>
              <a:buNone/>
            </a:pPr>
            <a:r>
              <a:rPr lang="en-US" sz="1300" dirty="0">
                <a:solidFill>
                  <a:srgbClr val="A1B2C4"/>
                </a:solidFill>
                <a:latin typeface="Inter" pitchFamily="34" charset="0"/>
                <a:ea typeface="Inter" pitchFamily="34" charset="-122"/>
                <a:cs typeface="Inter" pitchFamily="34" charset="-120"/>
              </a:rPr>
              <a:t>Pick is separate from walking; place is separate from arrival.</a:t>
            </a:r>
            <a:endParaRPr lang="en-US" sz="1300" dirty="0"/>
          </a:p>
        </p:txBody>
      </p:sp>
      <p:sp>
        <p:nvSpPr>
          <p:cNvPr id="33" name="Shape 31"/>
          <p:cNvSpPr/>
          <p:nvPr/>
        </p:nvSpPr>
        <p:spPr>
          <a:xfrm>
            <a:off x="6208776" y="2157984"/>
            <a:ext cx="5385816" cy="3566160"/>
          </a:xfrm>
          <a:prstGeom prst="roundRect">
            <a:avLst>
              <a:gd name="adj" fmla="val 3590"/>
            </a:avLst>
          </a:prstGeom>
          <a:solidFill>
            <a:srgbClr val="102335"/>
          </a:solidFill>
          <a:ln w="10795">
            <a:solidFill>
              <a:srgbClr val="294056"/>
            </a:solidFill>
            <a:prstDash val="solid"/>
          </a:ln>
        </p:spPr>
      </p:sp>
      <p:sp>
        <p:nvSpPr>
          <p:cNvPr id="34" name="Shape 32"/>
          <p:cNvSpPr/>
          <p:nvPr/>
        </p:nvSpPr>
        <p:spPr>
          <a:xfrm>
            <a:off x="6437376" y="2395728"/>
            <a:ext cx="2313432" cy="310896"/>
          </a:xfrm>
          <a:prstGeom prst="roundRect">
            <a:avLst>
              <a:gd name="adj" fmla="val 52941"/>
            </a:avLst>
          </a:prstGeom>
          <a:solidFill>
            <a:srgbClr val="FFC176">
              <a:alpha val="16000"/>
            </a:srgbClr>
          </a:solidFill>
          <a:ln w="10795">
            <a:solidFill>
              <a:srgbClr val="FFC176"/>
            </a:solidFill>
            <a:prstDash val="solid"/>
          </a:ln>
        </p:spPr>
      </p:sp>
      <p:sp>
        <p:nvSpPr>
          <p:cNvPr id="35" name="Text 33"/>
          <p:cNvSpPr/>
          <p:nvPr/>
        </p:nvSpPr>
        <p:spPr>
          <a:xfrm>
            <a:off x="6492240" y="2404872"/>
            <a:ext cx="2203704"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FFC176"/>
                </a:solidFill>
                <a:latin typeface="Inter" pitchFamily="34" charset="0"/>
                <a:ea typeface="Inter" pitchFamily="34" charset="-122"/>
                <a:cs typeface="Inter" pitchFamily="34" charset="-120"/>
              </a:rPr>
              <a:t>CASE B  /  TABLE CLEANUP</a:t>
            </a:r>
            <a:endParaRPr lang="en-US" sz="1000" dirty="0"/>
          </a:p>
        </p:txBody>
      </p:sp>
      <p:sp>
        <p:nvSpPr>
          <p:cNvPr id="36" name="Shape 34"/>
          <p:cNvSpPr/>
          <p:nvPr/>
        </p:nvSpPr>
        <p:spPr>
          <a:xfrm>
            <a:off x="6711696" y="2980944"/>
            <a:ext cx="1207008" cy="250180"/>
          </a:xfrm>
          <a:prstGeom prst="roundRect">
            <a:avLst>
              <a:gd name="adj" fmla="val 18275"/>
            </a:avLst>
          </a:prstGeom>
          <a:solidFill>
            <a:srgbClr val="B49A77">
              <a:alpha val="85000"/>
            </a:srgbClr>
          </a:solidFill>
          <a:ln w="10795">
            <a:solidFill>
              <a:srgbClr val="B49A77"/>
            </a:solidFill>
            <a:prstDash val="solid"/>
          </a:ln>
        </p:spPr>
      </p:sp>
      <p:sp>
        <p:nvSpPr>
          <p:cNvPr id="37" name="Shape 35"/>
          <p:cNvSpPr/>
          <p:nvPr/>
        </p:nvSpPr>
        <p:spPr>
          <a:xfrm>
            <a:off x="6808257" y="3189427"/>
            <a:ext cx="108631" cy="465612"/>
          </a:xfrm>
          <a:prstGeom prst="rect">
            <a:avLst/>
          </a:prstGeom>
          <a:solidFill>
            <a:srgbClr val="B49A77"/>
          </a:solidFill>
          <a:ln w="10795">
            <a:solidFill>
              <a:srgbClr val="B49A77"/>
            </a:solidFill>
            <a:prstDash val="solid"/>
          </a:ln>
        </p:spPr>
      </p:sp>
      <p:sp>
        <p:nvSpPr>
          <p:cNvPr id="38" name="Shape 36"/>
          <p:cNvSpPr/>
          <p:nvPr/>
        </p:nvSpPr>
        <p:spPr>
          <a:xfrm>
            <a:off x="7701443" y="3189427"/>
            <a:ext cx="108631" cy="465612"/>
          </a:xfrm>
          <a:prstGeom prst="rect">
            <a:avLst/>
          </a:prstGeom>
          <a:solidFill>
            <a:srgbClr val="B49A77"/>
          </a:solidFill>
          <a:ln w="10795">
            <a:solidFill>
              <a:srgbClr val="B49A77"/>
            </a:solidFill>
            <a:prstDash val="solid"/>
          </a:ln>
        </p:spPr>
      </p:sp>
      <p:sp>
        <p:nvSpPr>
          <p:cNvPr id="39" name="Shape 37"/>
          <p:cNvSpPr/>
          <p:nvPr/>
        </p:nvSpPr>
        <p:spPr>
          <a:xfrm>
            <a:off x="7158838" y="2793492"/>
            <a:ext cx="185623" cy="51206"/>
          </a:xfrm>
          <a:prstGeom prst="ellipse">
            <a:avLst/>
          </a:prstGeom>
          <a:solidFill>
            <a:srgbClr val="E2D07A"/>
          </a:solidFill>
          <a:ln w="12700">
            <a:solidFill>
              <a:srgbClr val="E2D07A"/>
            </a:solidFill>
            <a:prstDash val="solid"/>
          </a:ln>
        </p:spPr>
      </p:sp>
      <p:sp>
        <p:nvSpPr>
          <p:cNvPr id="40" name="Shape 38"/>
          <p:cNvSpPr/>
          <p:nvPr/>
        </p:nvSpPr>
        <p:spPr>
          <a:xfrm>
            <a:off x="7174840" y="2812694"/>
            <a:ext cx="156820" cy="166421"/>
          </a:xfrm>
          <a:prstGeom prst="roundRect">
            <a:avLst>
              <a:gd name="adj" fmla="val 23324"/>
            </a:avLst>
          </a:prstGeom>
          <a:solidFill>
            <a:srgbClr val="E2D07A"/>
          </a:solidFill>
          <a:ln w="10795">
            <a:solidFill>
              <a:srgbClr val="E2D07A"/>
            </a:solidFill>
            <a:prstDash val="solid"/>
          </a:ln>
        </p:spPr>
      </p:sp>
      <p:sp>
        <p:nvSpPr>
          <p:cNvPr id="41" name="Shape 39"/>
          <p:cNvSpPr/>
          <p:nvPr/>
        </p:nvSpPr>
        <p:spPr>
          <a:xfrm>
            <a:off x="7158838" y="2940710"/>
            <a:ext cx="185623" cy="57607"/>
          </a:xfrm>
          <a:prstGeom prst="ellipse">
            <a:avLst/>
          </a:prstGeom>
          <a:solidFill>
            <a:srgbClr val="E2D07A"/>
          </a:solidFill>
          <a:ln w="12700">
            <a:solidFill>
              <a:srgbClr val="E2D07A"/>
            </a:solidFill>
            <a:prstDash val="solid"/>
          </a:ln>
        </p:spPr>
      </p:sp>
      <p:sp>
        <p:nvSpPr>
          <p:cNvPr id="42" name="Shape 40"/>
          <p:cNvSpPr/>
          <p:nvPr/>
        </p:nvSpPr>
        <p:spPr>
          <a:xfrm>
            <a:off x="7318858" y="2857500"/>
            <a:ext cx="83210" cy="89611"/>
          </a:xfrm>
          <a:prstGeom prst="ellipse">
            <a:avLst/>
          </a:prstGeom>
          <a:solidFill>
            <a:srgbClr val="07131F"/>
          </a:solidFill>
          <a:ln w="17780">
            <a:solidFill>
              <a:srgbClr val="E2D07A"/>
            </a:solidFill>
            <a:prstDash val="solid"/>
          </a:ln>
        </p:spPr>
      </p:sp>
      <p:sp>
        <p:nvSpPr>
          <p:cNvPr id="43" name="Shape 41"/>
          <p:cNvSpPr/>
          <p:nvPr/>
        </p:nvSpPr>
        <p:spPr>
          <a:xfrm>
            <a:off x="8686800" y="2990088"/>
            <a:ext cx="227137" cy="227137"/>
          </a:xfrm>
          <a:prstGeom prst="ellipse">
            <a:avLst/>
          </a:prstGeom>
          <a:solidFill>
            <a:srgbClr val="6B9BFF"/>
          </a:solidFill>
          <a:ln w="12700">
            <a:solidFill>
              <a:srgbClr val="6B9BFF"/>
            </a:solidFill>
            <a:prstDash val="solid"/>
          </a:ln>
        </p:spPr>
      </p:sp>
      <p:sp>
        <p:nvSpPr>
          <p:cNvPr id="44" name="Shape 42"/>
          <p:cNvSpPr/>
          <p:nvPr/>
        </p:nvSpPr>
        <p:spPr>
          <a:xfrm>
            <a:off x="8661563" y="3234050"/>
            <a:ext cx="286024" cy="361737"/>
          </a:xfrm>
          <a:prstGeom prst="roundRect">
            <a:avLst>
              <a:gd name="adj" fmla="val 15985"/>
            </a:avLst>
          </a:prstGeom>
          <a:solidFill>
            <a:srgbClr val="6B9BFF"/>
          </a:solidFill>
          <a:ln w="10795">
            <a:solidFill>
              <a:srgbClr val="6B9BFF"/>
            </a:solidFill>
            <a:prstDash val="solid"/>
          </a:ln>
        </p:spPr>
      </p:sp>
      <p:sp>
        <p:nvSpPr>
          <p:cNvPr id="45" name="Shape 43"/>
          <p:cNvSpPr/>
          <p:nvPr/>
        </p:nvSpPr>
        <p:spPr>
          <a:xfrm>
            <a:off x="8669975" y="3309762"/>
            <a:ext cx="-147218" cy="176662"/>
          </a:xfrm>
          <a:prstGeom prst="line">
            <a:avLst/>
          </a:prstGeom>
          <a:noFill/>
          <a:ln w="46736">
            <a:solidFill>
              <a:srgbClr val="6B9BFF"/>
            </a:solidFill>
            <a:prstDash val="solid"/>
            <a:headEnd type="none"/>
            <a:tailEnd type="none"/>
          </a:ln>
        </p:spPr>
      </p:sp>
      <p:sp>
        <p:nvSpPr>
          <p:cNvPr id="46" name="Shape 44"/>
          <p:cNvSpPr/>
          <p:nvPr/>
        </p:nvSpPr>
        <p:spPr>
          <a:xfrm>
            <a:off x="8930762" y="3309762"/>
            <a:ext cx="143012" cy="176662"/>
          </a:xfrm>
          <a:prstGeom prst="line">
            <a:avLst/>
          </a:prstGeom>
          <a:noFill/>
          <a:ln w="46736">
            <a:solidFill>
              <a:srgbClr val="6B9BFF"/>
            </a:solidFill>
            <a:prstDash val="solid"/>
            <a:headEnd type="none"/>
            <a:tailEnd type="none"/>
          </a:ln>
        </p:spPr>
      </p:sp>
      <p:sp>
        <p:nvSpPr>
          <p:cNvPr id="47" name="Shape 45"/>
          <p:cNvSpPr/>
          <p:nvPr/>
        </p:nvSpPr>
        <p:spPr>
          <a:xfrm>
            <a:off x="8728862" y="3578962"/>
            <a:ext cx="-33650" cy="210312"/>
          </a:xfrm>
          <a:prstGeom prst="line">
            <a:avLst/>
          </a:prstGeom>
          <a:noFill/>
          <a:ln w="46736">
            <a:solidFill>
              <a:srgbClr val="6B9BFF"/>
            </a:solidFill>
            <a:prstDash val="solid"/>
            <a:headEnd type="none"/>
            <a:tailEnd type="none"/>
          </a:ln>
        </p:spPr>
      </p:sp>
      <p:sp>
        <p:nvSpPr>
          <p:cNvPr id="48" name="Shape 46"/>
          <p:cNvSpPr/>
          <p:nvPr/>
        </p:nvSpPr>
        <p:spPr>
          <a:xfrm>
            <a:off x="8888700" y="3578962"/>
            <a:ext cx="16825" cy="210312"/>
          </a:xfrm>
          <a:prstGeom prst="line">
            <a:avLst/>
          </a:prstGeom>
          <a:noFill/>
          <a:ln w="46736">
            <a:solidFill>
              <a:srgbClr val="6B9BFF"/>
            </a:solidFill>
            <a:prstDash val="solid"/>
            <a:headEnd type="none"/>
            <a:tailEnd type="none"/>
          </a:ln>
        </p:spPr>
      </p:sp>
      <p:sp>
        <p:nvSpPr>
          <p:cNvPr id="49" name="Shape 47"/>
          <p:cNvSpPr/>
          <p:nvPr/>
        </p:nvSpPr>
        <p:spPr>
          <a:xfrm>
            <a:off x="9528048" y="3383280"/>
            <a:ext cx="585216" cy="0"/>
          </a:xfrm>
          <a:prstGeom prst="line">
            <a:avLst/>
          </a:prstGeom>
          <a:noFill/>
          <a:ln w="30480">
            <a:solidFill>
              <a:srgbClr val="48D7B2"/>
            </a:solidFill>
            <a:prstDash val="solid"/>
            <a:headEnd type="none"/>
            <a:tailEnd type="triangle"/>
          </a:ln>
        </p:spPr>
      </p:sp>
      <p:sp>
        <p:nvSpPr>
          <p:cNvPr id="50" name="Shape 48"/>
          <p:cNvSpPr/>
          <p:nvPr/>
        </p:nvSpPr>
        <p:spPr>
          <a:xfrm>
            <a:off x="10428183" y="3046781"/>
            <a:ext cx="522305" cy="660197"/>
          </a:xfrm>
          <a:prstGeom prst="roundRect">
            <a:avLst>
              <a:gd name="adj" fmla="val 21008"/>
            </a:avLst>
          </a:prstGeom>
          <a:solidFill>
            <a:srgbClr val="457787"/>
          </a:solidFill>
          <a:ln w="10795">
            <a:solidFill>
              <a:srgbClr val="6FB5C2"/>
            </a:solidFill>
            <a:prstDash val="solid"/>
          </a:ln>
        </p:spPr>
      </p:sp>
      <p:sp>
        <p:nvSpPr>
          <p:cNvPr id="51" name="Shape 49"/>
          <p:cNvSpPr/>
          <p:nvPr/>
        </p:nvSpPr>
        <p:spPr>
          <a:xfrm>
            <a:off x="10378440" y="2907792"/>
            <a:ext cx="621792" cy="147676"/>
          </a:xfrm>
          <a:prstGeom prst="roundRect">
            <a:avLst>
              <a:gd name="adj" fmla="val 30960"/>
            </a:avLst>
          </a:prstGeom>
          <a:solidFill>
            <a:srgbClr val="2A4A59"/>
          </a:solidFill>
          <a:ln w="10795">
            <a:solidFill>
              <a:srgbClr val="6FB5C2"/>
            </a:solidFill>
            <a:prstDash val="solid"/>
          </a:ln>
        </p:spPr>
      </p:sp>
      <p:sp>
        <p:nvSpPr>
          <p:cNvPr id="52" name="Shape 50"/>
          <p:cNvSpPr/>
          <p:nvPr/>
        </p:nvSpPr>
        <p:spPr>
          <a:xfrm>
            <a:off x="10577413" y="3255264"/>
            <a:ext cx="0" cy="295351"/>
          </a:xfrm>
          <a:prstGeom prst="line">
            <a:avLst/>
          </a:prstGeom>
          <a:noFill/>
          <a:ln w="17780">
            <a:solidFill>
              <a:srgbClr val="8DD9E1"/>
            </a:solidFill>
            <a:prstDash val="solid"/>
            <a:headEnd type="none"/>
            <a:tailEnd type="none"/>
          </a:ln>
        </p:spPr>
      </p:sp>
      <p:sp>
        <p:nvSpPr>
          <p:cNvPr id="53" name="Shape 51"/>
          <p:cNvSpPr/>
          <p:nvPr/>
        </p:nvSpPr>
        <p:spPr>
          <a:xfrm>
            <a:off x="10801259" y="3255264"/>
            <a:ext cx="0" cy="295351"/>
          </a:xfrm>
          <a:prstGeom prst="line">
            <a:avLst/>
          </a:prstGeom>
          <a:noFill/>
          <a:ln w="17780">
            <a:solidFill>
              <a:srgbClr val="8DD9E1"/>
            </a:solidFill>
            <a:prstDash val="solid"/>
            <a:headEnd type="none"/>
            <a:tailEnd type="none"/>
          </a:ln>
        </p:spPr>
      </p:sp>
      <p:sp>
        <p:nvSpPr>
          <p:cNvPr id="54" name="Text 52"/>
          <p:cNvSpPr/>
          <p:nvPr/>
        </p:nvSpPr>
        <p:spPr>
          <a:xfrm>
            <a:off x="6537960" y="4160520"/>
            <a:ext cx="4681728" cy="384048"/>
          </a:xfrm>
          <a:prstGeom prst="rect">
            <a:avLst/>
          </a:prstGeom>
          <a:noFill/>
          <a:ln/>
        </p:spPr>
        <p:txBody>
          <a:bodyPr wrap="square" lIns="0" tIns="0" rIns="0" bIns="0" rtlCol="0" anchor="ctr"/>
          <a:lstStyle/>
          <a:p>
            <a:pPr algn="l" indent="0" marL="0">
              <a:lnSpc>
                <a:spcPct val="100000"/>
              </a:lnSpc>
              <a:buNone/>
            </a:pPr>
            <a:r>
              <a:rPr lang="en-US" sz="1800" b="1" dirty="0">
                <a:solidFill>
                  <a:srgbClr val="F5F7FC"/>
                </a:solidFill>
                <a:latin typeface="Inter" pitchFamily="34" charset="0"/>
                <a:ea typeface="Inter" pitchFamily="34" charset="-122"/>
                <a:cs typeface="Inter" pitchFamily="34" charset="-120"/>
              </a:rPr>
              <a:t>Disposable cup → trash bin</a:t>
            </a:r>
            <a:endParaRPr lang="en-US" sz="1800" dirty="0"/>
          </a:p>
        </p:txBody>
      </p:sp>
      <p:sp>
        <p:nvSpPr>
          <p:cNvPr id="55" name="Text 53"/>
          <p:cNvSpPr/>
          <p:nvPr/>
        </p:nvSpPr>
        <p:spPr>
          <a:xfrm>
            <a:off x="6537960" y="4626864"/>
            <a:ext cx="4572000" cy="603504"/>
          </a:xfrm>
          <a:prstGeom prst="rect">
            <a:avLst/>
          </a:prstGeom>
          <a:noFill/>
          <a:ln/>
        </p:spPr>
        <p:txBody>
          <a:bodyPr wrap="square" lIns="0" tIns="0" rIns="0" bIns="0" rtlCol="0" anchor="t"/>
          <a:lstStyle/>
          <a:p>
            <a:pPr algn="l" indent="0" marL="0">
              <a:lnSpc>
                <a:spcPct val="100000"/>
              </a:lnSpc>
              <a:buNone/>
            </a:pPr>
            <a:r>
              <a:rPr lang="en-US" sz="1300" dirty="0">
                <a:solidFill>
                  <a:srgbClr val="A1B2C4"/>
                </a:solidFill>
                <a:latin typeface="Inter" pitchFamily="34" charset="0"/>
                <a:ea typeface="Inter" pitchFamily="34" charset="-122"/>
                <a:cs typeface="Inter" pitchFamily="34" charset="-120"/>
              </a:rPr>
              <a:t>Disposal is permitted only after policy/intent verification.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SEPARATION OF CONCERNS</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Who owns each decision?</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Avoid asking one VLM to simultaneously reason, search, walk, grasp, and verify.</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04</a:t>
            </a:r>
            <a:endParaRPr lang="en-US" sz="1100" dirty="0"/>
          </a:p>
        </p:txBody>
      </p:sp>
      <p:sp>
        <p:nvSpPr>
          <p:cNvPr id="11" name="Shape 9"/>
          <p:cNvSpPr/>
          <p:nvPr/>
        </p:nvSpPr>
        <p:spPr>
          <a:xfrm>
            <a:off x="502920" y="2304288"/>
            <a:ext cx="2176272" cy="2990088"/>
          </a:xfrm>
          <a:prstGeom prst="roundRect">
            <a:avLst>
              <a:gd name="adj" fmla="val 5882"/>
            </a:avLst>
          </a:prstGeom>
          <a:solidFill>
            <a:srgbClr val="102335"/>
          </a:solidFill>
          <a:ln w="10795">
            <a:solidFill>
              <a:srgbClr val="294056"/>
            </a:solidFill>
            <a:prstDash val="solid"/>
          </a:ln>
        </p:spPr>
      </p:sp>
      <p:sp>
        <p:nvSpPr>
          <p:cNvPr id="12" name="Shape 10"/>
          <p:cNvSpPr/>
          <p:nvPr/>
        </p:nvSpPr>
        <p:spPr>
          <a:xfrm>
            <a:off x="649224" y="2468880"/>
            <a:ext cx="41148" cy="2660904"/>
          </a:xfrm>
          <a:prstGeom prst="rect">
            <a:avLst/>
          </a:prstGeom>
          <a:solidFill>
            <a:srgbClr val="B5A0F8"/>
          </a:solidFill>
          <a:ln w="10795">
            <a:solidFill>
              <a:srgbClr val="B5A0F8"/>
            </a:solidFill>
            <a:prstDash val="solid"/>
          </a:ln>
        </p:spPr>
      </p:sp>
      <p:sp>
        <p:nvSpPr>
          <p:cNvPr id="13" name="Shape 11"/>
          <p:cNvSpPr/>
          <p:nvPr/>
        </p:nvSpPr>
        <p:spPr>
          <a:xfrm>
            <a:off x="2148840" y="2459736"/>
            <a:ext cx="384048" cy="256032"/>
          </a:xfrm>
          <a:prstGeom prst="roundRect">
            <a:avLst>
              <a:gd name="adj" fmla="val 64286"/>
            </a:avLst>
          </a:prstGeom>
          <a:solidFill>
            <a:srgbClr val="B5A0F8">
              <a:alpha val="13000"/>
            </a:srgbClr>
          </a:solidFill>
          <a:ln w="10795">
            <a:solidFill>
              <a:srgbClr val="B5A0F8"/>
            </a:solidFill>
            <a:prstDash val="solid"/>
          </a:ln>
        </p:spPr>
      </p:sp>
      <p:sp>
        <p:nvSpPr>
          <p:cNvPr id="14" name="Text 12"/>
          <p:cNvSpPr/>
          <p:nvPr/>
        </p:nvSpPr>
        <p:spPr>
          <a:xfrm>
            <a:off x="2203704" y="2468880"/>
            <a:ext cx="274320" cy="237744"/>
          </a:xfrm>
          <a:prstGeom prst="rect">
            <a:avLst/>
          </a:prstGeom>
          <a:noFill/>
          <a:ln/>
        </p:spPr>
        <p:txBody>
          <a:bodyPr wrap="square" lIns="0" tIns="0" rIns="0" bIns="0" rtlCol="0" anchor="ctr"/>
          <a:lstStyle/>
          <a:p>
            <a:pPr algn="ctr" indent="0" marL="0">
              <a:lnSpc>
                <a:spcPct val="100000"/>
              </a:lnSpc>
              <a:buNone/>
            </a:pPr>
            <a:r>
              <a:rPr lang="en-US" sz="900" b="1" dirty="0">
                <a:solidFill>
                  <a:srgbClr val="B5A0F8"/>
                </a:solidFill>
                <a:latin typeface="Inter" pitchFamily="34" charset="0"/>
                <a:ea typeface="Inter" pitchFamily="34" charset="-122"/>
                <a:cs typeface="Inter" pitchFamily="34" charset="-120"/>
              </a:rPr>
              <a:t>01</a:t>
            </a:r>
            <a:endParaRPr lang="en-US" sz="900" dirty="0"/>
          </a:p>
        </p:txBody>
      </p:sp>
      <p:sp>
        <p:nvSpPr>
          <p:cNvPr id="15" name="Text 13"/>
          <p:cNvSpPr/>
          <p:nvPr/>
        </p:nvSpPr>
        <p:spPr>
          <a:xfrm>
            <a:off x="795528" y="2487168"/>
            <a:ext cx="1655064" cy="384048"/>
          </a:xfrm>
          <a:prstGeom prst="rect">
            <a:avLst/>
          </a:prstGeom>
          <a:noFill/>
          <a:ln/>
        </p:spPr>
        <p:txBody>
          <a:bodyPr wrap="square" lIns="0" tIns="0" rIns="0" bIns="0" rtlCol="0" anchor="ctr"/>
          <a:lstStyle/>
          <a:p>
            <a:pPr algn="l" indent="0" marL="0">
              <a:lnSpc>
                <a:spcPct val="100000"/>
              </a:lnSpc>
              <a:buNone/>
            </a:pPr>
            <a:r>
              <a:rPr lang="en-US" sz="1450" b="1" dirty="0">
                <a:solidFill>
                  <a:srgbClr val="F5F7FC"/>
                </a:solidFill>
                <a:latin typeface="Inter" pitchFamily="34" charset="0"/>
                <a:ea typeface="Inter" pitchFamily="34" charset="-122"/>
                <a:cs typeface="Inter" pitchFamily="34" charset="-120"/>
              </a:rPr>
              <a:t>MISSION PLANNER</a:t>
            </a:r>
            <a:endParaRPr lang="en-US" sz="1450" dirty="0"/>
          </a:p>
        </p:txBody>
      </p:sp>
      <p:sp>
        <p:nvSpPr>
          <p:cNvPr id="16" name="Text 14"/>
          <p:cNvSpPr/>
          <p:nvPr/>
        </p:nvSpPr>
        <p:spPr>
          <a:xfrm>
            <a:off x="795528" y="2935224"/>
            <a:ext cx="1664208" cy="2221992"/>
          </a:xfrm>
          <a:prstGeom prst="rect">
            <a:avLst/>
          </a:prstGeom>
          <a:noFill/>
          <a:ln/>
        </p:spPr>
        <p:txBody>
          <a:bodyPr wrap="square" lIns="0" tIns="0" rIns="0" bIns="0" rtlCol="0" anchor="t"/>
          <a:lstStyle/>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What goal?</a:t>
            </a:r>
            <a:endParaRPr lang="en-US" sz="1500" dirty="0"/>
          </a:p>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Which object?</a:t>
            </a:r>
            <a:endParaRPr lang="en-US" sz="1500" dirty="0"/>
          </a:p>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What next?</a:t>
            </a:r>
            <a:endParaRPr lang="en-US" sz="1500" dirty="0"/>
          </a:p>
        </p:txBody>
      </p:sp>
      <p:sp>
        <p:nvSpPr>
          <p:cNvPr id="17" name="Shape 15"/>
          <p:cNvSpPr/>
          <p:nvPr/>
        </p:nvSpPr>
        <p:spPr>
          <a:xfrm>
            <a:off x="2834640" y="2304288"/>
            <a:ext cx="2176272" cy="2990088"/>
          </a:xfrm>
          <a:prstGeom prst="roundRect">
            <a:avLst>
              <a:gd name="adj" fmla="val 5882"/>
            </a:avLst>
          </a:prstGeom>
          <a:solidFill>
            <a:srgbClr val="102335"/>
          </a:solidFill>
          <a:ln w="10795">
            <a:solidFill>
              <a:srgbClr val="294056"/>
            </a:solidFill>
            <a:prstDash val="solid"/>
          </a:ln>
        </p:spPr>
      </p:sp>
      <p:sp>
        <p:nvSpPr>
          <p:cNvPr id="18" name="Shape 16"/>
          <p:cNvSpPr/>
          <p:nvPr/>
        </p:nvSpPr>
        <p:spPr>
          <a:xfrm>
            <a:off x="2980944" y="2468880"/>
            <a:ext cx="41148" cy="2660904"/>
          </a:xfrm>
          <a:prstGeom prst="rect">
            <a:avLst/>
          </a:prstGeom>
          <a:solidFill>
            <a:srgbClr val="65D5E9"/>
          </a:solidFill>
          <a:ln w="10795">
            <a:solidFill>
              <a:srgbClr val="65D5E9"/>
            </a:solidFill>
            <a:prstDash val="solid"/>
          </a:ln>
        </p:spPr>
      </p:sp>
      <p:sp>
        <p:nvSpPr>
          <p:cNvPr id="19" name="Shape 17"/>
          <p:cNvSpPr/>
          <p:nvPr/>
        </p:nvSpPr>
        <p:spPr>
          <a:xfrm>
            <a:off x="4480560" y="2459736"/>
            <a:ext cx="384048" cy="256032"/>
          </a:xfrm>
          <a:prstGeom prst="roundRect">
            <a:avLst>
              <a:gd name="adj" fmla="val 64286"/>
            </a:avLst>
          </a:prstGeom>
          <a:solidFill>
            <a:srgbClr val="65D5E9">
              <a:alpha val="13000"/>
            </a:srgbClr>
          </a:solidFill>
          <a:ln w="10795">
            <a:solidFill>
              <a:srgbClr val="65D5E9"/>
            </a:solidFill>
            <a:prstDash val="solid"/>
          </a:ln>
        </p:spPr>
      </p:sp>
      <p:sp>
        <p:nvSpPr>
          <p:cNvPr id="20" name="Text 18"/>
          <p:cNvSpPr/>
          <p:nvPr/>
        </p:nvSpPr>
        <p:spPr>
          <a:xfrm>
            <a:off x="4535424" y="2468880"/>
            <a:ext cx="274320" cy="237744"/>
          </a:xfrm>
          <a:prstGeom prst="rect">
            <a:avLst/>
          </a:prstGeom>
          <a:noFill/>
          <a:ln/>
        </p:spPr>
        <p:txBody>
          <a:bodyPr wrap="square" lIns="0" tIns="0" rIns="0" bIns="0" rtlCol="0" anchor="ctr"/>
          <a:lstStyle/>
          <a:p>
            <a:pPr algn="ctr" indent="0" marL="0">
              <a:lnSpc>
                <a:spcPct val="100000"/>
              </a:lnSpc>
              <a:buNone/>
            </a:pPr>
            <a:r>
              <a:rPr lang="en-US" sz="900" b="1" dirty="0">
                <a:solidFill>
                  <a:srgbClr val="65D5E9"/>
                </a:solidFill>
                <a:latin typeface="Inter" pitchFamily="34" charset="0"/>
                <a:ea typeface="Inter" pitchFamily="34" charset="-122"/>
                <a:cs typeface="Inter" pitchFamily="34" charset="-120"/>
              </a:rPr>
              <a:t>02</a:t>
            </a:r>
            <a:endParaRPr lang="en-US" sz="900" dirty="0"/>
          </a:p>
        </p:txBody>
      </p:sp>
      <p:sp>
        <p:nvSpPr>
          <p:cNvPr id="21" name="Text 19"/>
          <p:cNvSpPr/>
          <p:nvPr/>
        </p:nvSpPr>
        <p:spPr>
          <a:xfrm>
            <a:off x="3127248" y="2487168"/>
            <a:ext cx="1655064" cy="384048"/>
          </a:xfrm>
          <a:prstGeom prst="rect">
            <a:avLst/>
          </a:prstGeom>
          <a:noFill/>
          <a:ln/>
        </p:spPr>
        <p:txBody>
          <a:bodyPr wrap="square" lIns="0" tIns="0" rIns="0" bIns="0" rtlCol="0" anchor="ctr"/>
          <a:lstStyle/>
          <a:p>
            <a:pPr algn="l" indent="0" marL="0">
              <a:lnSpc>
                <a:spcPct val="100000"/>
              </a:lnSpc>
              <a:buNone/>
            </a:pPr>
            <a:r>
              <a:rPr lang="en-US" sz="1450" b="1" dirty="0">
                <a:solidFill>
                  <a:srgbClr val="F5F7FC"/>
                </a:solidFill>
                <a:latin typeface="Inter" pitchFamily="34" charset="0"/>
                <a:ea typeface="Inter" pitchFamily="34" charset="-122"/>
                <a:cs typeface="Inter" pitchFamily="34" charset="-120"/>
              </a:rPr>
              <a:t>ACTIVE PERCEPTION</a:t>
            </a:r>
            <a:endParaRPr lang="en-US" sz="1450" dirty="0"/>
          </a:p>
        </p:txBody>
      </p:sp>
      <p:sp>
        <p:nvSpPr>
          <p:cNvPr id="22" name="Text 20"/>
          <p:cNvSpPr/>
          <p:nvPr/>
        </p:nvSpPr>
        <p:spPr>
          <a:xfrm>
            <a:off x="3127248" y="2935224"/>
            <a:ext cx="1664208" cy="2221992"/>
          </a:xfrm>
          <a:prstGeom prst="rect">
            <a:avLst/>
          </a:prstGeom>
          <a:noFill/>
          <a:ln/>
        </p:spPr>
        <p:txBody>
          <a:bodyPr wrap="square" lIns="0" tIns="0" rIns="0" bIns="0" rtlCol="0" anchor="t"/>
          <a:lstStyle/>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Where to look?</a:t>
            </a:r>
            <a:endParaRPr lang="en-US" sz="1500" dirty="0"/>
          </a:p>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Which viewpoint?</a:t>
            </a:r>
            <a:endParaRPr lang="en-US" sz="1500" dirty="0"/>
          </a:p>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Is target visible?</a:t>
            </a:r>
            <a:endParaRPr lang="en-US" sz="1500" dirty="0"/>
          </a:p>
        </p:txBody>
      </p:sp>
      <p:sp>
        <p:nvSpPr>
          <p:cNvPr id="23" name="Shape 21"/>
          <p:cNvSpPr/>
          <p:nvPr/>
        </p:nvSpPr>
        <p:spPr>
          <a:xfrm>
            <a:off x="5166360" y="2304288"/>
            <a:ext cx="2176272" cy="2990088"/>
          </a:xfrm>
          <a:prstGeom prst="roundRect">
            <a:avLst>
              <a:gd name="adj" fmla="val 5882"/>
            </a:avLst>
          </a:prstGeom>
          <a:solidFill>
            <a:srgbClr val="102335"/>
          </a:solidFill>
          <a:ln w="10795">
            <a:solidFill>
              <a:srgbClr val="294056"/>
            </a:solidFill>
            <a:prstDash val="solid"/>
          </a:ln>
        </p:spPr>
      </p:sp>
      <p:sp>
        <p:nvSpPr>
          <p:cNvPr id="24" name="Shape 22"/>
          <p:cNvSpPr/>
          <p:nvPr/>
        </p:nvSpPr>
        <p:spPr>
          <a:xfrm>
            <a:off x="5312664" y="2468880"/>
            <a:ext cx="41148" cy="2660904"/>
          </a:xfrm>
          <a:prstGeom prst="rect">
            <a:avLst/>
          </a:prstGeom>
          <a:solidFill>
            <a:srgbClr val="48D7B2"/>
          </a:solidFill>
          <a:ln w="10795">
            <a:solidFill>
              <a:srgbClr val="48D7B2"/>
            </a:solidFill>
            <a:prstDash val="solid"/>
          </a:ln>
        </p:spPr>
      </p:sp>
      <p:sp>
        <p:nvSpPr>
          <p:cNvPr id="25" name="Shape 23"/>
          <p:cNvSpPr/>
          <p:nvPr/>
        </p:nvSpPr>
        <p:spPr>
          <a:xfrm>
            <a:off x="6812280" y="2459736"/>
            <a:ext cx="384048" cy="256032"/>
          </a:xfrm>
          <a:prstGeom prst="roundRect">
            <a:avLst>
              <a:gd name="adj" fmla="val 64286"/>
            </a:avLst>
          </a:prstGeom>
          <a:solidFill>
            <a:srgbClr val="48D7B2">
              <a:alpha val="13000"/>
            </a:srgbClr>
          </a:solidFill>
          <a:ln w="10795">
            <a:solidFill>
              <a:srgbClr val="48D7B2"/>
            </a:solidFill>
            <a:prstDash val="solid"/>
          </a:ln>
        </p:spPr>
      </p:sp>
      <p:sp>
        <p:nvSpPr>
          <p:cNvPr id="26" name="Text 24"/>
          <p:cNvSpPr/>
          <p:nvPr/>
        </p:nvSpPr>
        <p:spPr>
          <a:xfrm>
            <a:off x="6867144" y="2468880"/>
            <a:ext cx="274320" cy="237744"/>
          </a:xfrm>
          <a:prstGeom prst="rect">
            <a:avLst/>
          </a:prstGeom>
          <a:noFill/>
          <a:ln/>
        </p:spPr>
        <p:txBody>
          <a:bodyPr wrap="square" lIns="0" tIns="0" rIns="0" bIns="0" rtlCol="0" anchor="ctr"/>
          <a:lstStyle/>
          <a:p>
            <a:pPr algn="ctr" indent="0" marL="0">
              <a:lnSpc>
                <a:spcPct val="100000"/>
              </a:lnSpc>
              <a:buNone/>
            </a:pPr>
            <a:r>
              <a:rPr lang="en-US" sz="900" b="1" dirty="0">
                <a:solidFill>
                  <a:srgbClr val="48D7B2"/>
                </a:solidFill>
                <a:latin typeface="Inter" pitchFamily="34" charset="0"/>
                <a:ea typeface="Inter" pitchFamily="34" charset="-122"/>
                <a:cs typeface="Inter" pitchFamily="34" charset="-120"/>
              </a:rPr>
              <a:t>03</a:t>
            </a:r>
            <a:endParaRPr lang="en-US" sz="900" dirty="0"/>
          </a:p>
        </p:txBody>
      </p:sp>
      <p:sp>
        <p:nvSpPr>
          <p:cNvPr id="27" name="Text 25"/>
          <p:cNvSpPr/>
          <p:nvPr/>
        </p:nvSpPr>
        <p:spPr>
          <a:xfrm>
            <a:off x="5458968" y="2487168"/>
            <a:ext cx="1655064" cy="384048"/>
          </a:xfrm>
          <a:prstGeom prst="rect">
            <a:avLst/>
          </a:prstGeom>
          <a:noFill/>
          <a:ln/>
        </p:spPr>
        <p:txBody>
          <a:bodyPr wrap="square" lIns="0" tIns="0" rIns="0" bIns="0" rtlCol="0" anchor="ctr"/>
          <a:lstStyle/>
          <a:p>
            <a:pPr algn="l" indent="0" marL="0">
              <a:lnSpc>
                <a:spcPct val="100000"/>
              </a:lnSpc>
              <a:buNone/>
            </a:pPr>
            <a:r>
              <a:rPr lang="en-US" sz="1450" b="1" dirty="0">
                <a:solidFill>
                  <a:srgbClr val="F5F7FC"/>
                </a:solidFill>
                <a:latin typeface="Inter" pitchFamily="34" charset="0"/>
                <a:ea typeface="Inter" pitchFamily="34" charset="-122"/>
                <a:cs typeface="Inter" pitchFamily="34" charset="-120"/>
              </a:rPr>
              <a:t>SEMANTIC WORLD</a:t>
            </a:r>
            <a:endParaRPr lang="en-US" sz="1450" dirty="0"/>
          </a:p>
        </p:txBody>
      </p:sp>
      <p:sp>
        <p:nvSpPr>
          <p:cNvPr id="28" name="Text 26"/>
          <p:cNvSpPr/>
          <p:nvPr/>
        </p:nvSpPr>
        <p:spPr>
          <a:xfrm>
            <a:off x="5458968" y="2935224"/>
            <a:ext cx="1664208" cy="2221992"/>
          </a:xfrm>
          <a:prstGeom prst="rect">
            <a:avLst/>
          </a:prstGeom>
          <a:noFill/>
          <a:ln/>
        </p:spPr>
        <p:txBody>
          <a:bodyPr wrap="square" lIns="0" tIns="0" rIns="0" bIns="0" rtlCol="0" anchor="t"/>
          <a:lstStyle/>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Which ID?</a:t>
            </a:r>
            <a:endParaRPr lang="en-US" sz="1500" dirty="0"/>
          </a:p>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Where observed?</a:t>
            </a:r>
            <a:endParaRPr lang="en-US" sz="1500" dirty="0"/>
          </a:p>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What relations?</a:t>
            </a:r>
            <a:endParaRPr lang="en-US" sz="1500" dirty="0"/>
          </a:p>
        </p:txBody>
      </p:sp>
      <p:sp>
        <p:nvSpPr>
          <p:cNvPr id="29" name="Shape 27"/>
          <p:cNvSpPr/>
          <p:nvPr/>
        </p:nvSpPr>
        <p:spPr>
          <a:xfrm>
            <a:off x="7498080" y="2304288"/>
            <a:ext cx="2176272" cy="2990088"/>
          </a:xfrm>
          <a:prstGeom prst="roundRect">
            <a:avLst>
              <a:gd name="adj" fmla="val 5882"/>
            </a:avLst>
          </a:prstGeom>
          <a:solidFill>
            <a:srgbClr val="102335"/>
          </a:solidFill>
          <a:ln w="10795">
            <a:solidFill>
              <a:srgbClr val="294056"/>
            </a:solidFill>
            <a:prstDash val="solid"/>
          </a:ln>
        </p:spPr>
      </p:sp>
      <p:sp>
        <p:nvSpPr>
          <p:cNvPr id="30" name="Shape 28"/>
          <p:cNvSpPr/>
          <p:nvPr/>
        </p:nvSpPr>
        <p:spPr>
          <a:xfrm>
            <a:off x="7644384" y="2468880"/>
            <a:ext cx="41148" cy="2660904"/>
          </a:xfrm>
          <a:prstGeom prst="rect">
            <a:avLst/>
          </a:prstGeom>
          <a:solidFill>
            <a:srgbClr val="6B9BFF"/>
          </a:solidFill>
          <a:ln w="10795">
            <a:solidFill>
              <a:srgbClr val="6B9BFF"/>
            </a:solidFill>
            <a:prstDash val="solid"/>
          </a:ln>
        </p:spPr>
      </p:sp>
      <p:sp>
        <p:nvSpPr>
          <p:cNvPr id="31" name="Shape 29"/>
          <p:cNvSpPr/>
          <p:nvPr/>
        </p:nvSpPr>
        <p:spPr>
          <a:xfrm>
            <a:off x="9144000" y="2459736"/>
            <a:ext cx="384048" cy="256032"/>
          </a:xfrm>
          <a:prstGeom prst="roundRect">
            <a:avLst>
              <a:gd name="adj" fmla="val 64286"/>
            </a:avLst>
          </a:prstGeom>
          <a:solidFill>
            <a:srgbClr val="6B9BFF">
              <a:alpha val="13000"/>
            </a:srgbClr>
          </a:solidFill>
          <a:ln w="10795">
            <a:solidFill>
              <a:srgbClr val="6B9BFF"/>
            </a:solidFill>
            <a:prstDash val="solid"/>
          </a:ln>
        </p:spPr>
      </p:sp>
      <p:sp>
        <p:nvSpPr>
          <p:cNvPr id="32" name="Text 30"/>
          <p:cNvSpPr/>
          <p:nvPr/>
        </p:nvSpPr>
        <p:spPr>
          <a:xfrm>
            <a:off x="9198864" y="2468880"/>
            <a:ext cx="274320" cy="237744"/>
          </a:xfrm>
          <a:prstGeom prst="rect">
            <a:avLst/>
          </a:prstGeom>
          <a:noFill/>
          <a:ln/>
        </p:spPr>
        <p:txBody>
          <a:bodyPr wrap="square" lIns="0" tIns="0" rIns="0" bIns="0" rtlCol="0" anchor="ctr"/>
          <a:lstStyle/>
          <a:p>
            <a:pPr algn="ctr" indent="0" marL="0">
              <a:lnSpc>
                <a:spcPct val="100000"/>
              </a:lnSpc>
              <a:buNone/>
            </a:pPr>
            <a:r>
              <a:rPr lang="en-US" sz="900" b="1" dirty="0">
                <a:solidFill>
                  <a:srgbClr val="6B9BFF"/>
                </a:solidFill>
                <a:latin typeface="Inter" pitchFamily="34" charset="0"/>
                <a:ea typeface="Inter" pitchFamily="34" charset="-122"/>
                <a:cs typeface="Inter" pitchFamily="34" charset="-120"/>
              </a:rPr>
              <a:t>04</a:t>
            </a:r>
            <a:endParaRPr lang="en-US" sz="900" dirty="0"/>
          </a:p>
        </p:txBody>
      </p:sp>
      <p:sp>
        <p:nvSpPr>
          <p:cNvPr id="33" name="Text 31"/>
          <p:cNvSpPr/>
          <p:nvPr/>
        </p:nvSpPr>
        <p:spPr>
          <a:xfrm>
            <a:off x="7790688" y="2487168"/>
            <a:ext cx="1655064" cy="384048"/>
          </a:xfrm>
          <a:prstGeom prst="rect">
            <a:avLst/>
          </a:prstGeom>
          <a:noFill/>
          <a:ln/>
        </p:spPr>
        <p:txBody>
          <a:bodyPr wrap="square" lIns="0" tIns="0" rIns="0" bIns="0" rtlCol="0" anchor="ctr"/>
          <a:lstStyle/>
          <a:p>
            <a:pPr algn="l" indent="0" marL="0">
              <a:lnSpc>
                <a:spcPct val="100000"/>
              </a:lnSpc>
              <a:buNone/>
            </a:pPr>
            <a:r>
              <a:rPr lang="en-US" sz="1450" b="1" dirty="0">
                <a:solidFill>
                  <a:srgbClr val="F5F7FC"/>
                </a:solidFill>
                <a:latin typeface="Inter" pitchFamily="34" charset="0"/>
                <a:ea typeface="Inter" pitchFamily="34" charset="-122"/>
                <a:cs typeface="Inter" pitchFamily="34" charset="-120"/>
              </a:rPr>
              <a:t>NAVIGATION</a:t>
            </a:r>
            <a:endParaRPr lang="en-US" sz="1450" dirty="0"/>
          </a:p>
        </p:txBody>
      </p:sp>
      <p:sp>
        <p:nvSpPr>
          <p:cNvPr id="34" name="Text 32"/>
          <p:cNvSpPr/>
          <p:nvPr/>
        </p:nvSpPr>
        <p:spPr>
          <a:xfrm>
            <a:off x="7790688" y="2935224"/>
            <a:ext cx="1664208" cy="2221992"/>
          </a:xfrm>
          <a:prstGeom prst="rect">
            <a:avLst/>
          </a:prstGeom>
          <a:noFill/>
          <a:ln/>
        </p:spPr>
        <p:txBody>
          <a:bodyPr wrap="square" lIns="0" tIns="0" rIns="0" bIns="0" rtlCol="0" anchor="t"/>
          <a:lstStyle/>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Where to stand?</a:t>
            </a:r>
            <a:endParaRPr lang="en-US" sz="1500" dirty="0"/>
          </a:p>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Which route?</a:t>
            </a:r>
            <a:endParaRPr lang="en-US" sz="1500" dirty="0"/>
          </a:p>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Did we arrive?</a:t>
            </a:r>
            <a:endParaRPr lang="en-US" sz="1500" dirty="0"/>
          </a:p>
        </p:txBody>
      </p:sp>
      <p:sp>
        <p:nvSpPr>
          <p:cNvPr id="35" name="Shape 33"/>
          <p:cNvSpPr/>
          <p:nvPr/>
        </p:nvSpPr>
        <p:spPr>
          <a:xfrm>
            <a:off x="9829800" y="2304288"/>
            <a:ext cx="2176272" cy="2990088"/>
          </a:xfrm>
          <a:prstGeom prst="roundRect">
            <a:avLst>
              <a:gd name="adj" fmla="val 5882"/>
            </a:avLst>
          </a:prstGeom>
          <a:solidFill>
            <a:srgbClr val="102335"/>
          </a:solidFill>
          <a:ln w="10795">
            <a:solidFill>
              <a:srgbClr val="294056"/>
            </a:solidFill>
            <a:prstDash val="solid"/>
          </a:ln>
        </p:spPr>
      </p:sp>
      <p:sp>
        <p:nvSpPr>
          <p:cNvPr id="36" name="Shape 34"/>
          <p:cNvSpPr/>
          <p:nvPr/>
        </p:nvSpPr>
        <p:spPr>
          <a:xfrm>
            <a:off x="9976104" y="2468880"/>
            <a:ext cx="41148" cy="2660904"/>
          </a:xfrm>
          <a:prstGeom prst="rect">
            <a:avLst/>
          </a:prstGeom>
          <a:solidFill>
            <a:srgbClr val="FFC176"/>
          </a:solidFill>
          <a:ln w="10795">
            <a:solidFill>
              <a:srgbClr val="FFC176"/>
            </a:solidFill>
            <a:prstDash val="solid"/>
          </a:ln>
        </p:spPr>
      </p:sp>
      <p:sp>
        <p:nvSpPr>
          <p:cNvPr id="37" name="Shape 35"/>
          <p:cNvSpPr/>
          <p:nvPr/>
        </p:nvSpPr>
        <p:spPr>
          <a:xfrm>
            <a:off x="11475720" y="2459736"/>
            <a:ext cx="384048" cy="256032"/>
          </a:xfrm>
          <a:prstGeom prst="roundRect">
            <a:avLst>
              <a:gd name="adj" fmla="val 64286"/>
            </a:avLst>
          </a:prstGeom>
          <a:solidFill>
            <a:srgbClr val="FFC176">
              <a:alpha val="13000"/>
            </a:srgbClr>
          </a:solidFill>
          <a:ln w="10795">
            <a:solidFill>
              <a:srgbClr val="FFC176"/>
            </a:solidFill>
            <a:prstDash val="solid"/>
          </a:ln>
        </p:spPr>
      </p:sp>
      <p:sp>
        <p:nvSpPr>
          <p:cNvPr id="38" name="Text 36"/>
          <p:cNvSpPr/>
          <p:nvPr/>
        </p:nvSpPr>
        <p:spPr>
          <a:xfrm>
            <a:off x="11530584" y="2468880"/>
            <a:ext cx="274320" cy="237744"/>
          </a:xfrm>
          <a:prstGeom prst="rect">
            <a:avLst/>
          </a:prstGeom>
          <a:noFill/>
          <a:ln/>
        </p:spPr>
        <p:txBody>
          <a:bodyPr wrap="square" lIns="0" tIns="0" rIns="0" bIns="0" rtlCol="0" anchor="ctr"/>
          <a:lstStyle/>
          <a:p>
            <a:pPr algn="ctr" indent="0" marL="0">
              <a:lnSpc>
                <a:spcPct val="100000"/>
              </a:lnSpc>
              <a:buNone/>
            </a:pPr>
            <a:r>
              <a:rPr lang="en-US" sz="900" b="1" dirty="0">
                <a:solidFill>
                  <a:srgbClr val="FFC176"/>
                </a:solidFill>
                <a:latin typeface="Inter" pitchFamily="34" charset="0"/>
                <a:ea typeface="Inter" pitchFamily="34" charset="-122"/>
                <a:cs typeface="Inter" pitchFamily="34" charset="-120"/>
              </a:rPr>
              <a:t>05</a:t>
            </a:r>
            <a:endParaRPr lang="en-US" sz="900" dirty="0"/>
          </a:p>
        </p:txBody>
      </p:sp>
      <p:sp>
        <p:nvSpPr>
          <p:cNvPr id="39" name="Text 37"/>
          <p:cNvSpPr/>
          <p:nvPr/>
        </p:nvSpPr>
        <p:spPr>
          <a:xfrm>
            <a:off x="10122408" y="2487168"/>
            <a:ext cx="1655064" cy="384048"/>
          </a:xfrm>
          <a:prstGeom prst="rect">
            <a:avLst/>
          </a:prstGeom>
          <a:noFill/>
          <a:ln/>
        </p:spPr>
        <p:txBody>
          <a:bodyPr wrap="square" lIns="0" tIns="0" rIns="0" bIns="0" rtlCol="0" anchor="ctr"/>
          <a:lstStyle/>
          <a:p>
            <a:pPr algn="l" indent="0" marL="0">
              <a:lnSpc>
                <a:spcPct val="100000"/>
              </a:lnSpc>
              <a:buNone/>
            </a:pPr>
            <a:r>
              <a:rPr lang="en-US" sz="1450" b="1" dirty="0">
                <a:solidFill>
                  <a:srgbClr val="F5F7FC"/>
                </a:solidFill>
                <a:latin typeface="Inter" pitchFamily="34" charset="0"/>
                <a:ea typeface="Inter" pitchFamily="34" charset="-122"/>
                <a:cs typeface="Inter" pitchFamily="34" charset="-120"/>
              </a:rPr>
              <a:t>VLA MANIPULATION</a:t>
            </a:r>
            <a:endParaRPr lang="en-US" sz="1450" dirty="0"/>
          </a:p>
        </p:txBody>
      </p:sp>
      <p:sp>
        <p:nvSpPr>
          <p:cNvPr id="40" name="Text 38"/>
          <p:cNvSpPr/>
          <p:nvPr/>
        </p:nvSpPr>
        <p:spPr>
          <a:xfrm>
            <a:off x="10122408" y="2935224"/>
            <a:ext cx="1664208" cy="2221992"/>
          </a:xfrm>
          <a:prstGeom prst="rect">
            <a:avLst/>
          </a:prstGeom>
          <a:noFill/>
          <a:ln/>
        </p:spPr>
        <p:txBody>
          <a:bodyPr wrap="square" lIns="0" tIns="0" rIns="0" bIns="0" rtlCol="0" anchor="t"/>
          <a:lstStyle/>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How to pick?</a:t>
            </a:r>
            <a:endParaRPr lang="en-US" sz="1500" dirty="0"/>
          </a:p>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How to place?</a:t>
            </a:r>
            <a:endParaRPr lang="en-US" sz="1500" dirty="0"/>
          </a:p>
          <a:p>
            <a:pPr algn="l" indent="0" marL="0">
              <a:lnSpc>
                <a:spcPct val="100000"/>
              </a:lnSpc>
              <a:buNone/>
            </a:pPr>
            <a:r>
              <a:rPr lang="en-US" sz="1500" dirty="0">
                <a:solidFill>
                  <a:srgbClr val="A1B2C4"/>
                </a:solidFill>
                <a:latin typeface="Inter" pitchFamily="34" charset="0"/>
                <a:ea typeface="Inter" pitchFamily="34" charset="-122"/>
                <a:cs typeface="Inter" pitchFamily="34" charset="-120"/>
              </a:rPr>
              <a:t>Did action succeed?</a:t>
            </a:r>
            <a:endParaRPr lang="en-US" sz="1500" dirty="0"/>
          </a:p>
        </p:txBody>
      </p:sp>
      <p:sp>
        <p:nvSpPr>
          <p:cNvPr id="41" name="Shape 39"/>
          <p:cNvSpPr/>
          <p:nvPr/>
        </p:nvSpPr>
        <p:spPr>
          <a:xfrm>
            <a:off x="630936" y="5577840"/>
            <a:ext cx="10927080" cy="475488"/>
          </a:xfrm>
          <a:prstGeom prst="roundRect">
            <a:avLst>
              <a:gd name="adj" fmla="val 26923"/>
            </a:avLst>
          </a:prstGeom>
          <a:solidFill>
            <a:srgbClr val="152B40"/>
          </a:solidFill>
          <a:ln w="10795">
            <a:solidFill>
              <a:srgbClr val="152B40"/>
            </a:solidFill>
            <a:prstDash val="solid"/>
          </a:ln>
        </p:spPr>
      </p:sp>
      <p:sp>
        <p:nvSpPr>
          <p:cNvPr id="42" name="Text 40"/>
          <p:cNvSpPr/>
          <p:nvPr/>
        </p:nvSpPr>
        <p:spPr>
          <a:xfrm>
            <a:off x="841248" y="5660136"/>
            <a:ext cx="10561320" cy="292608"/>
          </a:xfrm>
          <a:prstGeom prst="rect">
            <a:avLst/>
          </a:prstGeom>
          <a:noFill/>
          <a:ln/>
        </p:spPr>
        <p:txBody>
          <a:bodyPr wrap="square" lIns="0" tIns="0" rIns="0" bIns="0" rtlCol="0" anchor="ctr"/>
          <a:lstStyle/>
          <a:p>
            <a:pPr algn="ctr" indent="0" marL="0">
              <a:lnSpc>
                <a:spcPct val="100000"/>
              </a:lnSpc>
              <a:buNone/>
            </a:pPr>
            <a:r>
              <a:rPr lang="en-US" sz="1300" b="1" dirty="0">
                <a:solidFill>
                  <a:srgbClr val="FF8790"/>
                </a:solidFill>
                <a:latin typeface="Inter" pitchFamily="34" charset="0"/>
                <a:ea typeface="Inter" pitchFamily="34" charset="-122"/>
                <a:cs typeface="Inter" pitchFamily="34" charset="-120"/>
              </a:rPr>
              <a:t>Independent safety supervisor gates every motion command and can stop execution regardless of planner output.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SYSTEM ARCHITECTURE</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One shared world, three agent loops</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The memory layer connects instruction understanding to physically grounded actions.</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05</a:t>
            </a:r>
            <a:endParaRPr lang="en-US" sz="1100" dirty="0"/>
          </a:p>
        </p:txBody>
      </p:sp>
      <p:sp>
        <p:nvSpPr>
          <p:cNvPr id="11" name="Shape 9"/>
          <p:cNvSpPr/>
          <p:nvPr/>
        </p:nvSpPr>
        <p:spPr>
          <a:xfrm>
            <a:off x="4462272" y="2011680"/>
            <a:ext cx="3236976" cy="603504"/>
          </a:xfrm>
          <a:prstGeom prst="roundRect">
            <a:avLst>
              <a:gd name="adj" fmla="val 21212"/>
            </a:avLst>
          </a:prstGeom>
          <a:solidFill>
            <a:srgbClr val="102335"/>
          </a:solidFill>
          <a:ln w="10795">
            <a:solidFill>
              <a:srgbClr val="294056"/>
            </a:solidFill>
            <a:prstDash val="solid"/>
          </a:ln>
        </p:spPr>
      </p:sp>
      <p:sp>
        <p:nvSpPr>
          <p:cNvPr id="12" name="Shape 10"/>
          <p:cNvSpPr/>
          <p:nvPr/>
        </p:nvSpPr>
        <p:spPr>
          <a:xfrm>
            <a:off x="4462272" y="2011680"/>
            <a:ext cx="3236976" cy="64008"/>
          </a:xfrm>
          <a:prstGeom prst="rect">
            <a:avLst/>
          </a:prstGeom>
          <a:solidFill>
            <a:srgbClr val="F5F7FC"/>
          </a:solidFill>
          <a:ln w="10795">
            <a:solidFill>
              <a:srgbClr val="F5F7FC"/>
            </a:solidFill>
            <a:prstDash val="solid"/>
          </a:ln>
        </p:spPr>
      </p:sp>
      <p:sp>
        <p:nvSpPr>
          <p:cNvPr id="13" name="Text 11"/>
          <p:cNvSpPr/>
          <p:nvPr/>
        </p:nvSpPr>
        <p:spPr>
          <a:xfrm>
            <a:off x="4581144" y="2103120"/>
            <a:ext cx="2999232" cy="256032"/>
          </a:xfrm>
          <a:prstGeom prst="rect">
            <a:avLst/>
          </a:prstGeom>
          <a:noFill/>
          <a:ln/>
        </p:spPr>
        <p:txBody>
          <a:bodyPr wrap="square" lIns="0" tIns="0" rIns="0" bIns="0" rtlCol="0" anchor="ctr"/>
          <a:lstStyle/>
          <a:p>
            <a:pPr algn="ctr" indent="0" marL="0">
              <a:lnSpc>
                <a:spcPct val="100000"/>
              </a:lnSpc>
              <a:buNone/>
            </a:pPr>
            <a:r>
              <a:rPr lang="en-US" sz="1260" b="1" dirty="0">
                <a:solidFill>
                  <a:srgbClr val="F5F7FC"/>
                </a:solidFill>
                <a:latin typeface="Inter" pitchFamily="34" charset="0"/>
                <a:ea typeface="Inter" pitchFamily="34" charset="-122"/>
                <a:cs typeface="Inter" pitchFamily="34" charset="-120"/>
              </a:rPr>
              <a:t>USER / MISSION</a:t>
            </a:r>
            <a:endParaRPr lang="en-US" sz="1260" dirty="0"/>
          </a:p>
        </p:txBody>
      </p:sp>
      <p:sp>
        <p:nvSpPr>
          <p:cNvPr id="14" name="Text 12"/>
          <p:cNvSpPr/>
          <p:nvPr/>
        </p:nvSpPr>
        <p:spPr>
          <a:xfrm>
            <a:off x="4572000" y="2350008"/>
            <a:ext cx="3017520" cy="228600"/>
          </a:xfrm>
          <a:prstGeom prst="rect">
            <a:avLst/>
          </a:prstGeom>
          <a:noFill/>
          <a:ln/>
        </p:spPr>
        <p:txBody>
          <a:bodyPr wrap="square" lIns="0" tIns="0" rIns="0" bIns="0" rtlCol="0" anchor="ctr"/>
          <a:lstStyle/>
          <a:p>
            <a:pPr algn="ctr" indent="0" marL="0">
              <a:lnSpc>
                <a:spcPct val="100000"/>
              </a:lnSpc>
              <a:buNone/>
            </a:pPr>
            <a:r>
              <a:rPr lang="en-US" sz="925" dirty="0">
                <a:solidFill>
                  <a:srgbClr val="A1B2C4"/>
                </a:solidFill>
                <a:latin typeface="Inter" pitchFamily="34" charset="0"/>
                <a:ea typeface="Inter" pitchFamily="34" charset="-122"/>
                <a:cs typeface="Inter" pitchFamily="34" charset="-120"/>
              </a:rPr>
              <a:t>Natural-language task</a:t>
            </a:r>
            <a:endParaRPr lang="en-US" sz="925" dirty="0"/>
          </a:p>
        </p:txBody>
      </p:sp>
      <p:sp>
        <p:nvSpPr>
          <p:cNvPr id="15" name="Shape 13"/>
          <p:cNvSpPr/>
          <p:nvPr/>
        </p:nvSpPr>
        <p:spPr>
          <a:xfrm>
            <a:off x="4462272" y="2743200"/>
            <a:ext cx="3236976" cy="704088"/>
          </a:xfrm>
          <a:prstGeom prst="roundRect">
            <a:avLst>
              <a:gd name="adj" fmla="val 18182"/>
            </a:avLst>
          </a:prstGeom>
          <a:solidFill>
            <a:srgbClr val="102335"/>
          </a:solidFill>
          <a:ln w="10795">
            <a:solidFill>
              <a:srgbClr val="294056"/>
            </a:solidFill>
            <a:prstDash val="solid"/>
          </a:ln>
        </p:spPr>
      </p:sp>
      <p:sp>
        <p:nvSpPr>
          <p:cNvPr id="16" name="Shape 14"/>
          <p:cNvSpPr/>
          <p:nvPr/>
        </p:nvSpPr>
        <p:spPr>
          <a:xfrm>
            <a:off x="4462272" y="2743200"/>
            <a:ext cx="3236976" cy="64008"/>
          </a:xfrm>
          <a:prstGeom prst="rect">
            <a:avLst/>
          </a:prstGeom>
          <a:solidFill>
            <a:srgbClr val="B5A0F8"/>
          </a:solidFill>
          <a:ln w="10795">
            <a:solidFill>
              <a:srgbClr val="B5A0F8"/>
            </a:solidFill>
            <a:prstDash val="solid"/>
          </a:ln>
        </p:spPr>
      </p:sp>
      <p:sp>
        <p:nvSpPr>
          <p:cNvPr id="17" name="Text 15"/>
          <p:cNvSpPr/>
          <p:nvPr/>
        </p:nvSpPr>
        <p:spPr>
          <a:xfrm>
            <a:off x="4581144" y="2852928"/>
            <a:ext cx="2999232" cy="256032"/>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HIGH-LEVEL PLANNER</a:t>
            </a:r>
            <a:endParaRPr lang="en-US" sz="1400" dirty="0"/>
          </a:p>
        </p:txBody>
      </p:sp>
      <p:sp>
        <p:nvSpPr>
          <p:cNvPr id="18" name="Text 16"/>
          <p:cNvSpPr/>
          <p:nvPr/>
        </p:nvSpPr>
        <p:spPr>
          <a:xfrm>
            <a:off x="4572000" y="3136392"/>
            <a:ext cx="3017520" cy="274320"/>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Decompose / select next skill</a:t>
            </a:r>
            <a:endParaRPr lang="en-US" sz="1030" dirty="0"/>
          </a:p>
        </p:txBody>
      </p:sp>
      <p:sp>
        <p:nvSpPr>
          <p:cNvPr id="19" name="Shape 17"/>
          <p:cNvSpPr/>
          <p:nvPr/>
        </p:nvSpPr>
        <p:spPr>
          <a:xfrm>
            <a:off x="4462272" y="3602736"/>
            <a:ext cx="3236976" cy="667512"/>
          </a:xfrm>
          <a:prstGeom prst="roundRect">
            <a:avLst>
              <a:gd name="adj" fmla="val 19178"/>
            </a:avLst>
          </a:prstGeom>
          <a:solidFill>
            <a:srgbClr val="102335"/>
          </a:solidFill>
          <a:ln w="10795">
            <a:solidFill>
              <a:srgbClr val="294056"/>
            </a:solidFill>
            <a:prstDash val="solid"/>
          </a:ln>
        </p:spPr>
      </p:sp>
      <p:sp>
        <p:nvSpPr>
          <p:cNvPr id="20" name="Shape 18"/>
          <p:cNvSpPr/>
          <p:nvPr/>
        </p:nvSpPr>
        <p:spPr>
          <a:xfrm>
            <a:off x="4462272" y="3602736"/>
            <a:ext cx="3236976" cy="64008"/>
          </a:xfrm>
          <a:prstGeom prst="rect">
            <a:avLst/>
          </a:prstGeom>
          <a:solidFill>
            <a:srgbClr val="B5A0F8"/>
          </a:solidFill>
          <a:ln w="10795">
            <a:solidFill>
              <a:srgbClr val="B5A0F8"/>
            </a:solidFill>
            <a:prstDash val="solid"/>
          </a:ln>
        </p:spPr>
      </p:sp>
      <p:sp>
        <p:nvSpPr>
          <p:cNvPr id="21" name="Text 19"/>
          <p:cNvSpPr/>
          <p:nvPr/>
        </p:nvSpPr>
        <p:spPr>
          <a:xfrm>
            <a:off x="4581144" y="3712464"/>
            <a:ext cx="2999232" cy="256032"/>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SKILL ORCHESTRATOR</a:t>
            </a:r>
            <a:endParaRPr lang="en-US" sz="1400" dirty="0"/>
          </a:p>
        </p:txBody>
      </p:sp>
      <p:sp>
        <p:nvSpPr>
          <p:cNvPr id="22" name="Text 20"/>
          <p:cNvSpPr/>
          <p:nvPr/>
        </p:nvSpPr>
        <p:spPr>
          <a:xfrm>
            <a:off x="4572000" y="3995928"/>
            <a:ext cx="3017520" cy="237744"/>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Validate, dispatch, monitor</a:t>
            </a:r>
            <a:endParaRPr lang="en-US" sz="1030" dirty="0"/>
          </a:p>
        </p:txBody>
      </p:sp>
      <p:sp>
        <p:nvSpPr>
          <p:cNvPr id="23" name="Shape 21"/>
          <p:cNvSpPr/>
          <p:nvPr/>
        </p:nvSpPr>
        <p:spPr>
          <a:xfrm>
            <a:off x="475488" y="2779776"/>
            <a:ext cx="3346704" cy="804672"/>
          </a:xfrm>
          <a:prstGeom prst="roundRect">
            <a:avLst>
              <a:gd name="adj" fmla="val 15909"/>
            </a:avLst>
          </a:prstGeom>
          <a:solidFill>
            <a:srgbClr val="102335"/>
          </a:solidFill>
          <a:ln w="10795">
            <a:solidFill>
              <a:srgbClr val="294056"/>
            </a:solidFill>
            <a:prstDash val="solid"/>
          </a:ln>
        </p:spPr>
      </p:sp>
      <p:sp>
        <p:nvSpPr>
          <p:cNvPr id="24" name="Shape 22"/>
          <p:cNvSpPr/>
          <p:nvPr/>
        </p:nvSpPr>
        <p:spPr>
          <a:xfrm>
            <a:off x="475488" y="2779776"/>
            <a:ext cx="3346704" cy="64008"/>
          </a:xfrm>
          <a:prstGeom prst="rect">
            <a:avLst/>
          </a:prstGeom>
          <a:solidFill>
            <a:srgbClr val="48D7B2"/>
          </a:solidFill>
          <a:ln w="10795">
            <a:solidFill>
              <a:srgbClr val="48D7B2"/>
            </a:solidFill>
            <a:prstDash val="solid"/>
          </a:ln>
        </p:spPr>
      </p:sp>
      <p:sp>
        <p:nvSpPr>
          <p:cNvPr id="25" name="Text 23"/>
          <p:cNvSpPr/>
          <p:nvPr/>
        </p:nvSpPr>
        <p:spPr>
          <a:xfrm>
            <a:off x="594360" y="2889504"/>
            <a:ext cx="3108960" cy="256032"/>
          </a:xfrm>
          <a:prstGeom prst="rect">
            <a:avLst/>
          </a:prstGeom>
          <a:noFill/>
          <a:ln/>
        </p:spPr>
        <p:txBody>
          <a:bodyPr wrap="square" lIns="0" tIns="0" rIns="0" bIns="0" rtlCol="0" anchor="ctr"/>
          <a:lstStyle/>
          <a:p>
            <a:pPr algn="ctr" indent="0" marL="0">
              <a:lnSpc>
                <a:spcPct val="100000"/>
              </a:lnSpc>
              <a:buNone/>
            </a:pPr>
            <a:r>
              <a:rPr lang="en-US" sz="1300" b="1" dirty="0">
                <a:solidFill>
                  <a:srgbClr val="F5F7FC"/>
                </a:solidFill>
                <a:latin typeface="Inter" pitchFamily="34" charset="0"/>
                <a:ea typeface="Inter" pitchFamily="34" charset="-122"/>
                <a:cs typeface="Inter" pitchFamily="34" charset="-120"/>
              </a:rPr>
              <a:t>SEMANTIC WORLD MODEL</a:t>
            </a:r>
            <a:endParaRPr lang="en-US" sz="1300" dirty="0"/>
          </a:p>
        </p:txBody>
      </p:sp>
      <p:sp>
        <p:nvSpPr>
          <p:cNvPr id="26" name="Text 24"/>
          <p:cNvSpPr/>
          <p:nvPr/>
        </p:nvSpPr>
        <p:spPr>
          <a:xfrm>
            <a:off x="585216" y="3172968"/>
            <a:ext cx="3127248" cy="374904"/>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SQLite object registry + 3D graph</a:t>
            </a:r>
            <a:endParaRPr lang="en-US" sz="1030" dirty="0"/>
          </a:p>
        </p:txBody>
      </p:sp>
      <p:sp>
        <p:nvSpPr>
          <p:cNvPr id="27" name="Shape 25"/>
          <p:cNvSpPr/>
          <p:nvPr/>
        </p:nvSpPr>
        <p:spPr>
          <a:xfrm>
            <a:off x="475488" y="3858768"/>
            <a:ext cx="3346704" cy="841248"/>
          </a:xfrm>
          <a:prstGeom prst="roundRect">
            <a:avLst>
              <a:gd name="adj" fmla="val 15217"/>
            </a:avLst>
          </a:prstGeom>
          <a:solidFill>
            <a:srgbClr val="102335"/>
          </a:solidFill>
          <a:ln w="10795">
            <a:solidFill>
              <a:srgbClr val="294056"/>
            </a:solidFill>
            <a:prstDash val="solid"/>
          </a:ln>
        </p:spPr>
      </p:sp>
      <p:sp>
        <p:nvSpPr>
          <p:cNvPr id="28" name="Shape 26"/>
          <p:cNvSpPr/>
          <p:nvPr/>
        </p:nvSpPr>
        <p:spPr>
          <a:xfrm>
            <a:off x="475488" y="3858768"/>
            <a:ext cx="3346704" cy="64008"/>
          </a:xfrm>
          <a:prstGeom prst="rect">
            <a:avLst/>
          </a:prstGeom>
          <a:solidFill>
            <a:srgbClr val="65D5E9"/>
          </a:solidFill>
          <a:ln w="10795">
            <a:solidFill>
              <a:srgbClr val="65D5E9"/>
            </a:solidFill>
            <a:prstDash val="solid"/>
          </a:ln>
        </p:spPr>
      </p:sp>
      <p:sp>
        <p:nvSpPr>
          <p:cNvPr id="29" name="Text 27"/>
          <p:cNvSpPr/>
          <p:nvPr/>
        </p:nvSpPr>
        <p:spPr>
          <a:xfrm>
            <a:off x="594360" y="3968496"/>
            <a:ext cx="3108960" cy="256032"/>
          </a:xfrm>
          <a:prstGeom prst="rect">
            <a:avLst/>
          </a:prstGeom>
          <a:noFill/>
          <a:ln/>
        </p:spPr>
        <p:txBody>
          <a:bodyPr wrap="square" lIns="0" tIns="0" rIns="0" bIns="0" rtlCol="0" anchor="ctr"/>
          <a:lstStyle/>
          <a:p>
            <a:pPr algn="ctr" indent="0" marL="0">
              <a:lnSpc>
                <a:spcPct val="100000"/>
              </a:lnSpc>
              <a:buNone/>
            </a:pPr>
            <a:r>
              <a:rPr lang="en-US" sz="1300" b="1" dirty="0">
                <a:solidFill>
                  <a:srgbClr val="F5F7FC"/>
                </a:solidFill>
                <a:latin typeface="Inter" pitchFamily="34" charset="0"/>
                <a:ea typeface="Inter" pitchFamily="34" charset="-122"/>
                <a:cs typeface="Inter" pitchFamily="34" charset="-120"/>
              </a:rPr>
              <a:t>ACTIVE PERCEPTION</a:t>
            </a:r>
            <a:endParaRPr lang="en-US" sz="1300" dirty="0"/>
          </a:p>
        </p:txBody>
      </p:sp>
      <p:sp>
        <p:nvSpPr>
          <p:cNvPr id="30" name="Text 28"/>
          <p:cNvSpPr/>
          <p:nvPr/>
        </p:nvSpPr>
        <p:spPr>
          <a:xfrm>
            <a:off x="585216" y="4251960"/>
            <a:ext cx="3127248" cy="411480"/>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Memory → viewpoint → observe</a:t>
            </a:r>
            <a:endParaRPr lang="en-US" sz="1030" dirty="0"/>
          </a:p>
        </p:txBody>
      </p:sp>
      <p:sp>
        <p:nvSpPr>
          <p:cNvPr id="31" name="Shape 29"/>
          <p:cNvSpPr/>
          <p:nvPr/>
        </p:nvSpPr>
        <p:spPr>
          <a:xfrm>
            <a:off x="8357616" y="2779776"/>
            <a:ext cx="3355848" cy="822960"/>
          </a:xfrm>
          <a:prstGeom prst="roundRect">
            <a:avLst>
              <a:gd name="adj" fmla="val 15556"/>
            </a:avLst>
          </a:prstGeom>
          <a:solidFill>
            <a:srgbClr val="102335"/>
          </a:solidFill>
          <a:ln w="10795">
            <a:solidFill>
              <a:srgbClr val="294056"/>
            </a:solidFill>
            <a:prstDash val="solid"/>
          </a:ln>
        </p:spPr>
      </p:sp>
      <p:sp>
        <p:nvSpPr>
          <p:cNvPr id="32" name="Shape 30"/>
          <p:cNvSpPr/>
          <p:nvPr/>
        </p:nvSpPr>
        <p:spPr>
          <a:xfrm>
            <a:off x="8357616" y="2779776"/>
            <a:ext cx="3355848" cy="64008"/>
          </a:xfrm>
          <a:prstGeom prst="rect">
            <a:avLst/>
          </a:prstGeom>
          <a:solidFill>
            <a:srgbClr val="6B9BFF"/>
          </a:solidFill>
          <a:ln w="10795">
            <a:solidFill>
              <a:srgbClr val="6B9BFF"/>
            </a:solidFill>
            <a:prstDash val="solid"/>
          </a:ln>
        </p:spPr>
      </p:sp>
      <p:sp>
        <p:nvSpPr>
          <p:cNvPr id="33" name="Text 31"/>
          <p:cNvSpPr/>
          <p:nvPr/>
        </p:nvSpPr>
        <p:spPr>
          <a:xfrm>
            <a:off x="8476488" y="2889504"/>
            <a:ext cx="3118104" cy="256032"/>
          </a:xfrm>
          <a:prstGeom prst="rect">
            <a:avLst/>
          </a:prstGeom>
          <a:noFill/>
          <a:ln/>
        </p:spPr>
        <p:txBody>
          <a:bodyPr wrap="square" lIns="0" tIns="0" rIns="0" bIns="0" rtlCol="0" anchor="ctr"/>
          <a:lstStyle/>
          <a:p>
            <a:pPr algn="ctr" indent="0" marL="0">
              <a:lnSpc>
                <a:spcPct val="100000"/>
              </a:lnSpc>
              <a:buNone/>
            </a:pPr>
            <a:r>
              <a:rPr lang="en-US" sz="1300" b="1" dirty="0">
                <a:solidFill>
                  <a:srgbClr val="F5F7FC"/>
                </a:solidFill>
                <a:latin typeface="Inter" pitchFamily="34" charset="0"/>
                <a:ea typeface="Inter" pitchFamily="34" charset="-122"/>
                <a:cs typeface="Inter" pitchFamily="34" charset="-120"/>
              </a:rPr>
              <a:t>NAVIGATION</a:t>
            </a:r>
            <a:endParaRPr lang="en-US" sz="1300" dirty="0"/>
          </a:p>
        </p:txBody>
      </p:sp>
      <p:sp>
        <p:nvSpPr>
          <p:cNvPr id="34" name="Text 32"/>
          <p:cNvSpPr/>
          <p:nvPr/>
        </p:nvSpPr>
        <p:spPr>
          <a:xfrm>
            <a:off x="8467344" y="3172968"/>
            <a:ext cx="3136392" cy="393192"/>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Goal pose → Nav2 → G1 walk</a:t>
            </a:r>
            <a:endParaRPr lang="en-US" sz="1030" dirty="0"/>
          </a:p>
        </p:txBody>
      </p:sp>
      <p:sp>
        <p:nvSpPr>
          <p:cNvPr id="35" name="Shape 33"/>
          <p:cNvSpPr/>
          <p:nvPr/>
        </p:nvSpPr>
        <p:spPr>
          <a:xfrm>
            <a:off x="8357616" y="3895344"/>
            <a:ext cx="3355848" cy="804672"/>
          </a:xfrm>
          <a:prstGeom prst="roundRect">
            <a:avLst>
              <a:gd name="adj" fmla="val 15909"/>
            </a:avLst>
          </a:prstGeom>
          <a:solidFill>
            <a:srgbClr val="102335"/>
          </a:solidFill>
          <a:ln w="10795">
            <a:solidFill>
              <a:srgbClr val="294056"/>
            </a:solidFill>
            <a:prstDash val="solid"/>
          </a:ln>
        </p:spPr>
      </p:sp>
      <p:sp>
        <p:nvSpPr>
          <p:cNvPr id="36" name="Shape 34"/>
          <p:cNvSpPr/>
          <p:nvPr/>
        </p:nvSpPr>
        <p:spPr>
          <a:xfrm>
            <a:off x="8357616" y="3895344"/>
            <a:ext cx="3355848" cy="64008"/>
          </a:xfrm>
          <a:prstGeom prst="rect">
            <a:avLst/>
          </a:prstGeom>
          <a:solidFill>
            <a:srgbClr val="FFC176"/>
          </a:solidFill>
          <a:ln w="10795">
            <a:solidFill>
              <a:srgbClr val="FFC176"/>
            </a:solidFill>
            <a:prstDash val="solid"/>
          </a:ln>
        </p:spPr>
      </p:sp>
      <p:sp>
        <p:nvSpPr>
          <p:cNvPr id="37" name="Text 35"/>
          <p:cNvSpPr/>
          <p:nvPr/>
        </p:nvSpPr>
        <p:spPr>
          <a:xfrm>
            <a:off x="8476488" y="4005072"/>
            <a:ext cx="3118104" cy="256032"/>
          </a:xfrm>
          <a:prstGeom prst="rect">
            <a:avLst/>
          </a:prstGeom>
          <a:noFill/>
          <a:ln/>
        </p:spPr>
        <p:txBody>
          <a:bodyPr wrap="square" lIns="0" tIns="0" rIns="0" bIns="0" rtlCol="0" anchor="ctr"/>
          <a:lstStyle/>
          <a:p>
            <a:pPr algn="ctr" indent="0" marL="0">
              <a:lnSpc>
                <a:spcPct val="100000"/>
              </a:lnSpc>
              <a:buNone/>
            </a:pPr>
            <a:r>
              <a:rPr lang="en-US" sz="1300" b="1" dirty="0">
                <a:solidFill>
                  <a:srgbClr val="F5F7FC"/>
                </a:solidFill>
                <a:latin typeface="Inter" pitchFamily="34" charset="0"/>
                <a:ea typeface="Inter" pitchFamily="34" charset="-122"/>
                <a:cs typeface="Inter" pitchFamily="34" charset="-120"/>
              </a:rPr>
              <a:t>VLA MANIPULATION</a:t>
            </a:r>
            <a:endParaRPr lang="en-US" sz="1300" dirty="0"/>
          </a:p>
        </p:txBody>
      </p:sp>
      <p:sp>
        <p:nvSpPr>
          <p:cNvPr id="38" name="Text 36"/>
          <p:cNvSpPr/>
          <p:nvPr/>
        </p:nvSpPr>
        <p:spPr>
          <a:xfrm>
            <a:off x="8467344" y="4288536"/>
            <a:ext cx="3136392" cy="374904"/>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GR00T pick / place + verify</a:t>
            </a:r>
            <a:endParaRPr lang="en-US" sz="1030" dirty="0"/>
          </a:p>
        </p:txBody>
      </p:sp>
      <p:sp>
        <p:nvSpPr>
          <p:cNvPr id="39" name="Shape 37"/>
          <p:cNvSpPr/>
          <p:nvPr/>
        </p:nvSpPr>
        <p:spPr>
          <a:xfrm>
            <a:off x="4462272" y="4937760"/>
            <a:ext cx="3236976" cy="768096"/>
          </a:xfrm>
          <a:prstGeom prst="roundRect">
            <a:avLst>
              <a:gd name="adj" fmla="val 16667"/>
            </a:avLst>
          </a:prstGeom>
          <a:solidFill>
            <a:srgbClr val="102335"/>
          </a:solidFill>
          <a:ln w="10795">
            <a:solidFill>
              <a:srgbClr val="294056"/>
            </a:solidFill>
            <a:prstDash val="solid"/>
          </a:ln>
        </p:spPr>
      </p:sp>
      <p:sp>
        <p:nvSpPr>
          <p:cNvPr id="40" name="Shape 38"/>
          <p:cNvSpPr/>
          <p:nvPr/>
        </p:nvSpPr>
        <p:spPr>
          <a:xfrm>
            <a:off x="4462272" y="4937760"/>
            <a:ext cx="3236976" cy="64008"/>
          </a:xfrm>
          <a:prstGeom prst="rect">
            <a:avLst/>
          </a:prstGeom>
          <a:solidFill>
            <a:srgbClr val="FF8790"/>
          </a:solidFill>
          <a:ln w="10795">
            <a:solidFill>
              <a:srgbClr val="FF8790"/>
            </a:solidFill>
            <a:prstDash val="solid"/>
          </a:ln>
        </p:spPr>
      </p:sp>
      <p:sp>
        <p:nvSpPr>
          <p:cNvPr id="41" name="Text 39"/>
          <p:cNvSpPr/>
          <p:nvPr/>
        </p:nvSpPr>
        <p:spPr>
          <a:xfrm>
            <a:off x="4581144" y="5047488"/>
            <a:ext cx="2999232" cy="256032"/>
          </a:xfrm>
          <a:prstGeom prst="rect">
            <a:avLst/>
          </a:prstGeom>
          <a:noFill/>
          <a:ln/>
        </p:spPr>
        <p:txBody>
          <a:bodyPr wrap="square" lIns="0" tIns="0" rIns="0" bIns="0" rtlCol="0" anchor="ctr"/>
          <a:lstStyle/>
          <a:p>
            <a:pPr algn="ctr" indent="0" marL="0">
              <a:lnSpc>
                <a:spcPct val="100000"/>
              </a:lnSpc>
              <a:buNone/>
            </a:pPr>
            <a:r>
              <a:rPr lang="en-US" sz="1300" b="1" dirty="0">
                <a:solidFill>
                  <a:srgbClr val="F5F7FC"/>
                </a:solidFill>
                <a:latin typeface="Inter" pitchFamily="34" charset="0"/>
                <a:ea typeface="Inter" pitchFamily="34" charset="-122"/>
                <a:cs typeface="Inter" pitchFamily="34" charset="-120"/>
              </a:rPr>
              <a:t>G1 CONTROLLERS + SAFETY</a:t>
            </a:r>
            <a:endParaRPr lang="en-US" sz="1300" dirty="0"/>
          </a:p>
        </p:txBody>
      </p:sp>
      <p:sp>
        <p:nvSpPr>
          <p:cNvPr id="42" name="Text 40"/>
          <p:cNvSpPr/>
          <p:nvPr/>
        </p:nvSpPr>
        <p:spPr>
          <a:xfrm>
            <a:off x="4572000" y="5330952"/>
            <a:ext cx="3017520" cy="338328"/>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Walking, arms, hands, E-stop</a:t>
            </a:r>
            <a:endParaRPr lang="en-US" sz="1030" dirty="0"/>
          </a:p>
        </p:txBody>
      </p:sp>
      <p:sp>
        <p:nvSpPr>
          <p:cNvPr id="43" name="Shape 41"/>
          <p:cNvSpPr/>
          <p:nvPr/>
        </p:nvSpPr>
        <p:spPr>
          <a:xfrm>
            <a:off x="6080760" y="2615184"/>
            <a:ext cx="0" cy="128016"/>
          </a:xfrm>
          <a:prstGeom prst="line">
            <a:avLst/>
          </a:prstGeom>
          <a:noFill/>
          <a:ln w="21590">
            <a:solidFill>
              <a:srgbClr val="B5A0F8"/>
            </a:solidFill>
            <a:prstDash val="solid"/>
            <a:headEnd type="none"/>
            <a:tailEnd type="triangle"/>
          </a:ln>
        </p:spPr>
      </p:sp>
      <p:sp>
        <p:nvSpPr>
          <p:cNvPr id="44" name="Shape 42"/>
          <p:cNvSpPr/>
          <p:nvPr/>
        </p:nvSpPr>
        <p:spPr>
          <a:xfrm>
            <a:off x="6080760" y="3447288"/>
            <a:ext cx="0" cy="155448"/>
          </a:xfrm>
          <a:prstGeom prst="line">
            <a:avLst/>
          </a:prstGeom>
          <a:noFill/>
          <a:ln w="21590">
            <a:solidFill>
              <a:srgbClr val="B5A0F8"/>
            </a:solidFill>
            <a:prstDash val="solid"/>
            <a:headEnd type="none"/>
            <a:tailEnd type="triangle"/>
          </a:ln>
        </p:spPr>
      </p:sp>
      <p:sp>
        <p:nvSpPr>
          <p:cNvPr id="45" name="Shape 43"/>
          <p:cNvSpPr/>
          <p:nvPr/>
        </p:nvSpPr>
        <p:spPr>
          <a:xfrm>
            <a:off x="3822192" y="3200400"/>
            <a:ext cx="640080" cy="0"/>
          </a:xfrm>
          <a:prstGeom prst="line">
            <a:avLst/>
          </a:prstGeom>
          <a:noFill/>
          <a:ln w="20320">
            <a:solidFill>
              <a:srgbClr val="48D7B2"/>
            </a:solidFill>
            <a:prstDash val="solid"/>
            <a:headEnd type="none"/>
            <a:tailEnd type="triangle"/>
          </a:ln>
        </p:spPr>
      </p:sp>
      <p:sp>
        <p:nvSpPr>
          <p:cNvPr id="46" name="Shape 44"/>
          <p:cNvSpPr/>
          <p:nvPr/>
        </p:nvSpPr>
        <p:spPr>
          <a:xfrm>
            <a:off x="3822192" y="4242816"/>
            <a:ext cx="640080" cy="0"/>
          </a:xfrm>
          <a:prstGeom prst="line">
            <a:avLst/>
          </a:prstGeom>
          <a:noFill/>
          <a:ln w="20320">
            <a:solidFill>
              <a:srgbClr val="65D5E9"/>
            </a:solidFill>
            <a:prstDash val="solid"/>
            <a:headEnd type="none"/>
            <a:tailEnd type="triangle"/>
          </a:ln>
        </p:spPr>
      </p:sp>
      <p:sp>
        <p:nvSpPr>
          <p:cNvPr id="47" name="Shape 45"/>
          <p:cNvSpPr/>
          <p:nvPr/>
        </p:nvSpPr>
        <p:spPr>
          <a:xfrm>
            <a:off x="7699248" y="3959352"/>
            <a:ext cx="658368" cy="-740664"/>
          </a:xfrm>
          <a:prstGeom prst="line">
            <a:avLst/>
          </a:prstGeom>
          <a:noFill/>
          <a:ln w="24130">
            <a:solidFill>
              <a:srgbClr val="6B9BFF"/>
            </a:solidFill>
            <a:prstDash val="solid"/>
            <a:headEnd type="none"/>
            <a:tailEnd type="triangle"/>
          </a:ln>
        </p:spPr>
      </p:sp>
      <p:sp>
        <p:nvSpPr>
          <p:cNvPr id="48" name="Shape 46"/>
          <p:cNvSpPr/>
          <p:nvPr/>
        </p:nvSpPr>
        <p:spPr>
          <a:xfrm>
            <a:off x="7699248" y="3995928"/>
            <a:ext cx="658368" cy="320040"/>
          </a:xfrm>
          <a:prstGeom prst="line">
            <a:avLst/>
          </a:prstGeom>
          <a:noFill/>
          <a:ln w="24130">
            <a:solidFill>
              <a:srgbClr val="FFC176"/>
            </a:solidFill>
            <a:prstDash val="solid"/>
            <a:headEnd type="none"/>
            <a:tailEnd type="triangle"/>
          </a:ln>
        </p:spPr>
      </p:sp>
      <p:sp>
        <p:nvSpPr>
          <p:cNvPr id="49" name="Shape 47"/>
          <p:cNvSpPr/>
          <p:nvPr/>
        </p:nvSpPr>
        <p:spPr>
          <a:xfrm>
            <a:off x="9985248" y="4709160"/>
            <a:ext cx="-2286000" cy="521208"/>
          </a:xfrm>
          <a:prstGeom prst="line">
            <a:avLst/>
          </a:prstGeom>
          <a:noFill/>
          <a:ln w="17780">
            <a:solidFill>
              <a:srgbClr val="FF8790"/>
            </a:solidFill>
            <a:prstDash val="solid"/>
            <a:headEnd type="none"/>
            <a:tailEnd type="triangle"/>
          </a:ln>
        </p:spPr>
      </p:sp>
      <p:sp>
        <p:nvSpPr>
          <p:cNvPr id="50" name="Shape 48"/>
          <p:cNvSpPr/>
          <p:nvPr/>
        </p:nvSpPr>
        <p:spPr>
          <a:xfrm>
            <a:off x="6080760" y="4270248"/>
            <a:ext cx="0" cy="667512"/>
          </a:xfrm>
          <a:prstGeom prst="line">
            <a:avLst/>
          </a:prstGeom>
          <a:noFill/>
          <a:ln w="16510">
            <a:solidFill>
              <a:srgbClr val="FF8790"/>
            </a:solidFill>
            <a:prstDash val="solid"/>
            <a:headEnd type="none"/>
            <a:tailEnd type="triangle"/>
          </a:ln>
        </p:spPr>
      </p:sp>
      <p:sp>
        <p:nvSpPr>
          <p:cNvPr id="51" name="Shape 49"/>
          <p:cNvSpPr/>
          <p:nvPr/>
        </p:nvSpPr>
        <p:spPr>
          <a:xfrm>
            <a:off x="4462272" y="5285232"/>
            <a:ext cx="-640080" cy="-950976"/>
          </a:xfrm>
          <a:prstGeom prst="line">
            <a:avLst/>
          </a:prstGeom>
          <a:noFill/>
          <a:ln w="15240">
            <a:solidFill>
              <a:srgbClr val="48D7B2"/>
            </a:solidFill>
            <a:prstDash val="dash"/>
            <a:headEnd type="none"/>
            <a:tailEnd type="triangle"/>
          </a:ln>
        </p:spPr>
      </p:sp>
      <p:sp>
        <p:nvSpPr>
          <p:cNvPr id="52" name="Shape 50"/>
          <p:cNvSpPr/>
          <p:nvPr/>
        </p:nvSpPr>
        <p:spPr>
          <a:xfrm>
            <a:off x="530352" y="5239512"/>
            <a:ext cx="3218688" cy="585216"/>
          </a:xfrm>
          <a:prstGeom prst="roundRect">
            <a:avLst>
              <a:gd name="adj" fmla="val 21875"/>
            </a:avLst>
          </a:prstGeom>
          <a:solidFill>
            <a:srgbClr val="102335"/>
          </a:solidFill>
          <a:ln w="10795">
            <a:solidFill>
              <a:srgbClr val="294056"/>
            </a:solidFill>
            <a:prstDash val="solid"/>
          </a:ln>
        </p:spPr>
      </p:sp>
      <p:sp>
        <p:nvSpPr>
          <p:cNvPr id="53" name="Text 51"/>
          <p:cNvSpPr/>
          <p:nvPr/>
        </p:nvSpPr>
        <p:spPr>
          <a:xfrm>
            <a:off x="676656" y="5367528"/>
            <a:ext cx="2898648" cy="347472"/>
          </a:xfrm>
          <a:prstGeom prst="rect">
            <a:avLst/>
          </a:prstGeom>
          <a:noFill/>
          <a:ln/>
        </p:spPr>
        <p:txBody>
          <a:bodyPr wrap="square" lIns="0" tIns="0" rIns="0" bIns="0" rtlCol="0" anchor="ctr"/>
          <a:lstStyle/>
          <a:p>
            <a:pPr algn="ctr" indent="0" marL="0">
              <a:lnSpc>
                <a:spcPct val="100000"/>
              </a:lnSpc>
              <a:buNone/>
            </a:pPr>
            <a:r>
              <a:rPr lang="en-US" sz="1140" dirty="0">
                <a:solidFill>
                  <a:srgbClr val="A1B2C4"/>
                </a:solidFill>
                <a:latin typeface="Inter" pitchFamily="34" charset="0"/>
                <a:ea typeface="Inter" pitchFamily="34" charset="-122"/>
                <a:cs typeface="Inter" pitchFamily="34" charset="-120"/>
              </a:rPr>
              <a:t>PERCEPTION INPUT: costmap • 3D detector • scene mesh • TF2</a:t>
            </a:r>
            <a:endParaRPr lang="en-US" sz="11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EXECUTION CONTRACT</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Seven steps — four distinct motion skills</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There is no combined “navigate + pick” or “navigate + place” operation.</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06</a:t>
            </a:r>
            <a:endParaRPr lang="en-US" sz="1100" dirty="0"/>
          </a:p>
        </p:txBody>
      </p:sp>
      <p:sp>
        <p:nvSpPr>
          <p:cNvPr id="11" name="Shape 9"/>
          <p:cNvSpPr/>
          <p:nvPr/>
        </p:nvSpPr>
        <p:spPr>
          <a:xfrm>
            <a:off x="493776" y="2542032"/>
            <a:ext cx="1554480" cy="2240280"/>
          </a:xfrm>
          <a:prstGeom prst="roundRect">
            <a:avLst>
              <a:gd name="adj" fmla="val 8235"/>
            </a:avLst>
          </a:prstGeom>
          <a:solidFill>
            <a:srgbClr val="102335"/>
          </a:solidFill>
          <a:ln w="10795">
            <a:solidFill>
              <a:srgbClr val="294056"/>
            </a:solidFill>
            <a:prstDash val="solid"/>
          </a:ln>
        </p:spPr>
      </p:sp>
      <p:sp>
        <p:nvSpPr>
          <p:cNvPr id="12" name="Shape 10"/>
          <p:cNvSpPr/>
          <p:nvPr/>
        </p:nvSpPr>
        <p:spPr>
          <a:xfrm>
            <a:off x="1005840" y="2715768"/>
            <a:ext cx="512064" cy="365760"/>
          </a:xfrm>
          <a:prstGeom prst="roundRect">
            <a:avLst>
              <a:gd name="adj" fmla="val 45000"/>
            </a:avLst>
          </a:prstGeom>
          <a:solidFill>
            <a:srgbClr val="B5A0F8">
              <a:alpha val="16000"/>
            </a:srgbClr>
          </a:solidFill>
          <a:ln w="10795">
            <a:solidFill>
              <a:srgbClr val="B5A0F8"/>
            </a:solidFill>
            <a:prstDash val="solid"/>
          </a:ln>
        </p:spPr>
      </p:sp>
      <p:sp>
        <p:nvSpPr>
          <p:cNvPr id="13" name="Text 11"/>
          <p:cNvSpPr/>
          <p:nvPr/>
        </p:nvSpPr>
        <p:spPr>
          <a:xfrm>
            <a:off x="1060704" y="2724912"/>
            <a:ext cx="402336" cy="347472"/>
          </a:xfrm>
          <a:prstGeom prst="rect">
            <a:avLst/>
          </a:prstGeom>
          <a:noFill/>
          <a:ln/>
        </p:spPr>
        <p:txBody>
          <a:bodyPr wrap="square" lIns="0" tIns="0" rIns="0" bIns="0" rtlCol="0" anchor="ctr"/>
          <a:lstStyle/>
          <a:p>
            <a:pPr algn="ctr" indent="0" marL="0">
              <a:lnSpc>
                <a:spcPct val="100000"/>
              </a:lnSpc>
              <a:buNone/>
            </a:pPr>
            <a:r>
              <a:rPr lang="en-US" sz="1100" b="1" dirty="0">
                <a:solidFill>
                  <a:srgbClr val="B5A0F8"/>
                </a:solidFill>
                <a:latin typeface="Inter" pitchFamily="34" charset="0"/>
                <a:ea typeface="Inter" pitchFamily="34" charset="-122"/>
                <a:cs typeface="Inter" pitchFamily="34" charset="-120"/>
              </a:rPr>
              <a:t>01</a:t>
            </a:r>
            <a:endParaRPr lang="en-US" sz="1100" dirty="0"/>
          </a:p>
        </p:txBody>
      </p:sp>
      <p:sp>
        <p:nvSpPr>
          <p:cNvPr id="14" name="Text 12"/>
          <p:cNvSpPr/>
          <p:nvPr/>
        </p:nvSpPr>
        <p:spPr>
          <a:xfrm>
            <a:off x="585216" y="3300984"/>
            <a:ext cx="1371600"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PARSE</a:t>
            </a:r>
            <a:endParaRPr lang="en-US" sz="1400" dirty="0"/>
          </a:p>
        </p:txBody>
      </p:sp>
      <p:sp>
        <p:nvSpPr>
          <p:cNvPr id="15" name="Text 13"/>
          <p:cNvSpPr/>
          <p:nvPr/>
        </p:nvSpPr>
        <p:spPr>
          <a:xfrm>
            <a:off x="603504" y="3813048"/>
            <a:ext cx="1335024" cy="630936"/>
          </a:xfrm>
          <a:prstGeom prst="rect">
            <a:avLst/>
          </a:prstGeom>
          <a:noFill/>
          <a:ln/>
        </p:spPr>
        <p:txBody>
          <a:bodyPr wrap="square" lIns="0" tIns="0" rIns="0" bIns="0" rtlCol="0" anchor="t"/>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Mission → typed goals</a:t>
            </a:r>
            <a:endParaRPr lang="en-US" sz="1200" dirty="0"/>
          </a:p>
        </p:txBody>
      </p:sp>
      <p:sp>
        <p:nvSpPr>
          <p:cNvPr id="16" name="Shape 14"/>
          <p:cNvSpPr/>
          <p:nvPr/>
        </p:nvSpPr>
        <p:spPr>
          <a:xfrm>
            <a:off x="2057400" y="3611880"/>
            <a:ext cx="53035" cy="0"/>
          </a:xfrm>
          <a:prstGeom prst="line">
            <a:avLst/>
          </a:prstGeom>
          <a:noFill/>
          <a:ln w="17780">
            <a:solidFill>
              <a:srgbClr val="647F96"/>
            </a:solidFill>
            <a:prstDash val="solid"/>
            <a:headEnd type="none"/>
            <a:tailEnd type="triangle"/>
          </a:ln>
        </p:spPr>
      </p:sp>
      <p:sp>
        <p:nvSpPr>
          <p:cNvPr id="17" name="Shape 15"/>
          <p:cNvSpPr/>
          <p:nvPr/>
        </p:nvSpPr>
        <p:spPr>
          <a:xfrm>
            <a:off x="2116836" y="2542032"/>
            <a:ext cx="1554480" cy="2240280"/>
          </a:xfrm>
          <a:prstGeom prst="roundRect">
            <a:avLst>
              <a:gd name="adj" fmla="val 8235"/>
            </a:avLst>
          </a:prstGeom>
          <a:solidFill>
            <a:srgbClr val="102335"/>
          </a:solidFill>
          <a:ln w="10795">
            <a:solidFill>
              <a:srgbClr val="294056"/>
            </a:solidFill>
            <a:prstDash val="solid"/>
          </a:ln>
        </p:spPr>
      </p:sp>
      <p:sp>
        <p:nvSpPr>
          <p:cNvPr id="18" name="Shape 16"/>
          <p:cNvSpPr/>
          <p:nvPr/>
        </p:nvSpPr>
        <p:spPr>
          <a:xfrm>
            <a:off x="2628900" y="2715768"/>
            <a:ext cx="512064" cy="365760"/>
          </a:xfrm>
          <a:prstGeom prst="roundRect">
            <a:avLst>
              <a:gd name="adj" fmla="val 45000"/>
            </a:avLst>
          </a:prstGeom>
          <a:solidFill>
            <a:srgbClr val="65D5E9">
              <a:alpha val="16000"/>
            </a:srgbClr>
          </a:solidFill>
          <a:ln w="10795">
            <a:solidFill>
              <a:srgbClr val="65D5E9"/>
            </a:solidFill>
            <a:prstDash val="solid"/>
          </a:ln>
        </p:spPr>
      </p:sp>
      <p:sp>
        <p:nvSpPr>
          <p:cNvPr id="19" name="Text 17"/>
          <p:cNvSpPr/>
          <p:nvPr/>
        </p:nvSpPr>
        <p:spPr>
          <a:xfrm>
            <a:off x="2683764" y="2724912"/>
            <a:ext cx="402336" cy="347472"/>
          </a:xfrm>
          <a:prstGeom prst="rect">
            <a:avLst/>
          </a:prstGeom>
          <a:noFill/>
          <a:ln/>
        </p:spPr>
        <p:txBody>
          <a:bodyPr wrap="square" lIns="0" tIns="0" rIns="0" bIns="0" rtlCol="0" anchor="ctr"/>
          <a:lstStyle/>
          <a:p>
            <a:pPr algn="ctr" indent="0" marL="0">
              <a:lnSpc>
                <a:spcPct val="100000"/>
              </a:lnSpc>
              <a:buNone/>
            </a:pPr>
            <a:r>
              <a:rPr lang="en-US" sz="1100" b="1" dirty="0">
                <a:solidFill>
                  <a:srgbClr val="65D5E9"/>
                </a:solidFill>
                <a:latin typeface="Inter" pitchFamily="34" charset="0"/>
                <a:ea typeface="Inter" pitchFamily="34" charset="-122"/>
                <a:cs typeface="Inter" pitchFamily="34" charset="-120"/>
              </a:rPr>
              <a:t>02</a:t>
            </a:r>
            <a:endParaRPr lang="en-US" sz="1100" dirty="0"/>
          </a:p>
        </p:txBody>
      </p:sp>
      <p:sp>
        <p:nvSpPr>
          <p:cNvPr id="20" name="Text 18"/>
          <p:cNvSpPr/>
          <p:nvPr/>
        </p:nvSpPr>
        <p:spPr>
          <a:xfrm>
            <a:off x="2208276" y="3300984"/>
            <a:ext cx="1371600"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FIND</a:t>
            </a:r>
            <a:endParaRPr lang="en-US" sz="1400" dirty="0"/>
          </a:p>
        </p:txBody>
      </p:sp>
      <p:sp>
        <p:nvSpPr>
          <p:cNvPr id="21" name="Text 19"/>
          <p:cNvSpPr/>
          <p:nvPr/>
        </p:nvSpPr>
        <p:spPr>
          <a:xfrm>
            <a:off x="2226564" y="3813048"/>
            <a:ext cx="1335024" cy="630936"/>
          </a:xfrm>
          <a:prstGeom prst="rect">
            <a:avLst/>
          </a:prstGeom>
          <a:noFill/>
          <a:ln/>
        </p:spPr>
        <p:txBody>
          <a:bodyPr wrap="square" lIns="0" tIns="0" rIns="0" bIns="0" rtlCol="0" anchor="t"/>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Active perception</a:t>
            </a:r>
            <a:endParaRPr lang="en-US" sz="1200" dirty="0"/>
          </a:p>
        </p:txBody>
      </p:sp>
      <p:sp>
        <p:nvSpPr>
          <p:cNvPr id="22" name="Shape 20"/>
          <p:cNvSpPr/>
          <p:nvPr/>
        </p:nvSpPr>
        <p:spPr>
          <a:xfrm>
            <a:off x="3680460" y="3611880"/>
            <a:ext cx="53035" cy="0"/>
          </a:xfrm>
          <a:prstGeom prst="line">
            <a:avLst/>
          </a:prstGeom>
          <a:noFill/>
          <a:ln w="17780">
            <a:solidFill>
              <a:srgbClr val="647F96"/>
            </a:solidFill>
            <a:prstDash val="solid"/>
            <a:headEnd type="none"/>
            <a:tailEnd type="triangle"/>
          </a:ln>
        </p:spPr>
      </p:sp>
      <p:sp>
        <p:nvSpPr>
          <p:cNvPr id="23" name="Shape 21"/>
          <p:cNvSpPr/>
          <p:nvPr/>
        </p:nvSpPr>
        <p:spPr>
          <a:xfrm>
            <a:off x="3739896" y="2542032"/>
            <a:ext cx="1554480" cy="2240280"/>
          </a:xfrm>
          <a:prstGeom prst="roundRect">
            <a:avLst>
              <a:gd name="adj" fmla="val 8235"/>
            </a:avLst>
          </a:prstGeom>
          <a:solidFill>
            <a:srgbClr val="102335"/>
          </a:solidFill>
          <a:ln w="10795">
            <a:solidFill>
              <a:srgbClr val="294056"/>
            </a:solidFill>
            <a:prstDash val="solid"/>
          </a:ln>
        </p:spPr>
      </p:sp>
      <p:sp>
        <p:nvSpPr>
          <p:cNvPr id="24" name="Shape 22"/>
          <p:cNvSpPr/>
          <p:nvPr/>
        </p:nvSpPr>
        <p:spPr>
          <a:xfrm>
            <a:off x="4251960" y="2715768"/>
            <a:ext cx="512064" cy="365760"/>
          </a:xfrm>
          <a:prstGeom prst="roundRect">
            <a:avLst>
              <a:gd name="adj" fmla="val 45000"/>
            </a:avLst>
          </a:prstGeom>
          <a:solidFill>
            <a:srgbClr val="6B9BFF">
              <a:alpha val="16000"/>
            </a:srgbClr>
          </a:solidFill>
          <a:ln w="10795">
            <a:solidFill>
              <a:srgbClr val="6B9BFF"/>
            </a:solidFill>
            <a:prstDash val="solid"/>
          </a:ln>
        </p:spPr>
      </p:sp>
      <p:sp>
        <p:nvSpPr>
          <p:cNvPr id="25" name="Text 23"/>
          <p:cNvSpPr/>
          <p:nvPr/>
        </p:nvSpPr>
        <p:spPr>
          <a:xfrm>
            <a:off x="4306824" y="2724912"/>
            <a:ext cx="402336" cy="347472"/>
          </a:xfrm>
          <a:prstGeom prst="rect">
            <a:avLst/>
          </a:prstGeom>
          <a:noFill/>
          <a:ln/>
        </p:spPr>
        <p:txBody>
          <a:bodyPr wrap="square" lIns="0" tIns="0" rIns="0" bIns="0" rtlCol="0" anchor="ctr"/>
          <a:lstStyle/>
          <a:p>
            <a:pPr algn="ctr" indent="0" marL="0">
              <a:lnSpc>
                <a:spcPct val="100000"/>
              </a:lnSpc>
              <a:buNone/>
            </a:pPr>
            <a:r>
              <a:rPr lang="en-US" sz="1100" b="1" dirty="0">
                <a:solidFill>
                  <a:srgbClr val="6B9BFF"/>
                </a:solidFill>
                <a:latin typeface="Inter" pitchFamily="34" charset="0"/>
                <a:ea typeface="Inter" pitchFamily="34" charset="-122"/>
                <a:cs typeface="Inter" pitchFamily="34" charset="-120"/>
              </a:rPr>
              <a:t>03</a:t>
            </a:r>
            <a:endParaRPr lang="en-US" sz="1100" dirty="0"/>
          </a:p>
        </p:txBody>
      </p:sp>
      <p:sp>
        <p:nvSpPr>
          <p:cNvPr id="26" name="Text 24"/>
          <p:cNvSpPr/>
          <p:nvPr/>
        </p:nvSpPr>
        <p:spPr>
          <a:xfrm>
            <a:off x="3831336" y="3300984"/>
            <a:ext cx="1371600"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NAVIGATE</a:t>
            </a:r>
            <a:endParaRPr lang="en-US" sz="1400" dirty="0"/>
          </a:p>
        </p:txBody>
      </p:sp>
      <p:sp>
        <p:nvSpPr>
          <p:cNvPr id="27" name="Text 25"/>
          <p:cNvSpPr/>
          <p:nvPr/>
        </p:nvSpPr>
        <p:spPr>
          <a:xfrm>
            <a:off x="3849624" y="3813048"/>
            <a:ext cx="1335024" cy="630936"/>
          </a:xfrm>
          <a:prstGeom prst="rect">
            <a:avLst/>
          </a:prstGeom>
          <a:noFill/>
          <a:ln/>
        </p:spPr>
        <p:txBody>
          <a:bodyPr wrap="square" lIns="0" tIns="0" rIns="0" bIns="0" rtlCol="0" anchor="t"/>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To pickup pose</a:t>
            </a:r>
            <a:endParaRPr lang="en-US" sz="1200" dirty="0"/>
          </a:p>
        </p:txBody>
      </p:sp>
      <p:sp>
        <p:nvSpPr>
          <p:cNvPr id="28" name="Shape 26"/>
          <p:cNvSpPr/>
          <p:nvPr/>
        </p:nvSpPr>
        <p:spPr>
          <a:xfrm>
            <a:off x="5303520" y="3611880"/>
            <a:ext cx="53035" cy="0"/>
          </a:xfrm>
          <a:prstGeom prst="line">
            <a:avLst/>
          </a:prstGeom>
          <a:noFill/>
          <a:ln w="17780">
            <a:solidFill>
              <a:srgbClr val="647F96"/>
            </a:solidFill>
            <a:prstDash val="solid"/>
            <a:headEnd type="none"/>
            <a:tailEnd type="triangle"/>
          </a:ln>
        </p:spPr>
      </p:sp>
      <p:sp>
        <p:nvSpPr>
          <p:cNvPr id="29" name="Shape 27"/>
          <p:cNvSpPr/>
          <p:nvPr/>
        </p:nvSpPr>
        <p:spPr>
          <a:xfrm>
            <a:off x="5362956" y="2542032"/>
            <a:ext cx="1554480" cy="2240280"/>
          </a:xfrm>
          <a:prstGeom prst="roundRect">
            <a:avLst>
              <a:gd name="adj" fmla="val 8235"/>
            </a:avLst>
          </a:prstGeom>
          <a:solidFill>
            <a:srgbClr val="102335"/>
          </a:solidFill>
          <a:ln w="10795">
            <a:solidFill>
              <a:srgbClr val="294056"/>
            </a:solidFill>
            <a:prstDash val="solid"/>
          </a:ln>
        </p:spPr>
      </p:sp>
      <p:sp>
        <p:nvSpPr>
          <p:cNvPr id="30" name="Shape 28"/>
          <p:cNvSpPr/>
          <p:nvPr/>
        </p:nvSpPr>
        <p:spPr>
          <a:xfrm>
            <a:off x="5875020" y="2715768"/>
            <a:ext cx="512064" cy="365760"/>
          </a:xfrm>
          <a:prstGeom prst="roundRect">
            <a:avLst>
              <a:gd name="adj" fmla="val 45000"/>
            </a:avLst>
          </a:prstGeom>
          <a:solidFill>
            <a:srgbClr val="FFC176">
              <a:alpha val="16000"/>
            </a:srgbClr>
          </a:solidFill>
          <a:ln w="10795">
            <a:solidFill>
              <a:srgbClr val="FFC176"/>
            </a:solidFill>
            <a:prstDash val="solid"/>
          </a:ln>
        </p:spPr>
      </p:sp>
      <p:sp>
        <p:nvSpPr>
          <p:cNvPr id="31" name="Text 29"/>
          <p:cNvSpPr/>
          <p:nvPr/>
        </p:nvSpPr>
        <p:spPr>
          <a:xfrm>
            <a:off x="5929884" y="2724912"/>
            <a:ext cx="402336" cy="347472"/>
          </a:xfrm>
          <a:prstGeom prst="rect">
            <a:avLst/>
          </a:prstGeom>
          <a:noFill/>
          <a:ln/>
        </p:spPr>
        <p:txBody>
          <a:bodyPr wrap="square" lIns="0" tIns="0" rIns="0" bIns="0" rtlCol="0" anchor="ctr"/>
          <a:lstStyle/>
          <a:p>
            <a:pPr algn="ctr" indent="0" marL="0">
              <a:lnSpc>
                <a:spcPct val="100000"/>
              </a:lnSpc>
              <a:buNone/>
            </a:pPr>
            <a:r>
              <a:rPr lang="en-US" sz="1100" b="1" dirty="0">
                <a:solidFill>
                  <a:srgbClr val="FFC176"/>
                </a:solidFill>
                <a:latin typeface="Inter" pitchFamily="34" charset="0"/>
                <a:ea typeface="Inter" pitchFamily="34" charset="-122"/>
                <a:cs typeface="Inter" pitchFamily="34" charset="-120"/>
              </a:rPr>
              <a:t>04</a:t>
            </a:r>
            <a:endParaRPr lang="en-US" sz="1100" dirty="0"/>
          </a:p>
        </p:txBody>
      </p:sp>
      <p:sp>
        <p:nvSpPr>
          <p:cNvPr id="32" name="Text 30"/>
          <p:cNvSpPr/>
          <p:nvPr/>
        </p:nvSpPr>
        <p:spPr>
          <a:xfrm>
            <a:off x="5454396" y="3300984"/>
            <a:ext cx="1371600"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VLA PICK</a:t>
            </a:r>
            <a:endParaRPr lang="en-US" sz="1400" dirty="0"/>
          </a:p>
        </p:txBody>
      </p:sp>
      <p:sp>
        <p:nvSpPr>
          <p:cNvPr id="33" name="Text 31"/>
          <p:cNvSpPr/>
          <p:nvPr/>
        </p:nvSpPr>
        <p:spPr>
          <a:xfrm>
            <a:off x="5472684" y="3813048"/>
            <a:ext cx="1335024" cy="630936"/>
          </a:xfrm>
          <a:prstGeom prst="rect">
            <a:avLst/>
          </a:prstGeom>
          <a:noFill/>
          <a:ln/>
        </p:spPr>
        <p:txBody>
          <a:bodyPr wrap="square" lIns="0" tIns="0" rIns="0" bIns="0" rtlCol="0" anchor="t"/>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Grasp &amp; verify</a:t>
            </a:r>
            <a:endParaRPr lang="en-US" sz="1200" dirty="0"/>
          </a:p>
        </p:txBody>
      </p:sp>
      <p:sp>
        <p:nvSpPr>
          <p:cNvPr id="34" name="Shape 32"/>
          <p:cNvSpPr/>
          <p:nvPr/>
        </p:nvSpPr>
        <p:spPr>
          <a:xfrm>
            <a:off x="6926580" y="3611880"/>
            <a:ext cx="53035" cy="0"/>
          </a:xfrm>
          <a:prstGeom prst="line">
            <a:avLst/>
          </a:prstGeom>
          <a:noFill/>
          <a:ln w="17780">
            <a:solidFill>
              <a:srgbClr val="647F96"/>
            </a:solidFill>
            <a:prstDash val="solid"/>
            <a:headEnd type="none"/>
            <a:tailEnd type="triangle"/>
          </a:ln>
        </p:spPr>
      </p:sp>
      <p:sp>
        <p:nvSpPr>
          <p:cNvPr id="35" name="Shape 33"/>
          <p:cNvSpPr/>
          <p:nvPr/>
        </p:nvSpPr>
        <p:spPr>
          <a:xfrm>
            <a:off x="6986016" y="2542032"/>
            <a:ext cx="1554480" cy="2240280"/>
          </a:xfrm>
          <a:prstGeom prst="roundRect">
            <a:avLst>
              <a:gd name="adj" fmla="val 8235"/>
            </a:avLst>
          </a:prstGeom>
          <a:solidFill>
            <a:srgbClr val="102335"/>
          </a:solidFill>
          <a:ln w="10795">
            <a:solidFill>
              <a:srgbClr val="294056"/>
            </a:solidFill>
            <a:prstDash val="solid"/>
          </a:ln>
        </p:spPr>
      </p:sp>
      <p:sp>
        <p:nvSpPr>
          <p:cNvPr id="36" name="Shape 34"/>
          <p:cNvSpPr/>
          <p:nvPr/>
        </p:nvSpPr>
        <p:spPr>
          <a:xfrm>
            <a:off x="7498080" y="2715768"/>
            <a:ext cx="512064" cy="365760"/>
          </a:xfrm>
          <a:prstGeom prst="roundRect">
            <a:avLst>
              <a:gd name="adj" fmla="val 45000"/>
            </a:avLst>
          </a:prstGeom>
          <a:solidFill>
            <a:srgbClr val="6B9BFF">
              <a:alpha val="16000"/>
            </a:srgbClr>
          </a:solidFill>
          <a:ln w="10795">
            <a:solidFill>
              <a:srgbClr val="6B9BFF"/>
            </a:solidFill>
            <a:prstDash val="solid"/>
          </a:ln>
        </p:spPr>
      </p:sp>
      <p:sp>
        <p:nvSpPr>
          <p:cNvPr id="37" name="Text 35"/>
          <p:cNvSpPr/>
          <p:nvPr/>
        </p:nvSpPr>
        <p:spPr>
          <a:xfrm>
            <a:off x="7552944" y="2724912"/>
            <a:ext cx="402336" cy="347472"/>
          </a:xfrm>
          <a:prstGeom prst="rect">
            <a:avLst/>
          </a:prstGeom>
          <a:noFill/>
          <a:ln/>
        </p:spPr>
        <p:txBody>
          <a:bodyPr wrap="square" lIns="0" tIns="0" rIns="0" bIns="0" rtlCol="0" anchor="ctr"/>
          <a:lstStyle/>
          <a:p>
            <a:pPr algn="ctr" indent="0" marL="0">
              <a:lnSpc>
                <a:spcPct val="100000"/>
              </a:lnSpc>
              <a:buNone/>
            </a:pPr>
            <a:r>
              <a:rPr lang="en-US" sz="1100" b="1" dirty="0">
                <a:solidFill>
                  <a:srgbClr val="6B9BFF"/>
                </a:solidFill>
                <a:latin typeface="Inter" pitchFamily="34" charset="0"/>
                <a:ea typeface="Inter" pitchFamily="34" charset="-122"/>
                <a:cs typeface="Inter" pitchFamily="34" charset="-120"/>
              </a:rPr>
              <a:t>05</a:t>
            </a:r>
            <a:endParaRPr lang="en-US" sz="1100" dirty="0"/>
          </a:p>
        </p:txBody>
      </p:sp>
      <p:sp>
        <p:nvSpPr>
          <p:cNvPr id="38" name="Text 36"/>
          <p:cNvSpPr/>
          <p:nvPr/>
        </p:nvSpPr>
        <p:spPr>
          <a:xfrm>
            <a:off x="7077456" y="3300984"/>
            <a:ext cx="1371600"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NAVIGATE</a:t>
            </a:r>
            <a:endParaRPr lang="en-US" sz="1400" dirty="0"/>
          </a:p>
        </p:txBody>
      </p:sp>
      <p:sp>
        <p:nvSpPr>
          <p:cNvPr id="39" name="Text 37"/>
          <p:cNvSpPr/>
          <p:nvPr/>
        </p:nvSpPr>
        <p:spPr>
          <a:xfrm>
            <a:off x="7095744" y="3813048"/>
            <a:ext cx="1335024" cy="630936"/>
          </a:xfrm>
          <a:prstGeom prst="rect">
            <a:avLst/>
          </a:prstGeom>
          <a:noFill/>
          <a:ln/>
        </p:spPr>
        <p:txBody>
          <a:bodyPr wrap="square" lIns="0" tIns="0" rIns="0" bIns="0" rtlCol="0" anchor="t"/>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To destination</a:t>
            </a:r>
            <a:endParaRPr lang="en-US" sz="1200" dirty="0"/>
          </a:p>
        </p:txBody>
      </p:sp>
      <p:sp>
        <p:nvSpPr>
          <p:cNvPr id="40" name="Shape 38"/>
          <p:cNvSpPr/>
          <p:nvPr/>
        </p:nvSpPr>
        <p:spPr>
          <a:xfrm>
            <a:off x="8549640" y="3611880"/>
            <a:ext cx="53035" cy="0"/>
          </a:xfrm>
          <a:prstGeom prst="line">
            <a:avLst/>
          </a:prstGeom>
          <a:noFill/>
          <a:ln w="17780">
            <a:solidFill>
              <a:srgbClr val="647F96"/>
            </a:solidFill>
            <a:prstDash val="solid"/>
            <a:headEnd type="none"/>
            <a:tailEnd type="triangle"/>
          </a:ln>
        </p:spPr>
      </p:sp>
      <p:sp>
        <p:nvSpPr>
          <p:cNvPr id="41" name="Shape 39"/>
          <p:cNvSpPr/>
          <p:nvPr/>
        </p:nvSpPr>
        <p:spPr>
          <a:xfrm>
            <a:off x="8609076" y="2542032"/>
            <a:ext cx="1554480" cy="2240280"/>
          </a:xfrm>
          <a:prstGeom prst="roundRect">
            <a:avLst>
              <a:gd name="adj" fmla="val 8235"/>
            </a:avLst>
          </a:prstGeom>
          <a:solidFill>
            <a:srgbClr val="102335"/>
          </a:solidFill>
          <a:ln w="10795">
            <a:solidFill>
              <a:srgbClr val="294056"/>
            </a:solidFill>
            <a:prstDash val="solid"/>
          </a:ln>
        </p:spPr>
      </p:sp>
      <p:sp>
        <p:nvSpPr>
          <p:cNvPr id="42" name="Shape 40"/>
          <p:cNvSpPr/>
          <p:nvPr/>
        </p:nvSpPr>
        <p:spPr>
          <a:xfrm>
            <a:off x="9121140" y="2715768"/>
            <a:ext cx="512064" cy="365760"/>
          </a:xfrm>
          <a:prstGeom prst="roundRect">
            <a:avLst>
              <a:gd name="adj" fmla="val 45000"/>
            </a:avLst>
          </a:prstGeom>
          <a:solidFill>
            <a:srgbClr val="FFC176">
              <a:alpha val="16000"/>
            </a:srgbClr>
          </a:solidFill>
          <a:ln w="10795">
            <a:solidFill>
              <a:srgbClr val="FFC176"/>
            </a:solidFill>
            <a:prstDash val="solid"/>
          </a:ln>
        </p:spPr>
      </p:sp>
      <p:sp>
        <p:nvSpPr>
          <p:cNvPr id="43" name="Text 41"/>
          <p:cNvSpPr/>
          <p:nvPr/>
        </p:nvSpPr>
        <p:spPr>
          <a:xfrm>
            <a:off x="9176004" y="2724912"/>
            <a:ext cx="402336" cy="347472"/>
          </a:xfrm>
          <a:prstGeom prst="rect">
            <a:avLst/>
          </a:prstGeom>
          <a:noFill/>
          <a:ln/>
        </p:spPr>
        <p:txBody>
          <a:bodyPr wrap="square" lIns="0" tIns="0" rIns="0" bIns="0" rtlCol="0" anchor="ctr"/>
          <a:lstStyle/>
          <a:p>
            <a:pPr algn="ctr" indent="0" marL="0">
              <a:lnSpc>
                <a:spcPct val="100000"/>
              </a:lnSpc>
              <a:buNone/>
            </a:pPr>
            <a:r>
              <a:rPr lang="en-US" sz="1100" b="1" dirty="0">
                <a:solidFill>
                  <a:srgbClr val="FFC176"/>
                </a:solidFill>
                <a:latin typeface="Inter" pitchFamily="34" charset="0"/>
                <a:ea typeface="Inter" pitchFamily="34" charset="-122"/>
                <a:cs typeface="Inter" pitchFamily="34" charset="-120"/>
              </a:rPr>
              <a:t>06</a:t>
            </a:r>
            <a:endParaRPr lang="en-US" sz="1100" dirty="0"/>
          </a:p>
        </p:txBody>
      </p:sp>
      <p:sp>
        <p:nvSpPr>
          <p:cNvPr id="44" name="Text 42"/>
          <p:cNvSpPr/>
          <p:nvPr/>
        </p:nvSpPr>
        <p:spPr>
          <a:xfrm>
            <a:off x="8700516" y="3300984"/>
            <a:ext cx="1371600"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VLA PLACE</a:t>
            </a:r>
            <a:endParaRPr lang="en-US" sz="1400" dirty="0"/>
          </a:p>
        </p:txBody>
      </p:sp>
      <p:sp>
        <p:nvSpPr>
          <p:cNvPr id="45" name="Text 43"/>
          <p:cNvSpPr/>
          <p:nvPr/>
        </p:nvSpPr>
        <p:spPr>
          <a:xfrm>
            <a:off x="8718804" y="3813048"/>
            <a:ext cx="1335024" cy="630936"/>
          </a:xfrm>
          <a:prstGeom prst="rect">
            <a:avLst/>
          </a:prstGeom>
          <a:noFill/>
          <a:ln/>
        </p:spPr>
        <p:txBody>
          <a:bodyPr wrap="square" lIns="0" tIns="0" rIns="0" bIns="0" rtlCol="0" anchor="t"/>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Release &amp; verify</a:t>
            </a:r>
            <a:endParaRPr lang="en-US" sz="1200" dirty="0"/>
          </a:p>
        </p:txBody>
      </p:sp>
      <p:sp>
        <p:nvSpPr>
          <p:cNvPr id="46" name="Shape 44"/>
          <p:cNvSpPr/>
          <p:nvPr/>
        </p:nvSpPr>
        <p:spPr>
          <a:xfrm>
            <a:off x="10172700" y="3611880"/>
            <a:ext cx="53035" cy="0"/>
          </a:xfrm>
          <a:prstGeom prst="line">
            <a:avLst/>
          </a:prstGeom>
          <a:noFill/>
          <a:ln w="17780">
            <a:solidFill>
              <a:srgbClr val="647F96"/>
            </a:solidFill>
            <a:prstDash val="solid"/>
            <a:headEnd type="none"/>
            <a:tailEnd type="triangle"/>
          </a:ln>
        </p:spPr>
      </p:sp>
      <p:sp>
        <p:nvSpPr>
          <p:cNvPr id="47" name="Shape 45"/>
          <p:cNvSpPr/>
          <p:nvPr/>
        </p:nvSpPr>
        <p:spPr>
          <a:xfrm>
            <a:off x="10232136" y="2542032"/>
            <a:ext cx="1554480" cy="2240280"/>
          </a:xfrm>
          <a:prstGeom prst="roundRect">
            <a:avLst>
              <a:gd name="adj" fmla="val 8235"/>
            </a:avLst>
          </a:prstGeom>
          <a:solidFill>
            <a:srgbClr val="102335"/>
          </a:solidFill>
          <a:ln w="10795">
            <a:solidFill>
              <a:srgbClr val="294056"/>
            </a:solidFill>
            <a:prstDash val="solid"/>
          </a:ln>
        </p:spPr>
      </p:sp>
      <p:sp>
        <p:nvSpPr>
          <p:cNvPr id="48" name="Shape 46"/>
          <p:cNvSpPr/>
          <p:nvPr/>
        </p:nvSpPr>
        <p:spPr>
          <a:xfrm>
            <a:off x="10744200" y="2715768"/>
            <a:ext cx="512064" cy="365760"/>
          </a:xfrm>
          <a:prstGeom prst="roundRect">
            <a:avLst>
              <a:gd name="adj" fmla="val 45000"/>
            </a:avLst>
          </a:prstGeom>
          <a:solidFill>
            <a:srgbClr val="48D7B2">
              <a:alpha val="16000"/>
            </a:srgbClr>
          </a:solidFill>
          <a:ln w="10795">
            <a:solidFill>
              <a:srgbClr val="48D7B2"/>
            </a:solidFill>
            <a:prstDash val="solid"/>
          </a:ln>
        </p:spPr>
      </p:sp>
      <p:sp>
        <p:nvSpPr>
          <p:cNvPr id="49" name="Text 47"/>
          <p:cNvSpPr/>
          <p:nvPr/>
        </p:nvSpPr>
        <p:spPr>
          <a:xfrm>
            <a:off x="10799064" y="2724912"/>
            <a:ext cx="402336" cy="347472"/>
          </a:xfrm>
          <a:prstGeom prst="rect">
            <a:avLst/>
          </a:prstGeom>
          <a:noFill/>
          <a:ln/>
        </p:spPr>
        <p:txBody>
          <a:bodyPr wrap="square" lIns="0" tIns="0" rIns="0" bIns="0" rtlCol="0" anchor="ctr"/>
          <a:lstStyle/>
          <a:p>
            <a:pPr algn="ctr" indent="0" marL="0">
              <a:lnSpc>
                <a:spcPct val="100000"/>
              </a:lnSpc>
              <a:buNone/>
            </a:pPr>
            <a:r>
              <a:rPr lang="en-US" sz="1100" b="1" dirty="0">
                <a:solidFill>
                  <a:srgbClr val="48D7B2"/>
                </a:solidFill>
                <a:latin typeface="Inter" pitchFamily="34" charset="0"/>
                <a:ea typeface="Inter" pitchFamily="34" charset="-122"/>
                <a:cs typeface="Inter" pitchFamily="34" charset="-120"/>
              </a:rPr>
              <a:t>07</a:t>
            </a:r>
            <a:endParaRPr lang="en-US" sz="1100" dirty="0"/>
          </a:p>
        </p:txBody>
      </p:sp>
      <p:sp>
        <p:nvSpPr>
          <p:cNvPr id="50" name="Text 48"/>
          <p:cNvSpPr/>
          <p:nvPr/>
        </p:nvSpPr>
        <p:spPr>
          <a:xfrm>
            <a:off x="10323576" y="3300984"/>
            <a:ext cx="1371600"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CLOSE</a:t>
            </a:r>
            <a:endParaRPr lang="en-US" sz="1400" dirty="0"/>
          </a:p>
        </p:txBody>
      </p:sp>
      <p:sp>
        <p:nvSpPr>
          <p:cNvPr id="51" name="Text 49"/>
          <p:cNvSpPr/>
          <p:nvPr/>
        </p:nvSpPr>
        <p:spPr>
          <a:xfrm>
            <a:off x="10341864" y="3813048"/>
            <a:ext cx="1335024" cy="630936"/>
          </a:xfrm>
          <a:prstGeom prst="rect">
            <a:avLst/>
          </a:prstGeom>
          <a:noFill/>
          <a:ln/>
        </p:spPr>
        <p:txBody>
          <a:bodyPr wrap="square" lIns="0" tIns="0" rIns="0" bIns="0" rtlCol="0" anchor="t"/>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Update world model</a:t>
            </a:r>
            <a:endParaRPr lang="en-US" sz="1200" dirty="0"/>
          </a:p>
        </p:txBody>
      </p:sp>
      <p:sp>
        <p:nvSpPr>
          <p:cNvPr id="52" name="Shape 50"/>
          <p:cNvSpPr/>
          <p:nvPr/>
        </p:nvSpPr>
        <p:spPr>
          <a:xfrm>
            <a:off x="969264" y="5138928"/>
            <a:ext cx="10222992" cy="621792"/>
          </a:xfrm>
          <a:prstGeom prst="roundRect">
            <a:avLst>
              <a:gd name="adj" fmla="val 20588"/>
            </a:avLst>
          </a:prstGeom>
          <a:solidFill>
            <a:srgbClr val="152B40"/>
          </a:solidFill>
          <a:ln w="10795">
            <a:solidFill>
              <a:srgbClr val="294056"/>
            </a:solidFill>
            <a:prstDash val="solid"/>
          </a:ln>
        </p:spPr>
      </p:sp>
      <p:sp>
        <p:nvSpPr>
          <p:cNvPr id="53" name="Text 51"/>
          <p:cNvSpPr/>
          <p:nvPr/>
        </p:nvSpPr>
        <p:spPr>
          <a:xfrm>
            <a:off x="1225296" y="5248656"/>
            <a:ext cx="9692640" cy="374904"/>
          </a:xfrm>
          <a:prstGeom prst="rect">
            <a:avLst/>
          </a:prstGeom>
          <a:noFill/>
          <a:ln/>
        </p:spPr>
        <p:txBody>
          <a:bodyPr wrap="square" lIns="0" tIns="0" rIns="0" bIns="0" rtlCol="0" anchor="ctr"/>
          <a:lstStyle/>
          <a:p>
            <a:pPr algn="ctr" indent="0" marL="0">
              <a:lnSpc>
                <a:spcPct val="100000"/>
              </a:lnSpc>
              <a:buNone/>
            </a:pPr>
            <a:r>
              <a:rPr lang="en-US" sz="1600" b="1" dirty="0">
                <a:solidFill>
                  <a:srgbClr val="48D7B2"/>
                </a:solidFill>
                <a:latin typeface="Inter" pitchFamily="34" charset="0"/>
                <a:ea typeface="Inter" pitchFamily="34" charset="-122"/>
                <a:cs typeface="Inter" pitchFamily="34" charset="-120"/>
              </a:rPr>
              <a:t>GATE: start each next skill only after the previous skill returns a verified terminal result.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PHASE 0 / INSTRUCTION UNDERSTANDING</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Parse language into typed mission constraints</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The VLM specifies the target and destination; it does not invent object coordinates.</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07</a:t>
            </a:r>
            <a:endParaRPr lang="en-US" sz="1100" dirty="0"/>
          </a:p>
        </p:txBody>
      </p:sp>
      <p:sp>
        <p:nvSpPr>
          <p:cNvPr id="11" name="Shape 9"/>
          <p:cNvSpPr/>
          <p:nvPr/>
        </p:nvSpPr>
        <p:spPr>
          <a:xfrm>
            <a:off x="521208" y="2176272"/>
            <a:ext cx="5431536" cy="3593592"/>
          </a:xfrm>
          <a:prstGeom prst="roundRect">
            <a:avLst>
              <a:gd name="adj" fmla="val 3562"/>
            </a:avLst>
          </a:prstGeom>
          <a:solidFill>
            <a:srgbClr val="102335"/>
          </a:solidFill>
          <a:ln w="10795">
            <a:solidFill>
              <a:srgbClr val="294056"/>
            </a:solidFill>
            <a:prstDash val="solid"/>
          </a:ln>
        </p:spPr>
      </p:sp>
      <p:sp>
        <p:nvSpPr>
          <p:cNvPr id="12" name="Shape 10"/>
          <p:cNvSpPr/>
          <p:nvPr/>
        </p:nvSpPr>
        <p:spPr>
          <a:xfrm>
            <a:off x="777240" y="2414016"/>
            <a:ext cx="1810512" cy="310896"/>
          </a:xfrm>
          <a:prstGeom prst="roundRect">
            <a:avLst>
              <a:gd name="adj" fmla="val 52941"/>
            </a:avLst>
          </a:prstGeom>
          <a:solidFill>
            <a:srgbClr val="6B9BFF">
              <a:alpha val="16000"/>
            </a:srgbClr>
          </a:solidFill>
          <a:ln w="10795">
            <a:solidFill>
              <a:srgbClr val="6B9BFF"/>
            </a:solidFill>
            <a:prstDash val="solid"/>
          </a:ln>
        </p:spPr>
      </p:sp>
      <p:sp>
        <p:nvSpPr>
          <p:cNvPr id="13" name="Text 11"/>
          <p:cNvSpPr/>
          <p:nvPr/>
        </p:nvSpPr>
        <p:spPr>
          <a:xfrm>
            <a:off x="832104" y="2423160"/>
            <a:ext cx="1700784"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6B9BFF"/>
                </a:solidFill>
                <a:latin typeface="Inter" pitchFamily="34" charset="0"/>
                <a:ea typeface="Inter" pitchFamily="34" charset="-122"/>
                <a:cs typeface="Inter" pitchFamily="34" charset="-120"/>
              </a:rPr>
              <a:t>CASE A: MOVE CUP</a:t>
            </a:r>
            <a:endParaRPr lang="en-US" sz="1000" dirty="0"/>
          </a:p>
        </p:txBody>
      </p:sp>
      <p:sp>
        <p:nvSpPr>
          <p:cNvPr id="14" name="Text 12"/>
          <p:cNvSpPr/>
          <p:nvPr/>
        </p:nvSpPr>
        <p:spPr>
          <a:xfrm>
            <a:off x="777240" y="2953512"/>
            <a:ext cx="4599432" cy="2103120"/>
          </a:xfrm>
          <a:prstGeom prst="rect">
            <a:avLst/>
          </a:prstGeom>
          <a:noFill/>
          <a:ln/>
        </p:spPr>
        <p:txBody>
          <a:bodyPr wrap="square" lIns="0" tIns="0" rIns="0" bIns="0" rtlCol="0" anchor="t"/>
          <a:lstStyle/>
          <a:p>
            <a:pPr algn="l" indent="0" marL="0">
              <a:lnSpc>
                <a:spcPct val="100000"/>
              </a:lnSpc>
              <a:buNone/>
            </a:pPr>
            <a:r>
              <a:rPr lang="en-US" sz="1600" dirty="0">
                <a:solidFill>
                  <a:srgbClr val="DCE7F3"/>
                </a:solidFill>
                <a:latin typeface="DejaVu Sans Mono" pitchFamily="34" charset="0"/>
                <a:ea typeface="DejaVu Sans Mono" pitchFamily="34" charset="-122"/>
                <a:cs typeface="DejaVu Sans Mono" pitchFamily="34" charset="-120"/>
              </a:rPr>
              <a:t>target: cup</a:t>
            </a:r>
            <a:endParaRPr lang="en-US" sz="1600" dirty="0"/>
          </a:p>
          <a:p>
            <a:pPr algn="l" indent="0" marL="0">
              <a:lnSpc>
                <a:spcPct val="100000"/>
              </a:lnSpc>
              <a:buNone/>
            </a:pPr>
            <a:r>
              <a:rPr lang="en-US" sz="1600" dirty="0">
                <a:solidFill>
                  <a:srgbClr val="DCE7F3"/>
                </a:solidFill>
                <a:latin typeface="DejaVu Sans Mono" pitchFamily="34" charset="0"/>
                <a:ea typeface="DejaVu Sans Mono" pitchFamily="34" charset="-122"/>
                <a:cs typeface="DejaVu Sans Mono" pitchFamily="34" charset="-120"/>
              </a:rPr>
              <a:t>color: red</a:t>
            </a:r>
            <a:endParaRPr lang="en-US" sz="1600" dirty="0"/>
          </a:p>
          <a:p>
            <a:pPr algn="l" indent="0" marL="0">
              <a:lnSpc>
                <a:spcPct val="100000"/>
              </a:lnSpc>
              <a:buNone/>
            </a:pPr>
            <a:r>
              <a:rPr lang="en-US" sz="1600" dirty="0">
                <a:solidFill>
                  <a:srgbClr val="DCE7F3"/>
                </a:solidFill>
                <a:latin typeface="DejaVu Sans Mono" pitchFamily="34" charset="0"/>
                <a:ea typeface="DejaVu Sans Mono" pitchFamily="34" charset="-122"/>
                <a:cs typeface="DejaVu Sans Mono" pitchFamily="34" charset="-120"/>
              </a:rPr>
              <a:t>room: living_room</a:t>
            </a:r>
            <a:endParaRPr lang="en-US" sz="1600" dirty="0"/>
          </a:p>
          <a:p>
            <a:pPr algn="l" indent="0" marL="0">
              <a:lnSpc>
                <a:spcPct val="100000"/>
              </a:lnSpc>
              <a:buNone/>
            </a:pPr>
            <a:r>
              <a:rPr lang="en-US" sz="1600" dirty="0">
                <a:solidFill>
                  <a:srgbClr val="DCE7F3"/>
                </a:solidFill>
                <a:latin typeface="DejaVu Sans Mono" pitchFamily="34" charset="0"/>
                <a:ea typeface="DejaVu Sans Mono" pitchFamily="34" charset="-122"/>
                <a:cs typeface="DejaVu Sans Mono" pitchFamily="34" charset="-120"/>
              </a:rPr>
              <a:t>support: table_03</a:t>
            </a:r>
            <a:endParaRPr lang="en-US" sz="1600" dirty="0"/>
          </a:p>
          <a:p>
            <a:pPr algn="l" indent="0" marL="0">
              <a:lnSpc>
                <a:spcPct val="100000"/>
              </a:lnSpc>
              <a:buNone/>
            </a:pPr>
            <a:r>
              <a:rPr lang="en-US" sz="1600" dirty="0">
                <a:solidFill>
                  <a:srgbClr val="DCE7F3"/>
                </a:solidFill>
                <a:latin typeface="DejaVu Sans Mono" pitchFamily="34" charset="0"/>
                <a:ea typeface="DejaVu Sans Mono" pitchFamily="34" charset="-122"/>
                <a:cs typeface="DejaVu Sans Mono" pitchFamily="34" charset="-120"/>
              </a:rPr>
              <a:t>destination: kitchen_counter</a:t>
            </a:r>
            <a:endParaRPr lang="en-US" sz="1600" dirty="0"/>
          </a:p>
        </p:txBody>
      </p:sp>
      <p:sp>
        <p:nvSpPr>
          <p:cNvPr id="15" name="Shape 13"/>
          <p:cNvSpPr/>
          <p:nvPr/>
        </p:nvSpPr>
        <p:spPr>
          <a:xfrm>
            <a:off x="6172200" y="2176272"/>
            <a:ext cx="5468112" cy="3593592"/>
          </a:xfrm>
          <a:prstGeom prst="roundRect">
            <a:avLst>
              <a:gd name="adj" fmla="val 3562"/>
            </a:avLst>
          </a:prstGeom>
          <a:solidFill>
            <a:srgbClr val="102335"/>
          </a:solidFill>
          <a:ln w="10795">
            <a:solidFill>
              <a:srgbClr val="294056"/>
            </a:solidFill>
            <a:prstDash val="solid"/>
          </a:ln>
        </p:spPr>
      </p:sp>
      <p:sp>
        <p:nvSpPr>
          <p:cNvPr id="16" name="Shape 14"/>
          <p:cNvSpPr/>
          <p:nvPr/>
        </p:nvSpPr>
        <p:spPr>
          <a:xfrm>
            <a:off x="6428232" y="2414016"/>
            <a:ext cx="2176272" cy="310896"/>
          </a:xfrm>
          <a:prstGeom prst="roundRect">
            <a:avLst>
              <a:gd name="adj" fmla="val 52941"/>
            </a:avLst>
          </a:prstGeom>
          <a:solidFill>
            <a:srgbClr val="FFC176">
              <a:alpha val="16000"/>
            </a:srgbClr>
          </a:solidFill>
          <a:ln w="10795">
            <a:solidFill>
              <a:srgbClr val="FFC176"/>
            </a:solidFill>
            <a:prstDash val="solid"/>
          </a:ln>
        </p:spPr>
      </p:sp>
      <p:sp>
        <p:nvSpPr>
          <p:cNvPr id="17" name="Text 15"/>
          <p:cNvSpPr/>
          <p:nvPr/>
        </p:nvSpPr>
        <p:spPr>
          <a:xfrm>
            <a:off x="6483096" y="2423160"/>
            <a:ext cx="2066544"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FFC176"/>
                </a:solidFill>
                <a:latin typeface="Inter" pitchFamily="34" charset="0"/>
                <a:ea typeface="Inter" pitchFamily="34" charset="-122"/>
                <a:cs typeface="Inter" pitchFamily="34" charset="-120"/>
              </a:rPr>
              <a:t>CASE B: CLEAN TABLE</a:t>
            </a:r>
            <a:endParaRPr lang="en-US" sz="1000" dirty="0"/>
          </a:p>
        </p:txBody>
      </p:sp>
      <p:sp>
        <p:nvSpPr>
          <p:cNvPr id="18" name="Text 16"/>
          <p:cNvSpPr/>
          <p:nvPr/>
        </p:nvSpPr>
        <p:spPr>
          <a:xfrm>
            <a:off x="6428232" y="2953512"/>
            <a:ext cx="4700016" cy="2103120"/>
          </a:xfrm>
          <a:prstGeom prst="rect">
            <a:avLst/>
          </a:prstGeom>
          <a:noFill/>
          <a:ln/>
        </p:spPr>
        <p:txBody>
          <a:bodyPr wrap="square" lIns="0" tIns="0" rIns="0" bIns="0" rtlCol="0" anchor="t"/>
          <a:lstStyle/>
          <a:p>
            <a:pPr algn="l" indent="0" marL="0">
              <a:lnSpc>
                <a:spcPct val="100000"/>
              </a:lnSpc>
              <a:buNone/>
            </a:pPr>
            <a:r>
              <a:rPr lang="en-US" sz="1600" dirty="0">
                <a:solidFill>
                  <a:srgbClr val="DCE7F3"/>
                </a:solidFill>
                <a:latin typeface="DejaVu Sans Mono" pitchFamily="34" charset="0"/>
                <a:ea typeface="DejaVu Sans Mono" pitchFamily="34" charset="-122"/>
                <a:cs typeface="DejaVu Sans Mono" pitchFamily="34" charset="-120"/>
              </a:rPr>
              <a:t>goal: clear_table</a:t>
            </a:r>
            <a:endParaRPr lang="en-US" sz="1600" dirty="0"/>
          </a:p>
          <a:p>
            <a:pPr algn="l" indent="0" marL="0">
              <a:lnSpc>
                <a:spcPct val="100000"/>
              </a:lnSpc>
              <a:buNone/>
            </a:pPr>
            <a:r>
              <a:rPr lang="en-US" sz="1600" dirty="0">
                <a:solidFill>
                  <a:srgbClr val="DCE7F3"/>
                </a:solidFill>
                <a:latin typeface="DejaVu Sans Mono" pitchFamily="34" charset="0"/>
                <a:ea typeface="DejaVu Sans Mono" pitchFamily="34" charset="-122"/>
                <a:cs typeface="DejaVu Sans Mono" pitchFamily="34" charset="-120"/>
              </a:rPr>
              <a:t>target: disposable_cup</a:t>
            </a:r>
            <a:endParaRPr lang="en-US" sz="1600" dirty="0"/>
          </a:p>
          <a:p>
            <a:pPr algn="l" indent="0" marL="0">
              <a:lnSpc>
                <a:spcPct val="100000"/>
              </a:lnSpc>
              <a:buNone/>
            </a:pPr>
            <a:r>
              <a:rPr lang="en-US" sz="1600" dirty="0">
                <a:solidFill>
                  <a:srgbClr val="DCE7F3"/>
                </a:solidFill>
                <a:latin typeface="DejaVu Sans Mono" pitchFamily="34" charset="0"/>
                <a:ea typeface="DejaVu Sans Mono" pitchFamily="34" charset="-122"/>
                <a:cs typeface="DejaVu Sans Mono" pitchFamily="34" charset="-120"/>
              </a:rPr>
              <a:t>support: table_03</a:t>
            </a:r>
            <a:endParaRPr lang="en-US" sz="1600" dirty="0"/>
          </a:p>
          <a:p>
            <a:pPr algn="l" indent="0" marL="0">
              <a:lnSpc>
                <a:spcPct val="100000"/>
              </a:lnSpc>
              <a:buNone/>
            </a:pPr>
            <a:r>
              <a:rPr lang="en-US" sz="1600" dirty="0">
                <a:solidFill>
                  <a:srgbClr val="DCE7F3"/>
                </a:solidFill>
                <a:latin typeface="DejaVu Sans Mono" pitchFamily="34" charset="0"/>
                <a:ea typeface="DejaVu Sans Mono" pitchFamily="34" charset="-122"/>
                <a:cs typeface="DejaVu Sans Mono" pitchFamily="34" charset="-120"/>
              </a:rPr>
              <a:t>destination: trash_bin_01</a:t>
            </a:r>
            <a:endParaRPr lang="en-US" sz="1600" dirty="0"/>
          </a:p>
          <a:p>
            <a:pPr algn="l" indent="0" marL="0">
              <a:lnSpc>
                <a:spcPct val="100000"/>
              </a:lnSpc>
              <a:buNone/>
            </a:pPr>
            <a:r>
              <a:rPr lang="en-US" sz="1600" dirty="0">
                <a:solidFill>
                  <a:srgbClr val="DCE7F3"/>
                </a:solidFill>
                <a:latin typeface="DejaVu Sans Mono" pitchFamily="34" charset="0"/>
                <a:ea typeface="DejaVu Sans Mono" pitchFamily="34" charset="-122"/>
                <a:cs typeface="DejaVu Sans Mono" pitchFamily="34" charset="-120"/>
              </a:rPr>
              <a:t>disposal_authorized: true</a:t>
            </a:r>
            <a:endParaRPr lang="en-US" sz="1600" dirty="0"/>
          </a:p>
        </p:txBody>
      </p:sp>
      <p:sp>
        <p:nvSpPr>
          <p:cNvPr id="19" name="Shape 17"/>
          <p:cNvSpPr/>
          <p:nvPr/>
        </p:nvSpPr>
        <p:spPr>
          <a:xfrm>
            <a:off x="768096" y="5961888"/>
            <a:ext cx="10607040" cy="274320"/>
          </a:xfrm>
          <a:prstGeom prst="roundRect">
            <a:avLst>
              <a:gd name="adj" fmla="val 46667"/>
            </a:avLst>
          </a:prstGeom>
          <a:solidFill>
            <a:srgbClr val="152B40"/>
          </a:solidFill>
          <a:ln w="10795">
            <a:solidFill>
              <a:srgbClr val="152B40"/>
            </a:solidFill>
            <a:prstDash val="solid"/>
          </a:ln>
        </p:spPr>
      </p:sp>
      <p:sp>
        <p:nvSpPr>
          <p:cNvPr id="20" name="Text 18"/>
          <p:cNvSpPr/>
          <p:nvPr/>
        </p:nvSpPr>
        <p:spPr>
          <a:xfrm>
            <a:off x="1033272" y="5980176"/>
            <a:ext cx="10058400" cy="219456"/>
          </a:xfrm>
          <a:prstGeom prst="rect">
            <a:avLst/>
          </a:prstGeom>
          <a:noFill/>
          <a:ln/>
        </p:spPr>
        <p:txBody>
          <a:bodyPr wrap="square" lIns="0" tIns="0" rIns="0" bIns="0" rtlCol="0" anchor="ctr"/>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Output is a validated mission specification, not a physical motion command.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PHASE 1 / SEMANTIC MEMORY</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Query the world before moving the robot</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Three outcomes determine whether to reuse memory, reobserve, or search from scratch.</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08</a:t>
            </a:r>
            <a:endParaRPr lang="en-US" sz="1100" dirty="0"/>
          </a:p>
        </p:txBody>
      </p:sp>
      <p:sp>
        <p:nvSpPr>
          <p:cNvPr id="11" name="Shape 9"/>
          <p:cNvSpPr/>
          <p:nvPr/>
        </p:nvSpPr>
        <p:spPr>
          <a:xfrm>
            <a:off x="685800" y="2258568"/>
            <a:ext cx="2880360" cy="795528"/>
          </a:xfrm>
          <a:prstGeom prst="roundRect">
            <a:avLst>
              <a:gd name="adj" fmla="val 16092"/>
            </a:avLst>
          </a:prstGeom>
          <a:solidFill>
            <a:srgbClr val="102335"/>
          </a:solidFill>
          <a:ln w="10795">
            <a:solidFill>
              <a:srgbClr val="294056"/>
            </a:solidFill>
            <a:prstDash val="solid"/>
          </a:ln>
        </p:spPr>
      </p:sp>
      <p:sp>
        <p:nvSpPr>
          <p:cNvPr id="12" name="Shape 10"/>
          <p:cNvSpPr/>
          <p:nvPr/>
        </p:nvSpPr>
        <p:spPr>
          <a:xfrm>
            <a:off x="685800" y="2258568"/>
            <a:ext cx="2880360" cy="64008"/>
          </a:xfrm>
          <a:prstGeom prst="rect">
            <a:avLst/>
          </a:prstGeom>
          <a:solidFill>
            <a:srgbClr val="48D7B2"/>
          </a:solidFill>
          <a:ln w="10795">
            <a:solidFill>
              <a:srgbClr val="48D7B2"/>
            </a:solidFill>
            <a:prstDash val="solid"/>
          </a:ln>
        </p:spPr>
      </p:sp>
      <p:sp>
        <p:nvSpPr>
          <p:cNvPr id="13" name="Text 11"/>
          <p:cNvSpPr/>
          <p:nvPr/>
        </p:nvSpPr>
        <p:spPr>
          <a:xfrm>
            <a:off x="804672" y="2368296"/>
            <a:ext cx="2642616" cy="256032"/>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FIND OBJECT</a:t>
            </a:r>
            <a:endParaRPr lang="en-US" sz="1400" dirty="0"/>
          </a:p>
        </p:txBody>
      </p:sp>
      <p:sp>
        <p:nvSpPr>
          <p:cNvPr id="14" name="Text 12"/>
          <p:cNvSpPr/>
          <p:nvPr/>
        </p:nvSpPr>
        <p:spPr>
          <a:xfrm>
            <a:off x="795528" y="2651760"/>
            <a:ext cx="2660904" cy="365760"/>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class=cup, color=red, on=table_03</a:t>
            </a:r>
            <a:endParaRPr lang="en-US" sz="1030" dirty="0"/>
          </a:p>
        </p:txBody>
      </p:sp>
      <p:sp>
        <p:nvSpPr>
          <p:cNvPr id="15" name="Shape 13"/>
          <p:cNvSpPr/>
          <p:nvPr/>
        </p:nvSpPr>
        <p:spPr>
          <a:xfrm>
            <a:off x="3566160" y="2651760"/>
            <a:ext cx="429768" cy="0"/>
          </a:xfrm>
          <a:prstGeom prst="line">
            <a:avLst/>
          </a:prstGeom>
          <a:noFill/>
          <a:ln w="25400">
            <a:solidFill>
              <a:srgbClr val="48D7B2"/>
            </a:solidFill>
            <a:prstDash val="solid"/>
            <a:headEnd type="none"/>
            <a:tailEnd type="triangle"/>
          </a:ln>
        </p:spPr>
      </p:sp>
      <p:sp>
        <p:nvSpPr>
          <p:cNvPr id="16" name="Shape 14"/>
          <p:cNvSpPr/>
          <p:nvPr/>
        </p:nvSpPr>
        <p:spPr>
          <a:xfrm>
            <a:off x="4078224" y="2258568"/>
            <a:ext cx="2880360" cy="795528"/>
          </a:xfrm>
          <a:prstGeom prst="roundRect">
            <a:avLst>
              <a:gd name="adj" fmla="val 16092"/>
            </a:avLst>
          </a:prstGeom>
          <a:solidFill>
            <a:srgbClr val="102335"/>
          </a:solidFill>
          <a:ln w="10795">
            <a:solidFill>
              <a:srgbClr val="294056"/>
            </a:solidFill>
            <a:prstDash val="solid"/>
          </a:ln>
        </p:spPr>
      </p:sp>
      <p:sp>
        <p:nvSpPr>
          <p:cNvPr id="17" name="Shape 15"/>
          <p:cNvSpPr/>
          <p:nvPr/>
        </p:nvSpPr>
        <p:spPr>
          <a:xfrm>
            <a:off x="4078224" y="2258568"/>
            <a:ext cx="2880360" cy="64008"/>
          </a:xfrm>
          <a:prstGeom prst="rect">
            <a:avLst/>
          </a:prstGeom>
          <a:solidFill>
            <a:srgbClr val="48D7B2"/>
          </a:solidFill>
          <a:ln w="10795">
            <a:solidFill>
              <a:srgbClr val="48D7B2"/>
            </a:solidFill>
            <a:prstDash val="solid"/>
          </a:ln>
        </p:spPr>
      </p:sp>
      <p:sp>
        <p:nvSpPr>
          <p:cNvPr id="18" name="Text 16"/>
          <p:cNvSpPr/>
          <p:nvPr/>
        </p:nvSpPr>
        <p:spPr>
          <a:xfrm>
            <a:off x="4197096" y="2368296"/>
            <a:ext cx="2642616" cy="256032"/>
          </a:xfrm>
          <a:prstGeom prst="rect">
            <a:avLst/>
          </a:prstGeom>
          <a:noFill/>
          <a:ln/>
        </p:spPr>
        <p:txBody>
          <a:bodyPr wrap="square" lIns="0" tIns="0" rIns="0" bIns="0" rtlCol="0" anchor="ctr"/>
          <a:lstStyle/>
          <a:p>
            <a:pPr algn="ctr" indent="0" marL="0">
              <a:lnSpc>
                <a:spcPct val="100000"/>
              </a:lnSpc>
              <a:buNone/>
            </a:pPr>
            <a:r>
              <a:rPr lang="en-US" sz="1300" b="1" dirty="0">
                <a:solidFill>
                  <a:srgbClr val="F5F7FC"/>
                </a:solidFill>
                <a:latin typeface="Inter" pitchFamily="34" charset="0"/>
                <a:ea typeface="Inter" pitchFamily="34" charset="-122"/>
                <a:cs typeface="Inter" pitchFamily="34" charset="-120"/>
              </a:rPr>
              <a:t>REGISTRY LOOKUP</a:t>
            </a:r>
            <a:endParaRPr lang="en-US" sz="1300" dirty="0"/>
          </a:p>
        </p:txBody>
      </p:sp>
      <p:sp>
        <p:nvSpPr>
          <p:cNvPr id="19" name="Text 17"/>
          <p:cNvSpPr/>
          <p:nvPr/>
        </p:nvSpPr>
        <p:spPr>
          <a:xfrm>
            <a:off x="4187952" y="2651760"/>
            <a:ext cx="2660904" cy="365760"/>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positions + confidence + timestamps</a:t>
            </a:r>
            <a:endParaRPr lang="en-US" sz="1030" dirty="0"/>
          </a:p>
        </p:txBody>
      </p:sp>
      <p:sp>
        <p:nvSpPr>
          <p:cNvPr id="20" name="Shape 18"/>
          <p:cNvSpPr/>
          <p:nvPr/>
        </p:nvSpPr>
        <p:spPr>
          <a:xfrm>
            <a:off x="6958584" y="2651760"/>
            <a:ext cx="457200" cy="0"/>
          </a:xfrm>
          <a:prstGeom prst="line">
            <a:avLst/>
          </a:prstGeom>
          <a:noFill/>
          <a:ln w="25400">
            <a:solidFill>
              <a:srgbClr val="48D7B2"/>
            </a:solidFill>
            <a:prstDash val="solid"/>
            <a:headEnd type="none"/>
            <a:tailEnd type="triangle"/>
          </a:ln>
        </p:spPr>
      </p:sp>
      <p:sp>
        <p:nvSpPr>
          <p:cNvPr id="21" name="Shape 19"/>
          <p:cNvSpPr/>
          <p:nvPr/>
        </p:nvSpPr>
        <p:spPr>
          <a:xfrm>
            <a:off x="7534656" y="2221992"/>
            <a:ext cx="3474720" cy="896112"/>
          </a:xfrm>
          <a:prstGeom prst="roundRect">
            <a:avLst>
              <a:gd name="adj" fmla="val 14286"/>
            </a:avLst>
          </a:prstGeom>
          <a:solidFill>
            <a:srgbClr val="102335"/>
          </a:solidFill>
          <a:ln w="10795">
            <a:solidFill>
              <a:srgbClr val="294056"/>
            </a:solidFill>
            <a:prstDash val="solid"/>
          </a:ln>
        </p:spPr>
      </p:sp>
      <p:sp>
        <p:nvSpPr>
          <p:cNvPr id="22" name="Text 20"/>
          <p:cNvSpPr/>
          <p:nvPr/>
        </p:nvSpPr>
        <p:spPr>
          <a:xfrm>
            <a:off x="7744968" y="2496312"/>
            <a:ext cx="3017520" cy="329184"/>
          </a:xfrm>
          <a:prstGeom prst="rect">
            <a:avLst/>
          </a:prstGeom>
          <a:noFill/>
          <a:ln/>
        </p:spPr>
        <p:txBody>
          <a:bodyPr wrap="square" lIns="0" tIns="0" rIns="0" bIns="0" rtlCol="0" anchor="ctr"/>
          <a:lstStyle/>
          <a:p>
            <a:pPr algn="ctr" indent="0" marL="0">
              <a:lnSpc>
                <a:spcPct val="100000"/>
              </a:lnSpc>
              <a:buNone/>
            </a:pPr>
            <a:r>
              <a:rPr lang="en-US" sz="1700" b="1" dirty="0">
                <a:solidFill>
                  <a:srgbClr val="F5F7FC"/>
                </a:solidFill>
                <a:latin typeface="Inter" pitchFamily="34" charset="0"/>
                <a:ea typeface="Inter" pitchFamily="34" charset="-122"/>
                <a:cs typeface="Inter" pitchFamily="34" charset="-120"/>
              </a:rPr>
              <a:t>Pose trustworthy?</a:t>
            </a:r>
            <a:endParaRPr lang="en-US" sz="1700" dirty="0"/>
          </a:p>
        </p:txBody>
      </p:sp>
      <p:sp>
        <p:nvSpPr>
          <p:cNvPr id="23" name="Shape 21"/>
          <p:cNvSpPr/>
          <p:nvPr/>
        </p:nvSpPr>
        <p:spPr>
          <a:xfrm>
            <a:off x="621792" y="3730752"/>
            <a:ext cx="3611880" cy="1371600"/>
          </a:xfrm>
          <a:prstGeom prst="roundRect">
            <a:avLst>
              <a:gd name="adj" fmla="val 9333"/>
            </a:avLst>
          </a:prstGeom>
          <a:solidFill>
            <a:srgbClr val="102335"/>
          </a:solidFill>
          <a:ln w="10795">
            <a:solidFill>
              <a:srgbClr val="294056"/>
            </a:solidFill>
            <a:prstDash val="solid"/>
          </a:ln>
        </p:spPr>
      </p:sp>
      <p:sp>
        <p:nvSpPr>
          <p:cNvPr id="24" name="Shape 22"/>
          <p:cNvSpPr/>
          <p:nvPr/>
        </p:nvSpPr>
        <p:spPr>
          <a:xfrm>
            <a:off x="621792" y="3730752"/>
            <a:ext cx="3611880" cy="54864"/>
          </a:xfrm>
          <a:prstGeom prst="rect">
            <a:avLst/>
          </a:prstGeom>
          <a:solidFill>
            <a:srgbClr val="48D7B2"/>
          </a:solidFill>
          <a:ln w="10795">
            <a:solidFill>
              <a:srgbClr val="48D7B2"/>
            </a:solidFill>
            <a:prstDash val="solid"/>
          </a:ln>
        </p:spPr>
      </p:sp>
      <p:sp>
        <p:nvSpPr>
          <p:cNvPr id="25" name="Text 23"/>
          <p:cNvSpPr/>
          <p:nvPr/>
        </p:nvSpPr>
        <p:spPr>
          <a:xfrm>
            <a:off x="813816" y="3950208"/>
            <a:ext cx="3218688" cy="320040"/>
          </a:xfrm>
          <a:prstGeom prst="rect">
            <a:avLst/>
          </a:prstGeom>
          <a:noFill/>
          <a:ln/>
        </p:spPr>
        <p:txBody>
          <a:bodyPr wrap="square" lIns="0" tIns="0" rIns="0" bIns="0" rtlCol="0" anchor="ctr"/>
          <a:lstStyle/>
          <a:p>
            <a:pPr algn="l" indent="0" marL="0">
              <a:lnSpc>
                <a:spcPct val="100000"/>
              </a:lnSpc>
              <a:buNone/>
            </a:pPr>
            <a:r>
              <a:rPr lang="en-US" sz="1400" b="1" dirty="0">
                <a:solidFill>
                  <a:srgbClr val="48D7B2"/>
                </a:solidFill>
                <a:latin typeface="Inter" pitchFamily="34" charset="0"/>
                <a:ea typeface="Inter" pitchFamily="34" charset="-122"/>
                <a:cs typeface="Inter" pitchFamily="34" charset="-120"/>
              </a:rPr>
              <a:t>FRESH &amp; CONFIRMED</a:t>
            </a:r>
            <a:endParaRPr lang="en-US" sz="1400" dirty="0"/>
          </a:p>
        </p:txBody>
      </p:sp>
      <p:sp>
        <p:nvSpPr>
          <p:cNvPr id="26" name="Text 24"/>
          <p:cNvSpPr/>
          <p:nvPr/>
        </p:nvSpPr>
        <p:spPr>
          <a:xfrm>
            <a:off x="813816" y="4416552"/>
            <a:ext cx="3218688" cy="493776"/>
          </a:xfrm>
          <a:prstGeom prst="rect">
            <a:avLst/>
          </a:prstGeom>
          <a:noFill/>
          <a:ln/>
        </p:spPr>
        <p:txBody>
          <a:bodyPr wrap="square" lIns="0" tIns="0" rIns="0" bIns="0" rtlCol="0" anchor="t"/>
          <a:lstStyle/>
          <a:p>
            <a:pPr algn="l" indent="0" marL="0">
              <a:lnSpc>
                <a:spcPct val="100000"/>
              </a:lnSpc>
              <a:buNone/>
            </a:pPr>
            <a:r>
              <a:rPr lang="en-US" sz="1250" dirty="0">
                <a:solidFill>
                  <a:srgbClr val="A1B2C4"/>
                </a:solidFill>
                <a:latin typeface="Inter" pitchFamily="34" charset="0"/>
                <a:ea typeface="Inter" pitchFamily="34" charset="-122"/>
                <a:cs typeface="Inter" pitchFamily="34" charset="-120"/>
              </a:rPr>
              <a:t>Reobserve quickly; proceed if matching.</a:t>
            </a:r>
            <a:endParaRPr lang="en-US" sz="1250" dirty="0"/>
          </a:p>
        </p:txBody>
      </p:sp>
      <p:sp>
        <p:nvSpPr>
          <p:cNvPr id="27" name="Shape 25"/>
          <p:cNvSpPr/>
          <p:nvPr/>
        </p:nvSpPr>
        <p:spPr>
          <a:xfrm>
            <a:off x="4507992" y="3730752"/>
            <a:ext cx="3611880" cy="1371600"/>
          </a:xfrm>
          <a:prstGeom prst="roundRect">
            <a:avLst>
              <a:gd name="adj" fmla="val 9333"/>
            </a:avLst>
          </a:prstGeom>
          <a:solidFill>
            <a:srgbClr val="102335"/>
          </a:solidFill>
          <a:ln w="10795">
            <a:solidFill>
              <a:srgbClr val="294056"/>
            </a:solidFill>
            <a:prstDash val="solid"/>
          </a:ln>
        </p:spPr>
      </p:sp>
      <p:sp>
        <p:nvSpPr>
          <p:cNvPr id="28" name="Shape 26"/>
          <p:cNvSpPr/>
          <p:nvPr/>
        </p:nvSpPr>
        <p:spPr>
          <a:xfrm>
            <a:off x="4507992" y="3730752"/>
            <a:ext cx="3611880" cy="54864"/>
          </a:xfrm>
          <a:prstGeom prst="rect">
            <a:avLst/>
          </a:prstGeom>
          <a:solidFill>
            <a:srgbClr val="E2D07A"/>
          </a:solidFill>
          <a:ln w="10795">
            <a:solidFill>
              <a:srgbClr val="E2D07A"/>
            </a:solidFill>
            <a:prstDash val="solid"/>
          </a:ln>
        </p:spPr>
      </p:sp>
      <p:sp>
        <p:nvSpPr>
          <p:cNvPr id="29" name="Text 27"/>
          <p:cNvSpPr/>
          <p:nvPr/>
        </p:nvSpPr>
        <p:spPr>
          <a:xfrm>
            <a:off x="4700016" y="3950208"/>
            <a:ext cx="3218688" cy="320040"/>
          </a:xfrm>
          <a:prstGeom prst="rect">
            <a:avLst/>
          </a:prstGeom>
          <a:noFill/>
          <a:ln/>
        </p:spPr>
        <p:txBody>
          <a:bodyPr wrap="square" lIns="0" tIns="0" rIns="0" bIns="0" rtlCol="0" anchor="ctr"/>
          <a:lstStyle/>
          <a:p>
            <a:pPr algn="l" indent="0" marL="0">
              <a:lnSpc>
                <a:spcPct val="100000"/>
              </a:lnSpc>
              <a:buNone/>
            </a:pPr>
            <a:r>
              <a:rPr lang="en-US" sz="1400" b="1" dirty="0">
                <a:solidFill>
                  <a:srgbClr val="E2D07A"/>
                </a:solidFill>
                <a:latin typeface="Inter" pitchFamily="34" charset="0"/>
                <a:ea typeface="Inter" pitchFamily="34" charset="-122"/>
                <a:cs typeface="Inter" pitchFamily="34" charset="-120"/>
              </a:rPr>
              <a:t>STALE / UNCERTAIN</a:t>
            </a:r>
            <a:endParaRPr lang="en-US" sz="1400" dirty="0"/>
          </a:p>
        </p:txBody>
      </p:sp>
      <p:sp>
        <p:nvSpPr>
          <p:cNvPr id="30" name="Text 28"/>
          <p:cNvSpPr/>
          <p:nvPr/>
        </p:nvSpPr>
        <p:spPr>
          <a:xfrm>
            <a:off x="4700016" y="4416552"/>
            <a:ext cx="3218688" cy="493776"/>
          </a:xfrm>
          <a:prstGeom prst="rect">
            <a:avLst/>
          </a:prstGeom>
          <a:noFill/>
          <a:ln/>
        </p:spPr>
        <p:txBody>
          <a:bodyPr wrap="square" lIns="0" tIns="0" rIns="0" bIns="0" rtlCol="0" anchor="t"/>
          <a:lstStyle/>
          <a:p>
            <a:pPr algn="l" indent="0" marL="0">
              <a:lnSpc>
                <a:spcPct val="100000"/>
              </a:lnSpc>
              <a:buNone/>
            </a:pPr>
            <a:r>
              <a:rPr lang="en-US" sz="1250" dirty="0">
                <a:solidFill>
                  <a:srgbClr val="A1B2C4"/>
                </a:solidFill>
                <a:latin typeface="Inter" pitchFamily="34" charset="0"/>
                <a:ea typeface="Inter" pitchFamily="34" charset="-122"/>
                <a:cs typeface="Inter" pitchFamily="34" charset="-120"/>
              </a:rPr>
              <a:t>Visit expected location, verify again.</a:t>
            </a:r>
            <a:endParaRPr lang="en-US" sz="1250" dirty="0"/>
          </a:p>
        </p:txBody>
      </p:sp>
      <p:sp>
        <p:nvSpPr>
          <p:cNvPr id="31" name="Shape 29"/>
          <p:cNvSpPr/>
          <p:nvPr/>
        </p:nvSpPr>
        <p:spPr>
          <a:xfrm>
            <a:off x="8394192" y="3730752"/>
            <a:ext cx="3611880" cy="1371600"/>
          </a:xfrm>
          <a:prstGeom prst="roundRect">
            <a:avLst>
              <a:gd name="adj" fmla="val 9333"/>
            </a:avLst>
          </a:prstGeom>
          <a:solidFill>
            <a:srgbClr val="102335"/>
          </a:solidFill>
          <a:ln w="10795">
            <a:solidFill>
              <a:srgbClr val="294056"/>
            </a:solidFill>
            <a:prstDash val="solid"/>
          </a:ln>
        </p:spPr>
      </p:sp>
      <p:sp>
        <p:nvSpPr>
          <p:cNvPr id="32" name="Shape 30"/>
          <p:cNvSpPr/>
          <p:nvPr/>
        </p:nvSpPr>
        <p:spPr>
          <a:xfrm>
            <a:off x="8394192" y="3730752"/>
            <a:ext cx="3611880" cy="54864"/>
          </a:xfrm>
          <a:prstGeom prst="rect">
            <a:avLst/>
          </a:prstGeom>
          <a:solidFill>
            <a:srgbClr val="65D5E9"/>
          </a:solidFill>
          <a:ln w="10795">
            <a:solidFill>
              <a:srgbClr val="65D5E9"/>
            </a:solidFill>
            <a:prstDash val="solid"/>
          </a:ln>
        </p:spPr>
      </p:sp>
      <p:sp>
        <p:nvSpPr>
          <p:cNvPr id="33" name="Text 31"/>
          <p:cNvSpPr/>
          <p:nvPr/>
        </p:nvSpPr>
        <p:spPr>
          <a:xfrm>
            <a:off x="8586216" y="3950208"/>
            <a:ext cx="3218688" cy="320040"/>
          </a:xfrm>
          <a:prstGeom prst="rect">
            <a:avLst/>
          </a:prstGeom>
          <a:noFill/>
          <a:ln/>
        </p:spPr>
        <p:txBody>
          <a:bodyPr wrap="square" lIns="0" tIns="0" rIns="0" bIns="0" rtlCol="0" anchor="ctr"/>
          <a:lstStyle/>
          <a:p>
            <a:pPr algn="l" indent="0" marL="0">
              <a:lnSpc>
                <a:spcPct val="100000"/>
              </a:lnSpc>
              <a:buNone/>
            </a:pPr>
            <a:r>
              <a:rPr lang="en-US" sz="1400" b="1" dirty="0">
                <a:solidFill>
                  <a:srgbClr val="65D5E9"/>
                </a:solidFill>
                <a:latin typeface="Inter" pitchFamily="34" charset="0"/>
                <a:ea typeface="Inter" pitchFamily="34" charset="-122"/>
                <a:cs typeface="Inter" pitchFamily="34" charset="-120"/>
              </a:rPr>
              <a:t>NO MATCH</a:t>
            </a:r>
            <a:endParaRPr lang="en-US" sz="1400" dirty="0"/>
          </a:p>
        </p:txBody>
      </p:sp>
      <p:sp>
        <p:nvSpPr>
          <p:cNvPr id="34" name="Text 32"/>
          <p:cNvSpPr/>
          <p:nvPr/>
        </p:nvSpPr>
        <p:spPr>
          <a:xfrm>
            <a:off x="8586216" y="4416552"/>
            <a:ext cx="3218688" cy="493776"/>
          </a:xfrm>
          <a:prstGeom prst="rect">
            <a:avLst/>
          </a:prstGeom>
          <a:noFill/>
          <a:ln/>
        </p:spPr>
        <p:txBody>
          <a:bodyPr wrap="square" lIns="0" tIns="0" rIns="0" bIns="0" rtlCol="0" anchor="t"/>
          <a:lstStyle/>
          <a:p>
            <a:pPr algn="l" indent="0" marL="0">
              <a:lnSpc>
                <a:spcPct val="100000"/>
              </a:lnSpc>
              <a:buNone/>
            </a:pPr>
            <a:r>
              <a:rPr lang="en-US" sz="1250" dirty="0">
                <a:solidFill>
                  <a:srgbClr val="A1B2C4"/>
                </a:solidFill>
                <a:latin typeface="Inter" pitchFamily="34" charset="0"/>
                <a:ea typeface="Inter" pitchFamily="34" charset="-122"/>
                <a:cs typeface="Inter" pitchFamily="34" charset="-120"/>
              </a:rPr>
              <a:t>Start Active Perception search.</a:t>
            </a:r>
            <a:endParaRPr lang="en-US" sz="1250" dirty="0"/>
          </a:p>
        </p:txBody>
      </p:sp>
      <p:sp>
        <p:nvSpPr>
          <p:cNvPr id="35" name="Shape 33"/>
          <p:cNvSpPr/>
          <p:nvPr/>
        </p:nvSpPr>
        <p:spPr>
          <a:xfrm>
            <a:off x="1060704" y="5449824"/>
            <a:ext cx="9994392" cy="557784"/>
          </a:xfrm>
          <a:prstGeom prst="roundRect">
            <a:avLst>
              <a:gd name="adj" fmla="val 22951"/>
            </a:avLst>
          </a:prstGeom>
          <a:solidFill>
            <a:srgbClr val="152B40"/>
          </a:solidFill>
          <a:ln w="10795">
            <a:solidFill>
              <a:srgbClr val="294056"/>
            </a:solidFill>
            <a:prstDash val="solid"/>
          </a:ln>
        </p:spPr>
      </p:sp>
      <p:sp>
        <p:nvSpPr>
          <p:cNvPr id="36" name="Text 34"/>
          <p:cNvSpPr/>
          <p:nvPr/>
        </p:nvSpPr>
        <p:spPr>
          <a:xfrm>
            <a:off x="1344168" y="5577840"/>
            <a:ext cx="9491472" cy="283464"/>
          </a:xfrm>
          <a:prstGeom prst="rect">
            <a:avLst/>
          </a:prstGeom>
          <a:noFill/>
          <a:ln/>
        </p:spPr>
        <p:txBody>
          <a:bodyPr wrap="square" lIns="0" tIns="0" rIns="0" bIns="0" rtlCol="0" anchor="ctr"/>
          <a:lstStyle/>
          <a:p>
            <a:pPr algn="ctr" indent="0" marL="0">
              <a:lnSpc>
                <a:spcPct val="100000"/>
              </a:lnSpc>
              <a:buNone/>
            </a:pPr>
            <a:r>
              <a:rPr lang="en-US" sz="1400" b="1" dirty="0">
                <a:solidFill>
                  <a:srgbClr val="FF8790"/>
                </a:solidFill>
                <a:latin typeface="Inter" pitchFamily="34" charset="0"/>
                <a:ea typeface="Inter" pitchFamily="34" charset="-122"/>
                <a:cs typeface="Inter" pitchFamily="34" charset="-120"/>
              </a:rPr>
              <a:t>“Not in memory” means “not yet observed” — never infer “absent” from a missing record.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PHASE 2 / ACTIVE PERCEPTION</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A bounded search, not an unlimited wander</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The agent chooses where to look, requests navigation, observes, and either grounds the target or stops.</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09</a:t>
            </a:r>
            <a:endParaRPr lang="en-US" sz="1100" dirty="0"/>
          </a:p>
        </p:txBody>
      </p:sp>
      <p:sp>
        <p:nvSpPr>
          <p:cNvPr id="11" name="Shape 9"/>
          <p:cNvSpPr/>
          <p:nvPr/>
        </p:nvSpPr>
        <p:spPr>
          <a:xfrm>
            <a:off x="548640" y="2441448"/>
            <a:ext cx="2066544" cy="749808"/>
          </a:xfrm>
          <a:prstGeom prst="roundRect">
            <a:avLst>
              <a:gd name="adj" fmla="val 17073"/>
            </a:avLst>
          </a:prstGeom>
          <a:solidFill>
            <a:srgbClr val="102335"/>
          </a:solidFill>
          <a:ln w="10795">
            <a:solidFill>
              <a:srgbClr val="294056"/>
            </a:solidFill>
            <a:prstDash val="solid"/>
          </a:ln>
        </p:spPr>
      </p:sp>
      <p:sp>
        <p:nvSpPr>
          <p:cNvPr id="12" name="Shape 10"/>
          <p:cNvSpPr/>
          <p:nvPr/>
        </p:nvSpPr>
        <p:spPr>
          <a:xfrm>
            <a:off x="548640" y="2441448"/>
            <a:ext cx="2066544" cy="64008"/>
          </a:xfrm>
          <a:prstGeom prst="rect">
            <a:avLst/>
          </a:prstGeom>
          <a:solidFill>
            <a:srgbClr val="65D5E9"/>
          </a:solidFill>
          <a:ln w="10795">
            <a:solidFill>
              <a:srgbClr val="65D5E9"/>
            </a:solidFill>
            <a:prstDash val="solid"/>
          </a:ln>
        </p:spPr>
      </p:sp>
      <p:sp>
        <p:nvSpPr>
          <p:cNvPr id="13" name="Text 11"/>
          <p:cNvSpPr/>
          <p:nvPr/>
        </p:nvSpPr>
        <p:spPr>
          <a:xfrm>
            <a:off x="667512" y="2551176"/>
            <a:ext cx="1828800" cy="256032"/>
          </a:xfrm>
          <a:prstGeom prst="rect">
            <a:avLst/>
          </a:prstGeom>
          <a:noFill/>
          <a:ln/>
        </p:spPr>
        <p:txBody>
          <a:bodyPr wrap="square" lIns="0" tIns="0" rIns="0" bIns="0" rtlCol="0" anchor="ctr"/>
          <a:lstStyle/>
          <a:p>
            <a:pPr algn="ctr" indent="0" marL="0">
              <a:lnSpc>
                <a:spcPct val="100000"/>
              </a:lnSpc>
              <a:buNone/>
            </a:pPr>
            <a:r>
              <a:rPr lang="en-US" sz="1300" b="1" dirty="0">
                <a:solidFill>
                  <a:srgbClr val="F5F7FC"/>
                </a:solidFill>
                <a:latin typeface="Inter" pitchFamily="34" charset="0"/>
                <a:ea typeface="Inter" pitchFamily="34" charset="-122"/>
                <a:cs typeface="Inter" pitchFamily="34" charset="-120"/>
              </a:rPr>
              <a:t>RESOLVE REGION</a:t>
            </a:r>
            <a:endParaRPr lang="en-US" sz="1300" dirty="0"/>
          </a:p>
        </p:txBody>
      </p:sp>
      <p:sp>
        <p:nvSpPr>
          <p:cNvPr id="14" name="Text 12"/>
          <p:cNvSpPr/>
          <p:nvPr/>
        </p:nvSpPr>
        <p:spPr>
          <a:xfrm>
            <a:off x="658368" y="2834640"/>
            <a:ext cx="1847088" cy="320040"/>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room + support table</a:t>
            </a:r>
            <a:endParaRPr lang="en-US" sz="1030" dirty="0"/>
          </a:p>
        </p:txBody>
      </p:sp>
      <p:sp>
        <p:nvSpPr>
          <p:cNvPr id="15" name="Shape 13"/>
          <p:cNvSpPr/>
          <p:nvPr/>
        </p:nvSpPr>
        <p:spPr>
          <a:xfrm>
            <a:off x="2606040" y="2798064"/>
            <a:ext cx="338328" cy="0"/>
          </a:xfrm>
          <a:prstGeom prst="line">
            <a:avLst/>
          </a:prstGeom>
          <a:noFill/>
          <a:ln w="25400">
            <a:solidFill>
              <a:srgbClr val="65D5E9"/>
            </a:solidFill>
            <a:prstDash val="solid"/>
            <a:headEnd type="none"/>
            <a:tailEnd type="triangle"/>
          </a:ln>
        </p:spPr>
      </p:sp>
      <p:sp>
        <p:nvSpPr>
          <p:cNvPr id="16" name="Shape 14"/>
          <p:cNvSpPr/>
          <p:nvPr/>
        </p:nvSpPr>
        <p:spPr>
          <a:xfrm>
            <a:off x="2999232" y="2441448"/>
            <a:ext cx="2066544" cy="749808"/>
          </a:xfrm>
          <a:prstGeom prst="roundRect">
            <a:avLst>
              <a:gd name="adj" fmla="val 17073"/>
            </a:avLst>
          </a:prstGeom>
          <a:solidFill>
            <a:srgbClr val="102335"/>
          </a:solidFill>
          <a:ln w="10795">
            <a:solidFill>
              <a:srgbClr val="294056"/>
            </a:solidFill>
            <a:prstDash val="solid"/>
          </a:ln>
        </p:spPr>
      </p:sp>
      <p:sp>
        <p:nvSpPr>
          <p:cNvPr id="17" name="Shape 15"/>
          <p:cNvSpPr/>
          <p:nvPr/>
        </p:nvSpPr>
        <p:spPr>
          <a:xfrm>
            <a:off x="2999232" y="2441448"/>
            <a:ext cx="2066544" cy="64008"/>
          </a:xfrm>
          <a:prstGeom prst="rect">
            <a:avLst/>
          </a:prstGeom>
          <a:solidFill>
            <a:srgbClr val="65D5E9"/>
          </a:solidFill>
          <a:ln w="10795">
            <a:solidFill>
              <a:srgbClr val="65D5E9"/>
            </a:solidFill>
            <a:prstDash val="solid"/>
          </a:ln>
        </p:spPr>
      </p:sp>
      <p:sp>
        <p:nvSpPr>
          <p:cNvPr id="18" name="Text 16"/>
          <p:cNvSpPr/>
          <p:nvPr/>
        </p:nvSpPr>
        <p:spPr>
          <a:xfrm>
            <a:off x="3118104" y="2551176"/>
            <a:ext cx="1828800" cy="256032"/>
          </a:xfrm>
          <a:prstGeom prst="rect">
            <a:avLst/>
          </a:prstGeom>
          <a:noFill/>
          <a:ln/>
        </p:spPr>
        <p:txBody>
          <a:bodyPr wrap="square" lIns="0" tIns="0" rIns="0" bIns="0" rtlCol="0" anchor="ctr"/>
          <a:lstStyle/>
          <a:p>
            <a:pPr algn="ctr" indent="0" marL="0">
              <a:lnSpc>
                <a:spcPct val="100000"/>
              </a:lnSpc>
              <a:buNone/>
            </a:pPr>
            <a:r>
              <a:rPr lang="en-US" sz="1300" b="1" dirty="0">
                <a:solidFill>
                  <a:srgbClr val="F5F7FC"/>
                </a:solidFill>
                <a:latin typeface="Inter" pitchFamily="34" charset="0"/>
                <a:ea typeface="Inter" pitchFamily="34" charset="-122"/>
                <a:cs typeface="Inter" pitchFamily="34" charset="-120"/>
              </a:rPr>
              <a:t>PLAN VIEWPOINTS</a:t>
            </a:r>
            <a:endParaRPr lang="en-US" sz="1300" dirty="0"/>
          </a:p>
        </p:txBody>
      </p:sp>
      <p:sp>
        <p:nvSpPr>
          <p:cNvPr id="19" name="Text 17"/>
          <p:cNvSpPr/>
          <p:nvPr/>
        </p:nvSpPr>
        <p:spPr>
          <a:xfrm>
            <a:off x="3108960" y="2834640"/>
            <a:ext cx="1847088" cy="320040"/>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coverage + reachability</a:t>
            </a:r>
            <a:endParaRPr lang="en-US" sz="1030" dirty="0"/>
          </a:p>
        </p:txBody>
      </p:sp>
      <p:sp>
        <p:nvSpPr>
          <p:cNvPr id="20" name="Shape 18"/>
          <p:cNvSpPr/>
          <p:nvPr/>
        </p:nvSpPr>
        <p:spPr>
          <a:xfrm>
            <a:off x="5074920" y="2798064"/>
            <a:ext cx="338328" cy="0"/>
          </a:xfrm>
          <a:prstGeom prst="line">
            <a:avLst/>
          </a:prstGeom>
          <a:noFill/>
          <a:ln w="25400">
            <a:solidFill>
              <a:srgbClr val="65D5E9"/>
            </a:solidFill>
            <a:prstDash val="solid"/>
            <a:headEnd type="none"/>
            <a:tailEnd type="triangle"/>
          </a:ln>
        </p:spPr>
      </p:sp>
      <p:sp>
        <p:nvSpPr>
          <p:cNvPr id="21" name="Shape 19"/>
          <p:cNvSpPr/>
          <p:nvPr/>
        </p:nvSpPr>
        <p:spPr>
          <a:xfrm>
            <a:off x="5468112" y="2441448"/>
            <a:ext cx="2066544" cy="749808"/>
          </a:xfrm>
          <a:prstGeom prst="roundRect">
            <a:avLst>
              <a:gd name="adj" fmla="val 17073"/>
            </a:avLst>
          </a:prstGeom>
          <a:solidFill>
            <a:srgbClr val="102335"/>
          </a:solidFill>
          <a:ln w="10795">
            <a:solidFill>
              <a:srgbClr val="294056"/>
            </a:solidFill>
            <a:prstDash val="solid"/>
          </a:ln>
        </p:spPr>
      </p:sp>
      <p:sp>
        <p:nvSpPr>
          <p:cNvPr id="22" name="Shape 20"/>
          <p:cNvSpPr/>
          <p:nvPr/>
        </p:nvSpPr>
        <p:spPr>
          <a:xfrm>
            <a:off x="5468112" y="2441448"/>
            <a:ext cx="2066544" cy="64008"/>
          </a:xfrm>
          <a:prstGeom prst="rect">
            <a:avLst/>
          </a:prstGeom>
          <a:solidFill>
            <a:srgbClr val="6B9BFF"/>
          </a:solidFill>
          <a:ln w="10795">
            <a:solidFill>
              <a:srgbClr val="6B9BFF"/>
            </a:solidFill>
            <a:prstDash val="solid"/>
          </a:ln>
        </p:spPr>
      </p:sp>
      <p:sp>
        <p:nvSpPr>
          <p:cNvPr id="23" name="Text 21"/>
          <p:cNvSpPr/>
          <p:nvPr/>
        </p:nvSpPr>
        <p:spPr>
          <a:xfrm>
            <a:off x="5586984" y="2551176"/>
            <a:ext cx="1828800" cy="256032"/>
          </a:xfrm>
          <a:prstGeom prst="rect">
            <a:avLst/>
          </a:prstGeom>
          <a:noFill/>
          <a:ln/>
        </p:spPr>
        <p:txBody>
          <a:bodyPr wrap="square" lIns="0" tIns="0" rIns="0" bIns="0" rtlCol="0" anchor="ctr"/>
          <a:lstStyle/>
          <a:p>
            <a:pPr algn="ctr" indent="0" marL="0">
              <a:lnSpc>
                <a:spcPct val="100000"/>
              </a:lnSpc>
              <a:buNone/>
            </a:pPr>
            <a:r>
              <a:rPr lang="en-US" sz="1300" b="1" dirty="0">
                <a:solidFill>
                  <a:srgbClr val="F5F7FC"/>
                </a:solidFill>
                <a:latin typeface="Inter" pitchFamily="34" charset="0"/>
                <a:ea typeface="Inter" pitchFamily="34" charset="-122"/>
                <a:cs typeface="Inter" pitchFamily="34" charset="-120"/>
              </a:rPr>
              <a:t>NAVIGATE TO VIEW</a:t>
            </a:r>
            <a:endParaRPr lang="en-US" sz="1300" dirty="0"/>
          </a:p>
        </p:txBody>
      </p:sp>
      <p:sp>
        <p:nvSpPr>
          <p:cNvPr id="24" name="Text 22"/>
          <p:cNvSpPr/>
          <p:nvPr/>
        </p:nvSpPr>
        <p:spPr>
          <a:xfrm>
            <a:off x="5577840" y="2834640"/>
            <a:ext cx="1847088" cy="320040"/>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safe G1 pose</a:t>
            </a:r>
            <a:endParaRPr lang="en-US" sz="1030" dirty="0"/>
          </a:p>
        </p:txBody>
      </p:sp>
      <p:sp>
        <p:nvSpPr>
          <p:cNvPr id="25" name="Shape 23"/>
          <p:cNvSpPr/>
          <p:nvPr/>
        </p:nvSpPr>
        <p:spPr>
          <a:xfrm>
            <a:off x="7543800" y="2798064"/>
            <a:ext cx="338328" cy="0"/>
          </a:xfrm>
          <a:prstGeom prst="line">
            <a:avLst/>
          </a:prstGeom>
          <a:noFill/>
          <a:ln w="25400">
            <a:solidFill>
              <a:srgbClr val="65D5E9"/>
            </a:solidFill>
            <a:prstDash val="solid"/>
            <a:headEnd type="none"/>
            <a:tailEnd type="triangle"/>
          </a:ln>
        </p:spPr>
      </p:sp>
      <p:sp>
        <p:nvSpPr>
          <p:cNvPr id="26" name="Shape 24"/>
          <p:cNvSpPr/>
          <p:nvPr/>
        </p:nvSpPr>
        <p:spPr>
          <a:xfrm>
            <a:off x="7936992" y="2441448"/>
            <a:ext cx="2066544" cy="749808"/>
          </a:xfrm>
          <a:prstGeom prst="roundRect">
            <a:avLst>
              <a:gd name="adj" fmla="val 17073"/>
            </a:avLst>
          </a:prstGeom>
          <a:solidFill>
            <a:srgbClr val="102335"/>
          </a:solidFill>
          <a:ln w="10795">
            <a:solidFill>
              <a:srgbClr val="294056"/>
            </a:solidFill>
            <a:prstDash val="solid"/>
          </a:ln>
        </p:spPr>
      </p:sp>
      <p:sp>
        <p:nvSpPr>
          <p:cNvPr id="27" name="Shape 25"/>
          <p:cNvSpPr/>
          <p:nvPr/>
        </p:nvSpPr>
        <p:spPr>
          <a:xfrm>
            <a:off x="7936992" y="2441448"/>
            <a:ext cx="2066544" cy="64008"/>
          </a:xfrm>
          <a:prstGeom prst="rect">
            <a:avLst/>
          </a:prstGeom>
          <a:solidFill>
            <a:srgbClr val="65D5E9"/>
          </a:solidFill>
          <a:ln w="10795">
            <a:solidFill>
              <a:srgbClr val="65D5E9"/>
            </a:solidFill>
            <a:prstDash val="solid"/>
          </a:ln>
        </p:spPr>
      </p:sp>
      <p:sp>
        <p:nvSpPr>
          <p:cNvPr id="28" name="Text 26"/>
          <p:cNvSpPr/>
          <p:nvPr/>
        </p:nvSpPr>
        <p:spPr>
          <a:xfrm>
            <a:off x="8055864" y="2551176"/>
            <a:ext cx="1828800" cy="256032"/>
          </a:xfrm>
          <a:prstGeom prst="rect">
            <a:avLst/>
          </a:prstGeom>
          <a:noFill/>
          <a:ln/>
        </p:spPr>
        <p:txBody>
          <a:bodyPr wrap="square" lIns="0" tIns="0" rIns="0" bIns="0" rtlCol="0" anchor="ctr"/>
          <a:lstStyle/>
          <a:p>
            <a:pPr algn="ctr" indent="0" marL="0">
              <a:lnSpc>
                <a:spcPct val="100000"/>
              </a:lnSpc>
              <a:buNone/>
            </a:pPr>
            <a:r>
              <a:rPr lang="en-US" sz="1300" b="1" dirty="0">
                <a:solidFill>
                  <a:srgbClr val="F5F7FC"/>
                </a:solidFill>
                <a:latin typeface="Inter" pitchFamily="34" charset="0"/>
                <a:ea typeface="Inter" pitchFamily="34" charset="-122"/>
                <a:cs typeface="Inter" pitchFamily="34" charset="-120"/>
              </a:rPr>
              <a:t>OBSERVE</a:t>
            </a:r>
            <a:endParaRPr lang="en-US" sz="1300" dirty="0"/>
          </a:p>
        </p:txBody>
      </p:sp>
      <p:sp>
        <p:nvSpPr>
          <p:cNvPr id="29" name="Text 27"/>
          <p:cNvSpPr/>
          <p:nvPr/>
        </p:nvSpPr>
        <p:spPr>
          <a:xfrm>
            <a:off x="8046720" y="2834640"/>
            <a:ext cx="1847088" cy="320040"/>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RGB + detector + TF2</a:t>
            </a:r>
            <a:endParaRPr lang="en-US" sz="1030" dirty="0"/>
          </a:p>
        </p:txBody>
      </p:sp>
      <p:sp>
        <p:nvSpPr>
          <p:cNvPr id="30" name="Shape 28"/>
          <p:cNvSpPr/>
          <p:nvPr/>
        </p:nvSpPr>
        <p:spPr>
          <a:xfrm>
            <a:off x="10012680" y="2798064"/>
            <a:ext cx="338328" cy="0"/>
          </a:xfrm>
          <a:prstGeom prst="line">
            <a:avLst/>
          </a:prstGeom>
          <a:noFill/>
          <a:ln w="25400">
            <a:solidFill>
              <a:srgbClr val="65D5E9"/>
            </a:solidFill>
            <a:prstDash val="solid"/>
            <a:headEnd type="none"/>
            <a:tailEnd type="triangle"/>
          </a:ln>
        </p:spPr>
      </p:sp>
      <p:sp>
        <p:nvSpPr>
          <p:cNvPr id="31" name="Shape 29"/>
          <p:cNvSpPr/>
          <p:nvPr/>
        </p:nvSpPr>
        <p:spPr>
          <a:xfrm>
            <a:off x="10387584" y="2441448"/>
            <a:ext cx="1243584" cy="749808"/>
          </a:xfrm>
          <a:prstGeom prst="roundRect">
            <a:avLst>
              <a:gd name="adj" fmla="val 17073"/>
            </a:avLst>
          </a:prstGeom>
          <a:solidFill>
            <a:srgbClr val="102335"/>
          </a:solidFill>
          <a:ln w="10795">
            <a:solidFill>
              <a:srgbClr val="294056"/>
            </a:solidFill>
            <a:prstDash val="solid"/>
          </a:ln>
        </p:spPr>
      </p:sp>
      <p:sp>
        <p:nvSpPr>
          <p:cNvPr id="32" name="Text 30"/>
          <p:cNvSpPr/>
          <p:nvPr/>
        </p:nvSpPr>
        <p:spPr>
          <a:xfrm>
            <a:off x="10543032" y="2606040"/>
            <a:ext cx="950976"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48D7B2"/>
                </a:solidFill>
                <a:latin typeface="Inter" pitchFamily="34" charset="0"/>
                <a:ea typeface="Inter" pitchFamily="34" charset="-122"/>
                <a:cs typeface="Inter" pitchFamily="34" charset="-120"/>
              </a:rPr>
              <a:t>MATCH?</a:t>
            </a:r>
            <a:endParaRPr lang="en-US" sz="1400" dirty="0"/>
          </a:p>
        </p:txBody>
      </p:sp>
      <p:sp>
        <p:nvSpPr>
          <p:cNvPr id="33" name="Shape 31"/>
          <p:cNvSpPr/>
          <p:nvPr/>
        </p:nvSpPr>
        <p:spPr>
          <a:xfrm>
            <a:off x="7909560" y="3703320"/>
            <a:ext cx="3639312" cy="731520"/>
          </a:xfrm>
          <a:prstGeom prst="roundRect">
            <a:avLst>
              <a:gd name="adj" fmla="val 17500"/>
            </a:avLst>
          </a:prstGeom>
          <a:solidFill>
            <a:srgbClr val="102335"/>
          </a:solidFill>
          <a:ln w="10795">
            <a:solidFill>
              <a:srgbClr val="294056"/>
            </a:solidFill>
            <a:prstDash val="solid"/>
          </a:ln>
        </p:spPr>
      </p:sp>
      <p:sp>
        <p:nvSpPr>
          <p:cNvPr id="34" name="Text 32"/>
          <p:cNvSpPr/>
          <p:nvPr/>
        </p:nvSpPr>
        <p:spPr>
          <a:xfrm>
            <a:off x="8092440" y="3886200"/>
            <a:ext cx="3291840" cy="338328"/>
          </a:xfrm>
          <a:prstGeom prst="rect">
            <a:avLst/>
          </a:prstGeom>
          <a:noFill/>
          <a:ln/>
        </p:spPr>
        <p:txBody>
          <a:bodyPr wrap="square" lIns="0" tIns="0" rIns="0" bIns="0" rtlCol="0" anchor="ctr"/>
          <a:lstStyle/>
          <a:p>
            <a:pPr algn="l" indent="0" marL="0">
              <a:lnSpc>
                <a:spcPct val="100000"/>
              </a:lnSpc>
              <a:buNone/>
            </a:pPr>
            <a:r>
              <a:rPr lang="en-US" sz="1400" b="1" dirty="0">
                <a:solidFill>
                  <a:srgbClr val="48D7B2"/>
                </a:solidFill>
                <a:latin typeface="Inter" pitchFamily="34" charset="0"/>
                <a:ea typeface="Inter" pitchFamily="34" charset="-122"/>
                <a:cs typeface="Inter" pitchFamily="34" charset="-120"/>
              </a:rPr>
              <a:t>YES → FOUND(object_id, evidence)</a:t>
            </a:r>
            <a:endParaRPr lang="en-US" sz="1400" dirty="0"/>
          </a:p>
        </p:txBody>
      </p:sp>
      <p:sp>
        <p:nvSpPr>
          <p:cNvPr id="35" name="Shape 33"/>
          <p:cNvSpPr/>
          <p:nvPr/>
        </p:nvSpPr>
        <p:spPr>
          <a:xfrm>
            <a:off x="10981944" y="3191256"/>
            <a:ext cx="0" cy="512064"/>
          </a:xfrm>
          <a:prstGeom prst="line">
            <a:avLst/>
          </a:prstGeom>
          <a:noFill/>
          <a:ln w="24130">
            <a:solidFill>
              <a:srgbClr val="48D7B2"/>
            </a:solidFill>
            <a:prstDash val="solid"/>
            <a:headEnd type="none"/>
            <a:tailEnd type="triangle"/>
          </a:ln>
        </p:spPr>
      </p:sp>
      <p:sp>
        <p:nvSpPr>
          <p:cNvPr id="36" name="Shape 34"/>
          <p:cNvSpPr/>
          <p:nvPr/>
        </p:nvSpPr>
        <p:spPr>
          <a:xfrm>
            <a:off x="2907792" y="3703320"/>
            <a:ext cx="4462272" cy="731520"/>
          </a:xfrm>
          <a:prstGeom prst="roundRect">
            <a:avLst>
              <a:gd name="adj" fmla="val 17500"/>
            </a:avLst>
          </a:prstGeom>
          <a:solidFill>
            <a:srgbClr val="102335"/>
          </a:solidFill>
          <a:ln w="10795">
            <a:solidFill>
              <a:srgbClr val="294056"/>
            </a:solidFill>
            <a:prstDash val="solid"/>
          </a:ln>
        </p:spPr>
      </p:sp>
      <p:sp>
        <p:nvSpPr>
          <p:cNvPr id="37" name="Text 35"/>
          <p:cNvSpPr/>
          <p:nvPr/>
        </p:nvSpPr>
        <p:spPr>
          <a:xfrm>
            <a:off x="3145536" y="3886200"/>
            <a:ext cx="3968496" cy="338328"/>
          </a:xfrm>
          <a:prstGeom prst="rect">
            <a:avLst/>
          </a:prstGeom>
          <a:noFill/>
          <a:ln/>
        </p:spPr>
        <p:txBody>
          <a:bodyPr wrap="square" lIns="0" tIns="0" rIns="0" bIns="0" rtlCol="0" anchor="ctr"/>
          <a:lstStyle/>
          <a:p>
            <a:pPr algn="l" indent="0" marL="0">
              <a:lnSpc>
                <a:spcPct val="100000"/>
              </a:lnSpc>
              <a:buNone/>
            </a:pPr>
            <a:r>
              <a:rPr lang="en-US" sz="1400" b="1" dirty="0">
                <a:solidFill>
                  <a:srgbClr val="E2D07A"/>
                </a:solidFill>
                <a:latin typeface="Inter" pitchFamily="34" charset="0"/>
                <a:ea typeface="Inter" pitchFamily="34" charset="-122"/>
                <a:cs typeface="Inter" pitchFamily="34" charset="-120"/>
              </a:rPr>
              <a:t>NO → NEXT VIEWPOINT / REOBSERVE</a:t>
            </a:r>
            <a:endParaRPr lang="en-US" sz="1400" dirty="0"/>
          </a:p>
        </p:txBody>
      </p:sp>
      <p:sp>
        <p:nvSpPr>
          <p:cNvPr id="38" name="Shape 36"/>
          <p:cNvSpPr/>
          <p:nvPr/>
        </p:nvSpPr>
        <p:spPr>
          <a:xfrm>
            <a:off x="10387584" y="2944368"/>
            <a:ext cx="-905256" cy="758952"/>
          </a:xfrm>
          <a:prstGeom prst="line">
            <a:avLst/>
          </a:prstGeom>
          <a:noFill/>
          <a:ln w="20955">
            <a:solidFill>
              <a:srgbClr val="E2D07A"/>
            </a:solidFill>
            <a:prstDash val="solid"/>
            <a:headEnd type="none"/>
            <a:tailEnd type="triangle"/>
          </a:ln>
        </p:spPr>
      </p:sp>
      <p:sp>
        <p:nvSpPr>
          <p:cNvPr id="39" name="Shape 37"/>
          <p:cNvSpPr/>
          <p:nvPr/>
        </p:nvSpPr>
        <p:spPr>
          <a:xfrm>
            <a:off x="2907792" y="4105656"/>
            <a:ext cx="-1316736" cy="0"/>
          </a:xfrm>
          <a:prstGeom prst="line">
            <a:avLst/>
          </a:prstGeom>
          <a:noFill/>
          <a:ln w="17780">
            <a:solidFill>
              <a:srgbClr val="647F96"/>
            </a:solidFill>
            <a:prstDash val="dash"/>
            <a:headEnd type="none"/>
            <a:tailEnd type="none"/>
          </a:ln>
        </p:spPr>
      </p:sp>
      <p:sp>
        <p:nvSpPr>
          <p:cNvPr id="40" name="Shape 38"/>
          <p:cNvSpPr/>
          <p:nvPr/>
        </p:nvSpPr>
        <p:spPr>
          <a:xfrm>
            <a:off x="1591056" y="4105656"/>
            <a:ext cx="0" cy="-914400"/>
          </a:xfrm>
          <a:prstGeom prst="line">
            <a:avLst/>
          </a:prstGeom>
          <a:noFill/>
          <a:ln w="17780">
            <a:solidFill>
              <a:srgbClr val="647F96"/>
            </a:solidFill>
            <a:prstDash val="dash"/>
            <a:headEnd type="none"/>
            <a:tailEnd type="triangle"/>
          </a:ln>
        </p:spPr>
      </p:sp>
      <p:sp>
        <p:nvSpPr>
          <p:cNvPr id="41" name="Shape 39"/>
          <p:cNvSpPr/>
          <p:nvPr/>
        </p:nvSpPr>
        <p:spPr>
          <a:xfrm>
            <a:off x="758952" y="4956048"/>
            <a:ext cx="10716768" cy="749808"/>
          </a:xfrm>
          <a:prstGeom prst="roundRect">
            <a:avLst>
              <a:gd name="adj" fmla="val 17073"/>
            </a:avLst>
          </a:prstGeom>
          <a:solidFill>
            <a:srgbClr val="152B40"/>
          </a:solidFill>
          <a:ln w="10795">
            <a:solidFill>
              <a:srgbClr val="294056"/>
            </a:solidFill>
            <a:prstDash val="solid"/>
          </a:ln>
        </p:spPr>
      </p:sp>
      <p:sp>
        <p:nvSpPr>
          <p:cNvPr id="42" name="Text 40"/>
          <p:cNvSpPr/>
          <p:nvPr/>
        </p:nvSpPr>
        <p:spPr>
          <a:xfrm>
            <a:off x="1005840" y="5166360"/>
            <a:ext cx="10204704" cy="292608"/>
          </a:xfrm>
          <a:prstGeom prst="rect">
            <a:avLst/>
          </a:prstGeom>
          <a:noFill/>
          <a:ln/>
        </p:spPr>
        <p:txBody>
          <a:bodyPr wrap="square" lIns="0" tIns="0" rIns="0" bIns="0" rtlCol="0" anchor="ctr"/>
          <a:lstStyle/>
          <a:p>
            <a:pPr algn="ctr" indent="0" marL="0">
              <a:lnSpc>
                <a:spcPct val="100000"/>
              </a:lnSpc>
              <a:buNone/>
            </a:pPr>
            <a:r>
              <a:rPr lang="en-US" sz="1340" b="1" dirty="0">
                <a:solidFill>
                  <a:srgbClr val="A1B2C4"/>
                </a:solidFill>
                <a:latin typeface="Inter" pitchFamily="34" charset="0"/>
                <a:ea typeface="Inter" pitchFamily="34" charset="-122"/>
                <a:cs typeface="Inter" pitchFamily="34" charset="-120"/>
              </a:rPr>
              <a:t>Search budget = max viewpoints • max time • max distance • perception confidence • operator stop</a:t>
            </a:r>
            <a:endParaRPr lang="en-US" sz="13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PHASE 2 / VISUAL SEARCH</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Plan observation viewpoints using the 3D scene</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A good view exposes the tabletop without making the robot stand somewhere unsafe.</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10</a:t>
            </a:r>
            <a:endParaRPr lang="en-US" sz="1100" dirty="0"/>
          </a:p>
        </p:txBody>
      </p:sp>
      <p:sp>
        <p:nvSpPr>
          <p:cNvPr id="11" name="Shape 9"/>
          <p:cNvSpPr/>
          <p:nvPr/>
        </p:nvSpPr>
        <p:spPr>
          <a:xfrm>
            <a:off x="621792" y="2103120"/>
            <a:ext cx="6656832" cy="3593592"/>
          </a:xfrm>
          <a:prstGeom prst="roundRect">
            <a:avLst>
              <a:gd name="adj" fmla="val 2036"/>
            </a:avLst>
          </a:prstGeom>
          <a:solidFill>
            <a:srgbClr val="0B1D2B"/>
          </a:solidFill>
          <a:ln w="10795">
            <a:solidFill>
              <a:srgbClr val="294056"/>
            </a:solidFill>
            <a:prstDash val="solid"/>
          </a:ln>
        </p:spPr>
      </p:sp>
      <p:sp>
        <p:nvSpPr>
          <p:cNvPr id="12" name="Shape 10"/>
          <p:cNvSpPr/>
          <p:nvPr/>
        </p:nvSpPr>
        <p:spPr>
          <a:xfrm>
            <a:off x="1133856" y="2103120"/>
            <a:ext cx="0" cy="3593592"/>
          </a:xfrm>
          <a:prstGeom prst="line">
            <a:avLst/>
          </a:prstGeom>
          <a:noFill/>
          <a:ln w="5715">
            <a:solidFill>
              <a:srgbClr val="647F96"/>
            </a:solidFill>
            <a:prstDash val="dash"/>
            <a:headEnd type="none"/>
            <a:tailEnd type="none"/>
          </a:ln>
        </p:spPr>
      </p:sp>
      <p:sp>
        <p:nvSpPr>
          <p:cNvPr id="13" name="Shape 11"/>
          <p:cNvSpPr/>
          <p:nvPr/>
        </p:nvSpPr>
        <p:spPr>
          <a:xfrm>
            <a:off x="1645920" y="2103120"/>
            <a:ext cx="0" cy="3593592"/>
          </a:xfrm>
          <a:prstGeom prst="line">
            <a:avLst/>
          </a:prstGeom>
          <a:noFill/>
          <a:ln w="5715">
            <a:solidFill>
              <a:srgbClr val="647F96"/>
            </a:solidFill>
            <a:prstDash val="dash"/>
            <a:headEnd type="none"/>
            <a:tailEnd type="none"/>
          </a:ln>
        </p:spPr>
      </p:sp>
      <p:sp>
        <p:nvSpPr>
          <p:cNvPr id="14" name="Shape 12"/>
          <p:cNvSpPr/>
          <p:nvPr/>
        </p:nvSpPr>
        <p:spPr>
          <a:xfrm>
            <a:off x="2157984" y="2103120"/>
            <a:ext cx="0" cy="3593592"/>
          </a:xfrm>
          <a:prstGeom prst="line">
            <a:avLst/>
          </a:prstGeom>
          <a:noFill/>
          <a:ln w="5715">
            <a:solidFill>
              <a:srgbClr val="647F96"/>
            </a:solidFill>
            <a:prstDash val="dash"/>
            <a:headEnd type="none"/>
            <a:tailEnd type="none"/>
          </a:ln>
        </p:spPr>
      </p:sp>
      <p:sp>
        <p:nvSpPr>
          <p:cNvPr id="15" name="Shape 13"/>
          <p:cNvSpPr/>
          <p:nvPr/>
        </p:nvSpPr>
        <p:spPr>
          <a:xfrm>
            <a:off x="2670048" y="2103120"/>
            <a:ext cx="0" cy="3593592"/>
          </a:xfrm>
          <a:prstGeom prst="line">
            <a:avLst/>
          </a:prstGeom>
          <a:noFill/>
          <a:ln w="5715">
            <a:solidFill>
              <a:srgbClr val="647F96"/>
            </a:solidFill>
            <a:prstDash val="dash"/>
            <a:headEnd type="none"/>
            <a:tailEnd type="none"/>
          </a:ln>
        </p:spPr>
      </p:sp>
      <p:sp>
        <p:nvSpPr>
          <p:cNvPr id="16" name="Shape 14"/>
          <p:cNvSpPr/>
          <p:nvPr/>
        </p:nvSpPr>
        <p:spPr>
          <a:xfrm>
            <a:off x="3182112" y="2103120"/>
            <a:ext cx="0" cy="3593592"/>
          </a:xfrm>
          <a:prstGeom prst="line">
            <a:avLst/>
          </a:prstGeom>
          <a:noFill/>
          <a:ln w="5715">
            <a:solidFill>
              <a:srgbClr val="647F96"/>
            </a:solidFill>
            <a:prstDash val="dash"/>
            <a:headEnd type="none"/>
            <a:tailEnd type="none"/>
          </a:ln>
        </p:spPr>
      </p:sp>
      <p:sp>
        <p:nvSpPr>
          <p:cNvPr id="17" name="Shape 15"/>
          <p:cNvSpPr/>
          <p:nvPr/>
        </p:nvSpPr>
        <p:spPr>
          <a:xfrm>
            <a:off x="3694176" y="2103120"/>
            <a:ext cx="0" cy="3593592"/>
          </a:xfrm>
          <a:prstGeom prst="line">
            <a:avLst/>
          </a:prstGeom>
          <a:noFill/>
          <a:ln w="5715">
            <a:solidFill>
              <a:srgbClr val="647F96"/>
            </a:solidFill>
            <a:prstDash val="dash"/>
            <a:headEnd type="none"/>
            <a:tailEnd type="none"/>
          </a:ln>
        </p:spPr>
      </p:sp>
      <p:sp>
        <p:nvSpPr>
          <p:cNvPr id="18" name="Shape 16"/>
          <p:cNvSpPr/>
          <p:nvPr/>
        </p:nvSpPr>
        <p:spPr>
          <a:xfrm>
            <a:off x="4206240" y="2103120"/>
            <a:ext cx="0" cy="3593592"/>
          </a:xfrm>
          <a:prstGeom prst="line">
            <a:avLst/>
          </a:prstGeom>
          <a:noFill/>
          <a:ln w="5715">
            <a:solidFill>
              <a:srgbClr val="647F96"/>
            </a:solidFill>
            <a:prstDash val="dash"/>
            <a:headEnd type="none"/>
            <a:tailEnd type="none"/>
          </a:ln>
        </p:spPr>
      </p:sp>
      <p:sp>
        <p:nvSpPr>
          <p:cNvPr id="19" name="Shape 17"/>
          <p:cNvSpPr/>
          <p:nvPr/>
        </p:nvSpPr>
        <p:spPr>
          <a:xfrm>
            <a:off x="4718304" y="2103120"/>
            <a:ext cx="0" cy="3593592"/>
          </a:xfrm>
          <a:prstGeom prst="line">
            <a:avLst/>
          </a:prstGeom>
          <a:noFill/>
          <a:ln w="5715">
            <a:solidFill>
              <a:srgbClr val="647F96"/>
            </a:solidFill>
            <a:prstDash val="dash"/>
            <a:headEnd type="none"/>
            <a:tailEnd type="none"/>
          </a:ln>
        </p:spPr>
      </p:sp>
      <p:sp>
        <p:nvSpPr>
          <p:cNvPr id="20" name="Shape 18"/>
          <p:cNvSpPr/>
          <p:nvPr/>
        </p:nvSpPr>
        <p:spPr>
          <a:xfrm>
            <a:off x="5230368" y="2103120"/>
            <a:ext cx="0" cy="3593592"/>
          </a:xfrm>
          <a:prstGeom prst="line">
            <a:avLst/>
          </a:prstGeom>
          <a:noFill/>
          <a:ln w="5715">
            <a:solidFill>
              <a:srgbClr val="647F96"/>
            </a:solidFill>
            <a:prstDash val="dash"/>
            <a:headEnd type="none"/>
            <a:tailEnd type="none"/>
          </a:ln>
        </p:spPr>
      </p:sp>
      <p:sp>
        <p:nvSpPr>
          <p:cNvPr id="21" name="Shape 19"/>
          <p:cNvSpPr/>
          <p:nvPr/>
        </p:nvSpPr>
        <p:spPr>
          <a:xfrm>
            <a:off x="5742432" y="2103120"/>
            <a:ext cx="0" cy="3593592"/>
          </a:xfrm>
          <a:prstGeom prst="line">
            <a:avLst/>
          </a:prstGeom>
          <a:noFill/>
          <a:ln w="5715">
            <a:solidFill>
              <a:srgbClr val="647F96"/>
            </a:solidFill>
            <a:prstDash val="dash"/>
            <a:headEnd type="none"/>
            <a:tailEnd type="none"/>
          </a:ln>
        </p:spPr>
      </p:sp>
      <p:sp>
        <p:nvSpPr>
          <p:cNvPr id="22" name="Shape 20"/>
          <p:cNvSpPr/>
          <p:nvPr/>
        </p:nvSpPr>
        <p:spPr>
          <a:xfrm>
            <a:off x="6254496" y="2103120"/>
            <a:ext cx="0" cy="3593592"/>
          </a:xfrm>
          <a:prstGeom prst="line">
            <a:avLst/>
          </a:prstGeom>
          <a:noFill/>
          <a:ln w="5715">
            <a:solidFill>
              <a:srgbClr val="647F96"/>
            </a:solidFill>
            <a:prstDash val="dash"/>
            <a:headEnd type="none"/>
            <a:tailEnd type="none"/>
          </a:ln>
        </p:spPr>
      </p:sp>
      <p:sp>
        <p:nvSpPr>
          <p:cNvPr id="23" name="Shape 21"/>
          <p:cNvSpPr/>
          <p:nvPr/>
        </p:nvSpPr>
        <p:spPr>
          <a:xfrm>
            <a:off x="6766560" y="2103120"/>
            <a:ext cx="0" cy="3593592"/>
          </a:xfrm>
          <a:prstGeom prst="line">
            <a:avLst/>
          </a:prstGeom>
          <a:noFill/>
          <a:ln w="5715">
            <a:solidFill>
              <a:srgbClr val="647F96"/>
            </a:solidFill>
            <a:prstDash val="dash"/>
            <a:headEnd type="none"/>
            <a:tailEnd type="none"/>
          </a:ln>
        </p:spPr>
      </p:sp>
      <p:sp>
        <p:nvSpPr>
          <p:cNvPr id="24" name="Shape 22"/>
          <p:cNvSpPr/>
          <p:nvPr/>
        </p:nvSpPr>
        <p:spPr>
          <a:xfrm>
            <a:off x="621792" y="2552319"/>
            <a:ext cx="6656832" cy="0"/>
          </a:xfrm>
          <a:prstGeom prst="line">
            <a:avLst/>
          </a:prstGeom>
          <a:noFill/>
          <a:ln w="5715">
            <a:solidFill>
              <a:srgbClr val="647F96"/>
            </a:solidFill>
            <a:prstDash val="dash"/>
            <a:headEnd type="none"/>
            <a:tailEnd type="none"/>
          </a:ln>
        </p:spPr>
      </p:sp>
      <p:sp>
        <p:nvSpPr>
          <p:cNvPr id="25" name="Shape 23"/>
          <p:cNvSpPr/>
          <p:nvPr/>
        </p:nvSpPr>
        <p:spPr>
          <a:xfrm>
            <a:off x="621792" y="3001518"/>
            <a:ext cx="6656832" cy="0"/>
          </a:xfrm>
          <a:prstGeom prst="line">
            <a:avLst/>
          </a:prstGeom>
          <a:noFill/>
          <a:ln w="5715">
            <a:solidFill>
              <a:srgbClr val="647F96"/>
            </a:solidFill>
            <a:prstDash val="dash"/>
            <a:headEnd type="none"/>
            <a:tailEnd type="none"/>
          </a:ln>
        </p:spPr>
      </p:sp>
      <p:sp>
        <p:nvSpPr>
          <p:cNvPr id="26" name="Shape 24"/>
          <p:cNvSpPr/>
          <p:nvPr/>
        </p:nvSpPr>
        <p:spPr>
          <a:xfrm>
            <a:off x="621792" y="3450717"/>
            <a:ext cx="6656832" cy="0"/>
          </a:xfrm>
          <a:prstGeom prst="line">
            <a:avLst/>
          </a:prstGeom>
          <a:noFill/>
          <a:ln w="5715">
            <a:solidFill>
              <a:srgbClr val="647F96"/>
            </a:solidFill>
            <a:prstDash val="dash"/>
            <a:headEnd type="none"/>
            <a:tailEnd type="none"/>
          </a:ln>
        </p:spPr>
      </p:sp>
      <p:sp>
        <p:nvSpPr>
          <p:cNvPr id="27" name="Shape 25"/>
          <p:cNvSpPr/>
          <p:nvPr/>
        </p:nvSpPr>
        <p:spPr>
          <a:xfrm>
            <a:off x="621792" y="3899916"/>
            <a:ext cx="6656832" cy="0"/>
          </a:xfrm>
          <a:prstGeom prst="line">
            <a:avLst/>
          </a:prstGeom>
          <a:noFill/>
          <a:ln w="5715">
            <a:solidFill>
              <a:srgbClr val="647F96"/>
            </a:solidFill>
            <a:prstDash val="dash"/>
            <a:headEnd type="none"/>
            <a:tailEnd type="none"/>
          </a:ln>
        </p:spPr>
      </p:sp>
      <p:sp>
        <p:nvSpPr>
          <p:cNvPr id="28" name="Shape 26"/>
          <p:cNvSpPr/>
          <p:nvPr/>
        </p:nvSpPr>
        <p:spPr>
          <a:xfrm>
            <a:off x="621792" y="4349115"/>
            <a:ext cx="6656832" cy="0"/>
          </a:xfrm>
          <a:prstGeom prst="line">
            <a:avLst/>
          </a:prstGeom>
          <a:noFill/>
          <a:ln w="5715">
            <a:solidFill>
              <a:srgbClr val="647F96"/>
            </a:solidFill>
            <a:prstDash val="dash"/>
            <a:headEnd type="none"/>
            <a:tailEnd type="none"/>
          </a:ln>
        </p:spPr>
      </p:sp>
      <p:sp>
        <p:nvSpPr>
          <p:cNvPr id="29" name="Shape 27"/>
          <p:cNvSpPr/>
          <p:nvPr/>
        </p:nvSpPr>
        <p:spPr>
          <a:xfrm>
            <a:off x="621792" y="4798314"/>
            <a:ext cx="6656832" cy="0"/>
          </a:xfrm>
          <a:prstGeom prst="line">
            <a:avLst/>
          </a:prstGeom>
          <a:noFill/>
          <a:ln w="5715">
            <a:solidFill>
              <a:srgbClr val="647F96"/>
            </a:solidFill>
            <a:prstDash val="dash"/>
            <a:headEnd type="none"/>
            <a:tailEnd type="none"/>
          </a:ln>
        </p:spPr>
      </p:sp>
      <p:sp>
        <p:nvSpPr>
          <p:cNvPr id="30" name="Shape 28"/>
          <p:cNvSpPr/>
          <p:nvPr/>
        </p:nvSpPr>
        <p:spPr>
          <a:xfrm>
            <a:off x="621792" y="5247513"/>
            <a:ext cx="6656832" cy="0"/>
          </a:xfrm>
          <a:prstGeom prst="line">
            <a:avLst/>
          </a:prstGeom>
          <a:noFill/>
          <a:ln w="5715">
            <a:solidFill>
              <a:srgbClr val="647F96"/>
            </a:solidFill>
            <a:prstDash val="dash"/>
            <a:headEnd type="none"/>
            <a:tailEnd type="none"/>
          </a:ln>
        </p:spPr>
      </p:sp>
      <p:sp>
        <p:nvSpPr>
          <p:cNvPr id="31" name="Shape 29"/>
          <p:cNvSpPr/>
          <p:nvPr/>
        </p:nvSpPr>
        <p:spPr>
          <a:xfrm>
            <a:off x="2880360" y="2816352"/>
            <a:ext cx="2112264" cy="1069848"/>
          </a:xfrm>
          <a:prstGeom prst="roundRect">
            <a:avLst>
              <a:gd name="adj" fmla="val 5128"/>
            </a:avLst>
          </a:prstGeom>
          <a:solidFill>
            <a:srgbClr val="967D62"/>
          </a:solidFill>
          <a:ln w="10795">
            <a:solidFill>
              <a:srgbClr val="A58C71"/>
            </a:solidFill>
            <a:prstDash val="solid"/>
          </a:ln>
        </p:spPr>
      </p:sp>
      <p:sp>
        <p:nvSpPr>
          <p:cNvPr id="32" name="Text 30"/>
          <p:cNvSpPr/>
          <p:nvPr/>
        </p:nvSpPr>
        <p:spPr>
          <a:xfrm>
            <a:off x="3438144" y="3182112"/>
            <a:ext cx="1005840" cy="228600"/>
          </a:xfrm>
          <a:prstGeom prst="rect">
            <a:avLst/>
          </a:prstGeom>
          <a:noFill/>
          <a:ln/>
        </p:spPr>
        <p:txBody>
          <a:bodyPr wrap="square" lIns="0" tIns="0" rIns="0" bIns="0" rtlCol="0" anchor="ctr"/>
          <a:lstStyle/>
          <a:p>
            <a:pPr algn="ctr" indent="0" marL="0">
              <a:lnSpc>
                <a:spcPct val="100000"/>
              </a:lnSpc>
              <a:buNone/>
            </a:pPr>
            <a:r>
              <a:rPr lang="en-US" sz="1400" b="1" dirty="0">
                <a:solidFill>
                  <a:srgbClr val="F5F7FC"/>
                </a:solidFill>
                <a:latin typeface="Inter" pitchFamily="34" charset="0"/>
                <a:ea typeface="Inter" pitchFamily="34" charset="-122"/>
                <a:cs typeface="Inter" pitchFamily="34" charset="-120"/>
              </a:rPr>
              <a:t>TABLE</a:t>
            </a:r>
            <a:endParaRPr lang="en-US" sz="1400" dirty="0"/>
          </a:p>
        </p:txBody>
      </p:sp>
      <p:sp>
        <p:nvSpPr>
          <p:cNvPr id="33" name="Shape 31"/>
          <p:cNvSpPr/>
          <p:nvPr/>
        </p:nvSpPr>
        <p:spPr>
          <a:xfrm>
            <a:off x="3991996" y="2940253"/>
            <a:ext cx="135240" cy="37308"/>
          </a:xfrm>
          <a:prstGeom prst="ellipse">
            <a:avLst/>
          </a:prstGeom>
          <a:solidFill>
            <a:srgbClr val="FF8790"/>
          </a:solidFill>
          <a:ln w="12700">
            <a:solidFill>
              <a:srgbClr val="FF8790"/>
            </a:solidFill>
            <a:prstDash val="solid"/>
          </a:ln>
        </p:spPr>
      </p:sp>
      <p:sp>
        <p:nvSpPr>
          <p:cNvPr id="34" name="Shape 32"/>
          <p:cNvSpPr/>
          <p:nvPr/>
        </p:nvSpPr>
        <p:spPr>
          <a:xfrm>
            <a:off x="4003655" y="2954244"/>
            <a:ext cx="114254" cy="121249"/>
          </a:xfrm>
          <a:prstGeom prst="roundRect">
            <a:avLst>
              <a:gd name="adj" fmla="val 32013"/>
            </a:avLst>
          </a:prstGeom>
          <a:solidFill>
            <a:srgbClr val="FF8790"/>
          </a:solidFill>
          <a:ln w="10795">
            <a:solidFill>
              <a:srgbClr val="FF8790"/>
            </a:solidFill>
            <a:prstDash val="solid"/>
          </a:ln>
        </p:spPr>
      </p:sp>
      <p:sp>
        <p:nvSpPr>
          <p:cNvPr id="35" name="Shape 33"/>
          <p:cNvSpPr/>
          <p:nvPr/>
        </p:nvSpPr>
        <p:spPr>
          <a:xfrm>
            <a:off x="3991996" y="3047512"/>
            <a:ext cx="135240" cy="41971"/>
          </a:xfrm>
          <a:prstGeom prst="ellipse">
            <a:avLst/>
          </a:prstGeom>
          <a:solidFill>
            <a:srgbClr val="FF8790"/>
          </a:solidFill>
          <a:ln w="12700">
            <a:solidFill>
              <a:srgbClr val="FF8790"/>
            </a:solidFill>
            <a:prstDash val="solid"/>
          </a:ln>
        </p:spPr>
      </p:sp>
      <p:sp>
        <p:nvSpPr>
          <p:cNvPr id="36" name="Shape 34"/>
          <p:cNvSpPr/>
          <p:nvPr/>
        </p:nvSpPr>
        <p:spPr>
          <a:xfrm>
            <a:off x="4108582" y="2986888"/>
            <a:ext cx="60625" cy="65288"/>
          </a:xfrm>
          <a:prstGeom prst="ellipse">
            <a:avLst/>
          </a:prstGeom>
          <a:solidFill>
            <a:srgbClr val="07131F"/>
          </a:solidFill>
          <a:ln w="17780">
            <a:solidFill>
              <a:srgbClr val="FF8790"/>
            </a:solidFill>
            <a:prstDash val="solid"/>
          </a:ln>
        </p:spPr>
      </p:sp>
      <p:sp>
        <p:nvSpPr>
          <p:cNvPr id="37" name="Shape 35"/>
          <p:cNvSpPr/>
          <p:nvPr/>
        </p:nvSpPr>
        <p:spPr>
          <a:xfrm>
            <a:off x="1380744" y="4370832"/>
            <a:ext cx="704088" cy="557784"/>
          </a:xfrm>
          <a:prstGeom prst="roundRect">
            <a:avLst>
              <a:gd name="adj" fmla="val 9836"/>
            </a:avLst>
          </a:prstGeom>
          <a:solidFill>
            <a:srgbClr val="2C3642"/>
          </a:solidFill>
          <a:ln w="10795">
            <a:solidFill>
              <a:srgbClr val="586A78"/>
            </a:solidFill>
            <a:prstDash val="solid"/>
          </a:ln>
        </p:spPr>
      </p:sp>
      <p:sp>
        <p:nvSpPr>
          <p:cNvPr id="38" name="Shape 36"/>
          <p:cNvSpPr/>
          <p:nvPr/>
        </p:nvSpPr>
        <p:spPr>
          <a:xfrm>
            <a:off x="1563624" y="3968496"/>
            <a:ext cx="138257" cy="138257"/>
          </a:xfrm>
          <a:prstGeom prst="ellipse">
            <a:avLst/>
          </a:prstGeom>
          <a:solidFill>
            <a:srgbClr val="6B9BFF"/>
          </a:solidFill>
          <a:ln w="12700">
            <a:solidFill>
              <a:srgbClr val="6B9BFF"/>
            </a:solidFill>
            <a:prstDash val="solid"/>
          </a:ln>
        </p:spPr>
      </p:sp>
      <p:sp>
        <p:nvSpPr>
          <p:cNvPr id="39" name="Shape 37"/>
          <p:cNvSpPr/>
          <p:nvPr/>
        </p:nvSpPr>
        <p:spPr>
          <a:xfrm>
            <a:off x="1548262" y="4116995"/>
            <a:ext cx="174102" cy="220188"/>
          </a:xfrm>
          <a:prstGeom prst="roundRect">
            <a:avLst>
              <a:gd name="adj" fmla="val 26260"/>
            </a:avLst>
          </a:prstGeom>
          <a:solidFill>
            <a:srgbClr val="6B9BFF"/>
          </a:solidFill>
          <a:ln w="10795">
            <a:solidFill>
              <a:srgbClr val="6B9BFF"/>
            </a:solidFill>
            <a:prstDash val="solid"/>
          </a:ln>
        </p:spPr>
      </p:sp>
      <p:sp>
        <p:nvSpPr>
          <p:cNvPr id="40" name="Shape 38"/>
          <p:cNvSpPr/>
          <p:nvPr/>
        </p:nvSpPr>
        <p:spPr>
          <a:xfrm>
            <a:off x="1553383" y="4163080"/>
            <a:ext cx="-89611" cy="107533"/>
          </a:xfrm>
          <a:prstGeom prst="line">
            <a:avLst/>
          </a:prstGeom>
          <a:noFill/>
          <a:ln w="28448">
            <a:solidFill>
              <a:srgbClr val="6B9BFF"/>
            </a:solidFill>
            <a:prstDash val="solid"/>
            <a:headEnd type="none"/>
            <a:tailEnd type="none"/>
          </a:ln>
        </p:spPr>
      </p:sp>
      <p:sp>
        <p:nvSpPr>
          <p:cNvPr id="41" name="Shape 39"/>
          <p:cNvSpPr/>
          <p:nvPr/>
        </p:nvSpPr>
        <p:spPr>
          <a:xfrm>
            <a:off x="1712123" y="4163080"/>
            <a:ext cx="87051" cy="107533"/>
          </a:xfrm>
          <a:prstGeom prst="line">
            <a:avLst/>
          </a:prstGeom>
          <a:noFill/>
          <a:ln w="28448">
            <a:solidFill>
              <a:srgbClr val="6B9BFF"/>
            </a:solidFill>
            <a:prstDash val="solid"/>
            <a:headEnd type="none"/>
            <a:tailEnd type="none"/>
          </a:ln>
        </p:spPr>
      </p:sp>
      <p:sp>
        <p:nvSpPr>
          <p:cNvPr id="42" name="Shape 40"/>
          <p:cNvSpPr/>
          <p:nvPr/>
        </p:nvSpPr>
        <p:spPr>
          <a:xfrm>
            <a:off x="1589227" y="4326941"/>
            <a:ext cx="-20483" cy="128016"/>
          </a:xfrm>
          <a:prstGeom prst="line">
            <a:avLst/>
          </a:prstGeom>
          <a:noFill/>
          <a:ln w="28448">
            <a:solidFill>
              <a:srgbClr val="6B9BFF"/>
            </a:solidFill>
            <a:prstDash val="solid"/>
            <a:headEnd type="none"/>
            <a:tailEnd type="none"/>
          </a:ln>
        </p:spPr>
      </p:sp>
      <p:sp>
        <p:nvSpPr>
          <p:cNvPr id="43" name="Shape 41"/>
          <p:cNvSpPr/>
          <p:nvPr/>
        </p:nvSpPr>
        <p:spPr>
          <a:xfrm>
            <a:off x="1686519" y="4326941"/>
            <a:ext cx="10241" cy="128016"/>
          </a:xfrm>
          <a:prstGeom prst="line">
            <a:avLst/>
          </a:prstGeom>
          <a:noFill/>
          <a:ln w="28448">
            <a:solidFill>
              <a:srgbClr val="6B9BFF"/>
            </a:solidFill>
            <a:prstDash val="solid"/>
            <a:headEnd type="none"/>
            <a:tailEnd type="none"/>
          </a:ln>
        </p:spPr>
      </p:sp>
      <p:sp>
        <p:nvSpPr>
          <p:cNvPr id="44" name="Shape 42"/>
          <p:cNvSpPr/>
          <p:nvPr/>
        </p:nvSpPr>
        <p:spPr>
          <a:xfrm>
            <a:off x="2761488" y="4983480"/>
            <a:ext cx="182880" cy="182880"/>
          </a:xfrm>
          <a:prstGeom prst="ellipse">
            <a:avLst/>
          </a:prstGeom>
          <a:solidFill>
            <a:srgbClr val="48D7B2"/>
          </a:solidFill>
          <a:ln w="12700">
            <a:solidFill>
              <a:srgbClr val="48D7B2"/>
            </a:solidFill>
            <a:prstDash val="solid"/>
          </a:ln>
        </p:spPr>
      </p:sp>
      <p:sp>
        <p:nvSpPr>
          <p:cNvPr id="45" name="Text 43"/>
          <p:cNvSpPr/>
          <p:nvPr/>
        </p:nvSpPr>
        <p:spPr>
          <a:xfrm>
            <a:off x="2999232" y="4965192"/>
            <a:ext cx="466344" cy="201168"/>
          </a:xfrm>
          <a:prstGeom prst="rect">
            <a:avLst/>
          </a:prstGeom>
          <a:noFill/>
          <a:ln/>
        </p:spPr>
        <p:txBody>
          <a:bodyPr wrap="square" lIns="0" tIns="0" rIns="0" bIns="0" rtlCol="0" anchor="ctr"/>
          <a:lstStyle/>
          <a:p>
            <a:pPr algn="l" indent="0" marL="0">
              <a:lnSpc>
                <a:spcPct val="100000"/>
              </a:lnSpc>
              <a:buNone/>
            </a:pPr>
            <a:r>
              <a:rPr lang="en-US" sz="1000" b="1" dirty="0">
                <a:solidFill>
                  <a:srgbClr val="48D7B2"/>
                </a:solidFill>
                <a:latin typeface="Inter" pitchFamily="34" charset="0"/>
                <a:ea typeface="Inter" pitchFamily="34" charset="-122"/>
                <a:cs typeface="Inter" pitchFamily="34" charset="-120"/>
              </a:rPr>
              <a:t>V1</a:t>
            </a:r>
            <a:endParaRPr lang="en-US" sz="1000" dirty="0"/>
          </a:p>
        </p:txBody>
      </p:sp>
      <p:sp>
        <p:nvSpPr>
          <p:cNvPr id="46" name="Shape 44"/>
          <p:cNvSpPr/>
          <p:nvPr/>
        </p:nvSpPr>
        <p:spPr>
          <a:xfrm>
            <a:off x="2852928" y="5074920"/>
            <a:ext cx="1106424" cy="-1810512"/>
          </a:xfrm>
          <a:prstGeom prst="line">
            <a:avLst/>
          </a:prstGeom>
          <a:noFill/>
          <a:ln w="16510">
            <a:solidFill>
              <a:srgbClr val="48D7B2"/>
            </a:solidFill>
            <a:prstDash val="dash"/>
            <a:headEnd type="none"/>
            <a:tailEnd type="none"/>
          </a:ln>
        </p:spPr>
      </p:sp>
      <p:sp>
        <p:nvSpPr>
          <p:cNvPr id="47" name="Shape 45"/>
          <p:cNvSpPr/>
          <p:nvPr/>
        </p:nvSpPr>
        <p:spPr>
          <a:xfrm>
            <a:off x="5596128" y="3794760"/>
            <a:ext cx="182880" cy="182880"/>
          </a:xfrm>
          <a:prstGeom prst="ellipse">
            <a:avLst/>
          </a:prstGeom>
          <a:solidFill>
            <a:srgbClr val="E2D07A"/>
          </a:solidFill>
          <a:ln w="12700">
            <a:solidFill>
              <a:srgbClr val="E2D07A"/>
            </a:solidFill>
            <a:prstDash val="solid"/>
          </a:ln>
        </p:spPr>
      </p:sp>
      <p:sp>
        <p:nvSpPr>
          <p:cNvPr id="48" name="Text 46"/>
          <p:cNvSpPr/>
          <p:nvPr/>
        </p:nvSpPr>
        <p:spPr>
          <a:xfrm>
            <a:off x="5833872" y="3776472"/>
            <a:ext cx="466344" cy="201168"/>
          </a:xfrm>
          <a:prstGeom prst="rect">
            <a:avLst/>
          </a:prstGeom>
          <a:noFill/>
          <a:ln/>
        </p:spPr>
        <p:txBody>
          <a:bodyPr wrap="square" lIns="0" tIns="0" rIns="0" bIns="0" rtlCol="0" anchor="ctr"/>
          <a:lstStyle/>
          <a:p>
            <a:pPr algn="l" indent="0" marL="0">
              <a:lnSpc>
                <a:spcPct val="100000"/>
              </a:lnSpc>
              <a:buNone/>
            </a:pPr>
            <a:r>
              <a:rPr lang="en-US" sz="1000" b="1" dirty="0">
                <a:solidFill>
                  <a:srgbClr val="E2D07A"/>
                </a:solidFill>
                <a:latin typeface="Inter" pitchFamily="34" charset="0"/>
                <a:ea typeface="Inter" pitchFamily="34" charset="-122"/>
                <a:cs typeface="Inter" pitchFamily="34" charset="-120"/>
              </a:rPr>
              <a:t>V2</a:t>
            </a:r>
            <a:endParaRPr lang="en-US" sz="1000" dirty="0"/>
          </a:p>
        </p:txBody>
      </p:sp>
      <p:sp>
        <p:nvSpPr>
          <p:cNvPr id="49" name="Shape 47"/>
          <p:cNvSpPr/>
          <p:nvPr/>
        </p:nvSpPr>
        <p:spPr>
          <a:xfrm>
            <a:off x="5687568" y="3886200"/>
            <a:ext cx="-1728216" cy="-621792"/>
          </a:xfrm>
          <a:prstGeom prst="line">
            <a:avLst/>
          </a:prstGeom>
          <a:noFill/>
          <a:ln w="16510">
            <a:solidFill>
              <a:srgbClr val="E2D07A"/>
            </a:solidFill>
            <a:prstDash val="dash"/>
            <a:headEnd type="none"/>
            <a:tailEnd type="none"/>
          </a:ln>
        </p:spPr>
      </p:sp>
      <p:sp>
        <p:nvSpPr>
          <p:cNvPr id="50" name="Shape 48"/>
          <p:cNvSpPr/>
          <p:nvPr/>
        </p:nvSpPr>
        <p:spPr>
          <a:xfrm>
            <a:off x="3703320" y="2395728"/>
            <a:ext cx="182880" cy="182880"/>
          </a:xfrm>
          <a:prstGeom prst="ellipse">
            <a:avLst/>
          </a:prstGeom>
          <a:solidFill>
            <a:srgbClr val="65D5E9"/>
          </a:solidFill>
          <a:ln w="12700">
            <a:solidFill>
              <a:srgbClr val="65D5E9"/>
            </a:solidFill>
            <a:prstDash val="solid"/>
          </a:ln>
        </p:spPr>
      </p:sp>
      <p:sp>
        <p:nvSpPr>
          <p:cNvPr id="51" name="Text 49"/>
          <p:cNvSpPr/>
          <p:nvPr/>
        </p:nvSpPr>
        <p:spPr>
          <a:xfrm>
            <a:off x="3941064" y="2377440"/>
            <a:ext cx="466344" cy="201168"/>
          </a:xfrm>
          <a:prstGeom prst="rect">
            <a:avLst/>
          </a:prstGeom>
          <a:noFill/>
          <a:ln/>
        </p:spPr>
        <p:txBody>
          <a:bodyPr wrap="square" lIns="0" tIns="0" rIns="0" bIns="0" rtlCol="0" anchor="ctr"/>
          <a:lstStyle/>
          <a:p>
            <a:pPr algn="l" indent="0" marL="0">
              <a:lnSpc>
                <a:spcPct val="100000"/>
              </a:lnSpc>
              <a:buNone/>
            </a:pPr>
            <a:r>
              <a:rPr lang="en-US" sz="1000" b="1" dirty="0">
                <a:solidFill>
                  <a:srgbClr val="65D5E9"/>
                </a:solidFill>
                <a:latin typeface="Inter" pitchFamily="34" charset="0"/>
                <a:ea typeface="Inter" pitchFamily="34" charset="-122"/>
                <a:cs typeface="Inter" pitchFamily="34" charset="-120"/>
              </a:rPr>
              <a:t>V3</a:t>
            </a:r>
            <a:endParaRPr lang="en-US" sz="1000" dirty="0"/>
          </a:p>
        </p:txBody>
      </p:sp>
      <p:sp>
        <p:nvSpPr>
          <p:cNvPr id="52" name="Shape 50"/>
          <p:cNvSpPr/>
          <p:nvPr/>
        </p:nvSpPr>
        <p:spPr>
          <a:xfrm>
            <a:off x="3794760" y="2487168"/>
            <a:ext cx="164592" cy="777240"/>
          </a:xfrm>
          <a:prstGeom prst="line">
            <a:avLst/>
          </a:prstGeom>
          <a:noFill/>
          <a:ln w="16510">
            <a:solidFill>
              <a:srgbClr val="65D5E9"/>
            </a:solidFill>
            <a:prstDash val="dash"/>
            <a:headEnd type="none"/>
            <a:tailEnd type="none"/>
          </a:ln>
        </p:spPr>
      </p:sp>
      <p:sp>
        <p:nvSpPr>
          <p:cNvPr id="53" name="Shape 51"/>
          <p:cNvSpPr/>
          <p:nvPr/>
        </p:nvSpPr>
        <p:spPr>
          <a:xfrm>
            <a:off x="2039112" y="4663440"/>
            <a:ext cx="740664" cy="393192"/>
          </a:xfrm>
          <a:prstGeom prst="line">
            <a:avLst/>
          </a:prstGeom>
          <a:noFill/>
          <a:ln w="25400">
            <a:solidFill>
              <a:srgbClr val="6B9BFF"/>
            </a:solidFill>
            <a:prstDash val="dash"/>
            <a:headEnd type="none"/>
            <a:tailEnd type="triangle"/>
          </a:ln>
        </p:spPr>
      </p:sp>
      <p:sp>
        <p:nvSpPr>
          <p:cNvPr id="54" name="Shape 52"/>
          <p:cNvSpPr/>
          <p:nvPr/>
        </p:nvSpPr>
        <p:spPr>
          <a:xfrm>
            <a:off x="7589520" y="2103120"/>
            <a:ext cx="3986784" cy="3593592"/>
          </a:xfrm>
          <a:prstGeom prst="roundRect">
            <a:avLst>
              <a:gd name="adj" fmla="val 3562"/>
            </a:avLst>
          </a:prstGeom>
          <a:solidFill>
            <a:srgbClr val="102335"/>
          </a:solidFill>
          <a:ln w="10795">
            <a:solidFill>
              <a:srgbClr val="294056"/>
            </a:solidFill>
            <a:prstDash val="solid"/>
          </a:ln>
        </p:spPr>
      </p:sp>
      <p:sp>
        <p:nvSpPr>
          <p:cNvPr id="55" name="Text 53"/>
          <p:cNvSpPr/>
          <p:nvPr/>
        </p:nvSpPr>
        <p:spPr>
          <a:xfrm>
            <a:off x="7836408" y="2432304"/>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65D5E9"/>
                </a:solidFill>
                <a:latin typeface="Inter" pitchFamily="34" charset="0"/>
                <a:ea typeface="Inter" pitchFamily="34" charset="-122"/>
                <a:cs typeface="Inter" pitchFamily="34" charset="-120"/>
              </a:rPr>
              <a:t>VIEWPOINT SCORE</a:t>
            </a:r>
            <a:endParaRPr lang="en-US" sz="1000" dirty="0"/>
          </a:p>
        </p:txBody>
      </p:sp>
      <p:sp>
        <p:nvSpPr>
          <p:cNvPr id="56" name="Text 54"/>
          <p:cNvSpPr/>
          <p:nvPr/>
        </p:nvSpPr>
        <p:spPr>
          <a:xfrm>
            <a:off x="7854696" y="2852928"/>
            <a:ext cx="2962656" cy="365760"/>
          </a:xfrm>
          <a:prstGeom prst="rect">
            <a:avLst/>
          </a:prstGeom>
          <a:noFill/>
          <a:ln/>
        </p:spPr>
        <p:txBody>
          <a:bodyPr wrap="square" lIns="0" tIns="0" rIns="0" bIns="0" rtlCol="0" anchor="ctr"/>
          <a:lstStyle/>
          <a:p>
            <a:pPr algn="l" indent="0" marL="0">
              <a:lnSpc>
                <a:spcPct val="100000"/>
              </a:lnSpc>
              <a:buNone/>
            </a:pPr>
            <a:r>
              <a:rPr lang="en-US" sz="2100" b="1" dirty="0">
                <a:solidFill>
                  <a:srgbClr val="F5F7FC"/>
                </a:solidFill>
                <a:latin typeface="Inter" pitchFamily="34" charset="0"/>
                <a:ea typeface="Inter" pitchFamily="34" charset="-122"/>
                <a:cs typeface="Inter" pitchFamily="34" charset="-120"/>
              </a:rPr>
              <a:t>Q(view) =</a:t>
            </a:r>
            <a:endParaRPr lang="en-US" sz="2100" dirty="0"/>
          </a:p>
        </p:txBody>
      </p:sp>
      <p:sp>
        <p:nvSpPr>
          <p:cNvPr id="57" name="Shape 55"/>
          <p:cNvSpPr/>
          <p:nvPr/>
        </p:nvSpPr>
        <p:spPr>
          <a:xfrm>
            <a:off x="7808976" y="3383280"/>
            <a:ext cx="292608" cy="246888"/>
          </a:xfrm>
          <a:prstGeom prst="roundRect">
            <a:avLst>
              <a:gd name="adj" fmla="val 66667"/>
            </a:avLst>
          </a:prstGeom>
          <a:solidFill>
            <a:srgbClr val="48D7B2">
              <a:alpha val="16000"/>
            </a:srgbClr>
          </a:solidFill>
          <a:ln w="10795">
            <a:solidFill>
              <a:srgbClr val="48D7B2"/>
            </a:solidFill>
            <a:prstDash val="solid"/>
          </a:ln>
        </p:spPr>
      </p:sp>
      <p:sp>
        <p:nvSpPr>
          <p:cNvPr id="58" name="Text 56"/>
          <p:cNvSpPr/>
          <p:nvPr/>
        </p:nvSpPr>
        <p:spPr>
          <a:xfrm>
            <a:off x="7863840" y="3392424"/>
            <a:ext cx="182880" cy="228600"/>
          </a:xfrm>
          <a:prstGeom prst="rect">
            <a:avLst/>
          </a:prstGeom>
          <a:noFill/>
          <a:ln/>
        </p:spPr>
        <p:txBody>
          <a:bodyPr wrap="square" lIns="0" tIns="0" rIns="0" bIns="0" rtlCol="0" anchor="ctr"/>
          <a:lstStyle/>
          <a:p>
            <a:pPr algn="ctr" indent="0" marL="0">
              <a:lnSpc>
                <a:spcPct val="100000"/>
              </a:lnSpc>
              <a:buNone/>
            </a:pPr>
            <a:r>
              <a:rPr lang="en-US" sz="900" b="1" dirty="0">
                <a:solidFill>
                  <a:srgbClr val="48D7B2"/>
                </a:solidFill>
                <a:latin typeface="Inter" pitchFamily="34" charset="0"/>
                <a:ea typeface="Inter" pitchFamily="34" charset="-122"/>
                <a:cs typeface="Inter" pitchFamily="34" charset="-120"/>
              </a:rPr>
              <a:t>1</a:t>
            </a:r>
            <a:endParaRPr lang="en-US" sz="900" dirty="0"/>
          </a:p>
        </p:txBody>
      </p:sp>
      <p:sp>
        <p:nvSpPr>
          <p:cNvPr id="59" name="Text 57"/>
          <p:cNvSpPr/>
          <p:nvPr/>
        </p:nvSpPr>
        <p:spPr>
          <a:xfrm>
            <a:off x="8220456" y="3328416"/>
            <a:ext cx="1078992" cy="292608"/>
          </a:xfrm>
          <a:prstGeom prst="rect">
            <a:avLst/>
          </a:prstGeom>
          <a:noFill/>
          <a:ln/>
        </p:spPr>
        <p:txBody>
          <a:bodyPr wrap="square" lIns="0" tIns="0" rIns="0" bIns="0" rtlCol="0" anchor="ctr"/>
          <a:lstStyle/>
          <a:p>
            <a:pPr algn="l" indent="0" marL="0">
              <a:lnSpc>
                <a:spcPct val="100000"/>
              </a:lnSpc>
              <a:buNone/>
            </a:pPr>
            <a:r>
              <a:rPr lang="en-US" sz="1200" b="1" dirty="0">
                <a:solidFill>
                  <a:srgbClr val="F5F7FC"/>
                </a:solidFill>
                <a:latin typeface="Inter" pitchFamily="34" charset="0"/>
                <a:ea typeface="Inter" pitchFamily="34" charset="-122"/>
                <a:cs typeface="Inter" pitchFamily="34" charset="-120"/>
              </a:rPr>
              <a:t>Visibility</a:t>
            </a:r>
            <a:endParaRPr lang="en-US" sz="1200" dirty="0"/>
          </a:p>
        </p:txBody>
      </p:sp>
      <p:sp>
        <p:nvSpPr>
          <p:cNvPr id="60" name="Text 58"/>
          <p:cNvSpPr/>
          <p:nvPr/>
        </p:nvSpPr>
        <p:spPr>
          <a:xfrm>
            <a:off x="9198864" y="3337560"/>
            <a:ext cx="2203704" cy="301752"/>
          </a:xfrm>
          <a:prstGeom prst="rect">
            <a:avLst/>
          </a:prstGeom>
          <a:noFill/>
          <a:ln/>
        </p:spPr>
        <p:txBody>
          <a:bodyPr wrap="square" lIns="0" tIns="0" rIns="0" bIns="0" rtlCol="0" anchor="ctr"/>
          <a:lstStyle/>
          <a:p>
            <a:pPr algn="l" indent="0" marL="0">
              <a:lnSpc>
                <a:spcPct val="100000"/>
              </a:lnSpc>
              <a:buNone/>
            </a:pPr>
            <a:r>
              <a:rPr lang="en-US" sz="1040" dirty="0">
                <a:solidFill>
                  <a:srgbClr val="A1B2C4"/>
                </a:solidFill>
                <a:latin typeface="Inter" pitchFamily="34" charset="0"/>
                <a:ea typeface="Inter" pitchFamily="34" charset="-122"/>
                <a:cs typeface="Inter" pitchFamily="34" charset="-120"/>
              </a:rPr>
              <a:t>Can the camera see the support?</a:t>
            </a:r>
            <a:endParaRPr lang="en-US" sz="1040" dirty="0"/>
          </a:p>
        </p:txBody>
      </p:sp>
      <p:sp>
        <p:nvSpPr>
          <p:cNvPr id="61" name="Shape 59"/>
          <p:cNvSpPr/>
          <p:nvPr/>
        </p:nvSpPr>
        <p:spPr>
          <a:xfrm>
            <a:off x="7808976" y="3840480"/>
            <a:ext cx="292608" cy="246888"/>
          </a:xfrm>
          <a:prstGeom prst="roundRect">
            <a:avLst>
              <a:gd name="adj" fmla="val 66667"/>
            </a:avLst>
          </a:prstGeom>
          <a:solidFill>
            <a:srgbClr val="48D7B2">
              <a:alpha val="16000"/>
            </a:srgbClr>
          </a:solidFill>
          <a:ln w="10795">
            <a:solidFill>
              <a:srgbClr val="48D7B2"/>
            </a:solidFill>
            <a:prstDash val="solid"/>
          </a:ln>
        </p:spPr>
      </p:sp>
      <p:sp>
        <p:nvSpPr>
          <p:cNvPr id="62" name="Text 60"/>
          <p:cNvSpPr/>
          <p:nvPr/>
        </p:nvSpPr>
        <p:spPr>
          <a:xfrm>
            <a:off x="7863840" y="3849624"/>
            <a:ext cx="182880" cy="228600"/>
          </a:xfrm>
          <a:prstGeom prst="rect">
            <a:avLst/>
          </a:prstGeom>
          <a:noFill/>
          <a:ln/>
        </p:spPr>
        <p:txBody>
          <a:bodyPr wrap="square" lIns="0" tIns="0" rIns="0" bIns="0" rtlCol="0" anchor="ctr"/>
          <a:lstStyle/>
          <a:p>
            <a:pPr algn="ctr" indent="0" marL="0">
              <a:lnSpc>
                <a:spcPct val="100000"/>
              </a:lnSpc>
              <a:buNone/>
            </a:pPr>
            <a:r>
              <a:rPr lang="en-US" sz="900" b="1" dirty="0">
                <a:solidFill>
                  <a:srgbClr val="48D7B2"/>
                </a:solidFill>
                <a:latin typeface="Inter" pitchFamily="34" charset="0"/>
                <a:ea typeface="Inter" pitchFamily="34" charset="-122"/>
                <a:cs typeface="Inter" pitchFamily="34" charset="-120"/>
              </a:rPr>
              <a:t>2</a:t>
            </a:r>
            <a:endParaRPr lang="en-US" sz="900" dirty="0"/>
          </a:p>
        </p:txBody>
      </p:sp>
      <p:sp>
        <p:nvSpPr>
          <p:cNvPr id="63" name="Text 61"/>
          <p:cNvSpPr/>
          <p:nvPr/>
        </p:nvSpPr>
        <p:spPr>
          <a:xfrm>
            <a:off x="8220456" y="3785616"/>
            <a:ext cx="1078992" cy="292608"/>
          </a:xfrm>
          <a:prstGeom prst="rect">
            <a:avLst/>
          </a:prstGeom>
          <a:noFill/>
          <a:ln/>
        </p:spPr>
        <p:txBody>
          <a:bodyPr wrap="square" lIns="0" tIns="0" rIns="0" bIns="0" rtlCol="0" anchor="ctr"/>
          <a:lstStyle/>
          <a:p>
            <a:pPr algn="l" indent="0" marL="0">
              <a:lnSpc>
                <a:spcPct val="100000"/>
              </a:lnSpc>
              <a:buNone/>
            </a:pPr>
            <a:r>
              <a:rPr lang="en-US" sz="1200" b="1" dirty="0">
                <a:solidFill>
                  <a:srgbClr val="F5F7FC"/>
                </a:solidFill>
                <a:latin typeface="Inter" pitchFamily="34" charset="0"/>
                <a:ea typeface="Inter" pitchFamily="34" charset="-122"/>
                <a:cs typeface="Inter" pitchFamily="34" charset="-120"/>
              </a:rPr>
              <a:t>Coverage</a:t>
            </a:r>
            <a:endParaRPr lang="en-US" sz="1200" dirty="0"/>
          </a:p>
        </p:txBody>
      </p:sp>
      <p:sp>
        <p:nvSpPr>
          <p:cNvPr id="64" name="Text 62"/>
          <p:cNvSpPr/>
          <p:nvPr/>
        </p:nvSpPr>
        <p:spPr>
          <a:xfrm>
            <a:off x="9198864" y="3794760"/>
            <a:ext cx="2203704" cy="301752"/>
          </a:xfrm>
          <a:prstGeom prst="rect">
            <a:avLst/>
          </a:prstGeom>
          <a:noFill/>
          <a:ln/>
        </p:spPr>
        <p:txBody>
          <a:bodyPr wrap="square" lIns="0" tIns="0" rIns="0" bIns="0" rtlCol="0" anchor="ctr"/>
          <a:lstStyle/>
          <a:p>
            <a:pPr algn="l" indent="0" marL="0">
              <a:lnSpc>
                <a:spcPct val="100000"/>
              </a:lnSpc>
              <a:buNone/>
            </a:pPr>
            <a:r>
              <a:rPr lang="en-US" sz="1040" dirty="0">
                <a:solidFill>
                  <a:srgbClr val="A1B2C4"/>
                </a:solidFill>
                <a:latin typeface="Inter" pitchFamily="34" charset="0"/>
                <a:ea typeface="Inter" pitchFamily="34" charset="-122"/>
                <a:cs typeface="Inter" pitchFamily="34" charset="-120"/>
              </a:rPr>
              <a:t>Is this a new angle?</a:t>
            </a:r>
            <a:endParaRPr lang="en-US" sz="1040" dirty="0"/>
          </a:p>
        </p:txBody>
      </p:sp>
      <p:sp>
        <p:nvSpPr>
          <p:cNvPr id="65" name="Shape 63"/>
          <p:cNvSpPr/>
          <p:nvPr/>
        </p:nvSpPr>
        <p:spPr>
          <a:xfrm>
            <a:off x="7808976" y="4297680"/>
            <a:ext cx="292608" cy="246888"/>
          </a:xfrm>
          <a:prstGeom prst="roundRect">
            <a:avLst>
              <a:gd name="adj" fmla="val 66667"/>
            </a:avLst>
          </a:prstGeom>
          <a:solidFill>
            <a:srgbClr val="48D7B2">
              <a:alpha val="16000"/>
            </a:srgbClr>
          </a:solidFill>
          <a:ln w="10795">
            <a:solidFill>
              <a:srgbClr val="48D7B2"/>
            </a:solidFill>
            <a:prstDash val="solid"/>
          </a:ln>
        </p:spPr>
      </p:sp>
      <p:sp>
        <p:nvSpPr>
          <p:cNvPr id="66" name="Text 64"/>
          <p:cNvSpPr/>
          <p:nvPr/>
        </p:nvSpPr>
        <p:spPr>
          <a:xfrm>
            <a:off x="7863840" y="4306824"/>
            <a:ext cx="182880" cy="228600"/>
          </a:xfrm>
          <a:prstGeom prst="rect">
            <a:avLst/>
          </a:prstGeom>
          <a:noFill/>
          <a:ln/>
        </p:spPr>
        <p:txBody>
          <a:bodyPr wrap="square" lIns="0" tIns="0" rIns="0" bIns="0" rtlCol="0" anchor="ctr"/>
          <a:lstStyle/>
          <a:p>
            <a:pPr algn="ctr" indent="0" marL="0">
              <a:lnSpc>
                <a:spcPct val="100000"/>
              </a:lnSpc>
              <a:buNone/>
            </a:pPr>
            <a:r>
              <a:rPr lang="en-US" sz="900" b="1" dirty="0">
                <a:solidFill>
                  <a:srgbClr val="48D7B2"/>
                </a:solidFill>
                <a:latin typeface="Inter" pitchFamily="34" charset="0"/>
                <a:ea typeface="Inter" pitchFamily="34" charset="-122"/>
                <a:cs typeface="Inter" pitchFamily="34" charset="-120"/>
              </a:rPr>
              <a:t>3</a:t>
            </a:r>
            <a:endParaRPr lang="en-US" sz="900" dirty="0"/>
          </a:p>
        </p:txBody>
      </p:sp>
      <p:sp>
        <p:nvSpPr>
          <p:cNvPr id="67" name="Text 65"/>
          <p:cNvSpPr/>
          <p:nvPr/>
        </p:nvSpPr>
        <p:spPr>
          <a:xfrm>
            <a:off x="8220456" y="4242816"/>
            <a:ext cx="1078992" cy="292608"/>
          </a:xfrm>
          <a:prstGeom prst="rect">
            <a:avLst/>
          </a:prstGeom>
          <a:noFill/>
          <a:ln/>
        </p:spPr>
        <p:txBody>
          <a:bodyPr wrap="square" lIns="0" tIns="0" rIns="0" bIns="0" rtlCol="0" anchor="ctr"/>
          <a:lstStyle/>
          <a:p>
            <a:pPr algn="l" indent="0" marL="0">
              <a:lnSpc>
                <a:spcPct val="100000"/>
              </a:lnSpc>
              <a:buNone/>
            </a:pPr>
            <a:r>
              <a:rPr lang="en-US" sz="1200" b="1" dirty="0">
                <a:solidFill>
                  <a:srgbClr val="F5F7FC"/>
                </a:solidFill>
                <a:latin typeface="Inter" pitchFamily="34" charset="0"/>
                <a:ea typeface="Inter" pitchFamily="34" charset="-122"/>
                <a:cs typeface="Inter" pitchFamily="34" charset="-120"/>
              </a:rPr>
              <a:t>Path cost</a:t>
            </a:r>
            <a:endParaRPr lang="en-US" sz="1200" dirty="0"/>
          </a:p>
        </p:txBody>
      </p:sp>
      <p:sp>
        <p:nvSpPr>
          <p:cNvPr id="68" name="Text 66"/>
          <p:cNvSpPr/>
          <p:nvPr/>
        </p:nvSpPr>
        <p:spPr>
          <a:xfrm>
            <a:off x="9198864" y="4251960"/>
            <a:ext cx="2203704" cy="301752"/>
          </a:xfrm>
          <a:prstGeom prst="rect">
            <a:avLst/>
          </a:prstGeom>
          <a:noFill/>
          <a:ln/>
        </p:spPr>
        <p:txBody>
          <a:bodyPr wrap="square" lIns="0" tIns="0" rIns="0" bIns="0" rtlCol="0" anchor="ctr"/>
          <a:lstStyle/>
          <a:p>
            <a:pPr algn="l" indent="0" marL="0">
              <a:lnSpc>
                <a:spcPct val="100000"/>
              </a:lnSpc>
              <a:buNone/>
            </a:pPr>
            <a:r>
              <a:rPr lang="en-US" sz="1040" dirty="0">
                <a:solidFill>
                  <a:srgbClr val="A1B2C4"/>
                </a:solidFill>
                <a:latin typeface="Inter" pitchFamily="34" charset="0"/>
                <a:ea typeface="Inter" pitchFamily="34" charset="-122"/>
                <a:cs typeface="Inter" pitchFamily="34" charset="-120"/>
              </a:rPr>
              <a:t>Can G1 reach the viewpoint?</a:t>
            </a:r>
            <a:endParaRPr lang="en-US" sz="1040" dirty="0"/>
          </a:p>
        </p:txBody>
      </p:sp>
      <p:sp>
        <p:nvSpPr>
          <p:cNvPr id="69" name="Shape 67"/>
          <p:cNvSpPr/>
          <p:nvPr/>
        </p:nvSpPr>
        <p:spPr>
          <a:xfrm>
            <a:off x="7808976" y="4754880"/>
            <a:ext cx="292608" cy="246888"/>
          </a:xfrm>
          <a:prstGeom prst="roundRect">
            <a:avLst>
              <a:gd name="adj" fmla="val 66667"/>
            </a:avLst>
          </a:prstGeom>
          <a:solidFill>
            <a:srgbClr val="FF8790">
              <a:alpha val="16000"/>
            </a:srgbClr>
          </a:solidFill>
          <a:ln w="10795">
            <a:solidFill>
              <a:srgbClr val="FF8790"/>
            </a:solidFill>
            <a:prstDash val="solid"/>
          </a:ln>
        </p:spPr>
      </p:sp>
      <p:sp>
        <p:nvSpPr>
          <p:cNvPr id="70" name="Text 68"/>
          <p:cNvSpPr/>
          <p:nvPr/>
        </p:nvSpPr>
        <p:spPr>
          <a:xfrm>
            <a:off x="7863840" y="4764024"/>
            <a:ext cx="182880" cy="228600"/>
          </a:xfrm>
          <a:prstGeom prst="rect">
            <a:avLst/>
          </a:prstGeom>
          <a:noFill/>
          <a:ln/>
        </p:spPr>
        <p:txBody>
          <a:bodyPr wrap="square" lIns="0" tIns="0" rIns="0" bIns="0" rtlCol="0" anchor="ctr"/>
          <a:lstStyle/>
          <a:p>
            <a:pPr algn="ctr" indent="0" marL="0">
              <a:lnSpc>
                <a:spcPct val="100000"/>
              </a:lnSpc>
              <a:buNone/>
            </a:pPr>
            <a:r>
              <a:rPr lang="en-US" sz="900" b="1" dirty="0">
                <a:solidFill>
                  <a:srgbClr val="FF8790"/>
                </a:solidFill>
                <a:latin typeface="Inter" pitchFamily="34" charset="0"/>
                <a:ea typeface="Inter" pitchFamily="34" charset="-122"/>
                <a:cs typeface="Inter" pitchFamily="34" charset="-120"/>
              </a:rPr>
              <a:t>4</a:t>
            </a:r>
            <a:endParaRPr lang="en-US" sz="900" dirty="0"/>
          </a:p>
        </p:txBody>
      </p:sp>
      <p:sp>
        <p:nvSpPr>
          <p:cNvPr id="71" name="Text 69"/>
          <p:cNvSpPr/>
          <p:nvPr/>
        </p:nvSpPr>
        <p:spPr>
          <a:xfrm>
            <a:off x="8220456" y="4700016"/>
            <a:ext cx="1078992" cy="292608"/>
          </a:xfrm>
          <a:prstGeom prst="rect">
            <a:avLst/>
          </a:prstGeom>
          <a:noFill/>
          <a:ln/>
        </p:spPr>
        <p:txBody>
          <a:bodyPr wrap="square" lIns="0" tIns="0" rIns="0" bIns="0" rtlCol="0" anchor="ctr"/>
          <a:lstStyle/>
          <a:p>
            <a:pPr algn="l" indent="0" marL="0">
              <a:lnSpc>
                <a:spcPct val="100000"/>
              </a:lnSpc>
              <a:buNone/>
            </a:pPr>
            <a:r>
              <a:rPr lang="en-US" sz="1200" b="1" dirty="0">
                <a:solidFill>
                  <a:srgbClr val="F5F7FC"/>
                </a:solidFill>
                <a:latin typeface="Inter" pitchFamily="34" charset="0"/>
                <a:ea typeface="Inter" pitchFamily="34" charset="-122"/>
                <a:cs typeface="Inter" pitchFamily="34" charset="-120"/>
              </a:rPr>
              <a:t>Safety</a:t>
            </a:r>
            <a:endParaRPr lang="en-US" sz="1200" dirty="0"/>
          </a:p>
        </p:txBody>
      </p:sp>
      <p:sp>
        <p:nvSpPr>
          <p:cNvPr id="72" name="Text 70"/>
          <p:cNvSpPr/>
          <p:nvPr/>
        </p:nvSpPr>
        <p:spPr>
          <a:xfrm>
            <a:off x="9198864" y="4709160"/>
            <a:ext cx="2203704" cy="301752"/>
          </a:xfrm>
          <a:prstGeom prst="rect">
            <a:avLst/>
          </a:prstGeom>
          <a:noFill/>
          <a:ln/>
        </p:spPr>
        <p:txBody>
          <a:bodyPr wrap="square" lIns="0" tIns="0" rIns="0" bIns="0" rtlCol="0" anchor="ctr"/>
          <a:lstStyle/>
          <a:p>
            <a:pPr algn="l" indent="0" marL="0">
              <a:lnSpc>
                <a:spcPct val="100000"/>
              </a:lnSpc>
              <a:buNone/>
            </a:pPr>
            <a:r>
              <a:rPr lang="en-US" sz="1040" dirty="0">
                <a:solidFill>
                  <a:srgbClr val="A1B2C4"/>
                </a:solidFill>
                <a:latin typeface="Inter" pitchFamily="34" charset="0"/>
                <a:ea typeface="Inter" pitchFamily="34" charset="-122"/>
                <a:cs typeface="Inter" pitchFamily="34" charset="-120"/>
              </a:rPr>
              <a:t>Is whole-body clearance valid?</a:t>
            </a:r>
            <a:endParaRPr lang="en-US" sz="10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PHASE 3 / GROUNDING</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A detection is not yet the requested object</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Class, color, support relation, map-frame pose, and confidence must agree.</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11</a:t>
            </a:r>
            <a:endParaRPr lang="en-US" sz="1100" dirty="0"/>
          </a:p>
        </p:txBody>
      </p:sp>
      <p:sp>
        <p:nvSpPr>
          <p:cNvPr id="11" name="Shape 9"/>
          <p:cNvSpPr/>
          <p:nvPr/>
        </p:nvSpPr>
        <p:spPr>
          <a:xfrm>
            <a:off x="530352" y="2286000"/>
            <a:ext cx="3108960" cy="2990088"/>
          </a:xfrm>
          <a:prstGeom prst="roundRect">
            <a:avLst>
              <a:gd name="adj" fmla="val 4281"/>
            </a:avLst>
          </a:prstGeom>
          <a:solidFill>
            <a:srgbClr val="102335"/>
          </a:solidFill>
          <a:ln w="10795">
            <a:solidFill>
              <a:srgbClr val="294056"/>
            </a:solidFill>
            <a:prstDash val="solid"/>
          </a:ln>
        </p:spPr>
      </p:sp>
      <p:sp>
        <p:nvSpPr>
          <p:cNvPr id="12" name="Text 10"/>
          <p:cNvSpPr/>
          <p:nvPr/>
        </p:nvSpPr>
        <p:spPr>
          <a:xfrm>
            <a:off x="768096" y="2523744"/>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65D5E9"/>
                </a:solidFill>
                <a:latin typeface="Inter" pitchFamily="34" charset="0"/>
                <a:ea typeface="Inter" pitchFamily="34" charset="-122"/>
                <a:cs typeface="Inter" pitchFamily="34" charset="-120"/>
              </a:rPr>
              <a:t>OBSERVATIONS</a:t>
            </a:r>
            <a:endParaRPr lang="en-US" sz="1000" dirty="0"/>
          </a:p>
        </p:txBody>
      </p:sp>
      <p:sp>
        <p:nvSpPr>
          <p:cNvPr id="13" name="Shape 11"/>
          <p:cNvSpPr/>
          <p:nvPr/>
        </p:nvSpPr>
        <p:spPr>
          <a:xfrm>
            <a:off x="1051560" y="3081528"/>
            <a:ext cx="2048256" cy="362102"/>
          </a:xfrm>
          <a:prstGeom prst="roundRect">
            <a:avLst>
              <a:gd name="adj" fmla="val 12626"/>
            </a:avLst>
          </a:prstGeom>
          <a:solidFill>
            <a:srgbClr val="B49A77">
              <a:alpha val="85000"/>
            </a:srgbClr>
          </a:solidFill>
          <a:ln w="10795">
            <a:solidFill>
              <a:srgbClr val="B49A77"/>
            </a:solidFill>
            <a:prstDash val="solid"/>
          </a:ln>
        </p:spPr>
      </p:sp>
      <p:sp>
        <p:nvSpPr>
          <p:cNvPr id="14" name="Shape 12"/>
          <p:cNvSpPr/>
          <p:nvPr/>
        </p:nvSpPr>
        <p:spPr>
          <a:xfrm>
            <a:off x="1215420" y="3383280"/>
            <a:ext cx="184343" cy="673913"/>
          </a:xfrm>
          <a:prstGeom prst="rect">
            <a:avLst/>
          </a:prstGeom>
          <a:solidFill>
            <a:srgbClr val="B49A77"/>
          </a:solidFill>
          <a:ln w="10795">
            <a:solidFill>
              <a:srgbClr val="B49A77"/>
            </a:solidFill>
            <a:prstDash val="solid"/>
          </a:ln>
        </p:spPr>
      </p:sp>
      <p:sp>
        <p:nvSpPr>
          <p:cNvPr id="15" name="Shape 13"/>
          <p:cNvSpPr/>
          <p:nvPr/>
        </p:nvSpPr>
        <p:spPr>
          <a:xfrm>
            <a:off x="2731130" y="3383280"/>
            <a:ext cx="184343" cy="673913"/>
          </a:xfrm>
          <a:prstGeom prst="rect">
            <a:avLst/>
          </a:prstGeom>
          <a:solidFill>
            <a:srgbClr val="B49A77"/>
          </a:solidFill>
          <a:ln w="10795">
            <a:solidFill>
              <a:srgbClr val="B49A77"/>
            </a:solidFill>
            <a:prstDash val="solid"/>
          </a:ln>
        </p:spPr>
      </p:sp>
      <p:sp>
        <p:nvSpPr>
          <p:cNvPr id="16" name="Shape 14"/>
          <p:cNvSpPr/>
          <p:nvPr/>
        </p:nvSpPr>
        <p:spPr>
          <a:xfrm>
            <a:off x="1443015" y="2954884"/>
            <a:ext cx="220096" cy="60716"/>
          </a:xfrm>
          <a:prstGeom prst="ellipse">
            <a:avLst/>
          </a:prstGeom>
          <a:solidFill>
            <a:srgbClr val="FF8790"/>
          </a:solidFill>
          <a:ln w="12700">
            <a:solidFill>
              <a:srgbClr val="FF8790"/>
            </a:solidFill>
            <a:prstDash val="solid"/>
          </a:ln>
        </p:spPr>
      </p:sp>
      <p:sp>
        <p:nvSpPr>
          <p:cNvPr id="17" name="Shape 15"/>
          <p:cNvSpPr/>
          <p:nvPr/>
        </p:nvSpPr>
        <p:spPr>
          <a:xfrm>
            <a:off x="1461988" y="2977652"/>
            <a:ext cx="185943" cy="197328"/>
          </a:xfrm>
          <a:prstGeom prst="roundRect">
            <a:avLst>
              <a:gd name="adj" fmla="val 19671"/>
            </a:avLst>
          </a:prstGeom>
          <a:solidFill>
            <a:srgbClr val="FF8790"/>
          </a:solidFill>
          <a:ln w="10795">
            <a:solidFill>
              <a:srgbClr val="FF8790"/>
            </a:solidFill>
            <a:prstDash val="solid"/>
          </a:ln>
        </p:spPr>
      </p:sp>
      <p:sp>
        <p:nvSpPr>
          <p:cNvPr id="18" name="Shape 16"/>
          <p:cNvSpPr/>
          <p:nvPr/>
        </p:nvSpPr>
        <p:spPr>
          <a:xfrm>
            <a:off x="1443015" y="3129443"/>
            <a:ext cx="220096" cy="68306"/>
          </a:xfrm>
          <a:prstGeom prst="ellipse">
            <a:avLst/>
          </a:prstGeom>
          <a:solidFill>
            <a:srgbClr val="FF8790"/>
          </a:solidFill>
          <a:ln w="12700">
            <a:solidFill>
              <a:srgbClr val="FF8790"/>
            </a:solidFill>
            <a:prstDash val="solid"/>
          </a:ln>
        </p:spPr>
      </p:sp>
      <p:sp>
        <p:nvSpPr>
          <p:cNvPr id="19" name="Shape 17"/>
          <p:cNvSpPr/>
          <p:nvPr/>
        </p:nvSpPr>
        <p:spPr>
          <a:xfrm>
            <a:off x="1632753" y="3030779"/>
            <a:ext cx="98664" cy="106253"/>
          </a:xfrm>
          <a:prstGeom prst="ellipse">
            <a:avLst/>
          </a:prstGeom>
          <a:solidFill>
            <a:srgbClr val="07131F"/>
          </a:solidFill>
          <a:ln w="17780">
            <a:solidFill>
              <a:srgbClr val="FF8790"/>
            </a:solidFill>
            <a:prstDash val="solid"/>
          </a:ln>
        </p:spPr>
      </p:sp>
      <p:sp>
        <p:nvSpPr>
          <p:cNvPr id="20" name="Shape 18"/>
          <p:cNvSpPr/>
          <p:nvPr/>
        </p:nvSpPr>
        <p:spPr>
          <a:xfrm>
            <a:off x="2386950" y="2949854"/>
            <a:ext cx="190927" cy="52669"/>
          </a:xfrm>
          <a:prstGeom prst="ellipse">
            <a:avLst/>
          </a:prstGeom>
          <a:solidFill>
            <a:srgbClr val="6B9BFF"/>
          </a:solidFill>
          <a:ln w="12700">
            <a:solidFill>
              <a:srgbClr val="6B9BFF"/>
            </a:solidFill>
            <a:prstDash val="solid"/>
          </a:ln>
        </p:spPr>
      </p:sp>
      <p:sp>
        <p:nvSpPr>
          <p:cNvPr id="21" name="Shape 19"/>
          <p:cNvSpPr/>
          <p:nvPr/>
        </p:nvSpPr>
        <p:spPr>
          <a:xfrm>
            <a:off x="2403409" y="2969605"/>
            <a:ext cx="161300" cy="171176"/>
          </a:xfrm>
          <a:prstGeom prst="roundRect">
            <a:avLst>
              <a:gd name="adj" fmla="val 22676"/>
            </a:avLst>
          </a:prstGeom>
          <a:solidFill>
            <a:srgbClr val="6B9BFF"/>
          </a:solidFill>
          <a:ln w="10795">
            <a:solidFill>
              <a:srgbClr val="6B9BFF"/>
            </a:solidFill>
            <a:prstDash val="solid"/>
          </a:ln>
        </p:spPr>
      </p:sp>
      <p:sp>
        <p:nvSpPr>
          <p:cNvPr id="22" name="Shape 20"/>
          <p:cNvSpPr/>
          <p:nvPr/>
        </p:nvSpPr>
        <p:spPr>
          <a:xfrm>
            <a:off x="2386950" y="3101279"/>
            <a:ext cx="190927" cy="59253"/>
          </a:xfrm>
          <a:prstGeom prst="ellipse">
            <a:avLst/>
          </a:prstGeom>
          <a:solidFill>
            <a:srgbClr val="6B9BFF"/>
          </a:solidFill>
          <a:ln w="12700">
            <a:solidFill>
              <a:srgbClr val="6B9BFF"/>
            </a:solidFill>
            <a:prstDash val="solid"/>
          </a:ln>
        </p:spPr>
      </p:sp>
      <p:sp>
        <p:nvSpPr>
          <p:cNvPr id="23" name="Shape 21"/>
          <p:cNvSpPr/>
          <p:nvPr/>
        </p:nvSpPr>
        <p:spPr>
          <a:xfrm>
            <a:off x="2551542" y="3015691"/>
            <a:ext cx="85588" cy="92172"/>
          </a:xfrm>
          <a:prstGeom prst="ellipse">
            <a:avLst/>
          </a:prstGeom>
          <a:solidFill>
            <a:srgbClr val="07131F"/>
          </a:solidFill>
          <a:ln w="17780">
            <a:solidFill>
              <a:srgbClr val="6B9BFF"/>
            </a:solidFill>
            <a:prstDash val="solid"/>
          </a:ln>
        </p:spPr>
      </p:sp>
      <p:sp>
        <p:nvSpPr>
          <p:cNvPr id="24" name="Text 22"/>
          <p:cNvSpPr/>
          <p:nvPr/>
        </p:nvSpPr>
        <p:spPr>
          <a:xfrm>
            <a:off x="768096" y="4736592"/>
            <a:ext cx="2624328" cy="283464"/>
          </a:xfrm>
          <a:prstGeom prst="rect">
            <a:avLst/>
          </a:prstGeom>
          <a:noFill/>
          <a:ln/>
        </p:spPr>
        <p:txBody>
          <a:bodyPr wrap="square" lIns="0" tIns="0" rIns="0" bIns="0" rtlCol="0" anchor="ctr"/>
          <a:lstStyle/>
          <a:p>
            <a:pPr algn="ctr" indent="0" marL="0">
              <a:lnSpc>
                <a:spcPct val="100000"/>
              </a:lnSpc>
              <a:buNone/>
            </a:pPr>
            <a:r>
              <a:rPr lang="en-US" sz="1300" dirty="0">
                <a:solidFill>
                  <a:srgbClr val="A1B2C4"/>
                </a:solidFill>
                <a:latin typeface="Inter" pitchFamily="34" charset="0"/>
                <a:ea typeface="Inter" pitchFamily="34" charset="-122"/>
                <a:cs typeface="Inter" pitchFamily="34" charset="-120"/>
              </a:rPr>
              <a:t>RGB / depth / 3D detector</a:t>
            </a:r>
            <a:endParaRPr lang="en-US" sz="1300" dirty="0"/>
          </a:p>
        </p:txBody>
      </p:sp>
      <p:sp>
        <p:nvSpPr>
          <p:cNvPr id="25" name="Shape 23"/>
          <p:cNvSpPr/>
          <p:nvPr/>
        </p:nvSpPr>
        <p:spPr>
          <a:xfrm>
            <a:off x="3639312" y="3694176"/>
            <a:ext cx="448056" cy="0"/>
          </a:xfrm>
          <a:prstGeom prst="line">
            <a:avLst/>
          </a:prstGeom>
          <a:noFill/>
          <a:ln w="24130">
            <a:solidFill>
              <a:srgbClr val="65D5E9"/>
            </a:solidFill>
            <a:prstDash val="solid"/>
            <a:headEnd type="none"/>
            <a:tailEnd type="triangle"/>
          </a:ln>
        </p:spPr>
      </p:sp>
      <p:sp>
        <p:nvSpPr>
          <p:cNvPr id="26" name="Shape 24"/>
          <p:cNvSpPr/>
          <p:nvPr/>
        </p:nvSpPr>
        <p:spPr>
          <a:xfrm>
            <a:off x="4178808" y="2286000"/>
            <a:ext cx="3447288" cy="2990088"/>
          </a:xfrm>
          <a:prstGeom prst="roundRect">
            <a:avLst>
              <a:gd name="adj" fmla="val 4281"/>
            </a:avLst>
          </a:prstGeom>
          <a:solidFill>
            <a:srgbClr val="102335"/>
          </a:solidFill>
          <a:ln w="10795">
            <a:solidFill>
              <a:srgbClr val="294056"/>
            </a:solidFill>
            <a:prstDash val="solid"/>
          </a:ln>
        </p:spPr>
      </p:sp>
      <p:sp>
        <p:nvSpPr>
          <p:cNvPr id="27" name="Text 25"/>
          <p:cNvSpPr/>
          <p:nvPr/>
        </p:nvSpPr>
        <p:spPr>
          <a:xfrm>
            <a:off x="4443984" y="2523744"/>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48D7B2"/>
                </a:solidFill>
                <a:latin typeface="Inter" pitchFamily="34" charset="0"/>
                <a:ea typeface="Inter" pitchFamily="34" charset="-122"/>
                <a:cs typeface="Inter" pitchFamily="34" charset="-120"/>
              </a:rPr>
              <a:t>EVIDENCE FUSION</a:t>
            </a:r>
            <a:endParaRPr lang="en-US" sz="1000" dirty="0"/>
          </a:p>
        </p:txBody>
      </p:sp>
      <p:sp>
        <p:nvSpPr>
          <p:cNvPr id="28" name="Shape 26"/>
          <p:cNvSpPr/>
          <p:nvPr/>
        </p:nvSpPr>
        <p:spPr>
          <a:xfrm>
            <a:off x="4471416" y="3147365"/>
            <a:ext cx="68580" cy="68580"/>
          </a:xfrm>
          <a:prstGeom prst="ellipse">
            <a:avLst/>
          </a:prstGeom>
          <a:solidFill>
            <a:srgbClr val="48D7B2"/>
          </a:solidFill>
          <a:ln w="12700">
            <a:solidFill>
              <a:srgbClr val="48D7B2"/>
            </a:solidFill>
            <a:prstDash val="solid"/>
          </a:ln>
        </p:spPr>
      </p:sp>
      <p:sp>
        <p:nvSpPr>
          <p:cNvPr id="29" name="Text 27"/>
          <p:cNvSpPr/>
          <p:nvPr/>
        </p:nvSpPr>
        <p:spPr>
          <a:xfrm>
            <a:off x="4663440" y="3026664"/>
            <a:ext cx="2688336" cy="365760"/>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class == cup</a:t>
            </a:r>
            <a:endParaRPr lang="en-US" sz="1300" dirty="0"/>
          </a:p>
        </p:txBody>
      </p:sp>
      <p:sp>
        <p:nvSpPr>
          <p:cNvPr id="30" name="Shape 28"/>
          <p:cNvSpPr/>
          <p:nvPr/>
        </p:nvSpPr>
        <p:spPr>
          <a:xfrm>
            <a:off x="4471416" y="3531413"/>
            <a:ext cx="68580" cy="68580"/>
          </a:xfrm>
          <a:prstGeom prst="ellipse">
            <a:avLst/>
          </a:prstGeom>
          <a:solidFill>
            <a:srgbClr val="48D7B2"/>
          </a:solidFill>
          <a:ln w="12700">
            <a:solidFill>
              <a:srgbClr val="48D7B2"/>
            </a:solidFill>
            <a:prstDash val="solid"/>
          </a:ln>
        </p:spPr>
      </p:sp>
      <p:sp>
        <p:nvSpPr>
          <p:cNvPr id="31" name="Text 29"/>
          <p:cNvSpPr/>
          <p:nvPr/>
        </p:nvSpPr>
        <p:spPr>
          <a:xfrm>
            <a:off x="4663440" y="3410712"/>
            <a:ext cx="2688336" cy="365760"/>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attribute.color == red</a:t>
            </a:r>
            <a:endParaRPr lang="en-US" sz="1300" dirty="0"/>
          </a:p>
        </p:txBody>
      </p:sp>
      <p:sp>
        <p:nvSpPr>
          <p:cNvPr id="32" name="Shape 30"/>
          <p:cNvSpPr/>
          <p:nvPr/>
        </p:nvSpPr>
        <p:spPr>
          <a:xfrm>
            <a:off x="4471416" y="3915461"/>
            <a:ext cx="68580" cy="68580"/>
          </a:xfrm>
          <a:prstGeom prst="ellipse">
            <a:avLst/>
          </a:prstGeom>
          <a:solidFill>
            <a:srgbClr val="48D7B2"/>
          </a:solidFill>
          <a:ln w="12700">
            <a:solidFill>
              <a:srgbClr val="48D7B2"/>
            </a:solidFill>
            <a:prstDash val="solid"/>
          </a:ln>
        </p:spPr>
      </p:sp>
      <p:sp>
        <p:nvSpPr>
          <p:cNvPr id="33" name="Text 31"/>
          <p:cNvSpPr/>
          <p:nvPr/>
        </p:nvSpPr>
        <p:spPr>
          <a:xfrm>
            <a:off x="4663440" y="3794760"/>
            <a:ext cx="2688336" cy="365760"/>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supported_by(table_03)</a:t>
            </a:r>
            <a:endParaRPr lang="en-US" sz="1300" dirty="0"/>
          </a:p>
        </p:txBody>
      </p:sp>
      <p:sp>
        <p:nvSpPr>
          <p:cNvPr id="34" name="Shape 32"/>
          <p:cNvSpPr/>
          <p:nvPr/>
        </p:nvSpPr>
        <p:spPr>
          <a:xfrm>
            <a:off x="4471416" y="4299509"/>
            <a:ext cx="68580" cy="68580"/>
          </a:xfrm>
          <a:prstGeom prst="ellipse">
            <a:avLst/>
          </a:prstGeom>
          <a:solidFill>
            <a:srgbClr val="48D7B2"/>
          </a:solidFill>
          <a:ln w="12700">
            <a:solidFill>
              <a:srgbClr val="48D7B2"/>
            </a:solidFill>
            <a:prstDash val="solid"/>
          </a:ln>
        </p:spPr>
      </p:sp>
      <p:sp>
        <p:nvSpPr>
          <p:cNvPr id="35" name="Text 33"/>
          <p:cNvSpPr/>
          <p:nvPr/>
        </p:nvSpPr>
        <p:spPr>
          <a:xfrm>
            <a:off x="4663440" y="4178808"/>
            <a:ext cx="2688336" cy="365760"/>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transform to map frame</a:t>
            </a:r>
            <a:endParaRPr lang="en-US" sz="1300" dirty="0"/>
          </a:p>
        </p:txBody>
      </p:sp>
      <p:sp>
        <p:nvSpPr>
          <p:cNvPr id="36" name="Shape 34"/>
          <p:cNvSpPr/>
          <p:nvPr/>
        </p:nvSpPr>
        <p:spPr>
          <a:xfrm>
            <a:off x="4471416" y="4683557"/>
            <a:ext cx="68580" cy="68580"/>
          </a:xfrm>
          <a:prstGeom prst="ellipse">
            <a:avLst/>
          </a:prstGeom>
          <a:solidFill>
            <a:srgbClr val="48D7B2"/>
          </a:solidFill>
          <a:ln w="12700">
            <a:solidFill>
              <a:srgbClr val="48D7B2"/>
            </a:solidFill>
            <a:prstDash val="solid"/>
          </a:ln>
        </p:spPr>
      </p:sp>
      <p:sp>
        <p:nvSpPr>
          <p:cNvPr id="37" name="Text 35"/>
          <p:cNvSpPr/>
          <p:nvPr/>
        </p:nvSpPr>
        <p:spPr>
          <a:xfrm>
            <a:off x="4663440" y="4562856"/>
            <a:ext cx="2688336" cy="365760"/>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pose &amp; freshness valid</a:t>
            </a:r>
            <a:endParaRPr lang="en-US" sz="1300" dirty="0"/>
          </a:p>
        </p:txBody>
      </p:sp>
      <p:sp>
        <p:nvSpPr>
          <p:cNvPr id="38" name="Shape 36"/>
          <p:cNvSpPr/>
          <p:nvPr/>
        </p:nvSpPr>
        <p:spPr>
          <a:xfrm>
            <a:off x="7626096" y="3694176"/>
            <a:ext cx="411480" cy="0"/>
          </a:xfrm>
          <a:prstGeom prst="line">
            <a:avLst/>
          </a:prstGeom>
          <a:noFill/>
          <a:ln w="24130">
            <a:solidFill>
              <a:srgbClr val="48D7B2"/>
            </a:solidFill>
            <a:prstDash val="solid"/>
            <a:headEnd type="none"/>
            <a:tailEnd type="triangle"/>
          </a:ln>
        </p:spPr>
      </p:sp>
      <p:sp>
        <p:nvSpPr>
          <p:cNvPr id="39" name="Shape 37"/>
          <p:cNvSpPr/>
          <p:nvPr/>
        </p:nvSpPr>
        <p:spPr>
          <a:xfrm>
            <a:off x="8138160" y="2286000"/>
            <a:ext cx="3520440" cy="2990088"/>
          </a:xfrm>
          <a:prstGeom prst="roundRect">
            <a:avLst>
              <a:gd name="adj" fmla="val 4281"/>
            </a:avLst>
          </a:prstGeom>
          <a:solidFill>
            <a:srgbClr val="102335"/>
          </a:solidFill>
          <a:ln w="10795">
            <a:solidFill>
              <a:srgbClr val="294056"/>
            </a:solidFill>
            <a:prstDash val="solid"/>
          </a:ln>
        </p:spPr>
      </p:sp>
      <p:sp>
        <p:nvSpPr>
          <p:cNvPr id="40" name="Text 38"/>
          <p:cNvSpPr/>
          <p:nvPr/>
        </p:nvSpPr>
        <p:spPr>
          <a:xfrm>
            <a:off x="8385048" y="2523744"/>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48D7B2"/>
                </a:solidFill>
                <a:latin typeface="Inter" pitchFamily="34" charset="0"/>
                <a:ea typeface="Inter" pitchFamily="34" charset="-122"/>
                <a:cs typeface="Inter" pitchFamily="34" charset="-120"/>
              </a:rPr>
              <a:t>GROUNDED RESULT</a:t>
            </a:r>
            <a:endParaRPr lang="en-US" sz="1000" dirty="0"/>
          </a:p>
        </p:txBody>
      </p:sp>
      <p:sp>
        <p:nvSpPr>
          <p:cNvPr id="41" name="Text 39"/>
          <p:cNvSpPr/>
          <p:nvPr/>
        </p:nvSpPr>
        <p:spPr>
          <a:xfrm>
            <a:off x="8394192" y="2916936"/>
            <a:ext cx="2926080" cy="2112264"/>
          </a:xfrm>
          <a:prstGeom prst="rect">
            <a:avLst/>
          </a:prstGeom>
          <a:noFill/>
          <a:ln/>
        </p:spPr>
        <p:txBody>
          <a:bodyPr wrap="square" lIns="0" tIns="0" rIns="0" bIns="0" rtlCol="0" anchor="t"/>
          <a:lstStyle/>
          <a:p>
            <a:pPr algn="l" indent="0" marL="0">
              <a:lnSpc>
                <a:spcPct val="100000"/>
              </a:lnSpc>
              <a:buNone/>
            </a:pPr>
            <a:r>
              <a:rPr lang="en-US" sz="1300" dirty="0">
                <a:solidFill>
                  <a:srgbClr val="F5F7FC"/>
                </a:solidFill>
                <a:latin typeface="DejaVu Sans Mono" pitchFamily="34" charset="0"/>
                <a:ea typeface="DejaVu Sans Mono" pitchFamily="34" charset="-122"/>
                <a:cs typeface="DejaVu Sans Mono" pitchFamily="34" charset="-120"/>
              </a:rPr>
              <a:t>object_id: cup_17</a:t>
            </a:r>
            <a:endParaRPr lang="en-US" sz="1300" dirty="0"/>
          </a:p>
          <a:p>
            <a:pPr algn="l" indent="0" marL="0">
              <a:lnSpc>
                <a:spcPct val="100000"/>
              </a:lnSpc>
              <a:buNone/>
            </a:pPr>
            <a:r>
              <a:rPr lang="en-US" sz="1300" dirty="0">
                <a:solidFill>
                  <a:srgbClr val="F5F7FC"/>
                </a:solidFill>
                <a:latin typeface="DejaVu Sans Mono" pitchFamily="34" charset="0"/>
                <a:ea typeface="DejaVu Sans Mono" pitchFamily="34" charset="-122"/>
                <a:cs typeface="DejaVu Sans Mono" pitchFamily="34" charset="-120"/>
              </a:rPr>
              <a:t>class: cup</a:t>
            </a:r>
            <a:endParaRPr lang="en-US" sz="1300" dirty="0"/>
          </a:p>
          <a:p>
            <a:pPr algn="l" indent="0" marL="0">
              <a:lnSpc>
                <a:spcPct val="100000"/>
              </a:lnSpc>
              <a:buNone/>
            </a:pPr>
            <a:r>
              <a:rPr lang="en-US" sz="1300" dirty="0">
                <a:solidFill>
                  <a:srgbClr val="F5F7FC"/>
                </a:solidFill>
                <a:latin typeface="DejaVu Sans Mono" pitchFamily="34" charset="0"/>
                <a:ea typeface="DejaVu Sans Mono" pitchFamily="34" charset="-122"/>
                <a:cs typeface="DejaVu Sans Mono" pitchFamily="34" charset="-120"/>
              </a:rPr>
              <a:t>color: red</a:t>
            </a:r>
            <a:endParaRPr lang="en-US" sz="1300" dirty="0"/>
          </a:p>
          <a:p>
            <a:pPr algn="l" indent="0" marL="0">
              <a:lnSpc>
                <a:spcPct val="100000"/>
              </a:lnSpc>
              <a:buNone/>
            </a:pPr>
            <a:r>
              <a:rPr lang="en-US" sz="1300" dirty="0">
                <a:solidFill>
                  <a:srgbClr val="F5F7FC"/>
                </a:solidFill>
                <a:latin typeface="DejaVu Sans Mono" pitchFamily="34" charset="0"/>
                <a:ea typeface="DejaVu Sans Mono" pitchFamily="34" charset="-122"/>
                <a:cs typeface="DejaVu Sans Mono" pitchFamily="34" charset="-120"/>
              </a:rPr>
              <a:t>pose: [2.4, 1.7, 0.82]</a:t>
            </a:r>
            <a:endParaRPr lang="en-US" sz="1300" dirty="0"/>
          </a:p>
          <a:p>
            <a:pPr algn="l" indent="0" marL="0">
              <a:lnSpc>
                <a:spcPct val="100000"/>
              </a:lnSpc>
              <a:buNone/>
            </a:pPr>
            <a:r>
              <a:rPr lang="en-US" sz="1300" dirty="0">
                <a:solidFill>
                  <a:srgbClr val="F5F7FC"/>
                </a:solidFill>
                <a:latin typeface="DejaVu Sans Mono" pitchFamily="34" charset="0"/>
                <a:ea typeface="DejaVu Sans Mono" pitchFamily="34" charset="-122"/>
                <a:cs typeface="DejaVu Sans Mono" pitchFamily="34" charset="-120"/>
              </a:rPr>
              <a:t>support: table_03</a:t>
            </a:r>
            <a:endParaRPr lang="en-US" sz="1300" dirty="0"/>
          </a:p>
          <a:p>
            <a:pPr algn="l" indent="0" marL="0">
              <a:lnSpc>
                <a:spcPct val="100000"/>
              </a:lnSpc>
              <a:buNone/>
            </a:pPr>
            <a:r>
              <a:rPr lang="en-US" sz="1300" dirty="0">
                <a:solidFill>
                  <a:srgbClr val="F5F7FC"/>
                </a:solidFill>
                <a:latin typeface="DejaVu Sans Mono" pitchFamily="34" charset="0"/>
                <a:ea typeface="DejaVu Sans Mono" pitchFamily="34" charset="-122"/>
                <a:cs typeface="DejaVu Sans Mono" pitchFamily="34" charset="-120"/>
              </a:rPr>
              <a:t>state: CONFIRMED</a:t>
            </a:r>
            <a:endParaRPr lang="en-US" sz="1300" dirty="0"/>
          </a:p>
        </p:txBody>
      </p:sp>
      <p:sp>
        <p:nvSpPr>
          <p:cNvPr id="42" name="Shape 40"/>
          <p:cNvSpPr/>
          <p:nvPr/>
        </p:nvSpPr>
        <p:spPr>
          <a:xfrm>
            <a:off x="1188720" y="5541264"/>
            <a:ext cx="9802368" cy="466344"/>
          </a:xfrm>
          <a:prstGeom prst="roundRect">
            <a:avLst>
              <a:gd name="adj" fmla="val 27451"/>
            </a:avLst>
          </a:prstGeom>
          <a:solidFill>
            <a:srgbClr val="152B40"/>
          </a:solidFill>
          <a:ln w="10795">
            <a:solidFill>
              <a:srgbClr val="294056"/>
            </a:solidFill>
            <a:prstDash val="solid"/>
          </a:ln>
        </p:spPr>
      </p:sp>
      <p:sp>
        <p:nvSpPr>
          <p:cNvPr id="43" name="Text 41"/>
          <p:cNvSpPr/>
          <p:nvPr/>
        </p:nvSpPr>
        <p:spPr>
          <a:xfrm>
            <a:off x="1417320" y="5641848"/>
            <a:ext cx="9345168" cy="265176"/>
          </a:xfrm>
          <a:prstGeom prst="rect">
            <a:avLst/>
          </a:prstGeom>
          <a:noFill/>
          <a:ln/>
        </p:spPr>
        <p:txBody>
          <a:bodyPr wrap="square" lIns="0" tIns="0" rIns="0" bIns="0" rtlCol="0" anchor="ctr"/>
          <a:lstStyle/>
          <a:p>
            <a:pPr algn="ctr" indent="0" marL="0">
              <a:lnSpc>
                <a:spcPct val="100000"/>
              </a:lnSpc>
              <a:buNone/>
            </a:pPr>
            <a:r>
              <a:rPr lang="en-US" sz="1300" b="1" dirty="0">
                <a:solidFill>
                  <a:srgbClr val="FF8790"/>
                </a:solidFill>
                <a:latin typeface="Inter" pitchFamily="34" charset="0"/>
                <a:ea typeface="Inter" pitchFamily="34" charset="-122"/>
                <a:cs typeface="Inter" pitchFamily="34" charset="-120"/>
              </a:rPr>
              <a:t>If RGB/3D attributes are insufficient → request another view; do not guess identity.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SHARED WORLD / PERSISTENCE</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A lightweight registry, not another SLAM pipeline</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Persist identity and relations; reference heavy geometry in the existing reconstruction service.</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12</a:t>
            </a:r>
            <a:endParaRPr lang="en-US" sz="1100" dirty="0"/>
          </a:p>
        </p:txBody>
      </p:sp>
      <p:sp>
        <p:nvSpPr>
          <p:cNvPr id="11" name="Shape 9"/>
          <p:cNvSpPr/>
          <p:nvPr/>
        </p:nvSpPr>
        <p:spPr>
          <a:xfrm>
            <a:off x="502920" y="2139696"/>
            <a:ext cx="5413248" cy="3511296"/>
          </a:xfrm>
          <a:prstGeom prst="roundRect">
            <a:avLst>
              <a:gd name="adj" fmla="val 3646"/>
            </a:avLst>
          </a:prstGeom>
          <a:solidFill>
            <a:srgbClr val="102335"/>
          </a:solidFill>
          <a:ln w="10795">
            <a:solidFill>
              <a:srgbClr val="294056"/>
            </a:solidFill>
            <a:prstDash val="solid"/>
          </a:ln>
        </p:spPr>
      </p:sp>
      <p:sp>
        <p:nvSpPr>
          <p:cNvPr id="12" name="Text 10"/>
          <p:cNvSpPr/>
          <p:nvPr/>
        </p:nvSpPr>
        <p:spPr>
          <a:xfrm>
            <a:off x="740664" y="2350008"/>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48D7B2"/>
                </a:solidFill>
                <a:latin typeface="Inter" pitchFamily="34" charset="0"/>
                <a:ea typeface="Inter" pitchFamily="34" charset="-122"/>
                <a:cs typeface="Inter" pitchFamily="34" charset="-120"/>
              </a:rPr>
              <a:t>OBJECT RECORD</a:t>
            </a:r>
            <a:endParaRPr lang="en-US" sz="1000" dirty="0"/>
          </a:p>
        </p:txBody>
      </p:sp>
      <p:sp>
        <p:nvSpPr>
          <p:cNvPr id="13" name="Text 11"/>
          <p:cNvSpPr/>
          <p:nvPr/>
        </p:nvSpPr>
        <p:spPr>
          <a:xfrm>
            <a:off x="749808" y="2752344"/>
            <a:ext cx="4672584" cy="2615184"/>
          </a:xfrm>
          <a:prstGeom prst="rect">
            <a:avLst/>
          </a:prstGeom>
          <a:noFill/>
          <a:ln/>
        </p:spPr>
        <p:txBody>
          <a:bodyPr wrap="square" lIns="0" tIns="0" rIns="0" bIns="0" rtlCol="0" anchor="t"/>
          <a:lstStyle/>
          <a:p>
            <a:pPr algn="l" indent="0" marL="0">
              <a:lnSpc>
                <a:spcPct val="100000"/>
              </a:lnSpc>
              <a:buNone/>
            </a:pPr>
            <a:r>
              <a:rPr lang="en-US" sz="1300" dirty="0">
                <a:solidFill>
                  <a:srgbClr val="DCE7F3"/>
                </a:solidFill>
                <a:latin typeface="DejaVu Sans Mono" pitchFamily="34" charset="0"/>
                <a:ea typeface="DejaVu Sans Mono" pitchFamily="34" charset="-122"/>
                <a:cs typeface="DejaVu Sans Mono" pitchFamily="34" charset="-120"/>
              </a:rPr>
              <a:t>id: cup_17</a:t>
            </a:r>
            <a:endParaRPr lang="en-US" sz="1300" dirty="0"/>
          </a:p>
          <a:p>
            <a:pPr algn="l" indent="0" marL="0">
              <a:lnSpc>
                <a:spcPct val="100000"/>
              </a:lnSpc>
              <a:buNone/>
            </a:pPr>
            <a:r>
              <a:rPr lang="en-US" sz="1300" dirty="0">
                <a:solidFill>
                  <a:srgbClr val="DCE7F3"/>
                </a:solidFill>
                <a:latin typeface="DejaVu Sans Mono" pitchFamily="34" charset="0"/>
                <a:ea typeface="DejaVu Sans Mono" pitchFamily="34" charset="-122"/>
                <a:cs typeface="DejaVu Sans Mono" pitchFamily="34" charset="-120"/>
              </a:rPr>
              <a:t>label: cup; color: red</a:t>
            </a:r>
            <a:endParaRPr lang="en-US" sz="1300" dirty="0"/>
          </a:p>
          <a:p>
            <a:pPr algn="l" indent="0" marL="0">
              <a:lnSpc>
                <a:spcPct val="100000"/>
              </a:lnSpc>
              <a:buNone/>
            </a:pPr>
            <a:r>
              <a:rPr lang="en-US" sz="1300" dirty="0">
                <a:solidFill>
                  <a:srgbClr val="DCE7F3"/>
                </a:solidFill>
                <a:latin typeface="DejaVu Sans Mono" pitchFamily="34" charset="0"/>
                <a:ea typeface="DejaVu Sans Mono" pitchFamily="34" charset="-122"/>
                <a:cs typeface="DejaVu Sans Mono" pitchFamily="34" charset="-120"/>
              </a:rPr>
              <a:t>pose_map: (2.4, 1.7, 0.82)</a:t>
            </a:r>
            <a:endParaRPr lang="en-US" sz="1300" dirty="0"/>
          </a:p>
          <a:p>
            <a:pPr algn="l" indent="0" marL="0">
              <a:lnSpc>
                <a:spcPct val="100000"/>
              </a:lnSpc>
              <a:buNone/>
            </a:pPr>
            <a:r>
              <a:rPr lang="en-US" sz="1300" dirty="0">
                <a:solidFill>
                  <a:srgbClr val="DCE7F3"/>
                </a:solidFill>
                <a:latin typeface="DejaVu Sans Mono" pitchFamily="34" charset="0"/>
                <a:ea typeface="DejaVu Sans Mono" pitchFamily="34" charset="-122"/>
                <a:cs typeface="DejaVu Sans Mono" pitchFamily="34" charset="-120"/>
              </a:rPr>
              <a:t>pose_covariance: [...]</a:t>
            </a:r>
            <a:endParaRPr lang="en-US" sz="1300" dirty="0"/>
          </a:p>
          <a:p>
            <a:pPr algn="l" indent="0" marL="0">
              <a:lnSpc>
                <a:spcPct val="100000"/>
              </a:lnSpc>
              <a:buNone/>
            </a:pPr>
            <a:r>
              <a:rPr lang="en-US" sz="1300" dirty="0">
                <a:solidFill>
                  <a:srgbClr val="DCE7F3"/>
                </a:solidFill>
                <a:latin typeface="DejaVu Sans Mono" pitchFamily="34" charset="0"/>
                <a:ea typeface="DejaVu Sans Mono" pitchFamily="34" charset="-122"/>
                <a:cs typeface="DejaVu Sans Mono" pitchFamily="34" charset="-120"/>
              </a:rPr>
              <a:t>state: AVAILABLE</a:t>
            </a:r>
            <a:endParaRPr lang="en-US" sz="1300" dirty="0"/>
          </a:p>
          <a:p>
            <a:pPr algn="l" indent="0" marL="0">
              <a:lnSpc>
                <a:spcPct val="100000"/>
              </a:lnSpc>
              <a:buNone/>
            </a:pPr>
            <a:r>
              <a:rPr lang="en-US" sz="1300" dirty="0">
                <a:solidFill>
                  <a:srgbClr val="DCE7F3"/>
                </a:solidFill>
                <a:latin typeface="DejaVu Sans Mono" pitchFamily="34" charset="0"/>
                <a:ea typeface="DejaVu Sans Mono" pitchFamily="34" charset="-122"/>
                <a:cs typeface="DejaVu Sans Mono" pitchFamily="34" charset="-120"/>
              </a:rPr>
              <a:t>last_seen: 2026-10-29T...</a:t>
            </a:r>
            <a:endParaRPr lang="en-US" sz="1300" dirty="0"/>
          </a:p>
          <a:p>
            <a:pPr algn="l" indent="0" marL="0">
              <a:lnSpc>
                <a:spcPct val="100000"/>
              </a:lnSpc>
              <a:buNone/>
            </a:pPr>
            <a:r>
              <a:rPr lang="en-US" sz="1300" dirty="0">
                <a:solidFill>
                  <a:srgbClr val="DCE7F3"/>
                </a:solidFill>
                <a:latin typeface="DejaVu Sans Mono" pitchFamily="34" charset="0"/>
                <a:ea typeface="DejaVu Sans Mono" pitchFamily="34" charset="-122"/>
                <a:cs typeface="DejaVu Sans Mono" pitchFamily="34" charset="-120"/>
              </a:rPr>
              <a:t>geometry_ref: scene://cup_17</a:t>
            </a:r>
            <a:endParaRPr lang="en-US" sz="1300" dirty="0"/>
          </a:p>
          <a:p>
            <a:pPr algn="l" indent="0" marL="0">
              <a:lnSpc>
                <a:spcPct val="100000"/>
              </a:lnSpc>
              <a:buNone/>
            </a:pPr>
            <a:r>
              <a:rPr lang="en-US" sz="1300" dirty="0">
                <a:solidFill>
                  <a:srgbClr val="DCE7F3"/>
                </a:solidFill>
                <a:latin typeface="DejaVu Sans Mono" pitchFamily="34" charset="0"/>
                <a:ea typeface="DejaVu Sans Mono" pitchFamily="34" charset="-122"/>
                <a:cs typeface="DejaVu Sans Mono" pitchFamily="34" charset="-120"/>
              </a:rPr>
              <a:t>tracking_confidence: 0.94</a:t>
            </a:r>
            <a:endParaRPr lang="en-US" sz="1300" dirty="0"/>
          </a:p>
        </p:txBody>
      </p:sp>
      <p:sp>
        <p:nvSpPr>
          <p:cNvPr id="14" name="Shape 12"/>
          <p:cNvSpPr/>
          <p:nvPr/>
        </p:nvSpPr>
        <p:spPr>
          <a:xfrm>
            <a:off x="6135624" y="2139696"/>
            <a:ext cx="5550408" cy="3511296"/>
          </a:xfrm>
          <a:prstGeom prst="roundRect">
            <a:avLst>
              <a:gd name="adj" fmla="val 3646"/>
            </a:avLst>
          </a:prstGeom>
          <a:solidFill>
            <a:srgbClr val="102335"/>
          </a:solidFill>
          <a:ln w="10795">
            <a:solidFill>
              <a:srgbClr val="294056"/>
            </a:solidFill>
            <a:prstDash val="solid"/>
          </a:ln>
        </p:spPr>
      </p:sp>
      <p:sp>
        <p:nvSpPr>
          <p:cNvPr id="15" name="Text 13"/>
          <p:cNvSpPr/>
          <p:nvPr/>
        </p:nvSpPr>
        <p:spPr>
          <a:xfrm>
            <a:off x="6355080" y="2350008"/>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48D7B2"/>
                </a:solidFill>
                <a:latin typeface="Inter" pitchFamily="34" charset="0"/>
                <a:ea typeface="Inter" pitchFamily="34" charset="-122"/>
                <a:cs typeface="Inter" pitchFamily="34" charset="-120"/>
              </a:rPr>
              <a:t>SEMANTIC GRAPH</a:t>
            </a:r>
            <a:endParaRPr lang="en-US" sz="1000" dirty="0"/>
          </a:p>
        </p:txBody>
      </p:sp>
      <p:sp>
        <p:nvSpPr>
          <p:cNvPr id="16" name="Shape 14"/>
          <p:cNvSpPr/>
          <p:nvPr/>
        </p:nvSpPr>
        <p:spPr>
          <a:xfrm>
            <a:off x="7552944" y="2743200"/>
            <a:ext cx="2423160" cy="594360"/>
          </a:xfrm>
          <a:prstGeom prst="roundRect">
            <a:avLst>
              <a:gd name="adj" fmla="val 21538"/>
            </a:avLst>
          </a:prstGeom>
          <a:solidFill>
            <a:srgbClr val="102335"/>
          </a:solidFill>
          <a:ln w="10795">
            <a:solidFill>
              <a:srgbClr val="294056"/>
            </a:solidFill>
            <a:prstDash val="solid"/>
          </a:ln>
        </p:spPr>
      </p:sp>
      <p:sp>
        <p:nvSpPr>
          <p:cNvPr id="17" name="Shape 15"/>
          <p:cNvSpPr/>
          <p:nvPr/>
        </p:nvSpPr>
        <p:spPr>
          <a:xfrm>
            <a:off x="7552944" y="2743200"/>
            <a:ext cx="2423160" cy="64008"/>
          </a:xfrm>
          <a:prstGeom prst="rect">
            <a:avLst/>
          </a:prstGeom>
          <a:solidFill>
            <a:srgbClr val="FF8790"/>
          </a:solidFill>
          <a:ln w="10795">
            <a:solidFill>
              <a:srgbClr val="FF8790"/>
            </a:solidFill>
            <a:prstDash val="solid"/>
          </a:ln>
        </p:spPr>
      </p:sp>
      <p:sp>
        <p:nvSpPr>
          <p:cNvPr id="18" name="Text 16"/>
          <p:cNvSpPr/>
          <p:nvPr/>
        </p:nvSpPr>
        <p:spPr>
          <a:xfrm>
            <a:off x="7671816" y="2834640"/>
            <a:ext cx="2185416" cy="256032"/>
          </a:xfrm>
          <a:prstGeom prst="rect">
            <a:avLst/>
          </a:prstGeom>
          <a:noFill/>
          <a:ln/>
        </p:spPr>
        <p:txBody>
          <a:bodyPr wrap="square" lIns="0" tIns="0" rIns="0" bIns="0" rtlCol="0" anchor="ctr"/>
          <a:lstStyle/>
          <a:p>
            <a:pPr algn="ctr" indent="0" marL="0">
              <a:lnSpc>
                <a:spcPct val="100000"/>
              </a:lnSpc>
              <a:buNone/>
            </a:pPr>
            <a:r>
              <a:rPr lang="en-US" sz="1260" b="1" dirty="0">
                <a:solidFill>
                  <a:srgbClr val="F5F7FC"/>
                </a:solidFill>
                <a:latin typeface="Inter" pitchFamily="34" charset="0"/>
                <a:ea typeface="Inter" pitchFamily="34" charset="-122"/>
                <a:cs typeface="Inter" pitchFamily="34" charset="-120"/>
              </a:rPr>
              <a:t>cup_17</a:t>
            </a:r>
            <a:endParaRPr lang="en-US" sz="1260" dirty="0"/>
          </a:p>
        </p:txBody>
      </p:sp>
      <p:sp>
        <p:nvSpPr>
          <p:cNvPr id="19" name="Text 17"/>
          <p:cNvSpPr/>
          <p:nvPr/>
        </p:nvSpPr>
        <p:spPr>
          <a:xfrm>
            <a:off x="7662672" y="3081528"/>
            <a:ext cx="2203704" cy="219456"/>
          </a:xfrm>
          <a:prstGeom prst="rect">
            <a:avLst/>
          </a:prstGeom>
          <a:noFill/>
          <a:ln/>
        </p:spPr>
        <p:txBody>
          <a:bodyPr wrap="square" lIns="0" tIns="0" rIns="0" bIns="0" rtlCol="0" anchor="ctr"/>
          <a:lstStyle/>
          <a:p>
            <a:pPr algn="ctr" indent="0" marL="0">
              <a:lnSpc>
                <a:spcPct val="100000"/>
              </a:lnSpc>
              <a:buNone/>
            </a:pPr>
            <a:r>
              <a:rPr lang="en-US" sz="925" dirty="0">
                <a:solidFill>
                  <a:srgbClr val="A1B2C4"/>
                </a:solidFill>
                <a:latin typeface="Inter" pitchFamily="34" charset="0"/>
                <a:ea typeface="Inter" pitchFamily="34" charset="-122"/>
                <a:cs typeface="Inter" pitchFamily="34" charset="-120"/>
              </a:rPr>
              <a:t>red cup</a:t>
            </a:r>
            <a:endParaRPr lang="en-US" sz="925" dirty="0"/>
          </a:p>
        </p:txBody>
      </p:sp>
      <p:sp>
        <p:nvSpPr>
          <p:cNvPr id="20" name="Shape 18"/>
          <p:cNvSpPr/>
          <p:nvPr/>
        </p:nvSpPr>
        <p:spPr>
          <a:xfrm>
            <a:off x="7552944" y="3776472"/>
            <a:ext cx="2423160" cy="594360"/>
          </a:xfrm>
          <a:prstGeom prst="roundRect">
            <a:avLst>
              <a:gd name="adj" fmla="val 21538"/>
            </a:avLst>
          </a:prstGeom>
          <a:solidFill>
            <a:srgbClr val="102335"/>
          </a:solidFill>
          <a:ln w="10795">
            <a:solidFill>
              <a:srgbClr val="294056"/>
            </a:solidFill>
            <a:prstDash val="solid"/>
          </a:ln>
        </p:spPr>
      </p:sp>
      <p:sp>
        <p:nvSpPr>
          <p:cNvPr id="21" name="Shape 19"/>
          <p:cNvSpPr/>
          <p:nvPr/>
        </p:nvSpPr>
        <p:spPr>
          <a:xfrm>
            <a:off x="7552944" y="3776472"/>
            <a:ext cx="2423160" cy="64008"/>
          </a:xfrm>
          <a:prstGeom prst="rect">
            <a:avLst/>
          </a:prstGeom>
          <a:solidFill>
            <a:srgbClr val="E2D07A"/>
          </a:solidFill>
          <a:ln w="10795">
            <a:solidFill>
              <a:srgbClr val="E2D07A"/>
            </a:solidFill>
            <a:prstDash val="solid"/>
          </a:ln>
        </p:spPr>
      </p:sp>
      <p:sp>
        <p:nvSpPr>
          <p:cNvPr id="22" name="Text 20"/>
          <p:cNvSpPr/>
          <p:nvPr/>
        </p:nvSpPr>
        <p:spPr>
          <a:xfrm>
            <a:off x="7671816" y="3867912"/>
            <a:ext cx="2185416" cy="256032"/>
          </a:xfrm>
          <a:prstGeom prst="rect">
            <a:avLst/>
          </a:prstGeom>
          <a:noFill/>
          <a:ln/>
        </p:spPr>
        <p:txBody>
          <a:bodyPr wrap="square" lIns="0" tIns="0" rIns="0" bIns="0" rtlCol="0" anchor="ctr"/>
          <a:lstStyle/>
          <a:p>
            <a:pPr algn="ctr" indent="0" marL="0">
              <a:lnSpc>
                <a:spcPct val="100000"/>
              </a:lnSpc>
              <a:buNone/>
            </a:pPr>
            <a:r>
              <a:rPr lang="en-US" sz="1260" b="1" dirty="0">
                <a:solidFill>
                  <a:srgbClr val="F5F7FC"/>
                </a:solidFill>
                <a:latin typeface="Inter" pitchFamily="34" charset="0"/>
                <a:ea typeface="Inter" pitchFamily="34" charset="-122"/>
                <a:cs typeface="Inter" pitchFamily="34" charset="-120"/>
              </a:rPr>
              <a:t>table_03</a:t>
            </a:r>
            <a:endParaRPr lang="en-US" sz="1260" dirty="0"/>
          </a:p>
        </p:txBody>
      </p:sp>
      <p:sp>
        <p:nvSpPr>
          <p:cNvPr id="23" name="Text 21"/>
          <p:cNvSpPr/>
          <p:nvPr/>
        </p:nvSpPr>
        <p:spPr>
          <a:xfrm>
            <a:off x="7662672" y="4114800"/>
            <a:ext cx="2203704" cy="219456"/>
          </a:xfrm>
          <a:prstGeom prst="rect">
            <a:avLst/>
          </a:prstGeom>
          <a:noFill/>
          <a:ln/>
        </p:spPr>
        <p:txBody>
          <a:bodyPr wrap="square" lIns="0" tIns="0" rIns="0" bIns="0" rtlCol="0" anchor="ctr"/>
          <a:lstStyle/>
          <a:p>
            <a:pPr algn="ctr" indent="0" marL="0">
              <a:lnSpc>
                <a:spcPct val="100000"/>
              </a:lnSpc>
              <a:buNone/>
            </a:pPr>
            <a:r>
              <a:rPr lang="en-US" sz="925" dirty="0">
                <a:solidFill>
                  <a:srgbClr val="A1B2C4"/>
                </a:solidFill>
                <a:latin typeface="Inter" pitchFamily="34" charset="0"/>
                <a:ea typeface="Inter" pitchFamily="34" charset="-122"/>
                <a:cs typeface="Inter" pitchFamily="34" charset="-120"/>
              </a:rPr>
              <a:t>living-room table</a:t>
            </a:r>
            <a:endParaRPr lang="en-US" sz="925" dirty="0"/>
          </a:p>
        </p:txBody>
      </p:sp>
      <p:sp>
        <p:nvSpPr>
          <p:cNvPr id="24" name="Shape 22"/>
          <p:cNvSpPr/>
          <p:nvPr/>
        </p:nvSpPr>
        <p:spPr>
          <a:xfrm>
            <a:off x="7552944" y="4773168"/>
            <a:ext cx="2423160" cy="594360"/>
          </a:xfrm>
          <a:prstGeom prst="roundRect">
            <a:avLst>
              <a:gd name="adj" fmla="val 21538"/>
            </a:avLst>
          </a:prstGeom>
          <a:solidFill>
            <a:srgbClr val="102335"/>
          </a:solidFill>
          <a:ln w="10795">
            <a:solidFill>
              <a:srgbClr val="294056"/>
            </a:solidFill>
            <a:prstDash val="solid"/>
          </a:ln>
        </p:spPr>
      </p:sp>
      <p:sp>
        <p:nvSpPr>
          <p:cNvPr id="25" name="Shape 23"/>
          <p:cNvSpPr/>
          <p:nvPr/>
        </p:nvSpPr>
        <p:spPr>
          <a:xfrm>
            <a:off x="7552944" y="4773168"/>
            <a:ext cx="2423160" cy="64008"/>
          </a:xfrm>
          <a:prstGeom prst="rect">
            <a:avLst/>
          </a:prstGeom>
          <a:solidFill>
            <a:srgbClr val="6B9BFF"/>
          </a:solidFill>
          <a:ln w="10795">
            <a:solidFill>
              <a:srgbClr val="6B9BFF"/>
            </a:solidFill>
            <a:prstDash val="solid"/>
          </a:ln>
        </p:spPr>
      </p:sp>
      <p:sp>
        <p:nvSpPr>
          <p:cNvPr id="26" name="Text 24"/>
          <p:cNvSpPr/>
          <p:nvPr/>
        </p:nvSpPr>
        <p:spPr>
          <a:xfrm>
            <a:off x="7671816" y="4864608"/>
            <a:ext cx="2185416" cy="256032"/>
          </a:xfrm>
          <a:prstGeom prst="rect">
            <a:avLst/>
          </a:prstGeom>
          <a:noFill/>
          <a:ln/>
        </p:spPr>
        <p:txBody>
          <a:bodyPr wrap="square" lIns="0" tIns="0" rIns="0" bIns="0" rtlCol="0" anchor="ctr"/>
          <a:lstStyle/>
          <a:p>
            <a:pPr algn="ctr" indent="0" marL="0">
              <a:lnSpc>
                <a:spcPct val="100000"/>
              </a:lnSpc>
              <a:buNone/>
            </a:pPr>
            <a:r>
              <a:rPr lang="en-US" sz="1260" b="1" dirty="0">
                <a:solidFill>
                  <a:srgbClr val="F5F7FC"/>
                </a:solidFill>
                <a:latin typeface="Inter" pitchFamily="34" charset="0"/>
                <a:ea typeface="Inter" pitchFamily="34" charset="-122"/>
                <a:cs typeface="Inter" pitchFamily="34" charset="-120"/>
              </a:rPr>
              <a:t>living_room</a:t>
            </a:r>
            <a:endParaRPr lang="en-US" sz="1260" dirty="0"/>
          </a:p>
        </p:txBody>
      </p:sp>
      <p:sp>
        <p:nvSpPr>
          <p:cNvPr id="27" name="Text 25"/>
          <p:cNvSpPr/>
          <p:nvPr/>
        </p:nvSpPr>
        <p:spPr>
          <a:xfrm>
            <a:off x="7662672" y="5111496"/>
            <a:ext cx="2203704" cy="219456"/>
          </a:xfrm>
          <a:prstGeom prst="rect">
            <a:avLst/>
          </a:prstGeom>
          <a:noFill/>
          <a:ln/>
        </p:spPr>
        <p:txBody>
          <a:bodyPr wrap="square" lIns="0" tIns="0" rIns="0" bIns="0" rtlCol="0" anchor="ctr"/>
          <a:lstStyle/>
          <a:p>
            <a:pPr algn="ctr" indent="0" marL="0">
              <a:lnSpc>
                <a:spcPct val="100000"/>
              </a:lnSpc>
              <a:buNone/>
            </a:pPr>
            <a:r>
              <a:rPr lang="en-US" sz="925" dirty="0">
                <a:solidFill>
                  <a:srgbClr val="A1B2C4"/>
                </a:solidFill>
                <a:latin typeface="Inter" pitchFamily="34" charset="0"/>
                <a:ea typeface="Inter" pitchFamily="34" charset="-122"/>
                <a:cs typeface="Inter" pitchFamily="34" charset="-120"/>
              </a:rPr>
              <a:t>room region</a:t>
            </a:r>
            <a:endParaRPr lang="en-US" sz="925" dirty="0"/>
          </a:p>
        </p:txBody>
      </p:sp>
      <p:sp>
        <p:nvSpPr>
          <p:cNvPr id="28" name="Shape 26"/>
          <p:cNvSpPr/>
          <p:nvPr/>
        </p:nvSpPr>
        <p:spPr>
          <a:xfrm>
            <a:off x="8759952" y="3337560"/>
            <a:ext cx="0" cy="438912"/>
          </a:xfrm>
          <a:prstGeom prst="line">
            <a:avLst/>
          </a:prstGeom>
          <a:noFill/>
          <a:ln w="24130">
            <a:solidFill>
              <a:srgbClr val="48D7B2"/>
            </a:solidFill>
            <a:prstDash val="solid"/>
            <a:headEnd type="none"/>
            <a:tailEnd type="triangle"/>
          </a:ln>
        </p:spPr>
      </p:sp>
      <p:sp>
        <p:nvSpPr>
          <p:cNvPr id="29" name="Text 27"/>
          <p:cNvSpPr/>
          <p:nvPr/>
        </p:nvSpPr>
        <p:spPr>
          <a:xfrm>
            <a:off x="8942832" y="3456432"/>
            <a:ext cx="1554480" cy="182880"/>
          </a:xfrm>
          <a:prstGeom prst="rect">
            <a:avLst/>
          </a:prstGeom>
          <a:noFill/>
          <a:ln/>
        </p:spPr>
        <p:txBody>
          <a:bodyPr wrap="square" lIns="0" tIns="0" rIns="0" bIns="0" rtlCol="0" anchor="ctr"/>
          <a:lstStyle/>
          <a:p>
            <a:pPr algn="l" indent="0" marL="0">
              <a:lnSpc>
                <a:spcPct val="100000"/>
              </a:lnSpc>
              <a:buNone/>
            </a:pPr>
            <a:r>
              <a:rPr lang="en-US" sz="1000" b="1" dirty="0">
                <a:solidFill>
                  <a:srgbClr val="48D7B2"/>
                </a:solidFill>
                <a:latin typeface="Inter" pitchFamily="34" charset="0"/>
                <a:ea typeface="Inter" pitchFamily="34" charset="-122"/>
                <a:cs typeface="Inter" pitchFamily="34" charset="-120"/>
              </a:rPr>
              <a:t>ON_TOP_OF</a:t>
            </a:r>
            <a:endParaRPr lang="en-US" sz="1000" dirty="0"/>
          </a:p>
        </p:txBody>
      </p:sp>
      <p:sp>
        <p:nvSpPr>
          <p:cNvPr id="30" name="Shape 28"/>
          <p:cNvSpPr/>
          <p:nvPr/>
        </p:nvSpPr>
        <p:spPr>
          <a:xfrm>
            <a:off x="8759952" y="4370832"/>
            <a:ext cx="0" cy="402336"/>
          </a:xfrm>
          <a:prstGeom prst="line">
            <a:avLst/>
          </a:prstGeom>
          <a:noFill/>
          <a:ln w="24130">
            <a:solidFill>
              <a:srgbClr val="48D7B2"/>
            </a:solidFill>
            <a:prstDash val="solid"/>
            <a:headEnd type="none"/>
            <a:tailEnd type="triangle"/>
          </a:ln>
        </p:spPr>
      </p:sp>
      <p:sp>
        <p:nvSpPr>
          <p:cNvPr id="31" name="Text 29"/>
          <p:cNvSpPr/>
          <p:nvPr/>
        </p:nvSpPr>
        <p:spPr>
          <a:xfrm>
            <a:off x="8942832" y="4498848"/>
            <a:ext cx="1463040" cy="182880"/>
          </a:xfrm>
          <a:prstGeom prst="rect">
            <a:avLst/>
          </a:prstGeom>
          <a:noFill/>
          <a:ln/>
        </p:spPr>
        <p:txBody>
          <a:bodyPr wrap="square" lIns="0" tIns="0" rIns="0" bIns="0" rtlCol="0" anchor="ctr"/>
          <a:lstStyle/>
          <a:p>
            <a:pPr algn="l" indent="0" marL="0">
              <a:lnSpc>
                <a:spcPct val="100000"/>
              </a:lnSpc>
              <a:buNone/>
            </a:pPr>
            <a:r>
              <a:rPr lang="en-US" sz="1000" b="1" dirty="0">
                <a:solidFill>
                  <a:srgbClr val="48D7B2"/>
                </a:solidFill>
                <a:latin typeface="Inter" pitchFamily="34" charset="0"/>
                <a:ea typeface="Inter" pitchFamily="34" charset="-122"/>
                <a:cs typeface="Inter" pitchFamily="34" charset="-120"/>
              </a:rPr>
              <a:t>IN_ROOM</a:t>
            </a:r>
            <a:endParaRPr lang="en-US" sz="1000" dirty="0"/>
          </a:p>
        </p:txBody>
      </p:sp>
      <p:sp>
        <p:nvSpPr>
          <p:cNvPr id="32" name="Shape 30"/>
          <p:cNvSpPr/>
          <p:nvPr/>
        </p:nvSpPr>
        <p:spPr>
          <a:xfrm>
            <a:off x="795528" y="5897880"/>
            <a:ext cx="10625328" cy="338328"/>
          </a:xfrm>
          <a:prstGeom prst="roundRect">
            <a:avLst>
              <a:gd name="adj" fmla="val 37838"/>
            </a:avLst>
          </a:prstGeom>
          <a:solidFill>
            <a:srgbClr val="152B40"/>
          </a:solidFill>
          <a:ln w="10795">
            <a:solidFill>
              <a:srgbClr val="152B40"/>
            </a:solidFill>
            <a:prstDash val="solid"/>
          </a:ln>
        </p:spPr>
      </p:sp>
      <p:sp>
        <p:nvSpPr>
          <p:cNvPr id="33" name="Text 31"/>
          <p:cNvSpPr/>
          <p:nvPr/>
        </p:nvSpPr>
        <p:spPr>
          <a:xfrm>
            <a:off x="1024128" y="5943600"/>
            <a:ext cx="10122408" cy="246888"/>
          </a:xfrm>
          <a:prstGeom prst="rect">
            <a:avLst/>
          </a:prstGeom>
          <a:noFill/>
          <a:ln/>
        </p:spPr>
        <p:txBody>
          <a:bodyPr wrap="square" lIns="0" tIns="0" rIns="0" bIns="0" rtlCol="0" anchor="ctr"/>
          <a:lstStyle/>
          <a:p>
            <a:pPr algn="ctr" indent="0" marL="0">
              <a:lnSpc>
                <a:spcPct val="100000"/>
              </a:lnSpc>
              <a:buNone/>
            </a:pPr>
            <a:r>
              <a:rPr lang="en-US" sz="1150" dirty="0">
                <a:solidFill>
                  <a:srgbClr val="A1B2C4"/>
                </a:solidFill>
                <a:latin typeface="Inter" pitchFamily="34" charset="0"/>
                <a:ea typeface="Inter" pitchFamily="34" charset="-122"/>
                <a:cs typeface="Inter" pitchFamily="34" charset="-120"/>
              </a:rPr>
              <a:t>SQLite object + observation + event + relationship tables; keep meshes/voxels in their source system.</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SHARED WORLD / LIFECYCLE</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One cup ID across grasp, transport, and placement</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Commands do not change object reality; verified events do.</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13</a:t>
            </a:r>
            <a:endParaRPr lang="en-US" sz="1100" dirty="0"/>
          </a:p>
        </p:txBody>
      </p:sp>
      <p:sp>
        <p:nvSpPr>
          <p:cNvPr id="11" name="Shape 9"/>
          <p:cNvSpPr/>
          <p:nvPr/>
        </p:nvSpPr>
        <p:spPr>
          <a:xfrm>
            <a:off x="603504" y="2532888"/>
            <a:ext cx="2103120" cy="1399032"/>
          </a:xfrm>
          <a:prstGeom prst="roundRect">
            <a:avLst>
              <a:gd name="adj" fmla="val 9150"/>
            </a:avLst>
          </a:prstGeom>
          <a:solidFill>
            <a:srgbClr val="102335"/>
          </a:solidFill>
          <a:ln w="10795">
            <a:solidFill>
              <a:srgbClr val="294056"/>
            </a:solidFill>
            <a:prstDash val="solid"/>
          </a:ln>
        </p:spPr>
      </p:sp>
      <p:sp>
        <p:nvSpPr>
          <p:cNvPr id="12" name="Shape 10"/>
          <p:cNvSpPr/>
          <p:nvPr/>
        </p:nvSpPr>
        <p:spPr>
          <a:xfrm>
            <a:off x="603504" y="2532888"/>
            <a:ext cx="2103120" cy="73152"/>
          </a:xfrm>
          <a:prstGeom prst="rect">
            <a:avLst/>
          </a:prstGeom>
          <a:solidFill>
            <a:srgbClr val="48D7B2"/>
          </a:solidFill>
          <a:ln w="10795">
            <a:solidFill>
              <a:srgbClr val="48D7B2"/>
            </a:solidFill>
            <a:prstDash val="solid"/>
          </a:ln>
        </p:spPr>
      </p:sp>
      <p:sp>
        <p:nvSpPr>
          <p:cNvPr id="13" name="Text 11"/>
          <p:cNvSpPr/>
          <p:nvPr/>
        </p:nvSpPr>
        <p:spPr>
          <a:xfrm>
            <a:off x="731520" y="2752344"/>
            <a:ext cx="1828800" cy="320040"/>
          </a:xfrm>
          <a:prstGeom prst="rect">
            <a:avLst/>
          </a:prstGeom>
          <a:noFill/>
          <a:ln/>
        </p:spPr>
        <p:txBody>
          <a:bodyPr wrap="square" lIns="0" tIns="0" rIns="0" bIns="0" rtlCol="0" anchor="ctr"/>
          <a:lstStyle/>
          <a:p>
            <a:pPr algn="ctr" indent="0" marL="0">
              <a:lnSpc>
                <a:spcPct val="100000"/>
              </a:lnSpc>
              <a:buNone/>
            </a:pPr>
            <a:r>
              <a:rPr lang="en-US" sz="1500" b="1" dirty="0">
                <a:solidFill>
                  <a:srgbClr val="48D7B2"/>
                </a:solidFill>
                <a:latin typeface="Inter" pitchFamily="34" charset="0"/>
                <a:ea typeface="Inter" pitchFamily="34" charset="-122"/>
                <a:cs typeface="Inter" pitchFamily="34" charset="-120"/>
              </a:rPr>
              <a:t>AVAILABLE</a:t>
            </a:r>
            <a:endParaRPr lang="en-US" sz="1500" dirty="0"/>
          </a:p>
        </p:txBody>
      </p:sp>
      <p:sp>
        <p:nvSpPr>
          <p:cNvPr id="14" name="Text 12"/>
          <p:cNvSpPr/>
          <p:nvPr/>
        </p:nvSpPr>
        <p:spPr>
          <a:xfrm>
            <a:off x="749808" y="3246120"/>
            <a:ext cx="1810512" cy="356616"/>
          </a:xfrm>
          <a:prstGeom prst="rect">
            <a:avLst/>
          </a:prstGeom>
          <a:noFill/>
          <a:ln/>
        </p:spPr>
        <p:txBody>
          <a:bodyPr wrap="square" lIns="0" tIns="0" rIns="0" bIns="0" rtlCol="0" anchor="ctr"/>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On table</a:t>
            </a:r>
            <a:endParaRPr lang="en-US" sz="1200" dirty="0"/>
          </a:p>
        </p:txBody>
      </p:sp>
      <p:sp>
        <p:nvSpPr>
          <p:cNvPr id="15" name="Shape 13"/>
          <p:cNvSpPr/>
          <p:nvPr/>
        </p:nvSpPr>
        <p:spPr>
          <a:xfrm>
            <a:off x="2706624" y="3200400"/>
            <a:ext cx="182880" cy="0"/>
          </a:xfrm>
          <a:prstGeom prst="line">
            <a:avLst/>
          </a:prstGeom>
          <a:noFill/>
          <a:ln w="22860">
            <a:solidFill>
              <a:srgbClr val="647F96"/>
            </a:solidFill>
            <a:prstDash val="solid"/>
            <a:headEnd type="none"/>
            <a:tailEnd type="triangle"/>
          </a:ln>
        </p:spPr>
      </p:sp>
      <p:sp>
        <p:nvSpPr>
          <p:cNvPr id="16" name="Shape 14"/>
          <p:cNvSpPr/>
          <p:nvPr/>
        </p:nvSpPr>
        <p:spPr>
          <a:xfrm>
            <a:off x="2926080" y="2532888"/>
            <a:ext cx="2103120" cy="1399032"/>
          </a:xfrm>
          <a:prstGeom prst="roundRect">
            <a:avLst>
              <a:gd name="adj" fmla="val 9150"/>
            </a:avLst>
          </a:prstGeom>
          <a:solidFill>
            <a:srgbClr val="102335"/>
          </a:solidFill>
          <a:ln w="10795">
            <a:solidFill>
              <a:srgbClr val="294056"/>
            </a:solidFill>
            <a:prstDash val="solid"/>
          </a:ln>
        </p:spPr>
      </p:sp>
      <p:sp>
        <p:nvSpPr>
          <p:cNvPr id="17" name="Shape 15"/>
          <p:cNvSpPr/>
          <p:nvPr/>
        </p:nvSpPr>
        <p:spPr>
          <a:xfrm>
            <a:off x="2926080" y="2532888"/>
            <a:ext cx="2103120" cy="73152"/>
          </a:xfrm>
          <a:prstGeom prst="rect">
            <a:avLst/>
          </a:prstGeom>
          <a:solidFill>
            <a:srgbClr val="6B9BFF"/>
          </a:solidFill>
          <a:ln w="10795">
            <a:solidFill>
              <a:srgbClr val="6B9BFF"/>
            </a:solidFill>
            <a:prstDash val="solid"/>
          </a:ln>
        </p:spPr>
      </p:sp>
      <p:sp>
        <p:nvSpPr>
          <p:cNvPr id="18" name="Text 16"/>
          <p:cNvSpPr/>
          <p:nvPr/>
        </p:nvSpPr>
        <p:spPr>
          <a:xfrm>
            <a:off x="3054096" y="2752344"/>
            <a:ext cx="1828800" cy="320040"/>
          </a:xfrm>
          <a:prstGeom prst="rect">
            <a:avLst/>
          </a:prstGeom>
          <a:noFill/>
          <a:ln/>
        </p:spPr>
        <p:txBody>
          <a:bodyPr wrap="square" lIns="0" tIns="0" rIns="0" bIns="0" rtlCol="0" anchor="ctr"/>
          <a:lstStyle/>
          <a:p>
            <a:pPr algn="ctr" indent="0" marL="0">
              <a:lnSpc>
                <a:spcPct val="100000"/>
              </a:lnSpc>
              <a:buNone/>
            </a:pPr>
            <a:r>
              <a:rPr lang="en-US" sz="1500" b="1" dirty="0">
                <a:solidFill>
                  <a:srgbClr val="6B9BFF"/>
                </a:solidFill>
                <a:latin typeface="Inter" pitchFamily="34" charset="0"/>
                <a:ea typeface="Inter" pitchFamily="34" charset="-122"/>
                <a:cs typeface="Inter" pitchFamily="34" charset="-120"/>
              </a:rPr>
              <a:t>RESERVED</a:t>
            </a:r>
            <a:endParaRPr lang="en-US" sz="1500" dirty="0"/>
          </a:p>
        </p:txBody>
      </p:sp>
      <p:sp>
        <p:nvSpPr>
          <p:cNvPr id="19" name="Text 17"/>
          <p:cNvSpPr/>
          <p:nvPr/>
        </p:nvSpPr>
        <p:spPr>
          <a:xfrm>
            <a:off x="3072384" y="3246120"/>
            <a:ext cx="1810512" cy="356616"/>
          </a:xfrm>
          <a:prstGeom prst="rect">
            <a:avLst/>
          </a:prstGeom>
          <a:noFill/>
          <a:ln/>
        </p:spPr>
        <p:txBody>
          <a:bodyPr wrap="square" lIns="0" tIns="0" rIns="0" bIns="0" rtlCol="0" anchor="ctr"/>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Target locked</a:t>
            </a:r>
            <a:endParaRPr lang="en-US" sz="1200" dirty="0"/>
          </a:p>
        </p:txBody>
      </p:sp>
      <p:sp>
        <p:nvSpPr>
          <p:cNvPr id="20" name="Shape 18"/>
          <p:cNvSpPr/>
          <p:nvPr/>
        </p:nvSpPr>
        <p:spPr>
          <a:xfrm>
            <a:off x="5029200" y="3200400"/>
            <a:ext cx="182880" cy="0"/>
          </a:xfrm>
          <a:prstGeom prst="line">
            <a:avLst/>
          </a:prstGeom>
          <a:noFill/>
          <a:ln w="22860">
            <a:solidFill>
              <a:srgbClr val="647F96"/>
            </a:solidFill>
            <a:prstDash val="solid"/>
            <a:headEnd type="none"/>
            <a:tailEnd type="triangle"/>
          </a:ln>
        </p:spPr>
      </p:sp>
      <p:sp>
        <p:nvSpPr>
          <p:cNvPr id="21" name="Shape 19"/>
          <p:cNvSpPr/>
          <p:nvPr/>
        </p:nvSpPr>
        <p:spPr>
          <a:xfrm>
            <a:off x="5248656" y="2532888"/>
            <a:ext cx="2103120" cy="1399032"/>
          </a:xfrm>
          <a:prstGeom prst="roundRect">
            <a:avLst>
              <a:gd name="adj" fmla="val 9150"/>
            </a:avLst>
          </a:prstGeom>
          <a:solidFill>
            <a:srgbClr val="102335"/>
          </a:solidFill>
          <a:ln w="10795">
            <a:solidFill>
              <a:srgbClr val="294056"/>
            </a:solidFill>
            <a:prstDash val="solid"/>
          </a:ln>
        </p:spPr>
      </p:sp>
      <p:sp>
        <p:nvSpPr>
          <p:cNvPr id="22" name="Shape 20"/>
          <p:cNvSpPr/>
          <p:nvPr/>
        </p:nvSpPr>
        <p:spPr>
          <a:xfrm>
            <a:off x="5248656" y="2532888"/>
            <a:ext cx="2103120" cy="73152"/>
          </a:xfrm>
          <a:prstGeom prst="rect">
            <a:avLst/>
          </a:prstGeom>
          <a:solidFill>
            <a:srgbClr val="FFC176"/>
          </a:solidFill>
          <a:ln w="10795">
            <a:solidFill>
              <a:srgbClr val="FFC176"/>
            </a:solidFill>
            <a:prstDash val="solid"/>
          </a:ln>
        </p:spPr>
      </p:sp>
      <p:sp>
        <p:nvSpPr>
          <p:cNvPr id="23" name="Text 21"/>
          <p:cNvSpPr/>
          <p:nvPr/>
        </p:nvSpPr>
        <p:spPr>
          <a:xfrm>
            <a:off x="5376672" y="2752344"/>
            <a:ext cx="1828800" cy="320040"/>
          </a:xfrm>
          <a:prstGeom prst="rect">
            <a:avLst/>
          </a:prstGeom>
          <a:noFill/>
          <a:ln/>
        </p:spPr>
        <p:txBody>
          <a:bodyPr wrap="square" lIns="0" tIns="0" rIns="0" bIns="0" rtlCol="0" anchor="ctr"/>
          <a:lstStyle/>
          <a:p>
            <a:pPr algn="ctr" indent="0" marL="0">
              <a:lnSpc>
                <a:spcPct val="100000"/>
              </a:lnSpc>
              <a:buNone/>
            </a:pPr>
            <a:r>
              <a:rPr lang="en-US" sz="1500" b="1" dirty="0">
                <a:solidFill>
                  <a:srgbClr val="FFC176"/>
                </a:solidFill>
                <a:latin typeface="Inter" pitchFamily="34" charset="0"/>
                <a:ea typeface="Inter" pitchFamily="34" charset="-122"/>
                <a:cs typeface="Inter" pitchFamily="34" charset="-120"/>
              </a:rPr>
              <a:t>ATTACHED</a:t>
            </a:r>
            <a:endParaRPr lang="en-US" sz="1500" dirty="0"/>
          </a:p>
        </p:txBody>
      </p:sp>
      <p:sp>
        <p:nvSpPr>
          <p:cNvPr id="24" name="Text 22"/>
          <p:cNvSpPr/>
          <p:nvPr/>
        </p:nvSpPr>
        <p:spPr>
          <a:xfrm>
            <a:off x="5394960" y="3246120"/>
            <a:ext cx="1810512" cy="356616"/>
          </a:xfrm>
          <a:prstGeom prst="rect">
            <a:avLst/>
          </a:prstGeom>
          <a:noFill/>
          <a:ln/>
        </p:spPr>
        <p:txBody>
          <a:bodyPr wrap="square" lIns="0" tIns="0" rIns="0" bIns="0" rtlCol="0" anchor="ctr"/>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Held by G1</a:t>
            </a:r>
            <a:endParaRPr lang="en-US" sz="1200" dirty="0"/>
          </a:p>
        </p:txBody>
      </p:sp>
      <p:sp>
        <p:nvSpPr>
          <p:cNvPr id="25" name="Shape 23"/>
          <p:cNvSpPr/>
          <p:nvPr/>
        </p:nvSpPr>
        <p:spPr>
          <a:xfrm>
            <a:off x="7351776" y="3200400"/>
            <a:ext cx="182880" cy="0"/>
          </a:xfrm>
          <a:prstGeom prst="line">
            <a:avLst/>
          </a:prstGeom>
          <a:noFill/>
          <a:ln w="22860">
            <a:solidFill>
              <a:srgbClr val="647F96"/>
            </a:solidFill>
            <a:prstDash val="solid"/>
            <a:headEnd type="none"/>
            <a:tailEnd type="triangle"/>
          </a:ln>
        </p:spPr>
      </p:sp>
      <p:sp>
        <p:nvSpPr>
          <p:cNvPr id="26" name="Shape 24"/>
          <p:cNvSpPr/>
          <p:nvPr/>
        </p:nvSpPr>
        <p:spPr>
          <a:xfrm>
            <a:off x="7571232" y="2532888"/>
            <a:ext cx="2103120" cy="1399032"/>
          </a:xfrm>
          <a:prstGeom prst="roundRect">
            <a:avLst>
              <a:gd name="adj" fmla="val 9150"/>
            </a:avLst>
          </a:prstGeom>
          <a:solidFill>
            <a:srgbClr val="102335"/>
          </a:solidFill>
          <a:ln w="10795">
            <a:solidFill>
              <a:srgbClr val="294056"/>
            </a:solidFill>
            <a:prstDash val="solid"/>
          </a:ln>
        </p:spPr>
      </p:sp>
      <p:sp>
        <p:nvSpPr>
          <p:cNvPr id="27" name="Shape 25"/>
          <p:cNvSpPr/>
          <p:nvPr/>
        </p:nvSpPr>
        <p:spPr>
          <a:xfrm>
            <a:off x="7571232" y="2532888"/>
            <a:ext cx="2103120" cy="73152"/>
          </a:xfrm>
          <a:prstGeom prst="rect">
            <a:avLst/>
          </a:prstGeom>
          <a:solidFill>
            <a:srgbClr val="E2D07A"/>
          </a:solidFill>
          <a:ln w="10795">
            <a:solidFill>
              <a:srgbClr val="E2D07A"/>
            </a:solidFill>
            <a:prstDash val="solid"/>
          </a:ln>
        </p:spPr>
      </p:sp>
      <p:sp>
        <p:nvSpPr>
          <p:cNvPr id="28" name="Text 26"/>
          <p:cNvSpPr/>
          <p:nvPr/>
        </p:nvSpPr>
        <p:spPr>
          <a:xfrm>
            <a:off x="7699248" y="2752344"/>
            <a:ext cx="1828800" cy="320040"/>
          </a:xfrm>
          <a:prstGeom prst="rect">
            <a:avLst/>
          </a:prstGeom>
          <a:noFill/>
          <a:ln/>
        </p:spPr>
        <p:txBody>
          <a:bodyPr wrap="square" lIns="0" tIns="0" rIns="0" bIns="0" rtlCol="0" anchor="ctr"/>
          <a:lstStyle/>
          <a:p>
            <a:pPr algn="ctr" indent="0" marL="0">
              <a:lnSpc>
                <a:spcPct val="100000"/>
              </a:lnSpc>
              <a:buNone/>
            </a:pPr>
            <a:r>
              <a:rPr lang="en-US" sz="1500" b="1" dirty="0">
                <a:solidFill>
                  <a:srgbClr val="E2D07A"/>
                </a:solidFill>
                <a:latin typeface="Inter" pitchFamily="34" charset="0"/>
                <a:ea typeface="Inter" pitchFamily="34" charset="-122"/>
                <a:cs typeface="Inter" pitchFamily="34" charset="-120"/>
              </a:rPr>
              <a:t>PLACE PENDING</a:t>
            </a:r>
            <a:endParaRPr lang="en-US" sz="1500" dirty="0"/>
          </a:p>
        </p:txBody>
      </p:sp>
      <p:sp>
        <p:nvSpPr>
          <p:cNvPr id="29" name="Text 27"/>
          <p:cNvSpPr/>
          <p:nvPr/>
        </p:nvSpPr>
        <p:spPr>
          <a:xfrm>
            <a:off x="7717536" y="3246120"/>
            <a:ext cx="1810512" cy="356616"/>
          </a:xfrm>
          <a:prstGeom prst="rect">
            <a:avLst/>
          </a:prstGeom>
          <a:noFill/>
          <a:ln/>
        </p:spPr>
        <p:txBody>
          <a:bodyPr wrap="square" lIns="0" tIns="0" rIns="0" bIns="0" rtlCol="0" anchor="ctr"/>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Released; verify</a:t>
            </a:r>
            <a:endParaRPr lang="en-US" sz="1200" dirty="0"/>
          </a:p>
        </p:txBody>
      </p:sp>
      <p:sp>
        <p:nvSpPr>
          <p:cNvPr id="30" name="Shape 28"/>
          <p:cNvSpPr/>
          <p:nvPr/>
        </p:nvSpPr>
        <p:spPr>
          <a:xfrm>
            <a:off x="9674352" y="3200400"/>
            <a:ext cx="182880" cy="0"/>
          </a:xfrm>
          <a:prstGeom prst="line">
            <a:avLst/>
          </a:prstGeom>
          <a:noFill/>
          <a:ln w="22860">
            <a:solidFill>
              <a:srgbClr val="647F96"/>
            </a:solidFill>
            <a:prstDash val="solid"/>
            <a:headEnd type="none"/>
            <a:tailEnd type="triangle"/>
          </a:ln>
        </p:spPr>
      </p:sp>
      <p:sp>
        <p:nvSpPr>
          <p:cNvPr id="31" name="Shape 29"/>
          <p:cNvSpPr/>
          <p:nvPr/>
        </p:nvSpPr>
        <p:spPr>
          <a:xfrm>
            <a:off x="9893808" y="2532888"/>
            <a:ext cx="2103120" cy="1399032"/>
          </a:xfrm>
          <a:prstGeom prst="roundRect">
            <a:avLst>
              <a:gd name="adj" fmla="val 9150"/>
            </a:avLst>
          </a:prstGeom>
          <a:solidFill>
            <a:srgbClr val="102335"/>
          </a:solidFill>
          <a:ln w="10795">
            <a:solidFill>
              <a:srgbClr val="294056"/>
            </a:solidFill>
            <a:prstDash val="solid"/>
          </a:ln>
        </p:spPr>
      </p:sp>
      <p:sp>
        <p:nvSpPr>
          <p:cNvPr id="32" name="Shape 30"/>
          <p:cNvSpPr/>
          <p:nvPr/>
        </p:nvSpPr>
        <p:spPr>
          <a:xfrm>
            <a:off x="9893808" y="2532888"/>
            <a:ext cx="2103120" cy="73152"/>
          </a:xfrm>
          <a:prstGeom prst="rect">
            <a:avLst/>
          </a:prstGeom>
          <a:solidFill>
            <a:srgbClr val="48D7B2"/>
          </a:solidFill>
          <a:ln w="10795">
            <a:solidFill>
              <a:srgbClr val="48D7B2"/>
            </a:solidFill>
            <a:prstDash val="solid"/>
          </a:ln>
        </p:spPr>
      </p:sp>
      <p:sp>
        <p:nvSpPr>
          <p:cNvPr id="33" name="Text 31"/>
          <p:cNvSpPr/>
          <p:nvPr/>
        </p:nvSpPr>
        <p:spPr>
          <a:xfrm>
            <a:off x="10021824" y="2752344"/>
            <a:ext cx="1828800" cy="320040"/>
          </a:xfrm>
          <a:prstGeom prst="rect">
            <a:avLst/>
          </a:prstGeom>
          <a:noFill/>
          <a:ln/>
        </p:spPr>
        <p:txBody>
          <a:bodyPr wrap="square" lIns="0" tIns="0" rIns="0" bIns="0" rtlCol="0" anchor="ctr"/>
          <a:lstStyle/>
          <a:p>
            <a:pPr algn="ctr" indent="0" marL="0">
              <a:lnSpc>
                <a:spcPct val="100000"/>
              </a:lnSpc>
              <a:buNone/>
            </a:pPr>
            <a:r>
              <a:rPr lang="en-US" sz="1500" b="1" dirty="0">
                <a:solidFill>
                  <a:srgbClr val="48D7B2"/>
                </a:solidFill>
                <a:latin typeface="Inter" pitchFamily="34" charset="0"/>
                <a:ea typeface="Inter" pitchFamily="34" charset="-122"/>
                <a:cs typeface="Inter" pitchFamily="34" charset="-120"/>
              </a:rPr>
              <a:t>AVAILABLE</a:t>
            </a:r>
            <a:endParaRPr lang="en-US" sz="1500" dirty="0"/>
          </a:p>
        </p:txBody>
      </p:sp>
      <p:sp>
        <p:nvSpPr>
          <p:cNvPr id="34" name="Text 32"/>
          <p:cNvSpPr/>
          <p:nvPr/>
        </p:nvSpPr>
        <p:spPr>
          <a:xfrm>
            <a:off x="10040112" y="3246120"/>
            <a:ext cx="1810512" cy="356616"/>
          </a:xfrm>
          <a:prstGeom prst="rect">
            <a:avLst/>
          </a:prstGeom>
          <a:noFill/>
          <a:ln/>
        </p:spPr>
        <p:txBody>
          <a:bodyPr wrap="square" lIns="0" tIns="0" rIns="0" bIns="0" rtlCol="0" anchor="ctr"/>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On destination</a:t>
            </a:r>
            <a:endParaRPr lang="en-US" sz="1200" dirty="0"/>
          </a:p>
        </p:txBody>
      </p:sp>
      <p:sp>
        <p:nvSpPr>
          <p:cNvPr id="35" name="Shape 33"/>
          <p:cNvSpPr/>
          <p:nvPr/>
        </p:nvSpPr>
        <p:spPr>
          <a:xfrm>
            <a:off x="914400" y="4489704"/>
            <a:ext cx="10341864" cy="813816"/>
          </a:xfrm>
          <a:prstGeom prst="roundRect">
            <a:avLst>
              <a:gd name="adj" fmla="val 15730"/>
            </a:avLst>
          </a:prstGeom>
          <a:solidFill>
            <a:srgbClr val="152B40"/>
          </a:solidFill>
          <a:ln w="10795">
            <a:solidFill>
              <a:srgbClr val="294056"/>
            </a:solidFill>
            <a:prstDash val="solid"/>
          </a:ln>
        </p:spPr>
      </p:sp>
      <p:sp>
        <p:nvSpPr>
          <p:cNvPr id="36" name="Text 34"/>
          <p:cNvSpPr/>
          <p:nvPr/>
        </p:nvSpPr>
        <p:spPr>
          <a:xfrm>
            <a:off x="1252728" y="4636008"/>
            <a:ext cx="9683496" cy="512064"/>
          </a:xfrm>
          <a:prstGeom prst="rect">
            <a:avLst/>
          </a:prstGeom>
          <a:noFill/>
          <a:ln/>
        </p:spPr>
        <p:txBody>
          <a:bodyPr wrap="square" lIns="0" tIns="0" rIns="0" bIns="0" rtlCol="0" anchor="ctr"/>
          <a:lstStyle/>
          <a:p>
            <a:pPr algn="ctr" indent="0" marL="0">
              <a:lnSpc>
                <a:spcPct val="100000"/>
              </a:lnSpc>
              <a:buNone/>
            </a:pPr>
            <a:r>
              <a:rPr lang="en-US" sz="1600" b="1" dirty="0">
                <a:solidFill>
                  <a:srgbClr val="F5F7FC"/>
                </a:solidFill>
                <a:latin typeface="Inter" pitchFamily="34" charset="0"/>
                <a:ea typeface="Inter" pitchFamily="34" charset="-122"/>
                <a:cs typeface="Inter" pitchFamily="34" charset="-120"/>
              </a:rPr>
              <a:t>Verified grasp → attach cup_17 to G1 hand TF  |  Verified placement → detach and update cup_17 pose</a:t>
            </a:r>
            <a:endParaRPr lang="en-US" sz="1600" dirty="0"/>
          </a:p>
        </p:txBody>
      </p:sp>
      <p:sp>
        <p:nvSpPr>
          <p:cNvPr id="37" name="Text 35"/>
          <p:cNvSpPr/>
          <p:nvPr/>
        </p:nvSpPr>
        <p:spPr>
          <a:xfrm>
            <a:off x="850392" y="5687568"/>
            <a:ext cx="10515600" cy="466344"/>
          </a:xfrm>
          <a:prstGeom prst="rect">
            <a:avLst/>
          </a:prstGeom>
          <a:noFill/>
          <a:ln/>
        </p:spPr>
        <p:txBody>
          <a:bodyPr wrap="square" lIns="0" tIns="0" rIns="0" bIns="0" rtlCol="0" anchor="ctr"/>
          <a:lstStyle/>
          <a:p>
            <a:pPr algn="ctr" indent="0" marL="0">
              <a:lnSpc>
                <a:spcPct val="100000"/>
              </a:lnSpc>
              <a:buNone/>
            </a:pPr>
            <a:r>
              <a:rPr lang="en-US" sz="1240" dirty="0">
                <a:solidFill>
                  <a:srgbClr val="FF8790"/>
                </a:solidFill>
                <a:latin typeface="Inter" pitchFamily="34" charset="0"/>
                <a:ea typeface="Inter" pitchFamily="34" charset="-122"/>
                <a:cs typeface="Inter" pitchFamily="34" charset="-120"/>
              </a:rPr>
              <a:t>Failure paths: grasp miss ⇒ AVAILABLE/UNCERTAIN   •   cup dropped ⇒ LOST + active re-localization   •   unverified release ⇒ PENDING</a:t>
            </a:r>
            <a:endParaRPr lang="en-US" sz="12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BEFORE NAVIGATION / APPROACH</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Pick-up viewpoint ≠ manipulation approach pose</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A camera can see a cup from a place where the arms cannot reach it.</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14</a:t>
            </a:r>
            <a:endParaRPr lang="en-US" sz="1100" dirty="0"/>
          </a:p>
        </p:txBody>
      </p:sp>
      <p:sp>
        <p:nvSpPr>
          <p:cNvPr id="11" name="Shape 9"/>
          <p:cNvSpPr/>
          <p:nvPr/>
        </p:nvSpPr>
        <p:spPr>
          <a:xfrm>
            <a:off x="566928" y="2194560"/>
            <a:ext cx="6400800" cy="3511296"/>
          </a:xfrm>
          <a:prstGeom prst="roundRect">
            <a:avLst>
              <a:gd name="adj" fmla="val 2083"/>
            </a:avLst>
          </a:prstGeom>
          <a:solidFill>
            <a:srgbClr val="0B1D2B"/>
          </a:solidFill>
          <a:ln w="10795">
            <a:solidFill>
              <a:srgbClr val="294056"/>
            </a:solidFill>
            <a:prstDash val="solid"/>
          </a:ln>
        </p:spPr>
      </p:sp>
      <p:sp>
        <p:nvSpPr>
          <p:cNvPr id="12" name="Shape 10"/>
          <p:cNvSpPr/>
          <p:nvPr/>
        </p:nvSpPr>
        <p:spPr>
          <a:xfrm>
            <a:off x="1059297" y="2194560"/>
            <a:ext cx="0" cy="3511296"/>
          </a:xfrm>
          <a:prstGeom prst="line">
            <a:avLst/>
          </a:prstGeom>
          <a:noFill/>
          <a:ln w="5715">
            <a:solidFill>
              <a:srgbClr val="647F96"/>
            </a:solidFill>
            <a:prstDash val="dash"/>
            <a:headEnd type="none"/>
            <a:tailEnd type="none"/>
          </a:ln>
        </p:spPr>
      </p:sp>
      <p:sp>
        <p:nvSpPr>
          <p:cNvPr id="13" name="Shape 11"/>
          <p:cNvSpPr/>
          <p:nvPr/>
        </p:nvSpPr>
        <p:spPr>
          <a:xfrm>
            <a:off x="1551666" y="2194560"/>
            <a:ext cx="0" cy="3511296"/>
          </a:xfrm>
          <a:prstGeom prst="line">
            <a:avLst/>
          </a:prstGeom>
          <a:noFill/>
          <a:ln w="5715">
            <a:solidFill>
              <a:srgbClr val="647F96"/>
            </a:solidFill>
            <a:prstDash val="dash"/>
            <a:headEnd type="none"/>
            <a:tailEnd type="none"/>
          </a:ln>
        </p:spPr>
      </p:sp>
      <p:sp>
        <p:nvSpPr>
          <p:cNvPr id="14" name="Shape 12"/>
          <p:cNvSpPr/>
          <p:nvPr/>
        </p:nvSpPr>
        <p:spPr>
          <a:xfrm>
            <a:off x="2044036" y="2194560"/>
            <a:ext cx="0" cy="3511296"/>
          </a:xfrm>
          <a:prstGeom prst="line">
            <a:avLst/>
          </a:prstGeom>
          <a:noFill/>
          <a:ln w="5715">
            <a:solidFill>
              <a:srgbClr val="647F96"/>
            </a:solidFill>
            <a:prstDash val="dash"/>
            <a:headEnd type="none"/>
            <a:tailEnd type="none"/>
          </a:ln>
        </p:spPr>
      </p:sp>
      <p:sp>
        <p:nvSpPr>
          <p:cNvPr id="15" name="Shape 13"/>
          <p:cNvSpPr/>
          <p:nvPr/>
        </p:nvSpPr>
        <p:spPr>
          <a:xfrm>
            <a:off x="2536405" y="2194560"/>
            <a:ext cx="0" cy="3511296"/>
          </a:xfrm>
          <a:prstGeom prst="line">
            <a:avLst/>
          </a:prstGeom>
          <a:noFill/>
          <a:ln w="5715">
            <a:solidFill>
              <a:srgbClr val="647F96"/>
            </a:solidFill>
            <a:prstDash val="dash"/>
            <a:headEnd type="none"/>
            <a:tailEnd type="none"/>
          </a:ln>
        </p:spPr>
      </p:sp>
      <p:sp>
        <p:nvSpPr>
          <p:cNvPr id="16" name="Shape 14"/>
          <p:cNvSpPr/>
          <p:nvPr/>
        </p:nvSpPr>
        <p:spPr>
          <a:xfrm>
            <a:off x="3028774" y="2194560"/>
            <a:ext cx="0" cy="3511296"/>
          </a:xfrm>
          <a:prstGeom prst="line">
            <a:avLst/>
          </a:prstGeom>
          <a:noFill/>
          <a:ln w="5715">
            <a:solidFill>
              <a:srgbClr val="647F96"/>
            </a:solidFill>
            <a:prstDash val="dash"/>
            <a:headEnd type="none"/>
            <a:tailEnd type="none"/>
          </a:ln>
        </p:spPr>
      </p:sp>
      <p:sp>
        <p:nvSpPr>
          <p:cNvPr id="17" name="Shape 15"/>
          <p:cNvSpPr/>
          <p:nvPr/>
        </p:nvSpPr>
        <p:spPr>
          <a:xfrm>
            <a:off x="3521143" y="2194560"/>
            <a:ext cx="0" cy="3511296"/>
          </a:xfrm>
          <a:prstGeom prst="line">
            <a:avLst/>
          </a:prstGeom>
          <a:noFill/>
          <a:ln w="5715">
            <a:solidFill>
              <a:srgbClr val="647F96"/>
            </a:solidFill>
            <a:prstDash val="dash"/>
            <a:headEnd type="none"/>
            <a:tailEnd type="none"/>
          </a:ln>
        </p:spPr>
      </p:sp>
      <p:sp>
        <p:nvSpPr>
          <p:cNvPr id="18" name="Shape 16"/>
          <p:cNvSpPr/>
          <p:nvPr/>
        </p:nvSpPr>
        <p:spPr>
          <a:xfrm>
            <a:off x="4013513" y="2194560"/>
            <a:ext cx="0" cy="3511296"/>
          </a:xfrm>
          <a:prstGeom prst="line">
            <a:avLst/>
          </a:prstGeom>
          <a:noFill/>
          <a:ln w="5715">
            <a:solidFill>
              <a:srgbClr val="647F96"/>
            </a:solidFill>
            <a:prstDash val="dash"/>
            <a:headEnd type="none"/>
            <a:tailEnd type="none"/>
          </a:ln>
        </p:spPr>
      </p:sp>
      <p:sp>
        <p:nvSpPr>
          <p:cNvPr id="19" name="Shape 17"/>
          <p:cNvSpPr/>
          <p:nvPr/>
        </p:nvSpPr>
        <p:spPr>
          <a:xfrm>
            <a:off x="4505882" y="2194560"/>
            <a:ext cx="0" cy="3511296"/>
          </a:xfrm>
          <a:prstGeom prst="line">
            <a:avLst/>
          </a:prstGeom>
          <a:noFill/>
          <a:ln w="5715">
            <a:solidFill>
              <a:srgbClr val="647F96"/>
            </a:solidFill>
            <a:prstDash val="dash"/>
            <a:headEnd type="none"/>
            <a:tailEnd type="none"/>
          </a:ln>
        </p:spPr>
      </p:sp>
      <p:sp>
        <p:nvSpPr>
          <p:cNvPr id="20" name="Shape 18"/>
          <p:cNvSpPr/>
          <p:nvPr/>
        </p:nvSpPr>
        <p:spPr>
          <a:xfrm>
            <a:off x="4998251" y="2194560"/>
            <a:ext cx="0" cy="3511296"/>
          </a:xfrm>
          <a:prstGeom prst="line">
            <a:avLst/>
          </a:prstGeom>
          <a:noFill/>
          <a:ln w="5715">
            <a:solidFill>
              <a:srgbClr val="647F96"/>
            </a:solidFill>
            <a:prstDash val="dash"/>
            <a:headEnd type="none"/>
            <a:tailEnd type="none"/>
          </a:ln>
        </p:spPr>
      </p:sp>
      <p:sp>
        <p:nvSpPr>
          <p:cNvPr id="21" name="Shape 19"/>
          <p:cNvSpPr/>
          <p:nvPr/>
        </p:nvSpPr>
        <p:spPr>
          <a:xfrm>
            <a:off x="5490620" y="2194560"/>
            <a:ext cx="0" cy="3511296"/>
          </a:xfrm>
          <a:prstGeom prst="line">
            <a:avLst/>
          </a:prstGeom>
          <a:noFill/>
          <a:ln w="5715">
            <a:solidFill>
              <a:srgbClr val="647F96"/>
            </a:solidFill>
            <a:prstDash val="dash"/>
            <a:headEnd type="none"/>
            <a:tailEnd type="none"/>
          </a:ln>
        </p:spPr>
      </p:sp>
      <p:sp>
        <p:nvSpPr>
          <p:cNvPr id="22" name="Shape 20"/>
          <p:cNvSpPr/>
          <p:nvPr/>
        </p:nvSpPr>
        <p:spPr>
          <a:xfrm>
            <a:off x="5982990" y="2194560"/>
            <a:ext cx="0" cy="3511296"/>
          </a:xfrm>
          <a:prstGeom prst="line">
            <a:avLst/>
          </a:prstGeom>
          <a:noFill/>
          <a:ln w="5715">
            <a:solidFill>
              <a:srgbClr val="647F96"/>
            </a:solidFill>
            <a:prstDash val="dash"/>
            <a:headEnd type="none"/>
            <a:tailEnd type="none"/>
          </a:ln>
        </p:spPr>
      </p:sp>
      <p:sp>
        <p:nvSpPr>
          <p:cNvPr id="23" name="Shape 21"/>
          <p:cNvSpPr/>
          <p:nvPr/>
        </p:nvSpPr>
        <p:spPr>
          <a:xfrm>
            <a:off x="6475359" y="2194560"/>
            <a:ext cx="0" cy="3511296"/>
          </a:xfrm>
          <a:prstGeom prst="line">
            <a:avLst/>
          </a:prstGeom>
          <a:noFill/>
          <a:ln w="5715">
            <a:solidFill>
              <a:srgbClr val="647F96"/>
            </a:solidFill>
            <a:prstDash val="dash"/>
            <a:headEnd type="none"/>
            <a:tailEnd type="none"/>
          </a:ln>
        </p:spPr>
      </p:sp>
      <p:sp>
        <p:nvSpPr>
          <p:cNvPr id="24" name="Shape 22"/>
          <p:cNvSpPr/>
          <p:nvPr/>
        </p:nvSpPr>
        <p:spPr>
          <a:xfrm>
            <a:off x="566928" y="2633472"/>
            <a:ext cx="6400800" cy="0"/>
          </a:xfrm>
          <a:prstGeom prst="line">
            <a:avLst/>
          </a:prstGeom>
          <a:noFill/>
          <a:ln w="5715">
            <a:solidFill>
              <a:srgbClr val="647F96"/>
            </a:solidFill>
            <a:prstDash val="dash"/>
            <a:headEnd type="none"/>
            <a:tailEnd type="none"/>
          </a:ln>
        </p:spPr>
      </p:sp>
      <p:sp>
        <p:nvSpPr>
          <p:cNvPr id="25" name="Shape 23"/>
          <p:cNvSpPr/>
          <p:nvPr/>
        </p:nvSpPr>
        <p:spPr>
          <a:xfrm>
            <a:off x="566928" y="3072384"/>
            <a:ext cx="6400800" cy="0"/>
          </a:xfrm>
          <a:prstGeom prst="line">
            <a:avLst/>
          </a:prstGeom>
          <a:noFill/>
          <a:ln w="5715">
            <a:solidFill>
              <a:srgbClr val="647F96"/>
            </a:solidFill>
            <a:prstDash val="dash"/>
            <a:headEnd type="none"/>
            <a:tailEnd type="none"/>
          </a:ln>
        </p:spPr>
      </p:sp>
      <p:sp>
        <p:nvSpPr>
          <p:cNvPr id="26" name="Shape 24"/>
          <p:cNvSpPr/>
          <p:nvPr/>
        </p:nvSpPr>
        <p:spPr>
          <a:xfrm>
            <a:off x="566928" y="3511296"/>
            <a:ext cx="6400800" cy="0"/>
          </a:xfrm>
          <a:prstGeom prst="line">
            <a:avLst/>
          </a:prstGeom>
          <a:noFill/>
          <a:ln w="5715">
            <a:solidFill>
              <a:srgbClr val="647F96"/>
            </a:solidFill>
            <a:prstDash val="dash"/>
            <a:headEnd type="none"/>
            <a:tailEnd type="none"/>
          </a:ln>
        </p:spPr>
      </p:sp>
      <p:sp>
        <p:nvSpPr>
          <p:cNvPr id="27" name="Shape 25"/>
          <p:cNvSpPr/>
          <p:nvPr/>
        </p:nvSpPr>
        <p:spPr>
          <a:xfrm>
            <a:off x="566928" y="3950208"/>
            <a:ext cx="6400800" cy="0"/>
          </a:xfrm>
          <a:prstGeom prst="line">
            <a:avLst/>
          </a:prstGeom>
          <a:noFill/>
          <a:ln w="5715">
            <a:solidFill>
              <a:srgbClr val="647F96"/>
            </a:solidFill>
            <a:prstDash val="dash"/>
            <a:headEnd type="none"/>
            <a:tailEnd type="none"/>
          </a:ln>
        </p:spPr>
      </p:sp>
      <p:sp>
        <p:nvSpPr>
          <p:cNvPr id="28" name="Shape 26"/>
          <p:cNvSpPr/>
          <p:nvPr/>
        </p:nvSpPr>
        <p:spPr>
          <a:xfrm>
            <a:off x="566928" y="4389120"/>
            <a:ext cx="6400800" cy="0"/>
          </a:xfrm>
          <a:prstGeom prst="line">
            <a:avLst/>
          </a:prstGeom>
          <a:noFill/>
          <a:ln w="5715">
            <a:solidFill>
              <a:srgbClr val="647F96"/>
            </a:solidFill>
            <a:prstDash val="dash"/>
            <a:headEnd type="none"/>
            <a:tailEnd type="none"/>
          </a:ln>
        </p:spPr>
      </p:sp>
      <p:sp>
        <p:nvSpPr>
          <p:cNvPr id="29" name="Shape 27"/>
          <p:cNvSpPr/>
          <p:nvPr/>
        </p:nvSpPr>
        <p:spPr>
          <a:xfrm>
            <a:off x="566928" y="4828032"/>
            <a:ext cx="6400800" cy="0"/>
          </a:xfrm>
          <a:prstGeom prst="line">
            <a:avLst/>
          </a:prstGeom>
          <a:noFill/>
          <a:ln w="5715">
            <a:solidFill>
              <a:srgbClr val="647F96"/>
            </a:solidFill>
            <a:prstDash val="dash"/>
            <a:headEnd type="none"/>
            <a:tailEnd type="none"/>
          </a:ln>
        </p:spPr>
      </p:sp>
      <p:sp>
        <p:nvSpPr>
          <p:cNvPr id="30" name="Shape 28"/>
          <p:cNvSpPr/>
          <p:nvPr/>
        </p:nvSpPr>
        <p:spPr>
          <a:xfrm>
            <a:off x="566928" y="5266944"/>
            <a:ext cx="6400800" cy="0"/>
          </a:xfrm>
          <a:prstGeom prst="line">
            <a:avLst/>
          </a:prstGeom>
          <a:noFill/>
          <a:ln w="5715">
            <a:solidFill>
              <a:srgbClr val="647F96"/>
            </a:solidFill>
            <a:prstDash val="dash"/>
            <a:headEnd type="none"/>
            <a:tailEnd type="none"/>
          </a:ln>
        </p:spPr>
      </p:sp>
      <p:sp>
        <p:nvSpPr>
          <p:cNvPr id="31" name="Shape 29"/>
          <p:cNvSpPr/>
          <p:nvPr/>
        </p:nvSpPr>
        <p:spPr>
          <a:xfrm>
            <a:off x="2862072" y="2807208"/>
            <a:ext cx="2011680" cy="1207008"/>
          </a:xfrm>
          <a:prstGeom prst="roundRect">
            <a:avLst>
              <a:gd name="adj" fmla="val 5303"/>
            </a:avLst>
          </a:prstGeom>
          <a:solidFill>
            <a:srgbClr val="7B6956"/>
          </a:solidFill>
          <a:ln w="10795">
            <a:solidFill>
              <a:srgbClr val="9C866D"/>
            </a:solidFill>
            <a:prstDash val="solid"/>
          </a:ln>
        </p:spPr>
      </p:sp>
      <p:sp>
        <p:nvSpPr>
          <p:cNvPr id="32" name="Text 30"/>
          <p:cNvSpPr/>
          <p:nvPr/>
        </p:nvSpPr>
        <p:spPr>
          <a:xfrm>
            <a:off x="3364992" y="3447288"/>
            <a:ext cx="1005840" cy="237744"/>
          </a:xfrm>
          <a:prstGeom prst="rect">
            <a:avLst/>
          </a:prstGeom>
          <a:noFill/>
          <a:ln/>
        </p:spPr>
        <p:txBody>
          <a:bodyPr wrap="square" lIns="0" tIns="0" rIns="0" bIns="0" rtlCol="0" anchor="ctr"/>
          <a:lstStyle/>
          <a:p>
            <a:pPr algn="ctr" indent="0" marL="0">
              <a:lnSpc>
                <a:spcPct val="100000"/>
              </a:lnSpc>
              <a:buNone/>
            </a:pPr>
            <a:r>
              <a:rPr lang="en-US" sz="1300" b="1" dirty="0">
                <a:solidFill>
                  <a:srgbClr val="F5F7FC"/>
                </a:solidFill>
                <a:latin typeface="Inter" pitchFamily="34" charset="0"/>
                <a:ea typeface="Inter" pitchFamily="34" charset="-122"/>
                <a:cs typeface="Inter" pitchFamily="34" charset="-120"/>
              </a:rPr>
              <a:t>TABLE</a:t>
            </a:r>
            <a:endParaRPr lang="en-US" sz="1300" dirty="0"/>
          </a:p>
        </p:txBody>
      </p:sp>
      <p:sp>
        <p:nvSpPr>
          <p:cNvPr id="33" name="Shape 31"/>
          <p:cNvSpPr/>
          <p:nvPr/>
        </p:nvSpPr>
        <p:spPr>
          <a:xfrm>
            <a:off x="3876324" y="2851099"/>
            <a:ext cx="148499" cy="40965"/>
          </a:xfrm>
          <a:prstGeom prst="ellipse">
            <a:avLst/>
          </a:prstGeom>
          <a:solidFill>
            <a:srgbClr val="FF8790"/>
          </a:solidFill>
          <a:ln w="12700">
            <a:solidFill>
              <a:srgbClr val="FF8790"/>
            </a:solidFill>
            <a:prstDash val="solid"/>
          </a:ln>
        </p:spPr>
      </p:sp>
      <p:sp>
        <p:nvSpPr>
          <p:cNvPr id="34" name="Shape 32"/>
          <p:cNvSpPr/>
          <p:nvPr/>
        </p:nvSpPr>
        <p:spPr>
          <a:xfrm>
            <a:off x="3889126" y="2866461"/>
            <a:ext cx="125456" cy="133137"/>
          </a:xfrm>
          <a:prstGeom prst="roundRect">
            <a:avLst>
              <a:gd name="adj" fmla="val 29154"/>
            </a:avLst>
          </a:prstGeom>
          <a:solidFill>
            <a:srgbClr val="FF8790"/>
          </a:solidFill>
          <a:ln w="10795">
            <a:solidFill>
              <a:srgbClr val="FF8790"/>
            </a:solidFill>
            <a:prstDash val="solid"/>
          </a:ln>
        </p:spPr>
      </p:sp>
      <p:sp>
        <p:nvSpPr>
          <p:cNvPr id="35" name="Shape 33"/>
          <p:cNvSpPr/>
          <p:nvPr/>
        </p:nvSpPr>
        <p:spPr>
          <a:xfrm>
            <a:off x="3876324" y="2968874"/>
            <a:ext cx="148499" cy="46086"/>
          </a:xfrm>
          <a:prstGeom prst="ellipse">
            <a:avLst/>
          </a:prstGeom>
          <a:solidFill>
            <a:srgbClr val="FF8790"/>
          </a:solidFill>
          <a:ln w="12700">
            <a:solidFill>
              <a:srgbClr val="FF8790"/>
            </a:solidFill>
            <a:prstDash val="solid"/>
          </a:ln>
        </p:spPr>
      </p:sp>
      <p:sp>
        <p:nvSpPr>
          <p:cNvPr id="36" name="Shape 34"/>
          <p:cNvSpPr/>
          <p:nvPr/>
        </p:nvSpPr>
        <p:spPr>
          <a:xfrm>
            <a:off x="4004340" y="2902306"/>
            <a:ext cx="66568" cy="71689"/>
          </a:xfrm>
          <a:prstGeom prst="ellipse">
            <a:avLst/>
          </a:prstGeom>
          <a:solidFill>
            <a:srgbClr val="07131F"/>
          </a:solidFill>
          <a:ln w="17780">
            <a:solidFill>
              <a:srgbClr val="FF8790"/>
            </a:solidFill>
            <a:prstDash val="solid"/>
          </a:ln>
        </p:spPr>
      </p:sp>
      <p:sp>
        <p:nvSpPr>
          <p:cNvPr id="37" name="Shape 35"/>
          <p:cNvSpPr/>
          <p:nvPr/>
        </p:nvSpPr>
        <p:spPr>
          <a:xfrm>
            <a:off x="2980944" y="4151376"/>
            <a:ext cx="256032" cy="256032"/>
          </a:xfrm>
          <a:prstGeom prst="ellipse">
            <a:avLst/>
          </a:prstGeom>
          <a:solidFill>
            <a:srgbClr val="48D7B2">
              <a:alpha val="40000"/>
            </a:srgbClr>
          </a:solidFill>
          <a:ln w="19050">
            <a:solidFill>
              <a:srgbClr val="48D7B2"/>
            </a:solidFill>
            <a:prstDash val="solid"/>
          </a:ln>
        </p:spPr>
      </p:sp>
      <p:sp>
        <p:nvSpPr>
          <p:cNvPr id="38" name="Text 36"/>
          <p:cNvSpPr/>
          <p:nvPr/>
        </p:nvSpPr>
        <p:spPr>
          <a:xfrm>
            <a:off x="3017520" y="4151376"/>
            <a:ext cx="182880" cy="256032"/>
          </a:xfrm>
          <a:prstGeom prst="rect">
            <a:avLst/>
          </a:prstGeom>
          <a:noFill/>
          <a:ln/>
        </p:spPr>
        <p:txBody>
          <a:bodyPr wrap="square" lIns="0" tIns="0" rIns="0" bIns="0" rtlCol="0" anchor="ctr"/>
          <a:lstStyle/>
          <a:p>
            <a:pPr algn="ctr" indent="0" marL="0">
              <a:lnSpc>
                <a:spcPct val="100000"/>
              </a:lnSpc>
              <a:buNone/>
            </a:pPr>
            <a:r>
              <a:rPr lang="en-US" sz="1000" b="1" dirty="0">
                <a:solidFill>
                  <a:srgbClr val="48D7B2"/>
                </a:solidFill>
                <a:latin typeface="Inter" pitchFamily="34" charset="0"/>
                <a:ea typeface="Inter" pitchFamily="34" charset="-122"/>
                <a:cs typeface="Inter" pitchFamily="34" charset="-120"/>
              </a:rPr>
              <a:t>A</a:t>
            </a:r>
            <a:endParaRPr lang="en-US" sz="1000" dirty="0"/>
          </a:p>
        </p:txBody>
      </p:sp>
      <p:sp>
        <p:nvSpPr>
          <p:cNvPr id="39" name="Shape 37"/>
          <p:cNvSpPr/>
          <p:nvPr/>
        </p:nvSpPr>
        <p:spPr>
          <a:xfrm>
            <a:off x="3108960" y="4279392"/>
            <a:ext cx="932688" cy="-1060704"/>
          </a:xfrm>
          <a:prstGeom prst="line">
            <a:avLst/>
          </a:prstGeom>
          <a:noFill/>
          <a:ln w="15240">
            <a:solidFill>
              <a:srgbClr val="48D7B2"/>
            </a:solidFill>
            <a:prstDash val="dash"/>
            <a:headEnd type="none"/>
            <a:tailEnd type="none"/>
          </a:ln>
        </p:spPr>
      </p:sp>
      <p:sp>
        <p:nvSpPr>
          <p:cNvPr id="40" name="Shape 38"/>
          <p:cNvSpPr/>
          <p:nvPr/>
        </p:nvSpPr>
        <p:spPr>
          <a:xfrm>
            <a:off x="5148072" y="3118104"/>
            <a:ext cx="256032" cy="256032"/>
          </a:xfrm>
          <a:prstGeom prst="ellipse">
            <a:avLst/>
          </a:prstGeom>
          <a:solidFill>
            <a:srgbClr val="FF8790">
              <a:alpha val="40000"/>
            </a:srgbClr>
          </a:solidFill>
          <a:ln w="19050">
            <a:solidFill>
              <a:srgbClr val="FF8790"/>
            </a:solidFill>
            <a:prstDash val="solid"/>
          </a:ln>
        </p:spPr>
      </p:sp>
      <p:sp>
        <p:nvSpPr>
          <p:cNvPr id="41" name="Text 39"/>
          <p:cNvSpPr/>
          <p:nvPr/>
        </p:nvSpPr>
        <p:spPr>
          <a:xfrm>
            <a:off x="5184648" y="3118104"/>
            <a:ext cx="182880" cy="256032"/>
          </a:xfrm>
          <a:prstGeom prst="rect">
            <a:avLst/>
          </a:prstGeom>
          <a:noFill/>
          <a:ln/>
        </p:spPr>
        <p:txBody>
          <a:bodyPr wrap="square" lIns="0" tIns="0" rIns="0" bIns="0" rtlCol="0" anchor="ctr"/>
          <a:lstStyle/>
          <a:p>
            <a:pPr algn="ctr" indent="0" marL="0">
              <a:lnSpc>
                <a:spcPct val="100000"/>
              </a:lnSpc>
              <a:buNone/>
            </a:pPr>
            <a:r>
              <a:rPr lang="en-US" sz="1000" b="1" dirty="0">
                <a:solidFill>
                  <a:srgbClr val="FF8790"/>
                </a:solidFill>
                <a:latin typeface="Inter" pitchFamily="34" charset="0"/>
                <a:ea typeface="Inter" pitchFamily="34" charset="-122"/>
                <a:cs typeface="Inter" pitchFamily="34" charset="-120"/>
              </a:rPr>
              <a:t>B</a:t>
            </a:r>
            <a:endParaRPr lang="en-US" sz="1000" dirty="0"/>
          </a:p>
        </p:txBody>
      </p:sp>
      <p:sp>
        <p:nvSpPr>
          <p:cNvPr id="42" name="Shape 40"/>
          <p:cNvSpPr/>
          <p:nvPr/>
        </p:nvSpPr>
        <p:spPr>
          <a:xfrm>
            <a:off x="5276088" y="3246120"/>
            <a:ext cx="-1234440" cy="-27432"/>
          </a:xfrm>
          <a:prstGeom prst="line">
            <a:avLst/>
          </a:prstGeom>
          <a:noFill/>
          <a:ln w="15240">
            <a:solidFill>
              <a:srgbClr val="FF8790"/>
            </a:solidFill>
            <a:prstDash val="dash"/>
            <a:headEnd type="none"/>
            <a:tailEnd type="none"/>
          </a:ln>
        </p:spPr>
      </p:sp>
      <p:sp>
        <p:nvSpPr>
          <p:cNvPr id="43" name="Shape 41"/>
          <p:cNvSpPr/>
          <p:nvPr/>
        </p:nvSpPr>
        <p:spPr>
          <a:xfrm>
            <a:off x="2112264" y="3209544"/>
            <a:ext cx="256032" cy="256032"/>
          </a:xfrm>
          <a:prstGeom prst="ellipse">
            <a:avLst/>
          </a:prstGeom>
          <a:solidFill>
            <a:srgbClr val="6B9BFF">
              <a:alpha val="40000"/>
            </a:srgbClr>
          </a:solidFill>
          <a:ln w="19050">
            <a:solidFill>
              <a:srgbClr val="6B9BFF"/>
            </a:solidFill>
            <a:prstDash val="solid"/>
          </a:ln>
        </p:spPr>
      </p:sp>
      <p:sp>
        <p:nvSpPr>
          <p:cNvPr id="44" name="Text 42"/>
          <p:cNvSpPr/>
          <p:nvPr/>
        </p:nvSpPr>
        <p:spPr>
          <a:xfrm>
            <a:off x="2148840" y="3209544"/>
            <a:ext cx="182880" cy="256032"/>
          </a:xfrm>
          <a:prstGeom prst="rect">
            <a:avLst/>
          </a:prstGeom>
          <a:noFill/>
          <a:ln/>
        </p:spPr>
        <p:txBody>
          <a:bodyPr wrap="square" lIns="0" tIns="0" rIns="0" bIns="0" rtlCol="0" anchor="ctr"/>
          <a:lstStyle/>
          <a:p>
            <a:pPr algn="ctr" indent="0" marL="0">
              <a:lnSpc>
                <a:spcPct val="100000"/>
              </a:lnSpc>
              <a:buNone/>
            </a:pPr>
            <a:r>
              <a:rPr lang="en-US" sz="1000" b="1" dirty="0">
                <a:solidFill>
                  <a:srgbClr val="6B9BFF"/>
                </a:solidFill>
                <a:latin typeface="Inter" pitchFamily="34" charset="0"/>
                <a:ea typeface="Inter" pitchFamily="34" charset="-122"/>
                <a:cs typeface="Inter" pitchFamily="34" charset="-120"/>
              </a:rPr>
              <a:t>C</a:t>
            </a:r>
            <a:endParaRPr lang="en-US" sz="1000" dirty="0"/>
          </a:p>
        </p:txBody>
      </p:sp>
      <p:sp>
        <p:nvSpPr>
          <p:cNvPr id="45" name="Shape 43"/>
          <p:cNvSpPr/>
          <p:nvPr/>
        </p:nvSpPr>
        <p:spPr>
          <a:xfrm>
            <a:off x="2240280" y="3337560"/>
            <a:ext cx="1801368" cy="-118872"/>
          </a:xfrm>
          <a:prstGeom prst="line">
            <a:avLst/>
          </a:prstGeom>
          <a:noFill/>
          <a:ln w="15240">
            <a:solidFill>
              <a:srgbClr val="6B9BFF"/>
            </a:solidFill>
            <a:prstDash val="dash"/>
            <a:headEnd type="none"/>
            <a:tailEnd type="none"/>
          </a:ln>
        </p:spPr>
      </p:sp>
      <p:sp>
        <p:nvSpPr>
          <p:cNvPr id="46" name="Shape 44"/>
          <p:cNvSpPr/>
          <p:nvPr/>
        </p:nvSpPr>
        <p:spPr>
          <a:xfrm>
            <a:off x="4873752" y="2377440"/>
            <a:ext cx="758952" cy="521208"/>
          </a:xfrm>
          <a:prstGeom prst="rect">
            <a:avLst/>
          </a:prstGeom>
          <a:solidFill>
            <a:srgbClr val="FF8790">
              <a:alpha val="80000"/>
            </a:srgbClr>
          </a:solidFill>
          <a:ln w="10795">
            <a:solidFill>
              <a:srgbClr val="FF8790"/>
            </a:solidFill>
            <a:prstDash val="solid"/>
          </a:ln>
        </p:spPr>
      </p:sp>
      <p:sp>
        <p:nvSpPr>
          <p:cNvPr id="47" name="Text 45"/>
          <p:cNvSpPr/>
          <p:nvPr/>
        </p:nvSpPr>
        <p:spPr>
          <a:xfrm>
            <a:off x="5001768" y="2523744"/>
            <a:ext cx="585216" cy="182880"/>
          </a:xfrm>
          <a:prstGeom prst="rect">
            <a:avLst/>
          </a:prstGeom>
          <a:noFill/>
          <a:ln/>
        </p:spPr>
        <p:txBody>
          <a:bodyPr wrap="square" lIns="0" tIns="0" rIns="0" bIns="0" rtlCol="0" anchor="ctr"/>
          <a:lstStyle/>
          <a:p>
            <a:pPr algn="l" indent="0" marL="0">
              <a:lnSpc>
                <a:spcPct val="100000"/>
              </a:lnSpc>
              <a:buNone/>
            </a:pPr>
            <a:r>
              <a:rPr lang="en-US" sz="900" b="1" dirty="0">
                <a:solidFill>
                  <a:srgbClr val="07131F"/>
                </a:solidFill>
                <a:latin typeface="Inter" pitchFamily="34" charset="0"/>
                <a:ea typeface="Inter" pitchFamily="34" charset="-122"/>
                <a:cs typeface="Inter" pitchFamily="34" charset="-120"/>
              </a:rPr>
              <a:t>WALL</a:t>
            </a:r>
            <a:endParaRPr lang="en-US" sz="900" dirty="0"/>
          </a:p>
        </p:txBody>
      </p:sp>
      <p:sp>
        <p:nvSpPr>
          <p:cNvPr id="48" name="Shape 46"/>
          <p:cNvSpPr/>
          <p:nvPr/>
        </p:nvSpPr>
        <p:spPr>
          <a:xfrm>
            <a:off x="7260336" y="2212848"/>
            <a:ext cx="4334256" cy="3502152"/>
          </a:xfrm>
          <a:prstGeom prst="roundRect">
            <a:avLst>
              <a:gd name="adj" fmla="val 3655"/>
            </a:avLst>
          </a:prstGeom>
          <a:solidFill>
            <a:srgbClr val="102335"/>
          </a:solidFill>
          <a:ln w="10795">
            <a:solidFill>
              <a:srgbClr val="294056"/>
            </a:solidFill>
            <a:prstDash val="solid"/>
          </a:ln>
        </p:spPr>
      </p:sp>
      <p:sp>
        <p:nvSpPr>
          <p:cNvPr id="49" name="Text 47"/>
          <p:cNvSpPr/>
          <p:nvPr/>
        </p:nvSpPr>
        <p:spPr>
          <a:xfrm>
            <a:off x="7498080" y="2450592"/>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6B9BFF"/>
                </a:solidFill>
                <a:latin typeface="Inter" pitchFamily="34" charset="0"/>
                <a:ea typeface="Inter" pitchFamily="34" charset="-122"/>
                <a:cs typeface="Inter" pitchFamily="34" charset="-120"/>
              </a:rPr>
              <a:t>CANDIDATE RANKING</a:t>
            </a:r>
            <a:endParaRPr lang="en-US" sz="1000" dirty="0"/>
          </a:p>
        </p:txBody>
      </p:sp>
      <p:sp>
        <p:nvSpPr>
          <p:cNvPr id="50" name="Shape 48"/>
          <p:cNvSpPr/>
          <p:nvPr/>
        </p:nvSpPr>
        <p:spPr>
          <a:xfrm>
            <a:off x="7516368" y="2916936"/>
            <a:ext cx="1417320" cy="338328"/>
          </a:xfrm>
          <a:prstGeom prst="roundRect">
            <a:avLst>
              <a:gd name="adj" fmla="val 48649"/>
            </a:avLst>
          </a:prstGeom>
          <a:solidFill>
            <a:srgbClr val="48D7B2">
              <a:alpha val="16000"/>
            </a:srgbClr>
          </a:solidFill>
          <a:ln w="10795">
            <a:solidFill>
              <a:srgbClr val="48D7B2"/>
            </a:solidFill>
            <a:prstDash val="solid"/>
          </a:ln>
        </p:spPr>
      </p:sp>
      <p:sp>
        <p:nvSpPr>
          <p:cNvPr id="51" name="Text 49"/>
          <p:cNvSpPr/>
          <p:nvPr/>
        </p:nvSpPr>
        <p:spPr>
          <a:xfrm>
            <a:off x="7571232" y="2926080"/>
            <a:ext cx="1307592" cy="320040"/>
          </a:xfrm>
          <a:prstGeom prst="rect">
            <a:avLst/>
          </a:prstGeom>
          <a:noFill/>
          <a:ln/>
        </p:spPr>
        <p:txBody>
          <a:bodyPr wrap="square" lIns="0" tIns="0" rIns="0" bIns="0" rtlCol="0" anchor="ctr"/>
          <a:lstStyle/>
          <a:p>
            <a:pPr algn="ctr" indent="0" marL="0">
              <a:lnSpc>
                <a:spcPct val="100000"/>
              </a:lnSpc>
              <a:buNone/>
            </a:pPr>
            <a:r>
              <a:rPr lang="en-US" sz="1000" b="1" dirty="0">
                <a:solidFill>
                  <a:srgbClr val="48D7B2"/>
                </a:solidFill>
                <a:latin typeface="Inter" pitchFamily="34" charset="0"/>
                <a:ea typeface="Inter" pitchFamily="34" charset="-122"/>
                <a:cs typeface="Inter" pitchFamily="34" charset="-120"/>
              </a:rPr>
              <a:t>A  ACCEPT</a:t>
            </a:r>
            <a:endParaRPr lang="en-US" sz="1000" dirty="0"/>
          </a:p>
        </p:txBody>
      </p:sp>
      <p:sp>
        <p:nvSpPr>
          <p:cNvPr id="52" name="Text 50"/>
          <p:cNvSpPr/>
          <p:nvPr/>
        </p:nvSpPr>
        <p:spPr>
          <a:xfrm>
            <a:off x="9089136" y="2935224"/>
            <a:ext cx="2212848" cy="384048"/>
          </a:xfrm>
          <a:prstGeom prst="rect">
            <a:avLst/>
          </a:prstGeom>
          <a:noFill/>
          <a:ln/>
        </p:spPr>
        <p:txBody>
          <a:bodyPr wrap="square" lIns="0" tIns="0" rIns="0" bIns="0" rtlCol="0" anchor="ctr"/>
          <a:lstStyle/>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Free path + arm reachable</a:t>
            </a:r>
            <a:endParaRPr lang="en-US" sz="1200" dirty="0"/>
          </a:p>
        </p:txBody>
      </p:sp>
      <p:sp>
        <p:nvSpPr>
          <p:cNvPr id="53" name="Shape 51"/>
          <p:cNvSpPr/>
          <p:nvPr/>
        </p:nvSpPr>
        <p:spPr>
          <a:xfrm>
            <a:off x="7516368" y="3666744"/>
            <a:ext cx="1417320" cy="338328"/>
          </a:xfrm>
          <a:prstGeom prst="roundRect">
            <a:avLst>
              <a:gd name="adj" fmla="val 48649"/>
            </a:avLst>
          </a:prstGeom>
          <a:solidFill>
            <a:srgbClr val="FF8790">
              <a:alpha val="16000"/>
            </a:srgbClr>
          </a:solidFill>
          <a:ln w="10795">
            <a:solidFill>
              <a:srgbClr val="FF8790"/>
            </a:solidFill>
            <a:prstDash val="solid"/>
          </a:ln>
        </p:spPr>
      </p:sp>
      <p:sp>
        <p:nvSpPr>
          <p:cNvPr id="54" name="Text 52"/>
          <p:cNvSpPr/>
          <p:nvPr/>
        </p:nvSpPr>
        <p:spPr>
          <a:xfrm>
            <a:off x="7571232" y="3675888"/>
            <a:ext cx="1307592" cy="320040"/>
          </a:xfrm>
          <a:prstGeom prst="rect">
            <a:avLst/>
          </a:prstGeom>
          <a:noFill/>
          <a:ln/>
        </p:spPr>
        <p:txBody>
          <a:bodyPr wrap="square" lIns="0" tIns="0" rIns="0" bIns="0" rtlCol="0" anchor="ctr"/>
          <a:lstStyle/>
          <a:p>
            <a:pPr algn="ctr" indent="0" marL="0">
              <a:lnSpc>
                <a:spcPct val="100000"/>
              </a:lnSpc>
              <a:buNone/>
            </a:pPr>
            <a:r>
              <a:rPr lang="en-US" sz="1000" b="1" dirty="0">
                <a:solidFill>
                  <a:srgbClr val="FF8790"/>
                </a:solidFill>
                <a:latin typeface="Inter" pitchFamily="34" charset="0"/>
                <a:ea typeface="Inter" pitchFamily="34" charset="-122"/>
                <a:cs typeface="Inter" pitchFamily="34" charset="-120"/>
              </a:rPr>
              <a:t>B  REJECT</a:t>
            </a:r>
            <a:endParaRPr lang="en-US" sz="1000" dirty="0"/>
          </a:p>
        </p:txBody>
      </p:sp>
      <p:sp>
        <p:nvSpPr>
          <p:cNvPr id="55" name="Text 53"/>
          <p:cNvSpPr/>
          <p:nvPr/>
        </p:nvSpPr>
        <p:spPr>
          <a:xfrm>
            <a:off x="9089136" y="3685032"/>
            <a:ext cx="2212848" cy="384048"/>
          </a:xfrm>
          <a:prstGeom prst="rect">
            <a:avLst/>
          </a:prstGeom>
          <a:noFill/>
          <a:ln/>
        </p:spPr>
        <p:txBody>
          <a:bodyPr wrap="square" lIns="0" tIns="0" rIns="0" bIns="0" rtlCol="0" anchor="ctr"/>
          <a:lstStyle/>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Body collision / obstacle</a:t>
            </a:r>
            <a:endParaRPr lang="en-US" sz="1200" dirty="0"/>
          </a:p>
        </p:txBody>
      </p:sp>
      <p:sp>
        <p:nvSpPr>
          <p:cNvPr id="56" name="Shape 54"/>
          <p:cNvSpPr/>
          <p:nvPr/>
        </p:nvSpPr>
        <p:spPr>
          <a:xfrm>
            <a:off x="7516368" y="4416552"/>
            <a:ext cx="1417320" cy="338328"/>
          </a:xfrm>
          <a:prstGeom prst="roundRect">
            <a:avLst>
              <a:gd name="adj" fmla="val 48649"/>
            </a:avLst>
          </a:prstGeom>
          <a:solidFill>
            <a:srgbClr val="E2D07A">
              <a:alpha val="16000"/>
            </a:srgbClr>
          </a:solidFill>
          <a:ln w="10795">
            <a:solidFill>
              <a:srgbClr val="E2D07A"/>
            </a:solidFill>
            <a:prstDash val="solid"/>
          </a:ln>
        </p:spPr>
      </p:sp>
      <p:sp>
        <p:nvSpPr>
          <p:cNvPr id="57" name="Text 55"/>
          <p:cNvSpPr/>
          <p:nvPr/>
        </p:nvSpPr>
        <p:spPr>
          <a:xfrm>
            <a:off x="7571232" y="4425696"/>
            <a:ext cx="1307592" cy="320040"/>
          </a:xfrm>
          <a:prstGeom prst="rect">
            <a:avLst/>
          </a:prstGeom>
          <a:noFill/>
          <a:ln/>
        </p:spPr>
        <p:txBody>
          <a:bodyPr wrap="square" lIns="0" tIns="0" rIns="0" bIns="0" rtlCol="0" anchor="ctr"/>
          <a:lstStyle/>
          <a:p>
            <a:pPr algn="ctr" indent="0" marL="0">
              <a:lnSpc>
                <a:spcPct val="100000"/>
              </a:lnSpc>
              <a:buNone/>
            </a:pPr>
            <a:r>
              <a:rPr lang="en-US" sz="1000" b="1" dirty="0">
                <a:solidFill>
                  <a:srgbClr val="E2D07A"/>
                </a:solidFill>
                <a:latin typeface="Inter" pitchFamily="34" charset="0"/>
                <a:ea typeface="Inter" pitchFamily="34" charset="-122"/>
                <a:cs typeface="Inter" pitchFamily="34" charset="-120"/>
              </a:rPr>
              <a:t>C  REVIEW</a:t>
            </a:r>
            <a:endParaRPr lang="en-US" sz="1000" dirty="0"/>
          </a:p>
        </p:txBody>
      </p:sp>
      <p:sp>
        <p:nvSpPr>
          <p:cNvPr id="58" name="Text 56"/>
          <p:cNvSpPr/>
          <p:nvPr/>
        </p:nvSpPr>
        <p:spPr>
          <a:xfrm>
            <a:off x="9089136" y="4434840"/>
            <a:ext cx="2212848" cy="384048"/>
          </a:xfrm>
          <a:prstGeom prst="rect">
            <a:avLst/>
          </a:prstGeom>
          <a:noFill/>
          <a:ln/>
        </p:spPr>
        <p:txBody>
          <a:bodyPr wrap="square" lIns="0" tIns="0" rIns="0" bIns="0" rtlCol="0" anchor="ctr"/>
          <a:lstStyle/>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Reachability margin low</a:t>
            </a:r>
            <a:endParaRPr lang="en-US" sz="1200" dirty="0"/>
          </a:p>
        </p:txBody>
      </p:sp>
      <p:sp>
        <p:nvSpPr>
          <p:cNvPr id="59" name="Shape 57"/>
          <p:cNvSpPr/>
          <p:nvPr/>
        </p:nvSpPr>
        <p:spPr>
          <a:xfrm>
            <a:off x="7434072" y="5276088"/>
            <a:ext cx="3995928" cy="274320"/>
          </a:xfrm>
          <a:prstGeom prst="roundRect">
            <a:avLst>
              <a:gd name="adj" fmla="val 46667"/>
            </a:avLst>
          </a:prstGeom>
          <a:solidFill>
            <a:srgbClr val="152B40"/>
          </a:solidFill>
          <a:ln w="10795">
            <a:solidFill>
              <a:srgbClr val="152B40"/>
            </a:solidFill>
            <a:prstDash val="solid"/>
          </a:ln>
        </p:spPr>
      </p:sp>
      <p:sp>
        <p:nvSpPr>
          <p:cNvPr id="60" name="Text 58"/>
          <p:cNvSpPr/>
          <p:nvPr/>
        </p:nvSpPr>
        <p:spPr>
          <a:xfrm>
            <a:off x="7635240" y="5312664"/>
            <a:ext cx="3639312"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65D5E9"/>
                </a:solidFill>
                <a:latin typeface="Inter" pitchFamily="34" charset="0"/>
                <a:ea typeface="Inter" pitchFamily="34" charset="-122"/>
                <a:cs typeface="Inter" pitchFamily="34" charset="-120"/>
              </a:rPr>
              <a:t>Check traversability + clearance + IK</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SKILL 03 / NAVIGATION</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Navigate to the cup — no manipulation yet</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Output: G1 is at a validated pickup pose and has stopped walking.</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15</a:t>
            </a:r>
            <a:endParaRPr lang="en-US" sz="1100" dirty="0"/>
          </a:p>
        </p:txBody>
      </p:sp>
      <p:sp>
        <p:nvSpPr>
          <p:cNvPr id="11" name="Shape 9"/>
          <p:cNvSpPr/>
          <p:nvPr/>
        </p:nvSpPr>
        <p:spPr>
          <a:xfrm>
            <a:off x="457200"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12" name="Text 10"/>
          <p:cNvSpPr/>
          <p:nvPr/>
        </p:nvSpPr>
        <p:spPr>
          <a:xfrm>
            <a:off x="484632"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FIND</a:t>
            </a:r>
            <a:endParaRPr lang="en-US" sz="1030" dirty="0"/>
          </a:p>
        </p:txBody>
      </p:sp>
      <p:sp>
        <p:nvSpPr>
          <p:cNvPr id="13" name="Shape 11"/>
          <p:cNvSpPr/>
          <p:nvPr/>
        </p:nvSpPr>
        <p:spPr>
          <a:xfrm>
            <a:off x="2343912" y="2103120"/>
            <a:ext cx="1831848" cy="347472"/>
          </a:xfrm>
          <a:prstGeom prst="roundRect">
            <a:avLst>
              <a:gd name="adj" fmla="val 18421"/>
            </a:avLst>
          </a:prstGeom>
          <a:solidFill>
            <a:srgbClr val="6B9BFF"/>
          </a:solidFill>
          <a:ln w="10795">
            <a:solidFill>
              <a:srgbClr val="6B9BFF"/>
            </a:solidFill>
            <a:prstDash val="solid"/>
          </a:ln>
        </p:spPr>
      </p:sp>
      <p:sp>
        <p:nvSpPr>
          <p:cNvPr id="14" name="Text 12"/>
          <p:cNvSpPr/>
          <p:nvPr/>
        </p:nvSpPr>
        <p:spPr>
          <a:xfrm>
            <a:off x="2371344"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07131F"/>
                </a:solidFill>
                <a:latin typeface="Inter" pitchFamily="34" charset="0"/>
                <a:ea typeface="Inter" pitchFamily="34" charset="-122"/>
                <a:cs typeface="Inter" pitchFamily="34" charset="-120"/>
              </a:rPr>
              <a:t>NAVIGATE</a:t>
            </a:r>
            <a:endParaRPr lang="en-US" sz="1030" dirty="0"/>
          </a:p>
        </p:txBody>
      </p:sp>
      <p:sp>
        <p:nvSpPr>
          <p:cNvPr id="15" name="Shape 13"/>
          <p:cNvSpPr/>
          <p:nvPr/>
        </p:nvSpPr>
        <p:spPr>
          <a:xfrm>
            <a:off x="4230624"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16" name="Text 14"/>
          <p:cNvSpPr/>
          <p:nvPr/>
        </p:nvSpPr>
        <p:spPr>
          <a:xfrm>
            <a:off x="4258056"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VLA PICK</a:t>
            </a:r>
            <a:endParaRPr lang="en-US" sz="1030" dirty="0"/>
          </a:p>
        </p:txBody>
      </p:sp>
      <p:sp>
        <p:nvSpPr>
          <p:cNvPr id="17" name="Shape 15"/>
          <p:cNvSpPr/>
          <p:nvPr/>
        </p:nvSpPr>
        <p:spPr>
          <a:xfrm>
            <a:off x="6117336"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18" name="Text 16"/>
          <p:cNvSpPr/>
          <p:nvPr/>
        </p:nvSpPr>
        <p:spPr>
          <a:xfrm>
            <a:off x="6144768"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NAVIGATE</a:t>
            </a:r>
            <a:endParaRPr lang="en-US" sz="1030" dirty="0"/>
          </a:p>
        </p:txBody>
      </p:sp>
      <p:sp>
        <p:nvSpPr>
          <p:cNvPr id="19" name="Shape 17"/>
          <p:cNvSpPr/>
          <p:nvPr/>
        </p:nvSpPr>
        <p:spPr>
          <a:xfrm>
            <a:off x="8004048"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20" name="Text 18"/>
          <p:cNvSpPr/>
          <p:nvPr/>
        </p:nvSpPr>
        <p:spPr>
          <a:xfrm>
            <a:off x="8031480"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VLA PLACE</a:t>
            </a:r>
            <a:endParaRPr lang="en-US" sz="1030" dirty="0"/>
          </a:p>
        </p:txBody>
      </p:sp>
      <p:sp>
        <p:nvSpPr>
          <p:cNvPr id="21" name="Shape 19"/>
          <p:cNvSpPr/>
          <p:nvPr/>
        </p:nvSpPr>
        <p:spPr>
          <a:xfrm>
            <a:off x="9890760"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22" name="Text 20"/>
          <p:cNvSpPr/>
          <p:nvPr/>
        </p:nvSpPr>
        <p:spPr>
          <a:xfrm>
            <a:off x="9918192"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VERIFY</a:t>
            </a:r>
            <a:endParaRPr lang="en-US" sz="1030" dirty="0"/>
          </a:p>
        </p:txBody>
      </p:sp>
      <p:sp>
        <p:nvSpPr>
          <p:cNvPr id="23" name="Shape 21"/>
          <p:cNvSpPr/>
          <p:nvPr/>
        </p:nvSpPr>
        <p:spPr>
          <a:xfrm>
            <a:off x="557784" y="2706624"/>
            <a:ext cx="5340096" cy="2889504"/>
          </a:xfrm>
          <a:prstGeom prst="roundRect">
            <a:avLst>
              <a:gd name="adj" fmla="val 4430"/>
            </a:avLst>
          </a:prstGeom>
          <a:solidFill>
            <a:srgbClr val="102335"/>
          </a:solidFill>
          <a:ln w="10795">
            <a:solidFill>
              <a:srgbClr val="294056"/>
            </a:solidFill>
            <a:prstDash val="solid"/>
          </a:ln>
        </p:spPr>
      </p:sp>
      <p:sp>
        <p:nvSpPr>
          <p:cNvPr id="24" name="Text 22"/>
          <p:cNvSpPr/>
          <p:nvPr/>
        </p:nvSpPr>
        <p:spPr>
          <a:xfrm>
            <a:off x="777240" y="2926080"/>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6B9BFF"/>
                </a:solidFill>
                <a:latin typeface="Inter" pitchFamily="34" charset="0"/>
                <a:ea typeface="Inter" pitchFamily="34" charset="-122"/>
                <a:cs typeface="Inter" pitchFamily="34" charset="-120"/>
              </a:rPr>
              <a:t>NAVIGATION REQUEST</a:t>
            </a:r>
            <a:endParaRPr lang="en-US" sz="1000" dirty="0"/>
          </a:p>
        </p:txBody>
      </p:sp>
      <p:sp>
        <p:nvSpPr>
          <p:cNvPr id="25" name="Text 23"/>
          <p:cNvSpPr/>
          <p:nvPr/>
        </p:nvSpPr>
        <p:spPr>
          <a:xfrm>
            <a:off x="795528" y="3337560"/>
            <a:ext cx="4681728" cy="2039112"/>
          </a:xfrm>
          <a:prstGeom prst="rect">
            <a:avLst/>
          </a:prstGeom>
          <a:noFill/>
          <a:ln/>
        </p:spPr>
        <p:txBody>
          <a:bodyPr wrap="square" lIns="0" tIns="0" rIns="0" bIns="0" rtlCol="0" anchor="t"/>
          <a:lstStyle/>
          <a:p>
            <a:pPr algn="l" indent="0" marL="0">
              <a:lnSpc>
                <a:spcPct val="100000"/>
              </a:lnSpc>
              <a:buNone/>
            </a:pPr>
            <a:r>
              <a:rPr lang="en-US" sz="1400" dirty="0">
                <a:solidFill>
                  <a:srgbClr val="F5F7FC"/>
                </a:solidFill>
                <a:latin typeface="DejaVu Sans Mono" pitchFamily="34" charset="0"/>
                <a:ea typeface="DejaVu Sans Mono" pitchFamily="34" charset="-122"/>
                <a:cs typeface="DejaVu Sans Mono" pitchFamily="34" charset="-120"/>
              </a:rPr>
              <a:t>goal: pose_A</a:t>
            </a:r>
            <a:endParaRPr lang="en-US" sz="1400" dirty="0"/>
          </a:p>
          <a:p>
            <a:pPr algn="l" indent="0" marL="0">
              <a:lnSpc>
                <a:spcPct val="100000"/>
              </a:lnSpc>
              <a:buNone/>
            </a:pPr>
            <a:r>
              <a:rPr lang="en-US" sz="1400" dirty="0">
                <a:solidFill>
                  <a:srgbClr val="F5F7FC"/>
                </a:solidFill>
                <a:latin typeface="DejaVu Sans Mono" pitchFamily="34" charset="0"/>
                <a:ea typeface="DejaVu Sans Mono" pitchFamily="34" charset="-122"/>
                <a:cs typeface="DejaVu Sans Mono" pitchFamily="34" charset="-120"/>
              </a:rPr>
              <a:t>frame_id: map</a:t>
            </a:r>
            <a:endParaRPr lang="en-US" sz="1400" dirty="0"/>
          </a:p>
          <a:p>
            <a:pPr algn="l" indent="0" marL="0">
              <a:lnSpc>
                <a:spcPct val="100000"/>
              </a:lnSpc>
              <a:buNone/>
            </a:pPr>
            <a:r>
              <a:rPr lang="en-US" sz="1400" dirty="0">
                <a:solidFill>
                  <a:srgbClr val="F5F7FC"/>
                </a:solidFill>
                <a:latin typeface="DejaVu Sans Mono" pitchFamily="34" charset="0"/>
                <a:ea typeface="DejaVu Sans Mono" pitchFamily="34" charset="-122"/>
                <a:cs typeface="DejaVu Sans Mono" pitchFamily="34" charset="-120"/>
              </a:rPr>
              <a:t>target_object: cup_17</a:t>
            </a:r>
            <a:endParaRPr lang="en-US" sz="1400" dirty="0"/>
          </a:p>
          <a:p>
            <a:pPr algn="l" indent="0" marL="0">
              <a:lnSpc>
                <a:spcPct val="100000"/>
              </a:lnSpc>
              <a:buNone/>
            </a:pPr>
            <a:r>
              <a:rPr lang="en-US" sz="1400" dirty="0">
                <a:solidFill>
                  <a:srgbClr val="F5F7FC"/>
                </a:solidFill>
                <a:latin typeface="DejaVu Sans Mono" pitchFamily="34" charset="0"/>
                <a:ea typeface="DejaVu Sans Mono" pitchFamily="34" charset="-122"/>
                <a:cs typeface="DejaVu Sans Mono" pitchFamily="34" charset="-120"/>
              </a:rPr>
              <a:t>mode: normal_walk</a:t>
            </a:r>
            <a:endParaRPr lang="en-US" sz="1400" dirty="0"/>
          </a:p>
          <a:p>
            <a:pPr algn="l" indent="0" marL="0">
              <a:lnSpc>
                <a:spcPct val="100000"/>
              </a:lnSpc>
              <a:buNone/>
            </a:pPr>
            <a:r>
              <a:rPr lang="en-US" sz="1400" dirty="0">
                <a:solidFill>
                  <a:srgbClr val="F5F7FC"/>
                </a:solidFill>
                <a:latin typeface="DejaVu Sans Mono" pitchFamily="34" charset="0"/>
                <a:ea typeface="DejaVu Sans Mono" pitchFamily="34" charset="-122"/>
                <a:cs typeface="DejaVu Sans Mono" pitchFamily="34" charset="-120"/>
              </a:rPr>
              <a:t>require_body_clearance: true</a:t>
            </a:r>
            <a:endParaRPr lang="en-US" sz="1400" dirty="0"/>
          </a:p>
          <a:p>
            <a:pPr algn="l" indent="0" marL="0">
              <a:lnSpc>
                <a:spcPct val="100000"/>
              </a:lnSpc>
              <a:buNone/>
            </a:pPr>
            <a:r>
              <a:rPr lang="en-US" sz="1400" dirty="0">
                <a:solidFill>
                  <a:srgbClr val="F5F7FC"/>
                </a:solidFill>
                <a:latin typeface="DejaVu Sans Mono" pitchFamily="34" charset="0"/>
                <a:ea typeface="DejaVu Sans Mono" pitchFamily="34" charset="-122"/>
                <a:cs typeface="DejaVu Sans Mono" pitchFamily="34" charset="-120"/>
              </a:rPr>
              <a:t>verify_arrival: true</a:t>
            </a:r>
            <a:endParaRPr lang="en-US" sz="1400" dirty="0"/>
          </a:p>
        </p:txBody>
      </p:sp>
      <p:sp>
        <p:nvSpPr>
          <p:cNvPr id="26" name="Shape 24"/>
          <p:cNvSpPr/>
          <p:nvPr/>
        </p:nvSpPr>
        <p:spPr>
          <a:xfrm>
            <a:off x="6172200" y="2706624"/>
            <a:ext cx="5422392" cy="2889504"/>
          </a:xfrm>
          <a:prstGeom prst="roundRect">
            <a:avLst>
              <a:gd name="adj" fmla="val 4430"/>
            </a:avLst>
          </a:prstGeom>
          <a:solidFill>
            <a:srgbClr val="102335"/>
          </a:solidFill>
          <a:ln w="10795">
            <a:solidFill>
              <a:srgbClr val="294056"/>
            </a:solidFill>
            <a:prstDash val="solid"/>
          </a:ln>
        </p:spPr>
      </p:sp>
      <p:sp>
        <p:nvSpPr>
          <p:cNvPr id="27" name="Text 25"/>
          <p:cNvSpPr/>
          <p:nvPr/>
        </p:nvSpPr>
        <p:spPr>
          <a:xfrm>
            <a:off x="6382512" y="2926080"/>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6B9BFF"/>
                </a:solidFill>
                <a:latin typeface="Inter" pitchFamily="34" charset="0"/>
                <a:ea typeface="Inter" pitchFamily="34" charset="-122"/>
                <a:cs typeface="Inter" pitchFamily="34" charset="-120"/>
              </a:rPr>
              <a:t>NAVIGATION EXECUTOR</a:t>
            </a:r>
            <a:endParaRPr lang="en-US" sz="1000" dirty="0"/>
          </a:p>
        </p:txBody>
      </p:sp>
      <p:sp>
        <p:nvSpPr>
          <p:cNvPr id="28" name="Shape 26"/>
          <p:cNvSpPr/>
          <p:nvPr/>
        </p:nvSpPr>
        <p:spPr>
          <a:xfrm>
            <a:off x="6464808" y="3355848"/>
            <a:ext cx="1508760" cy="1024128"/>
          </a:xfrm>
          <a:prstGeom prst="roundRect">
            <a:avLst>
              <a:gd name="adj" fmla="val 12500"/>
            </a:avLst>
          </a:prstGeom>
          <a:solidFill>
            <a:srgbClr val="102335"/>
          </a:solidFill>
          <a:ln w="10795">
            <a:solidFill>
              <a:srgbClr val="294056"/>
            </a:solidFill>
            <a:prstDash val="solid"/>
          </a:ln>
        </p:spPr>
      </p:sp>
      <p:sp>
        <p:nvSpPr>
          <p:cNvPr id="29" name="Shape 27"/>
          <p:cNvSpPr/>
          <p:nvPr/>
        </p:nvSpPr>
        <p:spPr>
          <a:xfrm>
            <a:off x="6464808" y="3355848"/>
            <a:ext cx="1508760" cy="64008"/>
          </a:xfrm>
          <a:prstGeom prst="rect">
            <a:avLst/>
          </a:prstGeom>
          <a:solidFill>
            <a:srgbClr val="6B9BFF"/>
          </a:solidFill>
          <a:ln w="10795">
            <a:solidFill>
              <a:srgbClr val="6B9BFF"/>
            </a:solidFill>
            <a:prstDash val="solid"/>
          </a:ln>
        </p:spPr>
      </p:sp>
      <p:sp>
        <p:nvSpPr>
          <p:cNvPr id="30" name="Text 28"/>
          <p:cNvSpPr/>
          <p:nvPr/>
        </p:nvSpPr>
        <p:spPr>
          <a:xfrm>
            <a:off x="6592824" y="3529584"/>
            <a:ext cx="1252728" cy="310896"/>
          </a:xfrm>
          <a:prstGeom prst="rect">
            <a:avLst/>
          </a:prstGeom>
          <a:noFill/>
          <a:ln/>
        </p:spPr>
        <p:txBody>
          <a:bodyPr wrap="square" lIns="0" tIns="0" rIns="0" bIns="0" rtlCol="0" anchor="ctr"/>
          <a:lstStyle/>
          <a:p>
            <a:pPr algn="ctr" indent="0" marL="0">
              <a:lnSpc>
                <a:spcPct val="100000"/>
              </a:lnSpc>
              <a:buNone/>
            </a:pPr>
            <a:r>
              <a:rPr lang="en-US" sz="1200" b="1" dirty="0">
                <a:solidFill>
                  <a:srgbClr val="F5F7FC"/>
                </a:solidFill>
                <a:latin typeface="Inter" pitchFamily="34" charset="0"/>
                <a:ea typeface="Inter" pitchFamily="34" charset="-122"/>
                <a:cs typeface="Inter" pitchFamily="34" charset="-120"/>
              </a:rPr>
              <a:t>NAV2</a:t>
            </a:r>
            <a:endParaRPr lang="en-US" sz="1200" dirty="0"/>
          </a:p>
        </p:txBody>
      </p:sp>
      <p:sp>
        <p:nvSpPr>
          <p:cNvPr id="31" name="Text 29"/>
          <p:cNvSpPr/>
          <p:nvPr/>
        </p:nvSpPr>
        <p:spPr>
          <a:xfrm>
            <a:off x="6574536" y="3886200"/>
            <a:ext cx="1289304" cy="402336"/>
          </a:xfrm>
          <a:prstGeom prst="rect">
            <a:avLst/>
          </a:prstGeom>
          <a:noFill/>
          <a:ln/>
        </p:spPr>
        <p:txBody>
          <a:bodyPr wrap="square" lIns="0" tIns="0" rIns="0" bIns="0" rtlCol="0" anchor="t"/>
          <a:lstStyle/>
          <a:p>
            <a:pPr algn="ctr" indent="0" marL="0">
              <a:lnSpc>
                <a:spcPct val="100000"/>
              </a:lnSpc>
              <a:buNone/>
            </a:pPr>
            <a:r>
              <a:rPr lang="en-US" sz="1050" dirty="0">
                <a:solidFill>
                  <a:srgbClr val="A1B2C4"/>
                </a:solidFill>
                <a:latin typeface="Inter" pitchFamily="34" charset="0"/>
                <a:ea typeface="Inter" pitchFamily="34" charset="-122"/>
                <a:cs typeface="Inter" pitchFamily="34" charset="-120"/>
              </a:rPr>
              <a:t>Costmap route</a:t>
            </a:r>
            <a:endParaRPr lang="en-US" sz="1050" dirty="0"/>
          </a:p>
        </p:txBody>
      </p:sp>
      <p:sp>
        <p:nvSpPr>
          <p:cNvPr id="32" name="Shape 30"/>
          <p:cNvSpPr/>
          <p:nvPr/>
        </p:nvSpPr>
        <p:spPr>
          <a:xfrm>
            <a:off x="7982712" y="3849624"/>
            <a:ext cx="320040" cy="0"/>
          </a:xfrm>
          <a:prstGeom prst="line">
            <a:avLst/>
          </a:prstGeom>
          <a:noFill/>
          <a:ln w="22860">
            <a:solidFill>
              <a:srgbClr val="6B9BFF"/>
            </a:solidFill>
            <a:prstDash val="solid"/>
            <a:headEnd type="none"/>
            <a:tailEnd type="triangle"/>
          </a:ln>
        </p:spPr>
      </p:sp>
      <p:sp>
        <p:nvSpPr>
          <p:cNvPr id="33" name="Shape 31"/>
          <p:cNvSpPr/>
          <p:nvPr/>
        </p:nvSpPr>
        <p:spPr>
          <a:xfrm>
            <a:off x="8339328" y="3355848"/>
            <a:ext cx="1527048" cy="1024128"/>
          </a:xfrm>
          <a:prstGeom prst="roundRect">
            <a:avLst>
              <a:gd name="adj" fmla="val 12500"/>
            </a:avLst>
          </a:prstGeom>
          <a:solidFill>
            <a:srgbClr val="102335"/>
          </a:solidFill>
          <a:ln w="10795">
            <a:solidFill>
              <a:srgbClr val="294056"/>
            </a:solidFill>
            <a:prstDash val="solid"/>
          </a:ln>
        </p:spPr>
      </p:sp>
      <p:sp>
        <p:nvSpPr>
          <p:cNvPr id="34" name="Shape 32"/>
          <p:cNvSpPr/>
          <p:nvPr/>
        </p:nvSpPr>
        <p:spPr>
          <a:xfrm>
            <a:off x="8339328" y="3355848"/>
            <a:ext cx="1527048" cy="64008"/>
          </a:xfrm>
          <a:prstGeom prst="rect">
            <a:avLst/>
          </a:prstGeom>
          <a:solidFill>
            <a:srgbClr val="6B9BFF"/>
          </a:solidFill>
          <a:ln w="10795">
            <a:solidFill>
              <a:srgbClr val="6B9BFF"/>
            </a:solidFill>
            <a:prstDash val="solid"/>
          </a:ln>
        </p:spPr>
      </p:sp>
      <p:sp>
        <p:nvSpPr>
          <p:cNvPr id="35" name="Text 33"/>
          <p:cNvSpPr/>
          <p:nvPr/>
        </p:nvSpPr>
        <p:spPr>
          <a:xfrm>
            <a:off x="8467344" y="3529584"/>
            <a:ext cx="1271016"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5F7FC"/>
                </a:solidFill>
                <a:latin typeface="Inter" pitchFamily="34" charset="0"/>
                <a:ea typeface="Inter" pitchFamily="34" charset="-122"/>
                <a:cs typeface="Inter" pitchFamily="34" charset="-120"/>
              </a:rPr>
              <a:t>G1 BRIDGE</a:t>
            </a:r>
            <a:endParaRPr lang="en-US" sz="1100" dirty="0"/>
          </a:p>
        </p:txBody>
      </p:sp>
      <p:sp>
        <p:nvSpPr>
          <p:cNvPr id="36" name="Text 34"/>
          <p:cNvSpPr/>
          <p:nvPr/>
        </p:nvSpPr>
        <p:spPr>
          <a:xfrm>
            <a:off x="8449056" y="3886200"/>
            <a:ext cx="1307592" cy="402336"/>
          </a:xfrm>
          <a:prstGeom prst="rect">
            <a:avLst/>
          </a:prstGeom>
          <a:noFill/>
          <a:ln/>
        </p:spPr>
        <p:txBody>
          <a:bodyPr wrap="square" lIns="0" tIns="0" rIns="0" bIns="0" rtlCol="0" anchor="t"/>
          <a:lstStyle/>
          <a:p>
            <a:pPr algn="ctr" indent="0" marL="0">
              <a:lnSpc>
                <a:spcPct val="100000"/>
              </a:lnSpc>
              <a:buNone/>
            </a:pPr>
            <a:r>
              <a:rPr lang="en-US" sz="1050" dirty="0">
                <a:solidFill>
                  <a:srgbClr val="A1B2C4"/>
                </a:solidFill>
                <a:latin typeface="Inter" pitchFamily="34" charset="0"/>
                <a:ea typeface="Inter" pitchFamily="34" charset="-122"/>
                <a:cs typeface="Inter" pitchFamily="34" charset="-120"/>
              </a:rPr>
              <a:t>Walk controller</a:t>
            </a:r>
            <a:endParaRPr lang="en-US" sz="1050" dirty="0"/>
          </a:p>
        </p:txBody>
      </p:sp>
      <p:sp>
        <p:nvSpPr>
          <p:cNvPr id="37" name="Shape 35"/>
          <p:cNvSpPr/>
          <p:nvPr/>
        </p:nvSpPr>
        <p:spPr>
          <a:xfrm>
            <a:off x="9893808" y="3849624"/>
            <a:ext cx="265176" cy="0"/>
          </a:xfrm>
          <a:prstGeom prst="line">
            <a:avLst/>
          </a:prstGeom>
          <a:noFill/>
          <a:ln w="22860">
            <a:solidFill>
              <a:srgbClr val="6B9BFF"/>
            </a:solidFill>
            <a:prstDash val="solid"/>
            <a:headEnd type="none"/>
            <a:tailEnd type="triangle"/>
          </a:ln>
        </p:spPr>
      </p:sp>
      <p:sp>
        <p:nvSpPr>
          <p:cNvPr id="38" name="Shape 36"/>
          <p:cNvSpPr/>
          <p:nvPr/>
        </p:nvSpPr>
        <p:spPr>
          <a:xfrm>
            <a:off x="10186416" y="3355848"/>
            <a:ext cx="1197864" cy="1024128"/>
          </a:xfrm>
          <a:prstGeom prst="roundRect">
            <a:avLst>
              <a:gd name="adj" fmla="val 12500"/>
            </a:avLst>
          </a:prstGeom>
          <a:solidFill>
            <a:srgbClr val="102335"/>
          </a:solidFill>
          <a:ln w="10795">
            <a:solidFill>
              <a:srgbClr val="294056"/>
            </a:solidFill>
            <a:prstDash val="solid"/>
          </a:ln>
        </p:spPr>
      </p:sp>
      <p:sp>
        <p:nvSpPr>
          <p:cNvPr id="39" name="Shape 37"/>
          <p:cNvSpPr/>
          <p:nvPr/>
        </p:nvSpPr>
        <p:spPr>
          <a:xfrm>
            <a:off x="10186416" y="3355848"/>
            <a:ext cx="1197864" cy="64008"/>
          </a:xfrm>
          <a:prstGeom prst="rect">
            <a:avLst/>
          </a:prstGeom>
          <a:solidFill>
            <a:srgbClr val="48D7B2"/>
          </a:solidFill>
          <a:ln w="10795">
            <a:solidFill>
              <a:srgbClr val="48D7B2"/>
            </a:solidFill>
            <a:prstDash val="solid"/>
          </a:ln>
        </p:spPr>
      </p:sp>
      <p:sp>
        <p:nvSpPr>
          <p:cNvPr id="40" name="Text 38"/>
          <p:cNvSpPr/>
          <p:nvPr/>
        </p:nvSpPr>
        <p:spPr>
          <a:xfrm>
            <a:off x="10314432" y="3529584"/>
            <a:ext cx="941832" cy="310896"/>
          </a:xfrm>
          <a:prstGeom prst="rect">
            <a:avLst/>
          </a:prstGeom>
          <a:noFill/>
          <a:ln/>
        </p:spPr>
        <p:txBody>
          <a:bodyPr wrap="square" lIns="0" tIns="0" rIns="0" bIns="0" rtlCol="0" anchor="ctr"/>
          <a:lstStyle/>
          <a:p>
            <a:pPr algn="ctr" indent="0" marL="0">
              <a:lnSpc>
                <a:spcPct val="100000"/>
              </a:lnSpc>
              <a:buNone/>
            </a:pPr>
            <a:r>
              <a:rPr lang="en-US" sz="1100" b="1" dirty="0">
                <a:solidFill>
                  <a:srgbClr val="F5F7FC"/>
                </a:solidFill>
                <a:latin typeface="Inter" pitchFamily="34" charset="0"/>
                <a:ea typeface="Inter" pitchFamily="34" charset="-122"/>
                <a:cs typeface="Inter" pitchFamily="34" charset="-120"/>
              </a:rPr>
              <a:t>RESULT</a:t>
            </a:r>
            <a:endParaRPr lang="en-US" sz="1100" dirty="0"/>
          </a:p>
        </p:txBody>
      </p:sp>
      <p:sp>
        <p:nvSpPr>
          <p:cNvPr id="41" name="Text 39"/>
          <p:cNvSpPr/>
          <p:nvPr/>
        </p:nvSpPr>
        <p:spPr>
          <a:xfrm>
            <a:off x="10296144" y="3886200"/>
            <a:ext cx="978408" cy="402336"/>
          </a:xfrm>
          <a:prstGeom prst="rect">
            <a:avLst/>
          </a:prstGeom>
          <a:noFill/>
          <a:ln/>
        </p:spPr>
        <p:txBody>
          <a:bodyPr wrap="square" lIns="0" tIns="0" rIns="0" bIns="0" rtlCol="0" anchor="t"/>
          <a:lstStyle/>
          <a:p>
            <a:pPr algn="ctr" indent="0" marL="0">
              <a:lnSpc>
                <a:spcPct val="100000"/>
              </a:lnSpc>
              <a:buNone/>
            </a:pPr>
            <a:r>
              <a:rPr lang="en-US" sz="1050" dirty="0">
                <a:solidFill>
                  <a:srgbClr val="A1B2C4"/>
                </a:solidFill>
                <a:latin typeface="Inter" pitchFamily="34" charset="0"/>
                <a:ea typeface="Inter" pitchFamily="34" charset="-122"/>
                <a:cs typeface="Inter" pitchFamily="34" charset="-120"/>
              </a:rPr>
              <a:t>Arrived?</a:t>
            </a:r>
            <a:endParaRPr lang="en-US" sz="1050" dirty="0"/>
          </a:p>
        </p:txBody>
      </p:sp>
      <p:sp>
        <p:nvSpPr>
          <p:cNvPr id="42" name="Text 40"/>
          <p:cNvSpPr/>
          <p:nvPr/>
        </p:nvSpPr>
        <p:spPr>
          <a:xfrm>
            <a:off x="6437376" y="4910328"/>
            <a:ext cx="4773168" cy="356616"/>
          </a:xfrm>
          <a:prstGeom prst="rect">
            <a:avLst/>
          </a:prstGeom>
          <a:noFill/>
          <a:ln/>
        </p:spPr>
        <p:txBody>
          <a:bodyPr wrap="square" lIns="0" tIns="0" rIns="0" bIns="0" rtlCol="0" anchor="ctr"/>
          <a:lstStyle/>
          <a:p>
            <a:pPr algn="ctr" indent="0" marL="0">
              <a:lnSpc>
                <a:spcPct val="100000"/>
              </a:lnSpc>
              <a:buNone/>
            </a:pPr>
            <a:r>
              <a:rPr lang="en-US" sz="1300" b="1" dirty="0">
                <a:solidFill>
                  <a:srgbClr val="48D7B2"/>
                </a:solidFill>
                <a:latin typeface="Inter" pitchFamily="34" charset="0"/>
                <a:ea typeface="Inter" pitchFamily="34" charset="-122"/>
                <a:cs typeface="Inter" pitchFamily="34" charset="-120"/>
              </a:rPr>
              <a:t>Gate: navigation SUCCEEDED + pose tolerance + stable stop.</a:t>
            </a:r>
            <a:endParaRPr lang="en-US" sz="1300" dirty="0"/>
          </a:p>
        </p:txBody>
      </p:sp>
      <p:sp>
        <p:nvSpPr>
          <p:cNvPr id="43" name="Shape 41"/>
          <p:cNvSpPr/>
          <p:nvPr/>
        </p:nvSpPr>
        <p:spPr>
          <a:xfrm>
            <a:off x="868680" y="5806440"/>
            <a:ext cx="10524744" cy="356616"/>
          </a:xfrm>
          <a:prstGeom prst="roundRect">
            <a:avLst>
              <a:gd name="adj" fmla="val 35897"/>
            </a:avLst>
          </a:prstGeom>
          <a:solidFill>
            <a:srgbClr val="152B40"/>
          </a:solidFill>
          <a:ln w="10795">
            <a:solidFill>
              <a:srgbClr val="294056"/>
            </a:solidFill>
            <a:prstDash val="solid"/>
          </a:ln>
        </p:spPr>
      </p:sp>
      <p:sp>
        <p:nvSpPr>
          <p:cNvPr id="44" name="Text 42"/>
          <p:cNvSpPr/>
          <p:nvPr/>
        </p:nvSpPr>
        <p:spPr>
          <a:xfrm>
            <a:off x="1097280" y="5879592"/>
            <a:ext cx="10076688" cy="182880"/>
          </a:xfrm>
          <a:prstGeom prst="rect">
            <a:avLst/>
          </a:prstGeom>
          <a:noFill/>
          <a:ln/>
        </p:spPr>
        <p:txBody>
          <a:bodyPr wrap="square" lIns="0" tIns="0" rIns="0" bIns="0" rtlCol="0" anchor="ctr"/>
          <a:lstStyle/>
          <a:p>
            <a:pPr algn="ctr" indent="0" marL="0">
              <a:lnSpc>
                <a:spcPct val="100000"/>
              </a:lnSpc>
              <a:buNone/>
            </a:pPr>
            <a:r>
              <a:rPr lang="en-US" sz="1130" b="1" dirty="0">
                <a:solidFill>
                  <a:srgbClr val="FF8790"/>
                </a:solidFill>
                <a:latin typeface="Inter" pitchFamily="34" charset="0"/>
                <a:ea typeface="Inter" pitchFamily="34" charset="-122"/>
                <a:cs typeface="Inter" pitchFamily="34" charset="-120"/>
              </a:rPr>
              <a:t>Nav2 accepted a goal ≠ G1 arrived. Wait for the terminal result and independently verify the robot pose.</a:t>
            </a:r>
            <a:endParaRPr lang="en-US" sz="11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SKILL 04 / VLA MANIPULATION</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VLA PICK — a separate skill from navigation</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Input: close-range observation and grounded object ID; output: verified grasp or failure.</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16</a:t>
            </a:r>
            <a:endParaRPr lang="en-US" sz="1100" dirty="0"/>
          </a:p>
        </p:txBody>
      </p:sp>
      <p:sp>
        <p:nvSpPr>
          <p:cNvPr id="11" name="Shape 9"/>
          <p:cNvSpPr/>
          <p:nvPr/>
        </p:nvSpPr>
        <p:spPr>
          <a:xfrm>
            <a:off x="457200"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12" name="Text 10"/>
          <p:cNvSpPr/>
          <p:nvPr/>
        </p:nvSpPr>
        <p:spPr>
          <a:xfrm>
            <a:off x="484632"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FIND</a:t>
            </a:r>
            <a:endParaRPr lang="en-US" sz="1030" dirty="0"/>
          </a:p>
        </p:txBody>
      </p:sp>
      <p:sp>
        <p:nvSpPr>
          <p:cNvPr id="13" name="Shape 11"/>
          <p:cNvSpPr/>
          <p:nvPr/>
        </p:nvSpPr>
        <p:spPr>
          <a:xfrm>
            <a:off x="2343912"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14" name="Text 12"/>
          <p:cNvSpPr/>
          <p:nvPr/>
        </p:nvSpPr>
        <p:spPr>
          <a:xfrm>
            <a:off x="2371344"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NAVIGATE</a:t>
            </a:r>
            <a:endParaRPr lang="en-US" sz="1030" dirty="0"/>
          </a:p>
        </p:txBody>
      </p:sp>
      <p:sp>
        <p:nvSpPr>
          <p:cNvPr id="15" name="Shape 13"/>
          <p:cNvSpPr/>
          <p:nvPr/>
        </p:nvSpPr>
        <p:spPr>
          <a:xfrm>
            <a:off x="4230624" y="2103120"/>
            <a:ext cx="1831848" cy="347472"/>
          </a:xfrm>
          <a:prstGeom prst="roundRect">
            <a:avLst>
              <a:gd name="adj" fmla="val 18421"/>
            </a:avLst>
          </a:prstGeom>
          <a:solidFill>
            <a:srgbClr val="FFC176"/>
          </a:solidFill>
          <a:ln w="10795">
            <a:solidFill>
              <a:srgbClr val="FFC176"/>
            </a:solidFill>
            <a:prstDash val="solid"/>
          </a:ln>
        </p:spPr>
      </p:sp>
      <p:sp>
        <p:nvSpPr>
          <p:cNvPr id="16" name="Text 14"/>
          <p:cNvSpPr/>
          <p:nvPr/>
        </p:nvSpPr>
        <p:spPr>
          <a:xfrm>
            <a:off x="4258056"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07131F"/>
                </a:solidFill>
                <a:latin typeface="Inter" pitchFamily="34" charset="0"/>
                <a:ea typeface="Inter" pitchFamily="34" charset="-122"/>
                <a:cs typeface="Inter" pitchFamily="34" charset="-120"/>
              </a:rPr>
              <a:t>VLA PICK</a:t>
            </a:r>
            <a:endParaRPr lang="en-US" sz="1030" dirty="0"/>
          </a:p>
        </p:txBody>
      </p:sp>
      <p:sp>
        <p:nvSpPr>
          <p:cNvPr id="17" name="Shape 15"/>
          <p:cNvSpPr/>
          <p:nvPr/>
        </p:nvSpPr>
        <p:spPr>
          <a:xfrm>
            <a:off x="6117336"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18" name="Text 16"/>
          <p:cNvSpPr/>
          <p:nvPr/>
        </p:nvSpPr>
        <p:spPr>
          <a:xfrm>
            <a:off x="6144768"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NAVIGATE</a:t>
            </a:r>
            <a:endParaRPr lang="en-US" sz="1030" dirty="0"/>
          </a:p>
        </p:txBody>
      </p:sp>
      <p:sp>
        <p:nvSpPr>
          <p:cNvPr id="19" name="Shape 17"/>
          <p:cNvSpPr/>
          <p:nvPr/>
        </p:nvSpPr>
        <p:spPr>
          <a:xfrm>
            <a:off x="8004048"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20" name="Text 18"/>
          <p:cNvSpPr/>
          <p:nvPr/>
        </p:nvSpPr>
        <p:spPr>
          <a:xfrm>
            <a:off x="8031480"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VLA PLACE</a:t>
            </a:r>
            <a:endParaRPr lang="en-US" sz="1030" dirty="0"/>
          </a:p>
        </p:txBody>
      </p:sp>
      <p:sp>
        <p:nvSpPr>
          <p:cNvPr id="21" name="Shape 19"/>
          <p:cNvSpPr/>
          <p:nvPr/>
        </p:nvSpPr>
        <p:spPr>
          <a:xfrm>
            <a:off x="9890760"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22" name="Text 20"/>
          <p:cNvSpPr/>
          <p:nvPr/>
        </p:nvSpPr>
        <p:spPr>
          <a:xfrm>
            <a:off x="9918192"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VERIFY</a:t>
            </a:r>
            <a:endParaRPr lang="en-US" sz="1030" dirty="0"/>
          </a:p>
        </p:txBody>
      </p:sp>
      <p:sp>
        <p:nvSpPr>
          <p:cNvPr id="23" name="Shape 21"/>
          <p:cNvSpPr/>
          <p:nvPr/>
        </p:nvSpPr>
        <p:spPr>
          <a:xfrm>
            <a:off x="630936" y="2779776"/>
            <a:ext cx="3127248" cy="2432304"/>
          </a:xfrm>
          <a:prstGeom prst="roundRect">
            <a:avLst>
              <a:gd name="adj" fmla="val 5263"/>
            </a:avLst>
          </a:prstGeom>
          <a:solidFill>
            <a:srgbClr val="102335"/>
          </a:solidFill>
          <a:ln w="10795">
            <a:solidFill>
              <a:srgbClr val="294056"/>
            </a:solidFill>
            <a:prstDash val="solid"/>
          </a:ln>
        </p:spPr>
      </p:sp>
      <p:sp>
        <p:nvSpPr>
          <p:cNvPr id="24" name="Text 22"/>
          <p:cNvSpPr/>
          <p:nvPr/>
        </p:nvSpPr>
        <p:spPr>
          <a:xfrm>
            <a:off x="868680" y="3035808"/>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FFC176"/>
                </a:solidFill>
                <a:latin typeface="Inter" pitchFamily="34" charset="0"/>
                <a:ea typeface="Inter" pitchFamily="34" charset="-122"/>
                <a:cs typeface="Inter" pitchFamily="34" charset="-120"/>
              </a:rPr>
              <a:t>INPUTS</a:t>
            </a:r>
            <a:endParaRPr lang="en-US" sz="1000" dirty="0"/>
          </a:p>
        </p:txBody>
      </p:sp>
      <p:sp>
        <p:nvSpPr>
          <p:cNvPr id="25" name="Shape 23"/>
          <p:cNvSpPr/>
          <p:nvPr/>
        </p:nvSpPr>
        <p:spPr>
          <a:xfrm>
            <a:off x="877824" y="3604565"/>
            <a:ext cx="68580" cy="68580"/>
          </a:xfrm>
          <a:prstGeom prst="ellipse">
            <a:avLst/>
          </a:prstGeom>
          <a:solidFill>
            <a:srgbClr val="FFC176"/>
          </a:solidFill>
          <a:ln w="12700">
            <a:solidFill>
              <a:srgbClr val="FFC176"/>
            </a:solidFill>
            <a:prstDash val="solid"/>
          </a:ln>
        </p:spPr>
      </p:sp>
      <p:sp>
        <p:nvSpPr>
          <p:cNvPr id="26" name="Text 24"/>
          <p:cNvSpPr/>
          <p:nvPr/>
        </p:nvSpPr>
        <p:spPr>
          <a:xfrm>
            <a:off x="1069848" y="3483864"/>
            <a:ext cx="2514600" cy="356616"/>
          </a:xfrm>
          <a:prstGeom prst="rect">
            <a:avLst/>
          </a:prstGeom>
          <a:noFill/>
          <a:ln/>
        </p:spPr>
        <p:txBody>
          <a:bodyPr wrap="square" lIns="0" tIns="0" rIns="0" bIns="0" rtlCol="0" anchor="ctr"/>
          <a:lstStyle/>
          <a:p>
            <a:pPr algn="l" indent="0" marL="0">
              <a:lnSpc>
                <a:spcPct val="100000"/>
              </a:lnSpc>
              <a:buNone/>
            </a:pPr>
            <a:r>
              <a:rPr lang="en-US" sz="1270" dirty="0">
                <a:solidFill>
                  <a:srgbClr val="DCE7F3"/>
                </a:solidFill>
                <a:latin typeface="Inter" pitchFamily="34" charset="0"/>
                <a:ea typeface="Inter" pitchFamily="34" charset="-122"/>
                <a:cs typeface="Inter" pitchFamily="34" charset="-120"/>
              </a:rPr>
              <a:t>Object: cup_17</a:t>
            </a:r>
            <a:endParaRPr lang="en-US" sz="1270" dirty="0"/>
          </a:p>
        </p:txBody>
      </p:sp>
      <p:sp>
        <p:nvSpPr>
          <p:cNvPr id="27" name="Shape 25"/>
          <p:cNvSpPr/>
          <p:nvPr/>
        </p:nvSpPr>
        <p:spPr>
          <a:xfrm>
            <a:off x="877824" y="3979469"/>
            <a:ext cx="68580" cy="68580"/>
          </a:xfrm>
          <a:prstGeom prst="ellipse">
            <a:avLst/>
          </a:prstGeom>
          <a:solidFill>
            <a:srgbClr val="FFC176"/>
          </a:solidFill>
          <a:ln w="12700">
            <a:solidFill>
              <a:srgbClr val="FFC176"/>
            </a:solidFill>
            <a:prstDash val="solid"/>
          </a:ln>
        </p:spPr>
      </p:sp>
      <p:sp>
        <p:nvSpPr>
          <p:cNvPr id="28" name="Text 26"/>
          <p:cNvSpPr/>
          <p:nvPr/>
        </p:nvSpPr>
        <p:spPr>
          <a:xfrm>
            <a:off x="1069848" y="3858768"/>
            <a:ext cx="2514600" cy="356616"/>
          </a:xfrm>
          <a:prstGeom prst="rect">
            <a:avLst/>
          </a:prstGeom>
          <a:noFill/>
          <a:ln/>
        </p:spPr>
        <p:txBody>
          <a:bodyPr wrap="square" lIns="0" tIns="0" rIns="0" bIns="0" rtlCol="0" anchor="ctr"/>
          <a:lstStyle/>
          <a:p>
            <a:pPr algn="l" indent="0" marL="0">
              <a:lnSpc>
                <a:spcPct val="100000"/>
              </a:lnSpc>
              <a:buNone/>
            </a:pPr>
            <a:r>
              <a:rPr lang="en-US" sz="1270" dirty="0">
                <a:solidFill>
                  <a:srgbClr val="DCE7F3"/>
                </a:solidFill>
                <a:latin typeface="Inter" pitchFamily="34" charset="0"/>
                <a:ea typeface="Inter" pitchFamily="34" charset="-122"/>
                <a:cs typeface="Inter" pitchFamily="34" charset="-120"/>
              </a:rPr>
              <a:t>Instruction: pick red cup</a:t>
            </a:r>
            <a:endParaRPr lang="en-US" sz="1270" dirty="0"/>
          </a:p>
        </p:txBody>
      </p:sp>
      <p:sp>
        <p:nvSpPr>
          <p:cNvPr id="29" name="Shape 27"/>
          <p:cNvSpPr/>
          <p:nvPr/>
        </p:nvSpPr>
        <p:spPr>
          <a:xfrm>
            <a:off x="877824" y="4354373"/>
            <a:ext cx="68580" cy="68580"/>
          </a:xfrm>
          <a:prstGeom prst="ellipse">
            <a:avLst/>
          </a:prstGeom>
          <a:solidFill>
            <a:srgbClr val="FFC176"/>
          </a:solidFill>
          <a:ln w="12700">
            <a:solidFill>
              <a:srgbClr val="FFC176"/>
            </a:solidFill>
            <a:prstDash val="solid"/>
          </a:ln>
        </p:spPr>
      </p:sp>
      <p:sp>
        <p:nvSpPr>
          <p:cNvPr id="30" name="Text 28"/>
          <p:cNvSpPr/>
          <p:nvPr/>
        </p:nvSpPr>
        <p:spPr>
          <a:xfrm>
            <a:off x="1069848" y="4233672"/>
            <a:ext cx="2514600" cy="356616"/>
          </a:xfrm>
          <a:prstGeom prst="rect">
            <a:avLst/>
          </a:prstGeom>
          <a:noFill/>
          <a:ln/>
        </p:spPr>
        <p:txBody>
          <a:bodyPr wrap="square" lIns="0" tIns="0" rIns="0" bIns="0" rtlCol="0" anchor="ctr"/>
          <a:lstStyle/>
          <a:p>
            <a:pPr algn="l" indent="0" marL="0">
              <a:lnSpc>
                <a:spcPct val="100000"/>
              </a:lnSpc>
              <a:buNone/>
            </a:pPr>
            <a:r>
              <a:rPr lang="en-US" sz="1270" dirty="0">
                <a:solidFill>
                  <a:srgbClr val="DCE7F3"/>
                </a:solidFill>
                <a:latin typeface="Inter" pitchFamily="34" charset="0"/>
                <a:ea typeface="Inter" pitchFamily="34" charset="-122"/>
                <a:cs typeface="Inter" pitchFamily="34" charset="-120"/>
              </a:rPr>
              <a:t>RGB / hand state / proprioception</a:t>
            </a:r>
            <a:endParaRPr lang="en-US" sz="1270" dirty="0"/>
          </a:p>
        </p:txBody>
      </p:sp>
      <p:sp>
        <p:nvSpPr>
          <p:cNvPr id="31" name="Shape 29"/>
          <p:cNvSpPr/>
          <p:nvPr/>
        </p:nvSpPr>
        <p:spPr>
          <a:xfrm>
            <a:off x="877824" y="4729277"/>
            <a:ext cx="68580" cy="68580"/>
          </a:xfrm>
          <a:prstGeom prst="ellipse">
            <a:avLst/>
          </a:prstGeom>
          <a:solidFill>
            <a:srgbClr val="FFC176"/>
          </a:solidFill>
          <a:ln w="12700">
            <a:solidFill>
              <a:srgbClr val="FFC176"/>
            </a:solidFill>
            <a:prstDash val="solid"/>
          </a:ln>
        </p:spPr>
      </p:sp>
      <p:sp>
        <p:nvSpPr>
          <p:cNvPr id="32" name="Text 30"/>
          <p:cNvSpPr/>
          <p:nvPr/>
        </p:nvSpPr>
        <p:spPr>
          <a:xfrm>
            <a:off x="1069848" y="4608576"/>
            <a:ext cx="2514600" cy="356616"/>
          </a:xfrm>
          <a:prstGeom prst="rect">
            <a:avLst/>
          </a:prstGeom>
          <a:noFill/>
          <a:ln/>
        </p:spPr>
        <p:txBody>
          <a:bodyPr wrap="square" lIns="0" tIns="0" rIns="0" bIns="0" rtlCol="0" anchor="ctr"/>
          <a:lstStyle/>
          <a:p>
            <a:pPr algn="l" indent="0" marL="0">
              <a:lnSpc>
                <a:spcPct val="100000"/>
              </a:lnSpc>
              <a:buNone/>
            </a:pPr>
            <a:r>
              <a:rPr lang="en-US" sz="1270" dirty="0">
                <a:solidFill>
                  <a:srgbClr val="DCE7F3"/>
                </a:solidFill>
                <a:latin typeface="Inter" pitchFamily="34" charset="0"/>
                <a:ea typeface="Inter" pitchFamily="34" charset="-122"/>
                <a:cs typeface="Inter" pitchFamily="34" charset="-120"/>
              </a:rPr>
              <a:t>Validated pickup pose</a:t>
            </a:r>
            <a:endParaRPr lang="en-US" sz="1270" dirty="0"/>
          </a:p>
        </p:txBody>
      </p:sp>
      <p:sp>
        <p:nvSpPr>
          <p:cNvPr id="33" name="Shape 31"/>
          <p:cNvSpPr/>
          <p:nvPr/>
        </p:nvSpPr>
        <p:spPr>
          <a:xfrm>
            <a:off x="3767328" y="3931920"/>
            <a:ext cx="448056" cy="0"/>
          </a:xfrm>
          <a:prstGeom prst="line">
            <a:avLst/>
          </a:prstGeom>
          <a:noFill/>
          <a:ln w="25400">
            <a:solidFill>
              <a:srgbClr val="FFC176"/>
            </a:solidFill>
            <a:prstDash val="solid"/>
            <a:headEnd type="none"/>
            <a:tailEnd type="triangle"/>
          </a:ln>
        </p:spPr>
      </p:sp>
      <p:sp>
        <p:nvSpPr>
          <p:cNvPr id="34" name="Shape 32"/>
          <p:cNvSpPr/>
          <p:nvPr/>
        </p:nvSpPr>
        <p:spPr>
          <a:xfrm>
            <a:off x="4325112" y="2953512"/>
            <a:ext cx="3493008" cy="1755648"/>
          </a:xfrm>
          <a:prstGeom prst="roundRect">
            <a:avLst>
              <a:gd name="adj" fmla="val 7292"/>
            </a:avLst>
          </a:prstGeom>
          <a:solidFill>
            <a:srgbClr val="102335"/>
          </a:solidFill>
          <a:ln w="10795">
            <a:solidFill>
              <a:srgbClr val="294056"/>
            </a:solidFill>
            <a:prstDash val="solid"/>
          </a:ln>
        </p:spPr>
      </p:sp>
      <p:sp>
        <p:nvSpPr>
          <p:cNvPr id="35" name="Shape 33"/>
          <p:cNvSpPr/>
          <p:nvPr/>
        </p:nvSpPr>
        <p:spPr>
          <a:xfrm>
            <a:off x="4325112" y="2953512"/>
            <a:ext cx="3493008" cy="64008"/>
          </a:xfrm>
          <a:prstGeom prst="rect">
            <a:avLst/>
          </a:prstGeom>
          <a:solidFill>
            <a:srgbClr val="FFC176"/>
          </a:solidFill>
          <a:ln w="10795">
            <a:solidFill>
              <a:srgbClr val="FFC176"/>
            </a:solidFill>
            <a:prstDash val="solid"/>
          </a:ln>
        </p:spPr>
      </p:sp>
      <p:sp>
        <p:nvSpPr>
          <p:cNvPr id="36" name="Text 34"/>
          <p:cNvSpPr/>
          <p:nvPr/>
        </p:nvSpPr>
        <p:spPr>
          <a:xfrm>
            <a:off x="4453128" y="3127248"/>
            <a:ext cx="3236976" cy="310896"/>
          </a:xfrm>
          <a:prstGeom prst="rect">
            <a:avLst/>
          </a:prstGeom>
          <a:noFill/>
          <a:ln/>
        </p:spPr>
        <p:txBody>
          <a:bodyPr wrap="square" lIns="0" tIns="0" rIns="0" bIns="0" rtlCol="0" anchor="ctr"/>
          <a:lstStyle/>
          <a:p>
            <a:pPr algn="ctr" indent="0" marL="0">
              <a:lnSpc>
                <a:spcPct val="100000"/>
              </a:lnSpc>
              <a:buNone/>
            </a:pPr>
            <a:r>
              <a:rPr lang="en-US" sz="1600" b="1" dirty="0">
                <a:solidFill>
                  <a:srgbClr val="F5F7FC"/>
                </a:solidFill>
                <a:latin typeface="Inter" pitchFamily="34" charset="0"/>
                <a:ea typeface="Inter" pitchFamily="34" charset="-122"/>
                <a:cs typeface="Inter" pitchFamily="34" charset="-120"/>
              </a:rPr>
              <a:t>GR00T N1.7 + G1 ADAPTER</a:t>
            </a:r>
            <a:endParaRPr lang="en-US" sz="1600" dirty="0"/>
          </a:p>
        </p:txBody>
      </p:sp>
      <p:sp>
        <p:nvSpPr>
          <p:cNvPr id="37" name="Text 35"/>
          <p:cNvSpPr/>
          <p:nvPr/>
        </p:nvSpPr>
        <p:spPr>
          <a:xfrm>
            <a:off x="4434840" y="3483864"/>
            <a:ext cx="3273552" cy="1133856"/>
          </a:xfrm>
          <a:prstGeom prst="rect">
            <a:avLst/>
          </a:prstGeom>
          <a:noFill/>
          <a:ln/>
        </p:spPr>
        <p:txBody>
          <a:bodyPr wrap="square" lIns="0" tIns="0" rIns="0" bIns="0" rtlCol="0" anchor="t"/>
          <a:lstStyle/>
          <a:p>
            <a:pPr algn="ctr" indent="0" marL="0">
              <a:lnSpc>
                <a:spcPct val="100000"/>
              </a:lnSpc>
              <a:buNone/>
            </a:pPr>
            <a:r>
              <a:rPr lang="en-US" sz="1050" dirty="0">
                <a:solidFill>
                  <a:srgbClr val="A1B2C4"/>
                </a:solidFill>
                <a:latin typeface="Inter" pitchFamily="34" charset="0"/>
                <a:ea typeface="Inter" pitchFamily="34" charset="-122"/>
                <a:cs typeface="Inter" pitchFamily="34" charset="-120"/>
              </a:rPr>
              <a:t>Task-trained policy → action chunks</a:t>
            </a:r>
            <a:endParaRPr lang="en-US" sz="1050" dirty="0"/>
          </a:p>
          <a:p>
            <a:pPr algn="ctr" indent="0" marL="0">
              <a:lnSpc>
                <a:spcPct val="100000"/>
              </a:lnSpc>
              <a:buNone/>
            </a:pPr>
            <a:r>
              <a:rPr lang="en-US" sz="1050" dirty="0">
                <a:solidFill>
                  <a:srgbClr val="A1B2C4"/>
                </a:solidFill>
                <a:latin typeface="Inter" pitchFamily="34" charset="0"/>
                <a:ea typeface="Inter" pitchFamily="34" charset="-122"/>
                <a:cs typeface="Inter" pitchFamily="34" charset="-120"/>
              </a:rPr>
              <a:t>SONIC / hand controller, if supported</a:t>
            </a:r>
            <a:endParaRPr lang="en-US" sz="1050" dirty="0"/>
          </a:p>
        </p:txBody>
      </p:sp>
      <p:sp>
        <p:nvSpPr>
          <p:cNvPr id="38" name="Shape 36"/>
          <p:cNvSpPr/>
          <p:nvPr/>
        </p:nvSpPr>
        <p:spPr>
          <a:xfrm>
            <a:off x="7836408" y="3931920"/>
            <a:ext cx="411480" cy="0"/>
          </a:xfrm>
          <a:prstGeom prst="line">
            <a:avLst/>
          </a:prstGeom>
          <a:noFill/>
          <a:ln w="25400">
            <a:solidFill>
              <a:srgbClr val="FFC176"/>
            </a:solidFill>
            <a:prstDash val="solid"/>
            <a:headEnd type="none"/>
            <a:tailEnd type="triangle"/>
          </a:ln>
        </p:spPr>
      </p:sp>
      <p:sp>
        <p:nvSpPr>
          <p:cNvPr id="39" name="Shape 37"/>
          <p:cNvSpPr/>
          <p:nvPr/>
        </p:nvSpPr>
        <p:spPr>
          <a:xfrm>
            <a:off x="8330184" y="2779776"/>
            <a:ext cx="3218688" cy="2432304"/>
          </a:xfrm>
          <a:prstGeom prst="roundRect">
            <a:avLst>
              <a:gd name="adj" fmla="val 5263"/>
            </a:avLst>
          </a:prstGeom>
          <a:solidFill>
            <a:srgbClr val="102335"/>
          </a:solidFill>
          <a:ln w="10795">
            <a:solidFill>
              <a:srgbClr val="294056"/>
            </a:solidFill>
            <a:prstDash val="solid"/>
          </a:ln>
        </p:spPr>
      </p:sp>
      <p:sp>
        <p:nvSpPr>
          <p:cNvPr id="40" name="Text 38"/>
          <p:cNvSpPr/>
          <p:nvPr/>
        </p:nvSpPr>
        <p:spPr>
          <a:xfrm>
            <a:off x="8549640" y="3035808"/>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48D7B2"/>
                </a:solidFill>
                <a:latin typeface="Inter" pitchFamily="34" charset="0"/>
                <a:ea typeface="Inter" pitchFamily="34" charset="-122"/>
                <a:cs typeface="Inter" pitchFamily="34" charset="-120"/>
              </a:rPr>
              <a:t>VERIFIED OUTPUT</a:t>
            </a:r>
            <a:endParaRPr lang="en-US" sz="1000" dirty="0"/>
          </a:p>
        </p:txBody>
      </p:sp>
      <p:sp>
        <p:nvSpPr>
          <p:cNvPr id="41" name="Shape 39"/>
          <p:cNvSpPr/>
          <p:nvPr/>
        </p:nvSpPr>
        <p:spPr>
          <a:xfrm>
            <a:off x="8595360" y="3686861"/>
            <a:ext cx="68580" cy="68580"/>
          </a:xfrm>
          <a:prstGeom prst="ellipse">
            <a:avLst/>
          </a:prstGeom>
          <a:solidFill>
            <a:srgbClr val="48D7B2"/>
          </a:solidFill>
          <a:ln w="12700">
            <a:solidFill>
              <a:srgbClr val="48D7B2"/>
            </a:solidFill>
            <a:prstDash val="solid"/>
          </a:ln>
        </p:spPr>
      </p:sp>
      <p:sp>
        <p:nvSpPr>
          <p:cNvPr id="42" name="Text 40"/>
          <p:cNvSpPr/>
          <p:nvPr/>
        </p:nvSpPr>
        <p:spPr>
          <a:xfrm>
            <a:off x="8787384" y="3566160"/>
            <a:ext cx="2523744" cy="438912"/>
          </a:xfrm>
          <a:prstGeom prst="rect">
            <a:avLst/>
          </a:prstGeom>
          <a:noFill/>
          <a:ln/>
        </p:spPr>
        <p:txBody>
          <a:bodyPr wrap="square" lIns="0" tIns="0" rIns="0" bIns="0" rtlCol="0" anchor="ctr"/>
          <a:lstStyle/>
          <a:p>
            <a:pPr algn="l" indent="0" marL="0">
              <a:lnSpc>
                <a:spcPct val="100000"/>
              </a:lnSpc>
              <a:buNone/>
            </a:pPr>
            <a:r>
              <a:rPr lang="en-US" sz="1260" dirty="0">
                <a:solidFill>
                  <a:srgbClr val="DCE7F3"/>
                </a:solidFill>
                <a:latin typeface="Inter" pitchFamily="34" charset="0"/>
                <a:ea typeface="Inter" pitchFamily="34" charset="-122"/>
                <a:cs typeface="Inter" pitchFamily="34" charset="-120"/>
              </a:rPr>
              <a:t>Grasp state / object in hand</a:t>
            </a:r>
            <a:endParaRPr lang="en-US" sz="1260" dirty="0"/>
          </a:p>
        </p:txBody>
      </p:sp>
      <p:sp>
        <p:nvSpPr>
          <p:cNvPr id="43" name="Shape 41"/>
          <p:cNvSpPr/>
          <p:nvPr/>
        </p:nvSpPr>
        <p:spPr>
          <a:xfrm>
            <a:off x="8595360" y="4144061"/>
            <a:ext cx="68580" cy="68580"/>
          </a:xfrm>
          <a:prstGeom prst="ellipse">
            <a:avLst/>
          </a:prstGeom>
          <a:solidFill>
            <a:srgbClr val="48D7B2"/>
          </a:solidFill>
          <a:ln w="12700">
            <a:solidFill>
              <a:srgbClr val="48D7B2"/>
            </a:solidFill>
            <a:prstDash val="solid"/>
          </a:ln>
        </p:spPr>
      </p:sp>
      <p:sp>
        <p:nvSpPr>
          <p:cNvPr id="44" name="Text 42"/>
          <p:cNvSpPr/>
          <p:nvPr/>
        </p:nvSpPr>
        <p:spPr>
          <a:xfrm>
            <a:off x="8787384" y="4023360"/>
            <a:ext cx="2523744" cy="438912"/>
          </a:xfrm>
          <a:prstGeom prst="rect">
            <a:avLst/>
          </a:prstGeom>
          <a:noFill/>
          <a:ln/>
        </p:spPr>
        <p:txBody>
          <a:bodyPr wrap="square" lIns="0" tIns="0" rIns="0" bIns="0" rtlCol="0" anchor="ctr"/>
          <a:lstStyle/>
          <a:p>
            <a:pPr algn="l" indent="0" marL="0">
              <a:lnSpc>
                <a:spcPct val="100000"/>
              </a:lnSpc>
              <a:buNone/>
            </a:pPr>
            <a:r>
              <a:rPr lang="en-US" sz="1260" dirty="0">
                <a:solidFill>
                  <a:srgbClr val="DCE7F3"/>
                </a:solidFill>
                <a:latin typeface="Inter" pitchFamily="34" charset="0"/>
                <a:ea typeface="Inter" pitchFamily="34" charset="-122"/>
                <a:cs typeface="Inter" pitchFamily="34" charset="-120"/>
              </a:rPr>
              <a:t>Tracking update: ATTACHED</a:t>
            </a:r>
            <a:endParaRPr lang="en-US" sz="1260" dirty="0"/>
          </a:p>
        </p:txBody>
      </p:sp>
      <p:sp>
        <p:nvSpPr>
          <p:cNvPr id="45" name="Shape 43"/>
          <p:cNvSpPr/>
          <p:nvPr/>
        </p:nvSpPr>
        <p:spPr>
          <a:xfrm>
            <a:off x="8595360" y="4601261"/>
            <a:ext cx="68580" cy="68580"/>
          </a:xfrm>
          <a:prstGeom prst="ellipse">
            <a:avLst/>
          </a:prstGeom>
          <a:solidFill>
            <a:srgbClr val="48D7B2"/>
          </a:solidFill>
          <a:ln w="12700">
            <a:solidFill>
              <a:srgbClr val="48D7B2"/>
            </a:solidFill>
            <a:prstDash val="solid"/>
          </a:ln>
        </p:spPr>
      </p:sp>
      <p:sp>
        <p:nvSpPr>
          <p:cNvPr id="46" name="Text 44"/>
          <p:cNvSpPr/>
          <p:nvPr/>
        </p:nvSpPr>
        <p:spPr>
          <a:xfrm>
            <a:off x="8787384" y="4480560"/>
            <a:ext cx="2523744" cy="438912"/>
          </a:xfrm>
          <a:prstGeom prst="rect">
            <a:avLst/>
          </a:prstGeom>
          <a:noFill/>
          <a:ln/>
        </p:spPr>
        <p:txBody>
          <a:bodyPr wrap="square" lIns="0" tIns="0" rIns="0" bIns="0" rtlCol="0" anchor="ctr"/>
          <a:lstStyle/>
          <a:p>
            <a:pPr algn="l" indent="0" marL="0">
              <a:lnSpc>
                <a:spcPct val="100000"/>
              </a:lnSpc>
              <a:buNone/>
            </a:pPr>
            <a:r>
              <a:rPr lang="en-US" sz="1260" dirty="0">
                <a:solidFill>
                  <a:srgbClr val="DCE7F3"/>
                </a:solidFill>
                <a:latin typeface="Inter" pitchFamily="34" charset="0"/>
                <a:ea typeface="Inter" pitchFamily="34" charset="-122"/>
                <a:cs typeface="Inter" pitchFamily="34" charset="-120"/>
              </a:rPr>
              <a:t>Failure → reobserve or replan</a:t>
            </a:r>
            <a:endParaRPr lang="en-US" sz="1260" dirty="0"/>
          </a:p>
        </p:txBody>
      </p:sp>
      <p:sp>
        <p:nvSpPr>
          <p:cNvPr id="47" name="Shape 45"/>
          <p:cNvSpPr/>
          <p:nvPr/>
        </p:nvSpPr>
        <p:spPr>
          <a:xfrm>
            <a:off x="868680" y="5513832"/>
            <a:ext cx="10433304" cy="502920"/>
          </a:xfrm>
          <a:prstGeom prst="roundRect">
            <a:avLst>
              <a:gd name="adj" fmla="val 25455"/>
            </a:avLst>
          </a:prstGeom>
          <a:solidFill>
            <a:srgbClr val="152B40"/>
          </a:solidFill>
          <a:ln w="10795">
            <a:solidFill>
              <a:srgbClr val="294056"/>
            </a:solidFill>
            <a:prstDash val="solid"/>
          </a:ln>
        </p:spPr>
      </p:sp>
      <p:sp>
        <p:nvSpPr>
          <p:cNvPr id="48" name="Text 46"/>
          <p:cNvSpPr/>
          <p:nvPr/>
        </p:nvSpPr>
        <p:spPr>
          <a:xfrm>
            <a:off x="1078992" y="5641848"/>
            <a:ext cx="10058400" cy="246888"/>
          </a:xfrm>
          <a:prstGeom prst="rect">
            <a:avLst/>
          </a:prstGeom>
          <a:noFill/>
          <a:ln/>
        </p:spPr>
        <p:txBody>
          <a:bodyPr wrap="square" lIns="0" tIns="0" rIns="0" bIns="0" rtlCol="0" anchor="ctr"/>
          <a:lstStyle/>
          <a:p>
            <a:pPr algn="ctr" indent="0" marL="0">
              <a:lnSpc>
                <a:spcPct val="100000"/>
              </a:lnSpc>
              <a:buNone/>
            </a:pPr>
            <a:r>
              <a:rPr lang="en-US" sz="1280" b="1" dirty="0">
                <a:solidFill>
                  <a:srgbClr val="FF8790"/>
                </a:solidFill>
                <a:latin typeface="Inter" pitchFamily="34" charset="0"/>
                <a:ea typeface="Inter" pitchFamily="34" charset="-122"/>
                <a:cs typeface="Inter" pitchFamily="34" charset="-120"/>
              </a:rPr>
              <a:t>Important: G1 embodiment support and pick-skill success require a compatible fine-tuned N1.7 policy.</a:t>
            </a:r>
            <a:endParaRPr lang="en-US" sz="12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SKILL 05 / NAVIGATION</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Navigate to the destination while carrying</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Carrying changes allowed motion and geometry; the cup moves with the robot, not with the old table.</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17</a:t>
            </a:r>
            <a:endParaRPr lang="en-US" sz="1100" dirty="0"/>
          </a:p>
        </p:txBody>
      </p:sp>
      <p:sp>
        <p:nvSpPr>
          <p:cNvPr id="11" name="Shape 9"/>
          <p:cNvSpPr/>
          <p:nvPr/>
        </p:nvSpPr>
        <p:spPr>
          <a:xfrm>
            <a:off x="457200"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12" name="Text 10"/>
          <p:cNvSpPr/>
          <p:nvPr/>
        </p:nvSpPr>
        <p:spPr>
          <a:xfrm>
            <a:off x="484632"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FIND</a:t>
            </a:r>
            <a:endParaRPr lang="en-US" sz="1030" dirty="0"/>
          </a:p>
        </p:txBody>
      </p:sp>
      <p:sp>
        <p:nvSpPr>
          <p:cNvPr id="13" name="Shape 11"/>
          <p:cNvSpPr/>
          <p:nvPr/>
        </p:nvSpPr>
        <p:spPr>
          <a:xfrm>
            <a:off x="2343912"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14" name="Text 12"/>
          <p:cNvSpPr/>
          <p:nvPr/>
        </p:nvSpPr>
        <p:spPr>
          <a:xfrm>
            <a:off x="2371344"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NAVIGATE</a:t>
            </a:r>
            <a:endParaRPr lang="en-US" sz="1030" dirty="0"/>
          </a:p>
        </p:txBody>
      </p:sp>
      <p:sp>
        <p:nvSpPr>
          <p:cNvPr id="15" name="Shape 13"/>
          <p:cNvSpPr/>
          <p:nvPr/>
        </p:nvSpPr>
        <p:spPr>
          <a:xfrm>
            <a:off x="4230624"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16" name="Text 14"/>
          <p:cNvSpPr/>
          <p:nvPr/>
        </p:nvSpPr>
        <p:spPr>
          <a:xfrm>
            <a:off x="4258056"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VLA PICK</a:t>
            </a:r>
            <a:endParaRPr lang="en-US" sz="1030" dirty="0"/>
          </a:p>
        </p:txBody>
      </p:sp>
      <p:sp>
        <p:nvSpPr>
          <p:cNvPr id="17" name="Shape 15"/>
          <p:cNvSpPr/>
          <p:nvPr/>
        </p:nvSpPr>
        <p:spPr>
          <a:xfrm>
            <a:off x="6117336" y="2103120"/>
            <a:ext cx="1831848" cy="347472"/>
          </a:xfrm>
          <a:prstGeom prst="roundRect">
            <a:avLst>
              <a:gd name="adj" fmla="val 18421"/>
            </a:avLst>
          </a:prstGeom>
          <a:solidFill>
            <a:srgbClr val="6B9BFF"/>
          </a:solidFill>
          <a:ln w="10795">
            <a:solidFill>
              <a:srgbClr val="6B9BFF"/>
            </a:solidFill>
            <a:prstDash val="solid"/>
          </a:ln>
        </p:spPr>
      </p:sp>
      <p:sp>
        <p:nvSpPr>
          <p:cNvPr id="18" name="Text 16"/>
          <p:cNvSpPr/>
          <p:nvPr/>
        </p:nvSpPr>
        <p:spPr>
          <a:xfrm>
            <a:off x="6144768"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07131F"/>
                </a:solidFill>
                <a:latin typeface="Inter" pitchFamily="34" charset="0"/>
                <a:ea typeface="Inter" pitchFamily="34" charset="-122"/>
                <a:cs typeface="Inter" pitchFamily="34" charset="-120"/>
              </a:rPr>
              <a:t>NAVIGATE</a:t>
            </a:r>
            <a:endParaRPr lang="en-US" sz="1030" dirty="0"/>
          </a:p>
        </p:txBody>
      </p:sp>
      <p:sp>
        <p:nvSpPr>
          <p:cNvPr id="19" name="Shape 17"/>
          <p:cNvSpPr/>
          <p:nvPr/>
        </p:nvSpPr>
        <p:spPr>
          <a:xfrm>
            <a:off x="8004048"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20" name="Text 18"/>
          <p:cNvSpPr/>
          <p:nvPr/>
        </p:nvSpPr>
        <p:spPr>
          <a:xfrm>
            <a:off x="8031480"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VLA PLACE</a:t>
            </a:r>
            <a:endParaRPr lang="en-US" sz="1030" dirty="0"/>
          </a:p>
        </p:txBody>
      </p:sp>
      <p:sp>
        <p:nvSpPr>
          <p:cNvPr id="21" name="Shape 19"/>
          <p:cNvSpPr/>
          <p:nvPr/>
        </p:nvSpPr>
        <p:spPr>
          <a:xfrm>
            <a:off x="9890760"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22" name="Text 20"/>
          <p:cNvSpPr/>
          <p:nvPr/>
        </p:nvSpPr>
        <p:spPr>
          <a:xfrm>
            <a:off x="9918192"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VERIFY</a:t>
            </a:r>
            <a:endParaRPr lang="en-US" sz="1030" dirty="0"/>
          </a:p>
        </p:txBody>
      </p:sp>
      <p:sp>
        <p:nvSpPr>
          <p:cNvPr id="23" name="Shape 21"/>
          <p:cNvSpPr/>
          <p:nvPr/>
        </p:nvSpPr>
        <p:spPr>
          <a:xfrm>
            <a:off x="612648" y="2724912"/>
            <a:ext cx="6428232" cy="2862072"/>
          </a:xfrm>
          <a:prstGeom prst="roundRect">
            <a:avLst>
              <a:gd name="adj" fmla="val 2556"/>
            </a:avLst>
          </a:prstGeom>
          <a:solidFill>
            <a:srgbClr val="0B1D2B"/>
          </a:solidFill>
          <a:ln w="10795">
            <a:solidFill>
              <a:srgbClr val="294056"/>
            </a:solidFill>
            <a:prstDash val="solid"/>
          </a:ln>
        </p:spPr>
      </p:sp>
      <p:sp>
        <p:nvSpPr>
          <p:cNvPr id="24" name="Shape 22"/>
          <p:cNvSpPr/>
          <p:nvPr/>
        </p:nvSpPr>
        <p:spPr>
          <a:xfrm>
            <a:off x="1107127" y="2724912"/>
            <a:ext cx="0" cy="2862072"/>
          </a:xfrm>
          <a:prstGeom prst="line">
            <a:avLst/>
          </a:prstGeom>
          <a:noFill/>
          <a:ln w="5715">
            <a:solidFill>
              <a:srgbClr val="647F96"/>
            </a:solidFill>
            <a:prstDash val="dash"/>
            <a:headEnd type="none"/>
            <a:tailEnd type="none"/>
          </a:ln>
        </p:spPr>
      </p:sp>
      <p:sp>
        <p:nvSpPr>
          <p:cNvPr id="25" name="Shape 23"/>
          <p:cNvSpPr/>
          <p:nvPr/>
        </p:nvSpPr>
        <p:spPr>
          <a:xfrm>
            <a:off x="1601607" y="2724912"/>
            <a:ext cx="0" cy="2862072"/>
          </a:xfrm>
          <a:prstGeom prst="line">
            <a:avLst/>
          </a:prstGeom>
          <a:noFill/>
          <a:ln w="5715">
            <a:solidFill>
              <a:srgbClr val="647F96"/>
            </a:solidFill>
            <a:prstDash val="dash"/>
            <a:headEnd type="none"/>
            <a:tailEnd type="none"/>
          </a:ln>
        </p:spPr>
      </p:sp>
      <p:sp>
        <p:nvSpPr>
          <p:cNvPr id="26" name="Shape 24"/>
          <p:cNvSpPr/>
          <p:nvPr/>
        </p:nvSpPr>
        <p:spPr>
          <a:xfrm>
            <a:off x="2096086" y="2724912"/>
            <a:ext cx="0" cy="2862072"/>
          </a:xfrm>
          <a:prstGeom prst="line">
            <a:avLst/>
          </a:prstGeom>
          <a:noFill/>
          <a:ln w="5715">
            <a:solidFill>
              <a:srgbClr val="647F96"/>
            </a:solidFill>
            <a:prstDash val="dash"/>
            <a:headEnd type="none"/>
            <a:tailEnd type="none"/>
          </a:ln>
        </p:spPr>
      </p:sp>
      <p:sp>
        <p:nvSpPr>
          <p:cNvPr id="27" name="Shape 25"/>
          <p:cNvSpPr/>
          <p:nvPr/>
        </p:nvSpPr>
        <p:spPr>
          <a:xfrm>
            <a:off x="2590566" y="2724912"/>
            <a:ext cx="0" cy="2862072"/>
          </a:xfrm>
          <a:prstGeom prst="line">
            <a:avLst/>
          </a:prstGeom>
          <a:noFill/>
          <a:ln w="5715">
            <a:solidFill>
              <a:srgbClr val="647F96"/>
            </a:solidFill>
            <a:prstDash val="dash"/>
            <a:headEnd type="none"/>
            <a:tailEnd type="none"/>
          </a:ln>
        </p:spPr>
      </p:sp>
      <p:sp>
        <p:nvSpPr>
          <p:cNvPr id="28" name="Shape 26"/>
          <p:cNvSpPr/>
          <p:nvPr/>
        </p:nvSpPr>
        <p:spPr>
          <a:xfrm>
            <a:off x="3085045" y="2724912"/>
            <a:ext cx="0" cy="2862072"/>
          </a:xfrm>
          <a:prstGeom prst="line">
            <a:avLst/>
          </a:prstGeom>
          <a:noFill/>
          <a:ln w="5715">
            <a:solidFill>
              <a:srgbClr val="647F96"/>
            </a:solidFill>
            <a:prstDash val="dash"/>
            <a:headEnd type="none"/>
            <a:tailEnd type="none"/>
          </a:ln>
        </p:spPr>
      </p:sp>
      <p:sp>
        <p:nvSpPr>
          <p:cNvPr id="29" name="Shape 27"/>
          <p:cNvSpPr/>
          <p:nvPr/>
        </p:nvSpPr>
        <p:spPr>
          <a:xfrm>
            <a:off x="3579524" y="2724912"/>
            <a:ext cx="0" cy="2862072"/>
          </a:xfrm>
          <a:prstGeom prst="line">
            <a:avLst/>
          </a:prstGeom>
          <a:noFill/>
          <a:ln w="5715">
            <a:solidFill>
              <a:srgbClr val="647F96"/>
            </a:solidFill>
            <a:prstDash val="dash"/>
            <a:headEnd type="none"/>
            <a:tailEnd type="none"/>
          </a:ln>
        </p:spPr>
      </p:sp>
      <p:sp>
        <p:nvSpPr>
          <p:cNvPr id="30" name="Shape 28"/>
          <p:cNvSpPr/>
          <p:nvPr/>
        </p:nvSpPr>
        <p:spPr>
          <a:xfrm>
            <a:off x="4074004" y="2724912"/>
            <a:ext cx="0" cy="2862072"/>
          </a:xfrm>
          <a:prstGeom prst="line">
            <a:avLst/>
          </a:prstGeom>
          <a:noFill/>
          <a:ln w="5715">
            <a:solidFill>
              <a:srgbClr val="647F96"/>
            </a:solidFill>
            <a:prstDash val="dash"/>
            <a:headEnd type="none"/>
            <a:tailEnd type="none"/>
          </a:ln>
        </p:spPr>
      </p:sp>
      <p:sp>
        <p:nvSpPr>
          <p:cNvPr id="31" name="Shape 29"/>
          <p:cNvSpPr/>
          <p:nvPr/>
        </p:nvSpPr>
        <p:spPr>
          <a:xfrm>
            <a:off x="4568483" y="2724912"/>
            <a:ext cx="0" cy="2862072"/>
          </a:xfrm>
          <a:prstGeom prst="line">
            <a:avLst/>
          </a:prstGeom>
          <a:noFill/>
          <a:ln w="5715">
            <a:solidFill>
              <a:srgbClr val="647F96"/>
            </a:solidFill>
            <a:prstDash val="dash"/>
            <a:headEnd type="none"/>
            <a:tailEnd type="none"/>
          </a:ln>
        </p:spPr>
      </p:sp>
      <p:sp>
        <p:nvSpPr>
          <p:cNvPr id="32" name="Shape 30"/>
          <p:cNvSpPr/>
          <p:nvPr/>
        </p:nvSpPr>
        <p:spPr>
          <a:xfrm>
            <a:off x="5062962" y="2724912"/>
            <a:ext cx="0" cy="2862072"/>
          </a:xfrm>
          <a:prstGeom prst="line">
            <a:avLst/>
          </a:prstGeom>
          <a:noFill/>
          <a:ln w="5715">
            <a:solidFill>
              <a:srgbClr val="647F96"/>
            </a:solidFill>
            <a:prstDash val="dash"/>
            <a:headEnd type="none"/>
            <a:tailEnd type="none"/>
          </a:ln>
        </p:spPr>
      </p:sp>
      <p:sp>
        <p:nvSpPr>
          <p:cNvPr id="33" name="Shape 31"/>
          <p:cNvSpPr/>
          <p:nvPr/>
        </p:nvSpPr>
        <p:spPr>
          <a:xfrm>
            <a:off x="5557442" y="2724912"/>
            <a:ext cx="0" cy="2862072"/>
          </a:xfrm>
          <a:prstGeom prst="line">
            <a:avLst/>
          </a:prstGeom>
          <a:noFill/>
          <a:ln w="5715">
            <a:solidFill>
              <a:srgbClr val="647F96"/>
            </a:solidFill>
            <a:prstDash val="dash"/>
            <a:headEnd type="none"/>
            <a:tailEnd type="none"/>
          </a:ln>
        </p:spPr>
      </p:sp>
      <p:sp>
        <p:nvSpPr>
          <p:cNvPr id="34" name="Shape 32"/>
          <p:cNvSpPr/>
          <p:nvPr/>
        </p:nvSpPr>
        <p:spPr>
          <a:xfrm>
            <a:off x="6051921" y="2724912"/>
            <a:ext cx="0" cy="2862072"/>
          </a:xfrm>
          <a:prstGeom prst="line">
            <a:avLst/>
          </a:prstGeom>
          <a:noFill/>
          <a:ln w="5715">
            <a:solidFill>
              <a:srgbClr val="647F96"/>
            </a:solidFill>
            <a:prstDash val="dash"/>
            <a:headEnd type="none"/>
            <a:tailEnd type="none"/>
          </a:ln>
        </p:spPr>
      </p:sp>
      <p:sp>
        <p:nvSpPr>
          <p:cNvPr id="35" name="Shape 33"/>
          <p:cNvSpPr/>
          <p:nvPr/>
        </p:nvSpPr>
        <p:spPr>
          <a:xfrm>
            <a:off x="6546401" y="2724912"/>
            <a:ext cx="0" cy="2862072"/>
          </a:xfrm>
          <a:prstGeom prst="line">
            <a:avLst/>
          </a:prstGeom>
          <a:noFill/>
          <a:ln w="5715">
            <a:solidFill>
              <a:srgbClr val="647F96"/>
            </a:solidFill>
            <a:prstDash val="dash"/>
            <a:headEnd type="none"/>
            <a:tailEnd type="none"/>
          </a:ln>
        </p:spPr>
      </p:sp>
      <p:sp>
        <p:nvSpPr>
          <p:cNvPr id="36" name="Shape 34"/>
          <p:cNvSpPr/>
          <p:nvPr/>
        </p:nvSpPr>
        <p:spPr>
          <a:xfrm>
            <a:off x="612648" y="3201924"/>
            <a:ext cx="6428232" cy="0"/>
          </a:xfrm>
          <a:prstGeom prst="line">
            <a:avLst/>
          </a:prstGeom>
          <a:noFill/>
          <a:ln w="5715">
            <a:solidFill>
              <a:srgbClr val="647F96"/>
            </a:solidFill>
            <a:prstDash val="dash"/>
            <a:headEnd type="none"/>
            <a:tailEnd type="none"/>
          </a:ln>
        </p:spPr>
      </p:sp>
      <p:sp>
        <p:nvSpPr>
          <p:cNvPr id="37" name="Shape 35"/>
          <p:cNvSpPr/>
          <p:nvPr/>
        </p:nvSpPr>
        <p:spPr>
          <a:xfrm>
            <a:off x="612648" y="3678936"/>
            <a:ext cx="6428232" cy="0"/>
          </a:xfrm>
          <a:prstGeom prst="line">
            <a:avLst/>
          </a:prstGeom>
          <a:noFill/>
          <a:ln w="5715">
            <a:solidFill>
              <a:srgbClr val="647F96"/>
            </a:solidFill>
            <a:prstDash val="dash"/>
            <a:headEnd type="none"/>
            <a:tailEnd type="none"/>
          </a:ln>
        </p:spPr>
      </p:sp>
      <p:sp>
        <p:nvSpPr>
          <p:cNvPr id="38" name="Shape 36"/>
          <p:cNvSpPr/>
          <p:nvPr/>
        </p:nvSpPr>
        <p:spPr>
          <a:xfrm>
            <a:off x="612648" y="4155948"/>
            <a:ext cx="6428232" cy="0"/>
          </a:xfrm>
          <a:prstGeom prst="line">
            <a:avLst/>
          </a:prstGeom>
          <a:noFill/>
          <a:ln w="5715">
            <a:solidFill>
              <a:srgbClr val="647F96"/>
            </a:solidFill>
            <a:prstDash val="dash"/>
            <a:headEnd type="none"/>
            <a:tailEnd type="none"/>
          </a:ln>
        </p:spPr>
      </p:sp>
      <p:sp>
        <p:nvSpPr>
          <p:cNvPr id="39" name="Shape 37"/>
          <p:cNvSpPr/>
          <p:nvPr/>
        </p:nvSpPr>
        <p:spPr>
          <a:xfrm>
            <a:off x="612648" y="4632960"/>
            <a:ext cx="6428232" cy="0"/>
          </a:xfrm>
          <a:prstGeom prst="line">
            <a:avLst/>
          </a:prstGeom>
          <a:noFill/>
          <a:ln w="5715">
            <a:solidFill>
              <a:srgbClr val="647F96"/>
            </a:solidFill>
            <a:prstDash val="dash"/>
            <a:headEnd type="none"/>
            <a:tailEnd type="none"/>
          </a:ln>
        </p:spPr>
      </p:sp>
      <p:sp>
        <p:nvSpPr>
          <p:cNvPr id="40" name="Shape 38"/>
          <p:cNvSpPr/>
          <p:nvPr/>
        </p:nvSpPr>
        <p:spPr>
          <a:xfrm>
            <a:off x="612648" y="5109972"/>
            <a:ext cx="6428232" cy="0"/>
          </a:xfrm>
          <a:prstGeom prst="line">
            <a:avLst/>
          </a:prstGeom>
          <a:noFill/>
          <a:ln w="5715">
            <a:solidFill>
              <a:srgbClr val="647F96"/>
            </a:solidFill>
            <a:prstDash val="dash"/>
            <a:headEnd type="none"/>
            <a:tailEnd type="none"/>
          </a:ln>
        </p:spPr>
      </p:sp>
      <p:sp>
        <p:nvSpPr>
          <p:cNvPr id="41" name="Shape 39"/>
          <p:cNvSpPr/>
          <p:nvPr/>
        </p:nvSpPr>
        <p:spPr>
          <a:xfrm>
            <a:off x="1280160" y="3218688"/>
            <a:ext cx="1207008" cy="594360"/>
          </a:xfrm>
          <a:prstGeom prst="roundRect">
            <a:avLst>
              <a:gd name="adj" fmla="val 7692"/>
            </a:avLst>
          </a:prstGeom>
          <a:solidFill>
            <a:srgbClr val="7B6956"/>
          </a:solidFill>
          <a:ln w="10795">
            <a:solidFill>
              <a:srgbClr val="9D8B76"/>
            </a:solidFill>
            <a:prstDash val="solid"/>
          </a:ln>
        </p:spPr>
      </p:sp>
      <p:sp>
        <p:nvSpPr>
          <p:cNvPr id="42" name="Text 40"/>
          <p:cNvSpPr/>
          <p:nvPr/>
        </p:nvSpPr>
        <p:spPr>
          <a:xfrm>
            <a:off x="1362456" y="3392424"/>
            <a:ext cx="1014984"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5F7FC"/>
                </a:solidFill>
                <a:latin typeface="Inter" pitchFamily="34" charset="0"/>
                <a:ea typeface="Inter" pitchFamily="34" charset="-122"/>
                <a:cs typeface="Inter" pitchFamily="34" charset="-120"/>
              </a:rPr>
              <a:t>LIVING</a:t>
            </a:r>
            <a:endParaRPr lang="en-US" sz="1000" dirty="0"/>
          </a:p>
        </p:txBody>
      </p:sp>
      <p:sp>
        <p:nvSpPr>
          <p:cNvPr id="43" name="Shape 41"/>
          <p:cNvSpPr/>
          <p:nvPr/>
        </p:nvSpPr>
        <p:spPr>
          <a:xfrm>
            <a:off x="5157216" y="3218688"/>
            <a:ext cx="1170432" cy="594360"/>
          </a:xfrm>
          <a:prstGeom prst="roundRect">
            <a:avLst>
              <a:gd name="adj" fmla="val 7692"/>
            </a:avLst>
          </a:prstGeom>
          <a:solidFill>
            <a:srgbClr val="576E83"/>
          </a:solidFill>
          <a:ln w="10795">
            <a:solidFill>
              <a:srgbClr val="8BA3B9"/>
            </a:solidFill>
            <a:prstDash val="solid"/>
          </a:ln>
        </p:spPr>
      </p:sp>
      <p:sp>
        <p:nvSpPr>
          <p:cNvPr id="44" name="Text 42"/>
          <p:cNvSpPr/>
          <p:nvPr/>
        </p:nvSpPr>
        <p:spPr>
          <a:xfrm>
            <a:off x="5193792" y="3392424"/>
            <a:ext cx="112471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5F7FC"/>
                </a:solidFill>
                <a:latin typeface="Inter" pitchFamily="34" charset="0"/>
                <a:ea typeface="Inter" pitchFamily="34" charset="-122"/>
                <a:cs typeface="Inter" pitchFamily="34" charset="-120"/>
              </a:rPr>
              <a:t>KITCHEN</a:t>
            </a:r>
            <a:endParaRPr lang="en-US" sz="1000" dirty="0"/>
          </a:p>
        </p:txBody>
      </p:sp>
      <p:sp>
        <p:nvSpPr>
          <p:cNvPr id="45" name="Shape 43"/>
          <p:cNvSpPr/>
          <p:nvPr/>
        </p:nvSpPr>
        <p:spPr>
          <a:xfrm>
            <a:off x="2393442" y="3950208"/>
            <a:ext cx="155539" cy="155539"/>
          </a:xfrm>
          <a:prstGeom prst="ellipse">
            <a:avLst/>
          </a:prstGeom>
          <a:solidFill>
            <a:srgbClr val="6B9BFF"/>
          </a:solidFill>
          <a:ln w="12700">
            <a:solidFill>
              <a:srgbClr val="6B9BFF"/>
            </a:solidFill>
            <a:prstDash val="solid"/>
          </a:ln>
        </p:spPr>
      </p:sp>
      <p:sp>
        <p:nvSpPr>
          <p:cNvPr id="46" name="Shape 44"/>
          <p:cNvSpPr/>
          <p:nvPr/>
        </p:nvSpPr>
        <p:spPr>
          <a:xfrm>
            <a:off x="2376160" y="4117269"/>
            <a:ext cx="195864" cy="247711"/>
          </a:xfrm>
          <a:prstGeom prst="roundRect">
            <a:avLst>
              <a:gd name="adj" fmla="val 23343"/>
            </a:avLst>
          </a:prstGeom>
          <a:solidFill>
            <a:srgbClr val="6B9BFF"/>
          </a:solidFill>
          <a:ln w="10795">
            <a:solidFill>
              <a:srgbClr val="6B9BFF"/>
            </a:solidFill>
            <a:prstDash val="solid"/>
          </a:ln>
        </p:spPr>
      </p:sp>
      <p:sp>
        <p:nvSpPr>
          <p:cNvPr id="47" name="Shape 45"/>
          <p:cNvSpPr/>
          <p:nvPr/>
        </p:nvSpPr>
        <p:spPr>
          <a:xfrm>
            <a:off x="2381921" y="4169115"/>
            <a:ext cx="-100813" cy="120975"/>
          </a:xfrm>
          <a:prstGeom prst="line">
            <a:avLst/>
          </a:prstGeom>
          <a:noFill/>
          <a:ln w="32004">
            <a:solidFill>
              <a:srgbClr val="6B9BFF"/>
            </a:solidFill>
            <a:prstDash val="solid"/>
            <a:headEnd type="none"/>
            <a:tailEnd type="none"/>
          </a:ln>
        </p:spPr>
      </p:sp>
      <p:sp>
        <p:nvSpPr>
          <p:cNvPr id="48" name="Shape 46"/>
          <p:cNvSpPr/>
          <p:nvPr/>
        </p:nvSpPr>
        <p:spPr>
          <a:xfrm>
            <a:off x="2560503" y="4169115"/>
            <a:ext cx="97932" cy="120975"/>
          </a:xfrm>
          <a:prstGeom prst="line">
            <a:avLst/>
          </a:prstGeom>
          <a:noFill/>
          <a:ln w="32004">
            <a:solidFill>
              <a:srgbClr val="6B9BFF"/>
            </a:solidFill>
            <a:prstDash val="solid"/>
            <a:headEnd type="none"/>
            <a:tailEnd type="none"/>
          </a:ln>
        </p:spPr>
      </p:sp>
      <p:sp>
        <p:nvSpPr>
          <p:cNvPr id="49" name="Shape 47"/>
          <p:cNvSpPr/>
          <p:nvPr/>
        </p:nvSpPr>
        <p:spPr>
          <a:xfrm>
            <a:off x="2422246" y="4353458"/>
            <a:ext cx="-23043" cy="144018"/>
          </a:xfrm>
          <a:prstGeom prst="line">
            <a:avLst/>
          </a:prstGeom>
          <a:noFill/>
          <a:ln w="32004">
            <a:solidFill>
              <a:srgbClr val="6B9BFF"/>
            </a:solidFill>
            <a:prstDash val="solid"/>
            <a:headEnd type="none"/>
            <a:tailEnd type="none"/>
          </a:ln>
        </p:spPr>
      </p:sp>
      <p:sp>
        <p:nvSpPr>
          <p:cNvPr id="50" name="Shape 48"/>
          <p:cNvSpPr/>
          <p:nvPr/>
        </p:nvSpPr>
        <p:spPr>
          <a:xfrm>
            <a:off x="2531699" y="4353458"/>
            <a:ext cx="11521" cy="144018"/>
          </a:xfrm>
          <a:prstGeom prst="line">
            <a:avLst/>
          </a:prstGeom>
          <a:noFill/>
          <a:ln w="32004">
            <a:solidFill>
              <a:srgbClr val="6B9BFF"/>
            </a:solidFill>
            <a:prstDash val="solid"/>
            <a:headEnd type="none"/>
            <a:tailEnd type="none"/>
          </a:ln>
        </p:spPr>
      </p:sp>
      <p:sp>
        <p:nvSpPr>
          <p:cNvPr id="51" name="Shape 49"/>
          <p:cNvSpPr/>
          <p:nvPr/>
        </p:nvSpPr>
        <p:spPr>
          <a:xfrm>
            <a:off x="2552090" y="4192524"/>
            <a:ext cx="79553" cy="21946"/>
          </a:xfrm>
          <a:prstGeom prst="ellipse">
            <a:avLst/>
          </a:prstGeom>
          <a:solidFill>
            <a:srgbClr val="FF8790"/>
          </a:solidFill>
          <a:ln w="12700">
            <a:solidFill>
              <a:srgbClr val="FF8790"/>
            </a:solidFill>
            <a:prstDash val="solid"/>
          </a:ln>
        </p:spPr>
      </p:sp>
      <p:sp>
        <p:nvSpPr>
          <p:cNvPr id="52" name="Shape 50"/>
          <p:cNvSpPr/>
          <p:nvPr/>
        </p:nvSpPr>
        <p:spPr>
          <a:xfrm>
            <a:off x="2558948" y="4200754"/>
            <a:ext cx="67208" cy="71323"/>
          </a:xfrm>
          <a:prstGeom prst="roundRect">
            <a:avLst>
              <a:gd name="adj" fmla="val 54422"/>
            </a:avLst>
          </a:prstGeom>
          <a:solidFill>
            <a:srgbClr val="FF8790"/>
          </a:solidFill>
          <a:ln w="10795">
            <a:solidFill>
              <a:srgbClr val="FF8790"/>
            </a:solidFill>
            <a:prstDash val="solid"/>
          </a:ln>
        </p:spPr>
      </p:sp>
      <p:sp>
        <p:nvSpPr>
          <p:cNvPr id="53" name="Shape 51"/>
          <p:cNvSpPr/>
          <p:nvPr/>
        </p:nvSpPr>
        <p:spPr>
          <a:xfrm>
            <a:off x="2552090" y="4255618"/>
            <a:ext cx="79553" cy="24689"/>
          </a:xfrm>
          <a:prstGeom prst="ellipse">
            <a:avLst/>
          </a:prstGeom>
          <a:solidFill>
            <a:srgbClr val="FF8790"/>
          </a:solidFill>
          <a:ln w="12700">
            <a:solidFill>
              <a:srgbClr val="FF8790"/>
            </a:solidFill>
            <a:prstDash val="solid"/>
          </a:ln>
        </p:spPr>
      </p:sp>
      <p:sp>
        <p:nvSpPr>
          <p:cNvPr id="54" name="Shape 52"/>
          <p:cNvSpPr/>
          <p:nvPr/>
        </p:nvSpPr>
        <p:spPr>
          <a:xfrm>
            <a:off x="2620670" y="4219956"/>
            <a:ext cx="35662" cy="38405"/>
          </a:xfrm>
          <a:prstGeom prst="ellipse">
            <a:avLst/>
          </a:prstGeom>
          <a:solidFill>
            <a:srgbClr val="07131F"/>
          </a:solidFill>
          <a:ln w="17780">
            <a:solidFill>
              <a:srgbClr val="FF8790"/>
            </a:solidFill>
            <a:prstDash val="solid"/>
          </a:ln>
        </p:spPr>
      </p:sp>
      <p:sp>
        <p:nvSpPr>
          <p:cNvPr id="55" name="Shape 53"/>
          <p:cNvSpPr/>
          <p:nvPr/>
        </p:nvSpPr>
        <p:spPr>
          <a:xfrm>
            <a:off x="2962656" y="4517136"/>
            <a:ext cx="768096" cy="0"/>
          </a:xfrm>
          <a:prstGeom prst="line">
            <a:avLst/>
          </a:prstGeom>
          <a:noFill/>
          <a:ln w="34290">
            <a:solidFill>
              <a:srgbClr val="48D7B2"/>
            </a:solidFill>
            <a:prstDash val="dash"/>
            <a:headEnd type="none"/>
            <a:tailEnd type="triangle"/>
          </a:ln>
        </p:spPr>
      </p:sp>
      <p:sp>
        <p:nvSpPr>
          <p:cNvPr id="56" name="Shape 54"/>
          <p:cNvSpPr/>
          <p:nvPr/>
        </p:nvSpPr>
        <p:spPr>
          <a:xfrm>
            <a:off x="3730752" y="4517136"/>
            <a:ext cx="402336" cy="-566928"/>
          </a:xfrm>
          <a:prstGeom prst="line">
            <a:avLst/>
          </a:prstGeom>
          <a:noFill/>
          <a:ln w="34290">
            <a:solidFill>
              <a:srgbClr val="48D7B2"/>
            </a:solidFill>
            <a:prstDash val="dash"/>
            <a:headEnd type="none"/>
            <a:tailEnd type="triangle"/>
          </a:ln>
        </p:spPr>
      </p:sp>
      <p:sp>
        <p:nvSpPr>
          <p:cNvPr id="57" name="Shape 55"/>
          <p:cNvSpPr/>
          <p:nvPr/>
        </p:nvSpPr>
        <p:spPr>
          <a:xfrm>
            <a:off x="4133088" y="3950208"/>
            <a:ext cx="950976" cy="0"/>
          </a:xfrm>
          <a:prstGeom prst="line">
            <a:avLst/>
          </a:prstGeom>
          <a:noFill/>
          <a:ln w="34290">
            <a:solidFill>
              <a:srgbClr val="48D7B2"/>
            </a:solidFill>
            <a:prstDash val="dash"/>
            <a:headEnd type="none"/>
            <a:tailEnd type="triangle"/>
          </a:ln>
        </p:spPr>
      </p:sp>
      <p:sp>
        <p:nvSpPr>
          <p:cNvPr id="58" name="Shape 56"/>
          <p:cNvSpPr/>
          <p:nvPr/>
        </p:nvSpPr>
        <p:spPr>
          <a:xfrm>
            <a:off x="3739896" y="3099816"/>
            <a:ext cx="493776" cy="649224"/>
          </a:xfrm>
          <a:prstGeom prst="roundRect">
            <a:avLst>
              <a:gd name="adj" fmla="val 5556"/>
            </a:avLst>
          </a:prstGeom>
          <a:solidFill>
            <a:srgbClr val="FF8790">
              <a:alpha val="55000"/>
            </a:srgbClr>
          </a:solidFill>
          <a:ln w="10795">
            <a:solidFill>
              <a:srgbClr val="FF8790"/>
            </a:solidFill>
            <a:prstDash val="solid"/>
          </a:ln>
        </p:spPr>
      </p:sp>
      <p:sp>
        <p:nvSpPr>
          <p:cNvPr id="59" name="Text 57"/>
          <p:cNvSpPr/>
          <p:nvPr/>
        </p:nvSpPr>
        <p:spPr>
          <a:xfrm>
            <a:off x="3657600" y="2880360"/>
            <a:ext cx="704088" cy="192024"/>
          </a:xfrm>
          <a:prstGeom prst="rect">
            <a:avLst/>
          </a:prstGeom>
          <a:noFill/>
          <a:ln/>
        </p:spPr>
        <p:txBody>
          <a:bodyPr wrap="square" lIns="0" tIns="0" rIns="0" bIns="0" rtlCol="0" anchor="ctr"/>
          <a:lstStyle/>
          <a:p>
            <a:pPr algn="ctr" indent="0" marL="0">
              <a:lnSpc>
                <a:spcPct val="100000"/>
              </a:lnSpc>
              <a:buNone/>
            </a:pPr>
            <a:r>
              <a:rPr lang="en-US" sz="900" b="1" dirty="0">
                <a:solidFill>
                  <a:srgbClr val="FF8790"/>
                </a:solidFill>
                <a:latin typeface="Inter" pitchFamily="34" charset="0"/>
                <a:ea typeface="Inter" pitchFamily="34" charset="-122"/>
                <a:cs typeface="Inter" pitchFamily="34" charset="-120"/>
              </a:rPr>
              <a:t>BLOCK</a:t>
            </a:r>
            <a:endParaRPr lang="en-US" sz="900" dirty="0"/>
          </a:p>
        </p:txBody>
      </p:sp>
      <p:sp>
        <p:nvSpPr>
          <p:cNvPr id="60" name="Shape 58"/>
          <p:cNvSpPr/>
          <p:nvPr/>
        </p:nvSpPr>
        <p:spPr>
          <a:xfrm>
            <a:off x="7388352" y="2724912"/>
            <a:ext cx="4160520" cy="2862072"/>
          </a:xfrm>
          <a:prstGeom prst="roundRect">
            <a:avLst>
              <a:gd name="adj" fmla="val 4473"/>
            </a:avLst>
          </a:prstGeom>
          <a:solidFill>
            <a:srgbClr val="102335"/>
          </a:solidFill>
          <a:ln w="10795">
            <a:solidFill>
              <a:srgbClr val="294056"/>
            </a:solidFill>
            <a:prstDash val="solid"/>
          </a:ln>
        </p:spPr>
      </p:sp>
      <p:sp>
        <p:nvSpPr>
          <p:cNvPr id="61" name="Text 59"/>
          <p:cNvSpPr/>
          <p:nvPr/>
        </p:nvSpPr>
        <p:spPr>
          <a:xfrm>
            <a:off x="7671816" y="3008376"/>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6B9BFF"/>
                </a:solidFill>
                <a:latin typeface="Inter" pitchFamily="34" charset="0"/>
                <a:ea typeface="Inter" pitchFamily="34" charset="-122"/>
                <a:cs typeface="Inter" pitchFamily="34" charset="-120"/>
              </a:rPr>
              <a:t>CARRYING CONSTRAINTS</a:t>
            </a:r>
            <a:endParaRPr lang="en-US" sz="1000" dirty="0"/>
          </a:p>
        </p:txBody>
      </p:sp>
      <p:sp>
        <p:nvSpPr>
          <p:cNvPr id="62" name="Shape 60"/>
          <p:cNvSpPr/>
          <p:nvPr/>
        </p:nvSpPr>
        <p:spPr>
          <a:xfrm>
            <a:off x="7680960" y="3567989"/>
            <a:ext cx="68580" cy="68580"/>
          </a:xfrm>
          <a:prstGeom prst="ellipse">
            <a:avLst/>
          </a:prstGeom>
          <a:solidFill>
            <a:srgbClr val="6B9BFF"/>
          </a:solidFill>
          <a:ln w="12700">
            <a:solidFill>
              <a:srgbClr val="6B9BFF"/>
            </a:solidFill>
            <a:prstDash val="solid"/>
          </a:ln>
        </p:spPr>
      </p:sp>
      <p:sp>
        <p:nvSpPr>
          <p:cNvPr id="63" name="Text 61"/>
          <p:cNvSpPr/>
          <p:nvPr/>
        </p:nvSpPr>
        <p:spPr>
          <a:xfrm>
            <a:off x="7872984" y="3447288"/>
            <a:ext cx="3383280" cy="356616"/>
          </a:xfrm>
          <a:prstGeom prst="rect">
            <a:avLst/>
          </a:prstGeom>
          <a:noFill/>
          <a:ln/>
        </p:spPr>
        <p:txBody>
          <a:bodyPr wrap="square" lIns="0" tIns="0" rIns="0" bIns="0" rtlCol="0" anchor="ctr"/>
          <a:lstStyle/>
          <a:p>
            <a:pPr algn="l" indent="0" marL="0">
              <a:lnSpc>
                <a:spcPct val="100000"/>
              </a:lnSpc>
              <a:buNone/>
            </a:pPr>
            <a:r>
              <a:rPr lang="en-US" sz="1260" dirty="0">
                <a:solidFill>
                  <a:srgbClr val="DCE7F3"/>
                </a:solidFill>
                <a:latin typeface="Inter" pitchFamily="34" charset="0"/>
                <a:ea typeface="Inter" pitchFamily="34" charset="-122"/>
                <a:cs typeface="Inter" pitchFamily="34" charset="-120"/>
              </a:rPr>
              <a:t>object_id remains cup_17</a:t>
            </a:r>
            <a:endParaRPr lang="en-US" sz="1260" dirty="0"/>
          </a:p>
        </p:txBody>
      </p:sp>
      <p:sp>
        <p:nvSpPr>
          <p:cNvPr id="64" name="Shape 62"/>
          <p:cNvSpPr/>
          <p:nvPr/>
        </p:nvSpPr>
        <p:spPr>
          <a:xfrm>
            <a:off x="7680960" y="3942893"/>
            <a:ext cx="68580" cy="68580"/>
          </a:xfrm>
          <a:prstGeom prst="ellipse">
            <a:avLst/>
          </a:prstGeom>
          <a:solidFill>
            <a:srgbClr val="6B9BFF"/>
          </a:solidFill>
          <a:ln w="12700">
            <a:solidFill>
              <a:srgbClr val="6B9BFF"/>
            </a:solidFill>
            <a:prstDash val="solid"/>
          </a:ln>
        </p:spPr>
      </p:sp>
      <p:sp>
        <p:nvSpPr>
          <p:cNvPr id="65" name="Text 63"/>
          <p:cNvSpPr/>
          <p:nvPr/>
        </p:nvSpPr>
        <p:spPr>
          <a:xfrm>
            <a:off x="7872984" y="3822192"/>
            <a:ext cx="3383280" cy="356616"/>
          </a:xfrm>
          <a:prstGeom prst="rect">
            <a:avLst/>
          </a:prstGeom>
          <a:noFill/>
          <a:ln/>
        </p:spPr>
        <p:txBody>
          <a:bodyPr wrap="square" lIns="0" tIns="0" rIns="0" bIns="0" rtlCol="0" anchor="ctr"/>
          <a:lstStyle/>
          <a:p>
            <a:pPr algn="l" indent="0" marL="0">
              <a:lnSpc>
                <a:spcPct val="100000"/>
              </a:lnSpc>
              <a:buNone/>
            </a:pPr>
            <a:r>
              <a:rPr lang="en-US" sz="1260" dirty="0">
                <a:solidFill>
                  <a:srgbClr val="DCE7F3"/>
                </a:solidFill>
                <a:latin typeface="Inter" pitchFamily="34" charset="0"/>
                <a:ea typeface="Inter" pitchFamily="34" charset="-122"/>
                <a:cs typeface="Inter" pitchFamily="34" charset="-120"/>
              </a:rPr>
              <a:t>held_by = g1/right_hand</a:t>
            </a:r>
            <a:endParaRPr lang="en-US" sz="1260" dirty="0"/>
          </a:p>
        </p:txBody>
      </p:sp>
      <p:sp>
        <p:nvSpPr>
          <p:cNvPr id="66" name="Shape 64"/>
          <p:cNvSpPr/>
          <p:nvPr/>
        </p:nvSpPr>
        <p:spPr>
          <a:xfrm>
            <a:off x="7680960" y="4317797"/>
            <a:ext cx="68580" cy="68580"/>
          </a:xfrm>
          <a:prstGeom prst="ellipse">
            <a:avLst/>
          </a:prstGeom>
          <a:solidFill>
            <a:srgbClr val="6B9BFF"/>
          </a:solidFill>
          <a:ln w="12700">
            <a:solidFill>
              <a:srgbClr val="6B9BFF"/>
            </a:solidFill>
            <a:prstDash val="solid"/>
          </a:ln>
        </p:spPr>
      </p:sp>
      <p:sp>
        <p:nvSpPr>
          <p:cNvPr id="67" name="Text 65"/>
          <p:cNvSpPr/>
          <p:nvPr/>
        </p:nvSpPr>
        <p:spPr>
          <a:xfrm>
            <a:off x="7872984" y="4197096"/>
            <a:ext cx="3383280" cy="356616"/>
          </a:xfrm>
          <a:prstGeom prst="rect">
            <a:avLst/>
          </a:prstGeom>
          <a:noFill/>
          <a:ln/>
        </p:spPr>
        <p:txBody>
          <a:bodyPr wrap="square" lIns="0" tIns="0" rIns="0" bIns="0" rtlCol="0" anchor="ctr"/>
          <a:lstStyle/>
          <a:p>
            <a:pPr algn="l" indent="0" marL="0">
              <a:lnSpc>
                <a:spcPct val="100000"/>
              </a:lnSpc>
              <a:buNone/>
            </a:pPr>
            <a:r>
              <a:rPr lang="en-US" sz="1260" dirty="0">
                <a:solidFill>
                  <a:srgbClr val="DCE7F3"/>
                </a:solidFill>
                <a:latin typeface="Inter" pitchFamily="34" charset="0"/>
                <a:ea typeface="Inter" pitchFamily="34" charset="-122"/>
                <a:cs typeface="Inter" pitchFamily="34" charset="-120"/>
              </a:rPr>
              <a:t>safe velocity and arm posture</a:t>
            </a:r>
            <a:endParaRPr lang="en-US" sz="1260" dirty="0"/>
          </a:p>
        </p:txBody>
      </p:sp>
      <p:sp>
        <p:nvSpPr>
          <p:cNvPr id="68" name="Shape 66"/>
          <p:cNvSpPr/>
          <p:nvPr/>
        </p:nvSpPr>
        <p:spPr>
          <a:xfrm>
            <a:off x="7680960" y="4692701"/>
            <a:ext cx="68580" cy="68580"/>
          </a:xfrm>
          <a:prstGeom prst="ellipse">
            <a:avLst/>
          </a:prstGeom>
          <a:solidFill>
            <a:srgbClr val="6B9BFF"/>
          </a:solidFill>
          <a:ln w="12700">
            <a:solidFill>
              <a:srgbClr val="6B9BFF"/>
            </a:solidFill>
            <a:prstDash val="solid"/>
          </a:ln>
        </p:spPr>
      </p:sp>
      <p:sp>
        <p:nvSpPr>
          <p:cNvPr id="69" name="Text 67"/>
          <p:cNvSpPr/>
          <p:nvPr/>
        </p:nvSpPr>
        <p:spPr>
          <a:xfrm>
            <a:off x="7872984" y="4572000"/>
            <a:ext cx="3383280" cy="356616"/>
          </a:xfrm>
          <a:prstGeom prst="rect">
            <a:avLst/>
          </a:prstGeom>
          <a:noFill/>
          <a:ln/>
        </p:spPr>
        <p:txBody>
          <a:bodyPr wrap="square" lIns="0" tIns="0" rIns="0" bIns="0" rtlCol="0" anchor="ctr"/>
          <a:lstStyle/>
          <a:p>
            <a:pPr algn="l" indent="0" marL="0">
              <a:lnSpc>
                <a:spcPct val="100000"/>
              </a:lnSpc>
              <a:buNone/>
            </a:pPr>
            <a:r>
              <a:rPr lang="en-US" sz="1260" dirty="0">
                <a:solidFill>
                  <a:srgbClr val="DCE7F3"/>
                </a:solidFill>
                <a:latin typeface="Inter" pitchFamily="34" charset="0"/>
                <a:ea typeface="Inter" pitchFamily="34" charset="-122"/>
                <a:cs typeface="Inter" pitchFamily="34" charset="-120"/>
              </a:rPr>
              <a:t>replan around blocked route</a:t>
            </a:r>
            <a:endParaRPr lang="en-US" sz="1260" dirty="0"/>
          </a:p>
        </p:txBody>
      </p:sp>
      <p:sp>
        <p:nvSpPr>
          <p:cNvPr id="70" name="Shape 68"/>
          <p:cNvSpPr/>
          <p:nvPr/>
        </p:nvSpPr>
        <p:spPr>
          <a:xfrm>
            <a:off x="7680960" y="5067605"/>
            <a:ext cx="68580" cy="68580"/>
          </a:xfrm>
          <a:prstGeom prst="ellipse">
            <a:avLst/>
          </a:prstGeom>
          <a:solidFill>
            <a:srgbClr val="6B9BFF"/>
          </a:solidFill>
          <a:ln w="12700">
            <a:solidFill>
              <a:srgbClr val="6B9BFF"/>
            </a:solidFill>
            <a:prstDash val="solid"/>
          </a:ln>
        </p:spPr>
      </p:sp>
      <p:sp>
        <p:nvSpPr>
          <p:cNvPr id="71" name="Text 69"/>
          <p:cNvSpPr/>
          <p:nvPr/>
        </p:nvSpPr>
        <p:spPr>
          <a:xfrm>
            <a:off x="7872984" y="4946904"/>
            <a:ext cx="3383280" cy="356616"/>
          </a:xfrm>
          <a:prstGeom prst="rect">
            <a:avLst/>
          </a:prstGeom>
          <a:noFill/>
          <a:ln/>
        </p:spPr>
        <p:txBody>
          <a:bodyPr wrap="square" lIns="0" tIns="0" rIns="0" bIns="0" rtlCol="0" anchor="ctr"/>
          <a:lstStyle/>
          <a:p>
            <a:pPr algn="l" indent="0" marL="0">
              <a:lnSpc>
                <a:spcPct val="100000"/>
              </a:lnSpc>
              <a:buNone/>
            </a:pPr>
            <a:r>
              <a:rPr lang="en-US" sz="1260" dirty="0">
                <a:solidFill>
                  <a:srgbClr val="DCE7F3"/>
                </a:solidFill>
                <a:latin typeface="Inter" pitchFamily="34" charset="0"/>
                <a:ea typeface="Inter" pitchFamily="34" charset="-122"/>
                <a:cs typeface="Inter" pitchFamily="34" charset="-120"/>
              </a:rPr>
              <a:t>abort if grip / balance uncertain</a:t>
            </a:r>
            <a:endParaRPr lang="en-US" sz="12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SKILL 06 / VLA MANIPULATION</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VLA PLACE — separate from arriving at the kitchen</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The handoff is a manipulation goal, not an instruction to “walk and place.”</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18</a:t>
            </a:r>
            <a:endParaRPr lang="en-US" sz="1100" dirty="0"/>
          </a:p>
        </p:txBody>
      </p:sp>
      <p:sp>
        <p:nvSpPr>
          <p:cNvPr id="11" name="Shape 9"/>
          <p:cNvSpPr/>
          <p:nvPr/>
        </p:nvSpPr>
        <p:spPr>
          <a:xfrm>
            <a:off x="457200"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12" name="Text 10"/>
          <p:cNvSpPr/>
          <p:nvPr/>
        </p:nvSpPr>
        <p:spPr>
          <a:xfrm>
            <a:off x="484632"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FIND</a:t>
            </a:r>
            <a:endParaRPr lang="en-US" sz="1030" dirty="0"/>
          </a:p>
        </p:txBody>
      </p:sp>
      <p:sp>
        <p:nvSpPr>
          <p:cNvPr id="13" name="Shape 11"/>
          <p:cNvSpPr/>
          <p:nvPr/>
        </p:nvSpPr>
        <p:spPr>
          <a:xfrm>
            <a:off x="2343912"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14" name="Text 12"/>
          <p:cNvSpPr/>
          <p:nvPr/>
        </p:nvSpPr>
        <p:spPr>
          <a:xfrm>
            <a:off x="2371344"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NAVIGATE</a:t>
            </a:r>
            <a:endParaRPr lang="en-US" sz="1030" dirty="0"/>
          </a:p>
        </p:txBody>
      </p:sp>
      <p:sp>
        <p:nvSpPr>
          <p:cNvPr id="15" name="Shape 13"/>
          <p:cNvSpPr/>
          <p:nvPr/>
        </p:nvSpPr>
        <p:spPr>
          <a:xfrm>
            <a:off x="4230624"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16" name="Text 14"/>
          <p:cNvSpPr/>
          <p:nvPr/>
        </p:nvSpPr>
        <p:spPr>
          <a:xfrm>
            <a:off x="4258056"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VLA PICK</a:t>
            </a:r>
            <a:endParaRPr lang="en-US" sz="1030" dirty="0"/>
          </a:p>
        </p:txBody>
      </p:sp>
      <p:sp>
        <p:nvSpPr>
          <p:cNvPr id="17" name="Shape 15"/>
          <p:cNvSpPr/>
          <p:nvPr/>
        </p:nvSpPr>
        <p:spPr>
          <a:xfrm>
            <a:off x="6117336"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18" name="Text 16"/>
          <p:cNvSpPr/>
          <p:nvPr/>
        </p:nvSpPr>
        <p:spPr>
          <a:xfrm>
            <a:off x="6144768"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NAVIGATE</a:t>
            </a:r>
            <a:endParaRPr lang="en-US" sz="1030" dirty="0"/>
          </a:p>
        </p:txBody>
      </p:sp>
      <p:sp>
        <p:nvSpPr>
          <p:cNvPr id="19" name="Shape 17"/>
          <p:cNvSpPr/>
          <p:nvPr/>
        </p:nvSpPr>
        <p:spPr>
          <a:xfrm>
            <a:off x="8004048" y="2103120"/>
            <a:ext cx="1831848" cy="347472"/>
          </a:xfrm>
          <a:prstGeom prst="roundRect">
            <a:avLst>
              <a:gd name="adj" fmla="val 18421"/>
            </a:avLst>
          </a:prstGeom>
          <a:solidFill>
            <a:srgbClr val="FFC176"/>
          </a:solidFill>
          <a:ln w="10795">
            <a:solidFill>
              <a:srgbClr val="FFC176"/>
            </a:solidFill>
            <a:prstDash val="solid"/>
          </a:ln>
        </p:spPr>
      </p:sp>
      <p:sp>
        <p:nvSpPr>
          <p:cNvPr id="20" name="Text 18"/>
          <p:cNvSpPr/>
          <p:nvPr/>
        </p:nvSpPr>
        <p:spPr>
          <a:xfrm>
            <a:off x="8031480"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07131F"/>
                </a:solidFill>
                <a:latin typeface="Inter" pitchFamily="34" charset="0"/>
                <a:ea typeface="Inter" pitchFamily="34" charset="-122"/>
                <a:cs typeface="Inter" pitchFamily="34" charset="-120"/>
              </a:rPr>
              <a:t>VLA PLACE</a:t>
            </a:r>
            <a:endParaRPr lang="en-US" sz="1030" dirty="0"/>
          </a:p>
        </p:txBody>
      </p:sp>
      <p:sp>
        <p:nvSpPr>
          <p:cNvPr id="21" name="Shape 19"/>
          <p:cNvSpPr/>
          <p:nvPr/>
        </p:nvSpPr>
        <p:spPr>
          <a:xfrm>
            <a:off x="9890760" y="2103120"/>
            <a:ext cx="1831848" cy="347472"/>
          </a:xfrm>
          <a:prstGeom prst="roundRect">
            <a:avLst>
              <a:gd name="adj" fmla="val 18421"/>
            </a:avLst>
          </a:prstGeom>
          <a:solidFill>
            <a:srgbClr val="152B40">
              <a:alpha val="85000"/>
            </a:srgbClr>
          </a:solidFill>
          <a:ln w="10795">
            <a:solidFill>
              <a:srgbClr val="152B40"/>
            </a:solidFill>
            <a:prstDash val="solid"/>
          </a:ln>
        </p:spPr>
      </p:sp>
      <p:sp>
        <p:nvSpPr>
          <p:cNvPr id="22" name="Text 20"/>
          <p:cNvSpPr/>
          <p:nvPr/>
        </p:nvSpPr>
        <p:spPr>
          <a:xfrm>
            <a:off x="9918192" y="2144268"/>
            <a:ext cx="1776984" cy="256032"/>
          </a:xfrm>
          <a:prstGeom prst="rect">
            <a:avLst/>
          </a:prstGeom>
          <a:noFill/>
          <a:ln/>
        </p:spPr>
        <p:txBody>
          <a:bodyPr wrap="square" lIns="0" tIns="0" rIns="0" bIns="0" rtlCol="0" anchor="ctr"/>
          <a:lstStyle/>
          <a:p>
            <a:pPr algn="ctr" indent="0" marL="0">
              <a:lnSpc>
                <a:spcPct val="100000"/>
              </a:lnSpc>
              <a:buNone/>
            </a:pPr>
            <a:r>
              <a:rPr lang="en-US" sz="1030" b="1" dirty="0">
                <a:solidFill>
                  <a:srgbClr val="A1B2C4"/>
                </a:solidFill>
                <a:latin typeface="Inter" pitchFamily="34" charset="0"/>
                <a:ea typeface="Inter" pitchFamily="34" charset="-122"/>
                <a:cs typeface="Inter" pitchFamily="34" charset="-120"/>
              </a:rPr>
              <a:t>VERIFY</a:t>
            </a:r>
            <a:endParaRPr lang="en-US" sz="1030" dirty="0"/>
          </a:p>
        </p:txBody>
      </p:sp>
      <p:sp>
        <p:nvSpPr>
          <p:cNvPr id="23" name="Shape 21"/>
          <p:cNvSpPr/>
          <p:nvPr/>
        </p:nvSpPr>
        <p:spPr>
          <a:xfrm>
            <a:off x="630936" y="2734056"/>
            <a:ext cx="3127248" cy="2560320"/>
          </a:xfrm>
          <a:prstGeom prst="roundRect">
            <a:avLst>
              <a:gd name="adj" fmla="val 5000"/>
            </a:avLst>
          </a:prstGeom>
          <a:solidFill>
            <a:srgbClr val="102335"/>
          </a:solidFill>
          <a:ln w="10795">
            <a:solidFill>
              <a:srgbClr val="294056"/>
            </a:solidFill>
            <a:prstDash val="solid"/>
          </a:ln>
        </p:spPr>
      </p:sp>
      <p:sp>
        <p:nvSpPr>
          <p:cNvPr id="24" name="Text 22"/>
          <p:cNvSpPr/>
          <p:nvPr/>
        </p:nvSpPr>
        <p:spPr>
          <a:xfrm>
            <a:off x="832104" y="3017520"/>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FFC176"/>
                </a:solidFill>
                <a:latin typeface="Inter" pitchFamily="34" charset="0"/>
                <a:ea typeface="Inter" pitchFamily="34" charset="-122"/>
                <a:cs typeface="Inter" pitchFamily="34" charset="-120"/>
              </a:rPr>
              <a:t>DESTINATION EVIDENCE</a:t>
            </a:r>
            <a:endParaRPr lang="en-US" sz="1000" dirty="0"/>
          </a:p>
        </p:txBody>
      </p:sp>
      <p:sp>
        <p:nvSpPr>
          <p:cNvPr id="25" name="Text 23"/>
          <p:cNvSpPr/>
          <p:nvPr/>
        </p:nvSpPr>
        <p:spPr>
          <a:xfrm>
            <a:off x="841248" y="3429000"/>
            <a:ext cx="2743200" cy="1645920"/>
          </a:xfrm>
          <a:prstGeom prst="rect">
            <a:avLst/>
          </a:prstGeom>
          <a:noFill/>
          <a:ln/>
        </p:spPr>
        <p:txBody>
          <a:bodyPr wrap="square" lIns="0" tIns="0" rIns="0" bIns="0" rtlCol="0" anchor="t"/>
          <a:lstStyle/>
          <a:p>
            <a:pPr algn="l" indent="0" marL="0">
              <a:lnSpc>
                <a:spcPct val="100000"/>
              </a:lnSpc>
              <a:buNone/>
            </a:pPr>
            <a:r>
              <a:rPr lang="en-US" sz="1230" dirty="0">
                <a:solidFill>
                  <a:srgbClr val="F5F7FC"/>
                </a:solidFill>
                <a:latin typeface="DejaVu Sans Mono" pitchFamily="34" charset="0"/>
                <a:ea typeface="DejaVu Sans Mono" pitchFamily="34" charset="-122"/>
                <a:cs typeface="DejaVu Sans Mono" pitchFamily="34" charset="-120"/>
              </a:rPr>
              <a:t>target: kitchen_counter_02</a:t>
            </a:r>
            <a:endParaRPr lang="en-US" sz="1230" dirty="0"/>
          </a:p>
          <a:p>
            <a:pPr algn="l" indent="0" marL="0">
              <a:lnSpc>
                <a:spcPct val="100000"/>
              </a:lnSpc>
              <a:buNone/>
            </a:pPr>
            <a:r>
              <a:rPr lang="en-US" sz="1230" dirty="0">
                <a:solidFill>
                  <a:srgbClr val="F5F7FC"/>
                </a:solidFill>
                <a:latin typeface="DejaVu Sans Mono" pitchFamily="34" charset="0"/>
                <a:ea typeface="DejaVu Sans Mono" pitchFamily="34" charset="-122"/>
                <a:cs typeface="DejaVu Sans Mono" pitchFamily="34" charset="-120"/>
              </a:rPr>
              <a:t>place_zone: region_7</a:t>
            </a:r>
            <a:endParaRPr lang="en-US" sz="1230" dirty="0"/>
          </a:p>
          <a:p>
            <a:pPr algn="l" indent="0" marL="0">
              <a:lnSpc>
                <a:spcPct val="100000"/>
              </a:lnSpc>
              <a:buNone/>
            </a:pPr>
            <a:r>
              <a:rPr lang="en-US" sz="1230" dirty="0">
                <a:solidFill>
                  <a:srgbClr val="F5F7FC"/>
                </a:solidFill>
                <a:latin typeface="DejaVu Sans Mono" pitchFamily="34" charset="0"/>
                <a:ea typeface="DejaVu Sans Mono" pitchFamily="34" charset="-122"/>
                <a:cs typeface="DejaVu Sans Mono" pitchFamily="34" charset="-120"/>
              </a:rPr>
              <a:t>held_object: cup_17</a:t>
            </a:r>
            <a:endParaRPr lang="en-US" sz="1230" dirty="0"/>
          </a:p>
          <a:p>
            <a:pPr algn="l" indent="0" marL="0">
              <a:lnSpc>
                <a:spcPct val="100000"/>
              </a:lnSpc>
              <a:buNone/>
            </a:pPr>
            <a:r>
              <a:rPr lang="en-US" sz="1230" dirty="0">
                <a:solidFill>
                  <a:srgbClr val="F5F7FC"/>
                </a:solidFill>
                <a:latin typeface="DejaVu Sans Mono" pitchFamily="34" charset="0"/>
                <a:ea typeface="DejaVu Sans Mono" pitchFamily="34" charset="-122"/>
                <a:cs typeface="DejaVu Sans Mono" pitchFamily="34" charset="-120"/>
              </a:rPr>
              <a:t>verified_standing_pose: true</a:t>
            </a:r>
            <a:endParaRPr lang="en-US" sz="1230" dirty="0"/>
          </a:p>
          <a:p>
            <a:pPr algn="l" indent="0" marL="0">
              <a:lnSpc>
                <a:spcPct val="100000"/>
              </a:lnSpc>
              <a:buNone/>
            </a:pPr>
            <a:r>
              <a:rPr lang="en-US" sz="1230" dirty="0">
                <a:solidFill>
                  <a:srgbClr val="F5F7FC"/>
                </a:solidFill>
                <a:latin typeface="DejaVu Sans Mono" pitchFamily="34" charset="0"/>
                <a:ea typeface="DejaVu Sans Mono" pitchFamily="34" charset="-122"/>
                <a:cs typeface="DejaVu Sans Mono" pitchFamily="34" charset="-120"/>
              </a:rPr>
              <a:t>surface_clearance: valid</a:t>
            </a:r>
            <a:endParaRPr lang="en-US" sz="1230" dirty="0"/>
          </a:p>
        </p:txBody>
      </p:sp>
      <p:sp>
        <p:nvSpPr>
          <p:cNvPr id="26" name="Shape 24"/>
          <p:cNvSpPr/>
          <p:nvPr/>
        </p:nvSpPr>
        <p:spPr>
          <a:xfrm>
            <a:off x="3758184" y="3968496"/>
            <a:ext cx="420624" cy="0"/>
          </a:xfrm>
          <a:prstGeom prst="line">
            <a:avLst/>
          </a:prstGeom>
          <a:noFill/>
          <a:ln w="25400">
            <a:solidFill>
              <a:srgbClr val="FFC176"/>
            </a:solidFill>
            <a:prstDash val="solid"/>
            <a:headEnd type="none"/>
            <a:tailEnd type="triangle"/>
          </a:ln>
        </p:spPr>
      </p:sp>
      <p:sp>
        <p:nvSpPr>
          <p:cNvPr id="27" name="Shape 25"/>
          <p:cNvSpPr/>
          <p:nvPr/>
        </p:nvSpPr>
        <p:spPr>
          <a:xfrm>
            <a:off x="4288536" y="3136392"/>
            <a:ext cx="3465576" cy="1673352"/>
          </a:xfrm>
          <a:prstGeom prst="roundRect">
            <a:avLst>
              <a:gd name="adj" fmla="val 7650"/>
            </a:avLst>
          </a:prstGeom>
          <a:solidFill>
            <a:srgbClr val="102335"/>
          </a:solidFill>
          <a:ln w="10795">
            <a:solidFill>
              <a:srgbClr val="294056"/>
            </a:solidFill>
            <a:prstDash val="solid"/>
          </a:ln>
        </p:spPr>
      </p:sp>
      <p:sp>
        <p:nvSpPr>
          <p:cNvPr id="28" name="Shape 26"/>
          <p:cNvSpPr/>
          <p:nvPr/>
        </p:nvSpPr>
        <p:spPr>
          <a:xfrm>
            <a:off x="4288536" y="3136392"/>
            <a:ext cx="3465576" cy="64008"/>
          </a:xfrm>
          <a:prstGeom prst="rect">
            <a:avLst/>
          </a:prstGeom>
          <a:solidFill>
            <a:srgbClr val="FFC176"/>
          </a:solidFill>
          <a:ln w="10795">
            <a:solidFill>
              <a:srgbClr val="FFC176"/>
            </a:solidFill>
            <a:prstDash val="solid"/>
          </a:ln>
        </p:spPr>
      </p:sp>
      <p:sp>
        <p:nvSpPr>
          <p:cNvPr id="29" name="Text 27"/>
          <p:cNvSpPr/>
          <p:nvPr/>
        </p:nvSpPr>
        <p:spPr>
          <a:xfrm>
            <a:off x="4416552" y="3310128"/>
            <a:ext cx="3209544" cy="310896"/>
          </a:xfrm>
          <a:prstGeom prst="rect">
            <a:avLst/>
          </a:prstGeom>
          <a:noFill/>
          <a:ln/>
        </p:spPr>
        <p:txBody>
          <a:bodyPr wrap="square" lIns="0" tIns="0" rIns="0" bIns="0" rtlCol="0" anchor="ctr"/>
          <a:lstStyle/>
          <a:p>
            <a:pPr algn="ctr" indent="0" marL="0">
              <a:lnSpc>
                <a:spcPct val="100000"/>
              </a:lnSpc>
              <a:buNone/>
            </a:pPr>
            <a:r>
              <a:rPr lang="en-US" sz="1500" b="1" dirty="0">
                <a:solidFill>
                  <a:srgbClr val="F5F7FC"/>
                </a:solidFill>
                <a:latin typeface="Inter" pitchFamily="34" charset="0"/>
                <a:ea typeface="Inter" pitchFamily="34" charset="-122"/>
                <a:cs typeface="Inter" pitchFamily="34" charset="-120"/>
              </a:rPr>
              <a:t>GR00T PLACE SKILL</a:t>
            </a:r>
            <a:endParaRPr lang="en-US" sz="1500" dirty="0"/>
          </a:p>
        </p:txBody>
      </p:sp>
      <p:sp>
        <p:nvSpPr>
          <p:cNvPr id="30" name="Text 28"/>
          <p:cNvSpPr/>
          <p:nvPr/>
        </p:nvSpPr>
        <p:spPr>
          <a:xfrm>
            <a:off x="4398264" y="3666744"/>
            <a:ext cx="3246120" cy="1051560"/>
          </a:xfrm>
          <a:prstGeom prst="rect">
            <a:avLst/>
          </a:prstGeom>
          <a:noFill/>
          <a:ln/>
        </p:spPr>
        <p:txBody>
          <a:bodyPr wrap="square" lIns="0" tIns="0" rIns="0" bIns="0" rtlCol="0" anchor="t"/>
          <a:lstStyle/>
          <a:p>
            <a:pPr algn="ctr" indent="0" marL="0">
              <a:lnSpc>
                <a:spcPct val="100000"/>
              </a:lnSpc>
              <a:buNone/>
            </a:pPr>
            <a:r>
              <a:rPr lang="en-US" sz="1050" dirty="0">
                <a:solidFill>
                  <a:srgbClr val="A1B2C4"/>
                </a:solidFill>
                <a:latin typeface="Inter" pitchFamily="34" charset="0"/>
                <a:ea typeface="Inter" pitchFamily="34" charset="-122"/>
                <a:cs typeface="Inter" pitchFamily="34" charset="-120"/>
              </a:rPr>
              <a:t>Place on accessible surface</a:t>
            </a:r>
            <a:endParaRPr lang="en-US" sz="1050" dirty="0"/>
          </a:p>
          <a:p>
            <a:pPr algn="ctr" indent="0" marL="0">
              <a:lnSpc>
                <a:spcPct val="100000"/>
              </a:lnSpc>
              <a:buNone/>
            </a:pPr>
            <a:r>
              <a:rPr lang="en-US" sz="1050" dirty="0">
                <a:solidFill>
                  <a:srgbClr val="A1B2C4"/>
                </a:solidFill>
                <a:latin typeface="Inter" pitchFamily="34" charset="0"/>
                <a:ea typeface="Inter" pitchFamily="34" charset="-122"/>
                <a:cs typeface="Inter" pitchFamily="34" charset="-120"/>
              </a:rPr>
              <a:t>release under controlled posture</a:t>
            </a:r>
            <a:endParaRPr lang="en-US" sz="1050" dirty="0"/>
          </a:p>
        </p:txBody>
      </p:sp>
      <p:sp>
        <p:nvSpPr>
          <p:cNvPr id="31" name="Shape 29"/>
          <p:cNvSpPr/>
          <p:nvPr/>
        </p:nvSpPr>
        <p:spPr>
          <a:xfrm>
            <a:off x="7763256" y="3968496"/>
            <a:ext cx="429768" cy="0"/>
          </a:xfrm>
          <a:prstGeom prst="line">
            <a:avLst/>
          </a:prstGeom>
          <a:noFill/>
          <a:ln w="25400">
            <a:solidFill>
              <a:srgbClr val="FFC176"/>
            </a:solidFill>
            <a:prstDash val="solid"/>
            <a:headEnd type="none"/>
            <a:tailEnd type="triangle"/>
          </a:ln>
        </p:spPr>
      </p:sp>
      <p:sp>
        <p:nvSpPr>
          <p:cNvPr id="32" name="Shape 30"/>
          <p:cNvSpPr/>
          <p:nvPr/>
        </p:nvSpPr>
        <p:spPr>
          <a:xfrm>
            <a:off x="8284464" y="2734056"/>
            <a:ext cx="3282696" cy="2560320"/>
          </a:xfrm>
          <a:prstGeom prst="roundRect">
            <a:avLst>
              <a:gd name="adj" fmla="val 5000"/>
            </a:avLst>
          </a:prstGeom>
          <a:solidFill>
            <a:srgbClr val="102335"/>
          </a:solidFill>
          <a:ln w="10795">
            <a:solidFill>
              <a:srgbClr val="294056"/>
            </a:solidFill>
            <a:prstDash val="solid"/>
          </a:ln>
        </p:spPr>
      </p:sp>
      <p:sp>
        <p:nvSpPr>
          <p:cNvPr id="33" name="Text 31"/>
          <p:cNvSpPr/>
          <p:nvPr/>
        </p:nvSpPr>
        <p:spPr>
          <a:xfrm>
            <a:off x="8503920" y="3017520"/>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48D7B2"/>
                </a:solidFill>
                <a:latin typeface="Inter" pitchFamily="34" charset="0"/>
                <a:ea typeface="Inter" pitchFamily="34" charset="-122"/>
                <a:cs typeface="Inter" pitchFamily="34" charset="-120"/>
              </a:rPr>
              <a:t>VERIFY INDEPENDENTLY</a:t>
            </a:r>
            <a:endParaRPr lang="en-US" sz="1000" dirty="0"/>
          </a:p>
        </p:txBody>
      </p:sp>
      <p:sp>
        <p:nvSpPr>
          <p:cNvPr id="34" name="Shape 32"/>
          <p:cNvSpPr/>
          <p:nvPr/>
        </p:nvSpPr>
        <p:spPr>
          <a:xfrm>
            <a:off x="8513064" y="3595421"/>
            <a:ext cx="68580" cy="68580"/>
          </a:xfrm>
          <a:prstGeom prst="ellipse">
            <a:avLst/>
          </a:prstGeom>
          <a:solidFill>
            <a:srgbClr val="48D7B2"/>
          </a:solidFill>
          <a:ln w="12700">
            <a:solidFill>
              <a:srgbClr val="48D7B2"/>
            </a:solidFill>
            <a:prstDash val="solid"/>
          </a:ln>
        </p:spPr>
      </p:sp>
      <p:sp>
        <p:nvSpPr>
          <p:cNvPr id="35" name="Text 33"/>
          <p:cNvSpPr/>
          <p:nvPr/>
        </p:nvSpPr>
        <p:spPr>
          <a:xfrm>
            <a:off x="8705088" y="3474720"/>
            <a:ext cx="2551176" cy="356616"/>
          </a:xfrm>
          <a:prstGeom prst="rect">
            <a:avLst/>
          </a:prstGeom>
          <a:noFill/>
          <a:ln/>
        </p:spPr>
        <p:txBody>
          <a:bodyPr wrap="square" lIns="0" tIns="0" rIns="0" bIns="0" rtlCol="0" anchor="ctr"/>
          <a:lstStyle/>
          <a:p>
            <a:pPr algn="l" indent="0" marL="0">
              <a:lnSpc>
                <a:spcPct val="100000"/>
              </a:lnSpc>
              <a:buNone/>
            </a:pPr>
            <a:r>
              <a:rPr lang="en-US" sz="1240" dirty="0">
                <a:solidFill>
                  <a:srgbClr val="DCE7F3"/>
                </a:solidFill>
                <a:latin typeface="Inter" pitchFamily="34" charset="0"/>
                <a:ea typeface="Inter" pitchFamily="34" charset="-122"/>
                <a:cs typeface="Inter" pitchFamily="34" charset="-120"/>
              </a:rPr>
              <a:t>Object detached from hand</a:t>
            </a:r>
            <a:endParaRPr lang="en-US" sz="1240" dirty="0"/>
          </a:p>
        </p:txBody>
      </p:sp>
      <p:sp>
        <p:nvSpPr>
          <p:cNvPr id="36" name="Shape 34"/>
          <p:cNvSpPr/>
          <p:nvPr/>
        </p:nvSpPr>
        <p:spPr>
          <a:xfrm>
            <a:off x="8513064" y="3970325"/>
            <a:ext cx="68580" cy="68580"/>
          </a:xfrm>
          <a:prstGeom prst="ellipse">
            <a:avLst/>
          </a:prstGeom>
          <a:solidFill>
            <a:srgbClr val="48D7B2"/>
          </a:solidFill>
          <a:ln w="12700">
            <a:solidFill>
              <a:srgbClr val="48D7B2"/>
            </a:solidFill>
            <a:prstDash val="solid"/>
          </a:ln>
        </p:spPr>
      </p:sp>
      <p:sp>
        <p:nvSpPr>
          <p:cNvPr id="37" name="Text 35"/>
          <p:cNvSpPr/>
          <p:nvPr/>
        </p:nvSpPr>
        <p:spPr>
          <a:xfrm>
            <a:off x="8705088" y="3849624"/>
            <a:ext cx="2551176" cy="356616"/>
          </a:xfrm>
          <a:prstGeom prst="rect">
            <a:avLst/>
          </a:prstGeom>
          <a:noFill/>
          <a:ln/>
        </p:spPr>
        <p:txBody>
          <a:bodyPr wrap="square" lIns="0" tIns="0" rIns="0" bIns="0" rtlCol="0" anchor="ctr"/>
          <a:lstStyle/>
          <a:p>
            <a:pPr algn="l" indent="0" marL="0">
              <a:lnSpc>
                <a:spcPct val="100000"/>
              </a:lnSpc>
              <a:buNone/>
            </a:pPr>
            <a:r>
              <a:rPr lang="en-US" sz="1240" dirty="0">
                <a:solidFill>
                  <a:srgbClr val="DCE7F3"/>
                </a:solidFill>
                <a:latin typeface="Inter" pitchFamily="34" charset="0"/>
                <a:ea typeface="Inter" pitchFamily="34" charset="-122"/>
                <a:cs typeface="Inter" pitchFamily="34" charset="-120"/>
              </a:rPr>
              <a:t>Cup supported by counter</a:t>
            </a:r>
            <a:endParaRPr lang="en-US" sz="1240" dirty="0"/>
          </a:p>
        </p:txBody>
      </p:sp>
      <p:sp>
        <p:nvSpPr>
          <p:cNvPr id="38" name="Shape 36"/>
          <p:cNvSpPr/>
          <p:nvPr/>
        </p:nvSpPr>
        <p:spPr>
          <a:xfrm>
            <a:off x="8513064" y="4345229"/>
            <a:ext cx="68580" cy="68580"/>
          </a:xfrm>
          <a:prstGeom prst="ellipse">
            <a:avLst/>
          </a:prstGeom>
          <a:solidFill>
            <a:srgbClr val="48D7B2"/>
          </a:solidFill>
          <a:ln w="12700">
            <a:solidFill>
              <a:srgbClr val="48D7B2"/>
            </a:solidFill>
            <a:prstDash val="solid"/>
          </a:ln>
        </p:spPr>
      </p:sp>
      <p:sp>
        <p:nvSpPr>
          <p:cNvPr id="39" name="Text 37"/>
          <p:cNvSpPr/>
          <p:nvPr/>
        </p:nvSpPr>
        <p:spPr>
          <a:xfrm>
            <a:off x="8705088" y="4224528"/>
            <a:ext cx="2551176" cy="356616"/>
          </a:xfrm>
          <a:prstGeom prst="rect">
            <a:avLst/>
          </a:prstGeom>
          <a:noFill/>
          <a:ln/>
        </p:spPr>
        <p:txBody>
          <a:bodyPr wrap="square" lIns="0" tIns="0" rIns="0" bIns="0" rtlCol="0" anchor="ctr"/>
          <a:lstStyle/>
          <a:p>
            <a:pPr algn="l" indent="0" marL="0">
              <a:lnSpc>
                <a:spcPct val="100000"/>
              </a:lnSpc>
              <a:buNone/>
            </a:pPr>
            <a:r>
              <a:rPr lang="en-US" sz="1240" dirty="0">
                <a:solidFill>
                  <a:srgbClr val="DCE7F3"/>
                </a:solidFill>
                <a:latin typeface="Inter" pitchFamily="34" charset="0"/>
                <a:ea typeface="Inter" pitchFamily="34" charset="-122"/>
                <a:cs typeface="Inter" pitchFamily="34" charset="-120"/>
              </a:rPr>
              <a:t>Registry pose updated</a:t>
            </a:r>
            <a:endParaRPr lang="en-US" sz="1240" dirty="0"/>
          </a:p>
        </p:txBody>
      </p:sp>
      <p:sp>
        <p:nvSpPr>
          <p:cNvPr id="40" name="Shape 38"/>
          <p:cNvSpPr/>
          <p:nvPr/>
        </p:nvSpPr>
        <p:spPr>
          <a:xfrm>
            <a:off x="8513064" y="4720133"/>
            <a:ext cx="68580" cy="68580"/>
          </a:xfrm>
          <a:prstGeom prst="ellipse">
            <a:avLst/>
          </a:prstGeom>
          <a:solidFill>
            <a:srgbClr val="48D7B2"/>
          </a:solidFill>
          <a:ln w="12700">
            <a:solidFill>
              <a:srgbClr val="48D7B2"/>
            </a:solidFill>
            <a:prstDash val="solid"/>
          </a:ln>
        </p:spPr>
      </p:sp>
      <p:sp>
        <p:nvSpPr>
          <p:cNvPr id="41" name="Text 39"/>
          <p:cNvSpPr/>
          <p:nvPr/>
        </p:nvSpPr>
        <p:spPr>
          <a:xfrm>
            <a:off x="8705088" y="4599432"/>
            <a:ext cx="2551176" cy="356616"/>
          </a:xfrm>
          <a:prstGeom prst="rect">
            <a:avLst/>
          </a:prstGeom>
          <a:noFill/>
          <a:ln/>
        </p:spPr>
        <p:txBody>
          <a:bodyPr wrap="square" lIns="0" tIns="0" rIns="0" bIns="0" rtlCol="0" anchor="ctr"/>
          <a:lstStyle/>
          <a:p>
            <a:pPr algn="l" indent="0" marL="0">
              <a:lnSpc>
                <a:spcPct val="100000"/>
              </a:lnSpc>
              <a:buNone/>
            </a:pPr>
            <a:r>
              <a:rPr lang="en-US" sz="1240" dirty="0">
                <a:solidFill>
                  <a:srgbClr val="DCE7F3"/>
                </a:solidFill>
                <a:latin typeface="Inter" pitchFamily="34" charset="0"/>
                <a:ea typeface="Inter" pitchFamily="34" charset="-122"/>
                <a:cs typeface="Inter" pitchFamily="34" charset="-120"/>
              </a:rPr>
              <a:t>Place task marked complete</a:t>
            </a:r>
            <a:endParaRPr lang="en-US" sz="1240" dirty="0"/>
          </a:p>
        </p:txBody>
      </p:sp>
      <p:sp>
        <p:nvSpPr>
          <p:cNvPr id="42" name="Shape 40"/>
          <p:cNvSpPr/>
          <p:nvPr/>
        </p:nvSpPr>
        <p:spPr>
          <a:xfrm>
            <a:off x="914400" y="5550408"/>
            <a:ext cx="10415016" cy="448056"/>
          </a:xfrm>
          <a:prstGeom prst="roundRect">
            <a:avLst>
              <a:gd name="adj" fmla="val 28571"/>
            </a:avLst>
          </a:prstGeom>
          <a:solidFill>
            <a:srgbClr val="152B40"/>
          </a:solidFill>
          <a:ln w="10795">
            <a:solidFill>
              <a:srgbClr val="294056"/>
            </a:solidFill>
            <a:prstDash val="solid"/>
          </a:ln>
        </p:spPr>
      </p:sp>
      <p:sp>
        <p:nvSpPr>
          <p:cNvPr id="43" name="Text 41"/>
          <p:cNvSpPr/>
          <p:nvPr/>
        </p:nvSpPr>
        <p:spPr>
          <a:xfrm>
            <a:off x="1124712" y="5660136"/>
            <a:ext cx="10003536" cy="265176"/>
          </a:xfrm>
          <a:prstGeom prst="rect">
            <a:avLst/>
          </a:prstGeom>
          <a:noFill/>
          <a:ln/>
        </p:spPr>
        <p:txBody>
          <a:bodyPr wrap="square" lIns="0" tIns="0" rIns="0" bIns="0" rtlCol="0" anchor="ctr"/>
          <a:lstStyle/>
          <a:p>
            <a:pPr algn="ctr" indent="0" marL="0">
              <a:lnSpc>
                <a:spcPct val="100000"/>
              </a:lnSpc>
              <a:buNone/>
            </a:pPr>
            <a:r>
              <a:rPr lang="en-US" sz="1300" b="1" dirty="0">
                <a:solidFill>
                  <a:srgbClr val="FF8790"/>
                </a:solidFill>
                <a:latin typeface="Inter" pitchFamily="34" charset="0"/>
                <a:ea typeface="Inter" pitchFamily="34" charset="-122"/>
                <a:cs typeface="Inter" pitchFamily="34" charset="-120"/>
              </a:rPr>
              <a:t>Release issued is not sufficient: confirm the final support relation via fresh perception.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SKILL 07 / CLOSURE</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Verify the goal, update memory, then report success</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The world model is authoritative for semantic task state—not the VLA completion flag alone.</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19</a:t>
            </a:r>
            <a:endParaRPr lang="en-US" sz="1100" dirty="0"/>
          </a:p>
        </p:txBody>
      </p:sp>
      <p:sp>
        <p:nvSpPr>
          <p:cNvPr id="11" name="Shape 9"/>
          <p:cNvSpPr/>
          <p:nvPr/>
        </p:nvSpPr>
        <p:spPr>
          <a:xfrm>
            <a:off x="658368" y="2432304"/>
            <a:ext cx="5431536" cy="1060704"/>
          </a:xfrm>
          <a:prstGeom prst="roundRect">
            <a:avLst>
              <a:gd name="adj" fmla="val 12069"/>
            </a:avLst>
          </a:prstGeom>
          <a:solidFill>
            <a:srgbClr val="102335"/>
          </a:solidFill>
          <a:ln w="10795">
            <a:solidFill>
              <a:srgbClr val="294056"/>
            </a:solidFill>
            <a:prstDash val="solid"/>
          </a:ln>
        </p:spPr>
      </p:sp>
      <p:sp>
        <p:nvSpPr>
          <p:cNvPr id="12" name="Shape 10"/>
          <p:cNvSpPr/>
          <p:nvPr/>
        </p:nvSpPr>
        <p:spPr>
          <a:xfrm>
            <a:off x="859536" y="2816352"/>
            <a:ext cx="237744" cy="237744"/>
          </a:xfrm>
          <a:prstGeom prst="ellipse">
            <a:avLst/>
          </a:prstGeom>
          <a:solidFill>
            <a:srgbClr val="65D5E9"/>
          </a:solidFill>
          <a:ln w="12700">
            <a:solidFill>
              <a:srgbClr val="65D5E9"/>
            </a:solidFill>
            <a:prstDash val="solid"/>
          </a:ln>
        </p:spPr>
      </p:sp>
      <p:sp>
        <p:nvSpPr>
          <p:cNvPr id="13" name="Text 11"/>
          <p:cNvSpPr/>
          <p:nvPr/>
        </p:nvSpPr>
        <p:spPr>
          <a:xfrm>
            <a:off x="1289304" y="2624328"/>
            <a:ext cx="4379976" cy="292608"/>
          </a:xfrm>
          <a:prstGeom prst="rect">
            <a:avLst/>
          </a:prstGeom>
          <a:noFill/>
          <a:ln/>
        </p:spPr>
        <p:txBody>
          <a:bodyPr wrap="square" lIns="0" tIns="0" rIns="0" bIns="0" rtlCol="0" anchor="ctr"/>
          <a:lstStyle/>
          <a:p>
            <a:pPr algn="l" indent="0" marL="0">
              <a:lnSpc>
                <a:spcPct val="100000"/>
              </a:lnSpc>
              <a:buNone/>
            </a:pPr>
            <a:r>
              <a:rPr lang="en-US" sz="1350" b="1" dirty="0">
                <a:solidFill>
                  <a:srgbClr val="65D5E9"/>
                </a:solidFill>
                <a:latin typeface="Inter" pitchFamily="34" charset="0"/>
                <a:ea typeface="Inter" pitchFamily="34" charset="-122"/>
                <a:cs typeface="Inter" pitchFamily="34" charset="-120"/>
              </a:rPr>
              <a:t>TARGET</a:t>
            </a:r>
            <a:endParaRPr lang="en-US" sz="1350" dirty="0"/>
          </a:p>
        </p:txBody>
      </p:sp>
      <p:sp>
        <p:nvSpPr>
          <p:cNvPr id="14" name="Text 12"/>
          <p:cNvSpPr/>
          <p:nvPr/>
        </p:nvSpPr>
        <p:spPr>
          <a:xfrm>
            <a:off x="1289304" y="2999232"/>
            <a:ext cx="4462272" cy="329184"/>
          </a:xfrm>
          <a:prstGeom prst="rect">
            <a:avLst/>
          </a:prstGeom>
          <a:noFill/>
          <a:ln/>
        </p:spPr>
        <p:txBody>
          <a:bodyPr wrap="square" lIns="0" tIns="0" rIns="0" bIns="0" rtlCol="0" anchor="ctr"/>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cup_17 exists in current scene</a:t>
            </a:r>
            <a:endParaRPr lang="en-US" sz="1220" dirty="0"/>
          </a:p>
        </p:txBody>
      </p:sp>
      <p:sp>
        <p:nvSpPr>
          <p:cNvPr id="15" name="Shape 13"/>
          <p:cNvSpPr/>
          <p:nvPr/>
        </p:nvSpPr>
        <p:spPr>
          <a:xfrm>
            <a:off x="6409944" y="2432304"/>
            <a:ext cx="5431536" cy="1060704"/>
          </a:xfrm>
          <a:prstGeom prst="roundRect">
            <a:avLst>
              <a:gd name="adj" fmla="val 12069"/>
            </a:avLst>
          </a:prstGeom>
          <a:solidFill>
            <a:srgbClr val="102335"/>
          </a:solidFill>
          <a:ln w="10795">
            <a:solidFill>
              <a:srgbClr val="294056"/>
            </a:solidFill>
            <a:prstDash val="solid"/>
          </a:ln>
        </p:spPr>
      </p:sp>
      <p:sp>
        <p:nvSpPr>
          <p:cNvPr id="16" name="Shape 14"/>
          <p:cNvSpPr/>
          <p:nvPr/>
        </p:nvSpPr>
        <p:spPr>
          <a:xfrm>
            <a:off x="6611112" y="2816352"/>
            <a:ext cx="237744" cy="237744"/>
          </a:xfrm>
          <a:prstGeom prst="ellipse">
            <a:avLst/>
          </a:prstGeom>
          <a:solidFill>
            <a:srgbClr val="48D7B2"/>
          </a:solidFill>
          <a:ln w="12700">
            <a:solidFill>
              <a:srgbClr val="48D7B2"/>
            </a:solidFill>
            <a:prstDash val="solid"/>
          </a:ln>
        </p:spPr>
      </p:sp>
      <p:sp>
        <p:nvSpPr>
          <p:cNvPr id="17" name="Text 15"/>
          <p:cNvSpPr/>
          <p:nvPr/>
        </p:nvSpPr>
        <p:spPr>
          <a:xfrm>
            <a:off x="7040880" y="2624328"/>
            <a:ext cx="4379976" cy="292608"/>
          </a:xfrm>
          <a:prstGeom prst="rect">
            <a:avLst/>
          </a:prstGeom>
          <a:noFill/>
          <a:ln/>
        </p:spPr>
        <p:txBody>
          <a:bodyPr wrap="square" lIns="0" tIns="0" rIns="0" bIns="0" rtlCol="0" anchor="ctr"/>
          <a:lstStyle/>
          <a:p>
            <a:pPr algn="l" indent="0" marL="0">
              <a:lnSpc>
                <a:spcPct val="100000"/>
              </a:lnSpc>
              <a:buNone/>
            </a:pPr>
            <a:r>
              <a:rPr lang="en-US" sz="1350" b="1" dirty="0">
                <a:solidFill>
                  <a:srgbClr val="48D7B2"/>
                </a:solidFill>
                <a:latin typeface="Inter" pitchFamily="34" charset="0"/>
                <a:ea typeface="Inter" pitchFamily="34" charset="-122"/>
                <a:cs typeface="Inter" pitchFamily="34" charset="-120"/>
              </a:rPr>
              <a:t>RELATION</a:t>
            </a:r>
            <a:endParaRPr lang="en-US" sz="1350" dirty="0"/>
          </a:p>
        </p:txBody>
      </p:sp>
      <p:sp>
        <p:nvSpPr>
          <p:cNvPr id="18" name="Text 16"/>
          <p:cNvSpPr/>
          <p:nvPr/>
        </p:nvSpPr>
        <p:spPr>
          <a:xfrm>
            <a:off x="7040880" y="2999232"/>
            <a:ext cx="4462272" cy="329184"/>
          </a:xfrm>
          <a:prstGeom prst="rect">
            <a:avLst/>
          </a:prstGeom>
          <a:noFill/>
          <a:ln/>
        </p:spPr>
        <p:txBody>
          <a:bodyPr wrap="square" lIns="0" tIns="0" rIns="0" bIns="0" rtlCol="0" anchor="ctr"/>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ON_TOP_OF(cup_17, kitchen_counter_02)</a:t>
            </a:r>
            <a:endParaRPr lang="en-US" sz="1220" dirty="0"/>
          </a:p>
        </p:txBody>
      </p:sp>
      <p:sp>
        <p:nvSpPr>
          <p:cNvPr id="19" name="Shape 17"/>
          <p:cNvSpPr/>
          <p:nvPr/>
        </p:nvSpPr>
        <p:spPr>
          <a:xfrm>
            <a:off x="658368" y="3703320"/>
            <a:ext cx="5431536" cy="1060704"/>
          </a:xfrm>
          <a:prstGeom prst="roundRect">
            <a:avLst>
              <a:gd name="adj" fmla="val 12069"/>
            </a:avLst>
          </a:prstGeom>
          <a:solidFill>
            <a:srgbClr val="102335"/>
          </a:solidFill>
          <a:ln w="10795">
            <a:solidFill>
              <a:srgbClr val="294056"/>
            </a:solidFill>
            <a:prstDash val="solid"/>
          </a:ln>
        </p:spPr>
      </p:sp>
      <p:sp>
        <p:nvSpPr>
          <p:cNvPr id="20" name="Shape 18"/>
          <p:cNvSpPr/>
          <p:nvPr/>
        </p:nvSpPr>
        <p:spPr>
          <a:xfrm>
            <a:off x="859536" y="4087368"/>
            <a:ext cx="237744" cy="237744"/>
          </a:xfrm>
          <a:prstGeom prst="ellipse">
            <a:avLst/>
          </a:prstGeom>
          <a:solidFill>
            <a:srgbClr val="FFC176"/>
          </a:solidFill>
          <a:ln w="12700">
            <a:solidFill>
              <a:srgbClr val="FFC176"/>
            </a:solidFill>
            <a:prstDash val="solid"/>
          </a:ln>
        </p:spPr>
      </p:sp>
      <p:sp>
        <p:nvSpPr>
          <p:cNvPr id="21" name="Text 19"/>
          <p:cNvSpPr/>
          <p:nvPr/>
        </p:nvSpPr>
        <p:spPr>
          <a:xfrm>
            <a:off x="1289304" y="3895344"/>
            <a:ext cx="4379976" cy="292608"/>
          </a:xfrm>
          <a:prstGeom prst="rect">
            <a:avLst/>
          </a:prstGeom>
          <a:noFill/>
          <a:ln/>
        </p:spPr>
        <p:txBody>
          <a:bodyPr wrap="square" lIns="0" tIns="0" rIns="0" bIns="0" rtlCol="0" anchor="ctr"/>
          <a:lstStyle/>
          <a:p>
            <a:pPr algn="l" indent="0" marL="0">
              <a:lnSpc>
                <a:spcPct val="100000"/>
              </a:lnSpc>
              <a:buNone/>
            </a:pPr>
            <a:r>
              <a:rPr lang="en-US" sz="1350" b="1" dirty="0">
                <a:solidFill>
                  <a:srgbClr val="FFC176"/>
                </a:solidFill>
                <a:latin typeface="Inter" pitchFamily="34" charset="0"/>
                <a:ea typeface="Inter" pitchFamily="34" charset="-122"/>
                <a:cs typeface="Inter" pitchFamily="34" charset="-120"/>
              </a:rPr>
              <a:t>ATTACHMENT</a:t>
            </a:r>
            <a:endParaRPr lang="en-US" sz="1350" dirty="0"/>
          </a:p>
        </p:txBody>
      </p:sp>
      <p:sp>
        <p:nvSpPr>
          <p:cNvPr id="22" name="Text 20"/>
          <p:cNvSpPr/>
          <p:nvPr/>
        </p:nvSpPr>
        <p:spPr>
          <a:xfrm>
            <a:off x="1289304" y="4270248"/>
            <a:ext cx="4462272" cy="329184"/>
          </a:xfrm>
          <a:prstGeom prst="rect">
            <a:avLst/>
          </a:prstGeom>
          <a:noFill/>
          <a:ln/>
        </p:spPr>
        <p:txBody>
          <a:bodyPr wrap="square" lIns="0" tIns="0" rIns="0" bIns="0" rtlCol="0" anchor="ctr"/>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held_by = null</a:t>
            </a:r>
            <a:endParaRPr lang="en-US" sz="1220" dirty="0"/>
          </a:p>
        </p:txBody>
      </p:sp>
      <p:sp>
        <p:nvSpPr>
          <p:cNvPr id="23" name="Shape 21"/>
          <p:cNvSpPr/>
          <p:nvPr/>
        </p:nvSpPr>
        <p:spPr>
          <a:xfrm>
            <a:off x="6409944" y="3703320"/>
            <a:ext cx="5431536" cy="1060704"/>
          </a:xfrm>
          <a:prstGeom prst="roundRect">
            <a:avLst>
              <a:gd name="adj" fmla="val 12069"/>
            </a:avLst>
          </a:prstGeom>
          <a:solidFill>
            <a:srgbClr val="102335"/>
          </a:solidFill>
          <a:ln w="10795">
            <a:solidFill>
              <a:srgbClr val="294056"/>
            </a:solidFill>
            <a:prstDash val="solid"/>
          </a:ln>
        </p:spPr>
      </p:sp>
      <p:sp>
        <p:nvSpPr>
          <p:cNvPr id="24" name="Shape 22"/>
          <p:cNvSpPr/>
          <p:nvPr/>
        </p:nvSpPr>
        <p:spPr>
          <a:xfrm>
            <a:off x="6611112" y="4087368"/>
            <a:ext cx="237744" cy="237744"/>
          </a:xfrm>
          <a:prstGeom prst="ellipse">
            <a:avLst/>
          </a:prstGeom>
          <a:solidFill>
            <a:srgbClr val="FF8790"/>
          </a:solidFill>
          <a:ln w="12700">
            <a:solidFill>
              <a:srgbClr val="FF8790"/>
            </a:solidFill>
            <a:prstDash val="solid"/>
          </a:ln>
        </p:spPr>
      </p:sp>
      <p:sp>
        <p:nvSpPr>
          <p:cNvPr id="25" name="Text 23"/>
          <p:cNvSpPr/>
          <p:nvPr/>
        </p:nvSpPr>
        <p:spPr>
          <a:xfrm>
            <a:off x="7040880" y="3895344"/>
            <a:ext cx="4379976" cy="292608"/>
          </a:xfrm>
          <a:prstGeom prst="rect">
            <a:avLst/>
          </a:prstGeom>
          <a:noFill/>
          <a:ln/>
        </p:spPr>
        <p:txBody>
          <a:bodyPr wrap="square" lIns="0" tIns="0" rIns="0" bIns="0" rtlCol="0" anchor="ctr"/>
          <a:lstStyle/>
          <a:p>
            <a:pPr algn="l" indent="0" marL="0">
              <a:lnSpc>
                <a:spcPct val="100000"/>
              </a:lnSpc>
              <a:buNone/>
            </a:pPr>
            <a:r>
              <a:rPr lang="en-US" sz="1350" b="1" dirty="0">
                <a:solidFill>
                  <a:srgbClr val="FF8790"/>
                </a:solidFill>
                <a:latin typeface="Inter" pitchFamily="34" charset="0"/>
                <a:ea typeface="Inter" pitchFamily="34" charset="-122"/>
                <a:cs typeface="Inter" pitchFamily="34" charset="-120"/>
              </a:rPr>
              <a:t>SAFETY</a:t>
            </a:r>
            <a:endParaRPr lang="en-US" sz="1350" dirty="0"/>
          </a:p>
        </p:txBody>
      </p:sp>
      <p:sp>
        <p:nvSpPr>
          <p:cNvPr id="26" name="Text 24"/>
          <p:cNvSpPr/>
          <p:nvPr/>
        </p:nvSpPr>
        <p:spPr>
          <a:xfrm>
            <a:off x="7040880" y="4270248"/>
            <a:ext cx="4462272" cy="329184"/>
          </a:xfrm>
          <a:prstGeom prst="rect">
            <a:avLst/>
          </a:prstGeom>
          <a:noFill/>
          <a:ln/>
        </p:spPr>
        <p:txBody>
          <a:bodyPr wrap="square" lIns="0" tIns="0" rIns="0" bIns="0" rtlCol="0" anchor="ctr"/>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no collision / fall / unsafe release</a:t>
            </a:r>
            <a:endParaRPr lang="en-US" sz="1220" dirty="0"/>
          </a:p>
        </p:txBody>
      </p:sp>
      <p:sp>
        <p:nvSpPr>
          <p:cNvPr id="27" name="Shape 25"/>
          <p:cNvSpPr/>
          <p:nvPr/>
        </p:nvSpPr>
        <p:spPr>
          <a:xfrm>
            <a:off x="2258568" y="5148072"/>
            <a:ext cx="7653528" cy="630936"/>
          </a:xfrm>
          <a:prstGeom prst="roundRect">
            <a:avLst>
              <a:gd name="adj" fmla="val 20290"/>
            </a:avLst>
          </a:prstGeom>
          <a:solidFill>
            <a:srgbClr val="152B40"/>
          </a:solidFill>
          <a:ln w="10795">
            <a:solidFill>
              <a:srgbClr val="294056"/>
            </a:solidFill>
            <a:prstDash val="solid"/>
          </a:ln>
        </p:spPr>
      </p:sp>
      <p:sp>
        <p:nvSpPr>
          <p:cNvPr id="28" name="Text 26"/>
          <p:cNvSpPr/>
          <p:nvPr/>
        </p:nvSpPr>
        <p:spPr>
          <a:xfrm>
            <a:off x="2551176" y="5321808"/>
            <a:ext cx="7040880" cy="274320"/>
          </a:xfrm>
          <a:prstGeom prst="rect">
            <a:avLst/>
          </a:prstGeom>
          <a:noFill/>
          <a:ln/>
        </p:spPr>
        <p:txBody>
          <a:bodyPr wrap="square" lIns="0" tIns="0" rIns="0" bIns="0" rtlCol="0" anchor="ctr"/>
          <a:lstStyle/>
          <a:p>
            <a:pPr algn="ctr" indent="0" marL="0">
              <a:lnSpc>
                <a:spcPct val="100000"/>
              </a:lnSpc>
              <a:buNone/>
            </a:pPr>
            <a:r>
              <a:rPr lang="en-US" sz="1600" b="1" dirty="0">
                <a:solidFill>
                  <a:srgbClr val="48D7B2"/>
                </a:solidFill>
                <a:latin typeface="Inter" pitchFamily="34" charset="0"/>
                <a:ea typeface="Inter" pitchFamily="34" charset="-122"/>
                <a:cs typeface="Inter" pitchFamily="34" charset="-120"/>
              </a:rPr>
              <a:t>SUCCESS = desired semantic state verified by current observations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CASE A / END-TO-END EXAMPLE</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Red cup → kitchen counter: complete action trace</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A useful regression test because it spans search, two navigation actions, and two VLA skills.</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20</a:t>
            </a:r>
            <a:endParaRPr lang="en-US" sz="1100" dirty="0"/>
          </a:p>
        </p:txBody>
      </p:sp>
      <p:sp>
        <p:nvSpPr>
          <p:cNvPr id="11" name="Shape 9"/>
          <p:cNvSpPr/>
          <p:nvPr/>
        </p:nvSpPr>
        <p:spPr>
          <a:xfrm>
            <a:off x="594360" y="2212848"/>
            <a:ext cx="5404104" cy="758952"/>
          </a:xfrm>
          <a:prstGeom prst="roundRect">
            <a:avLst>
              <a:gd name="adj" fmla="val 16867"/>
            </a:avLst>
          </a:prstGeom>
          <a:solidFill>
            <a:srgbClr val="102335"/>
          </a:solidFill>
          <a:ln w="10795">
            <a:solidFill>
              <a:srgbClr val="294056"/>
            </a:solidFill>
            <a:prstDash val="solid"/>
          </a:ln>
        </p:spPr>
      </p:sp>
      <p:sp>
        <p:nvSpPr>
          <p:cNvPr id="12" name="Shape 10"/>
          <p:cNvSpPr/>
          <p:nvPr/>
        </p:nvSpPr>
        <p:spPr>
          <a:xfrm>
            <a:off x="594360" y="2212848"/>
            <a:ext cx="73152" cy="758952"/>
          </a:xfrm>
          <a:prstGeom prst="rect">
            <a:avLst/>
          </a:prstGeom>
          <a:solidFill>
            <a:srgbClr val="B5A0F8"/>
          </a:solidFill>
          <a:ln w="10795">
            <a:solidFill>
              <a:srgbClr val="B5A0F8"/>
            </a:solidFill>
            <a:prstDash val="solid"/>
          </a:ln>
        </p:spPr>
      </p:sp>
      <p:sp>
        <p:nvSpPr>
          <p:cNvPr id="13" name="Text 11"/>
          <p:cNvSpPr/>
          <p:nvPr/>
        </p:nvSpPr>
        <p:spPr>
          <a:xfrm>
            <a:off x="768096" y="2322576"/>
            <a:ext cx="1581912" cy="310896"/>
          </a:xfrm>
          <a:prstGeom prst="rect">
            <a:avLst/>
          </a:prstGeom>
          <a:noFill/>
          <a:ln/>
        </p:spPr>
        <p:txBody>
          <a:bodyPr wrap="square" lIns="0" tIns="0" rIns="0" bIns="0" rtlCol="0" anchor="ctr"/>
          <a:lstStyle/>
          <a:p>
            <a:pPr algn="l" indent="0" marL="0">
              <a:lnSpc>
                <a:spcPct val="100000"/>
              </a:lnSpc>
              <a:buNone/>
            </a:pPr>
            <a:r>
              <a:rPr lang="en-US" sz="1250" b="1" dirty="0">
                <a:solidFill>
                  <a:srgbClr val="B5A0F8"/>
                </a:solidFill>
                <a:latin typeface="Inter" pitchFamily="34" charset="0"/>
                <a:ea typeface="Inter" pitchFamily="34" charset="-122"/>
                <a:cs typeface="Inter" pitchFamily="34" charset="-120"/>
              </a:rPr>
              <a:t>1  PARSE</a:t>
            </a:r>
            <a:endParaRPr lang="en-US" sz="1250" dirty="0"/>
          </a:p>
        </p:txBody>
      </p:sp>
      <p:sp>
        <p:nvSpPr>
          <p:cNvPr id="14" name="Text 12"/>
          <p:cNvSpPr/>
          <p:nvPr/>
        </p:nvSpPr>
        <p:spPr>
          <a:xfrm>
            <a:off x="2240280" y="2322576"/>
            <a:ext cx="3547872" cy="466344"/>
          </a:xfrm>
          <a:prstGeom prst="rect">
            <a:avLst/>
          </a:prstGeom>
          <a:noFill/>
          <a:ln/>
        </p:spPr>
        <p:txBody>
          <a:bodyPr wrap="square" lIns="0" tIns="0" rIns="0" bIns="0" rtlCol="0" anchor="ctr"/>
          <a:lstStyle/>
          <a:p>
            <a:pPr algn="l" indent="0" marL="0">
              <a:lnSpc>
                <a:spcPct val="100000"/>
              </a:lnSpc>
              <a:buNone/>
            </a:pPr>
            <a:r>
              <a:rPr lang="en-US" sz="1210" dirty="0">
                <a:solidFill>
                  <a:srgbClr val="DCE7F3"/>
                </a:solidFill>
                <a:latin typeface="Inter" pitchFamily="34" charset="0"/>
                <a:ea typeface="Inter" pitchFamily="34" charset="-122"/>
                <a:cs typeface="Inter" pitchFamily="34" charset="-120"/>
              </a:rPr>
              <a:t>cup(red, on living_room_table) → kitchen_counter</a:t>
            </a:r>
            <a:endParaRPr lang="en-US" sz="1210" dirty="0"/>
          </a:p>
        </p:txBody>
      </p:sp>
      <p:sp>
        <p:nvSpPr>
          <p:cNvPr id="15" name="Shape 13"/>
          <p:cNvSpPr/>
          <p:nvPr/>
        </p:nvSpPr>
        <p:spPr>
          <a:xfrm>
            <a:off x="594360" y="3136392"/>
            <a:ext cx="5404104" cy="758952"/>
          </a:xfrm>
          <a:prstGeom prst="roundRect">
            <a:avLst>
              <a:gd name="adj" fmla="val 16867"/>
            </a:avLst>
          </a:prstGeom>
          <a:solidFill>
            <a:srgbClr val="102335"/>
          </a:solidFill>
          <a:ln w="10795">
            <a:solidFill>
              <a:srgbClr val="294056"/>
            </a:solidFill>
            <a:prstDash val="solid"/>
          </a:ln>
        </p:spPr>
      </p:sp>
      <p:sp>
        <p:nvSpPr>
          <p:cNvPr id="16" name="Shape 14"/>
          <p:cNvSpPr/>
          <p:nvPr/>
        </p:nvSpPr>
        <p:spPr>
          <a:xfrm>
            <a:off x="594360" y="3136392"/>
            <a:ext cx="73152" cy="758952"/>
          </a:xfrm>
          <a:prstGeom prst="rect">
            <a:avLst/>
          </a:prstGeom>
          <a:solidFill>
            <a:srgbClr val="65D5E9"/>
          </a:solidFill>
          <a:ln w="10795">
            <a:solidFill>
              <a:srgbClr val="65D5E9"/>
            </a:solidFill>
            <a:prstDash val="solid"/>
          </a:ln>
        </p:spPr>
      </p:sp>
      <p:sp>
        <p:nvSpPr>
          <p:cNvPr id="17" name="Text 15"/>
          <p:cNvSpPr/>
          <p:nvPr/>
        </p:nvSpPr>
        <p:spPr>
          <a:xfrm>
            <a:off x="768096" y="3246120"/>
            <a:ext cx="1581912" cy="310896"/>
          </a:xfrm>
          <a:prstGeom prst="rect">
            <a:avLst/>
          </a:prstGeom>
          <a:noFill/>
          <a:ln/>
        </p:spPr>
        <p:txBody>
          <a:bodyPr wrap="square" lIns="0" tIns="0" rIns="0" bIns="0" rtlCol="0" anchor="ctr"/>
          <a:lstStyle/>
          <a:p>
            <a:pPr algn="l" indent="0" marL="0">
              <a:lnSpc>
                <a:spcPct val="100000"/>
              </a:lnSpc>
              <a:buNone/>
            </a:pPr>
            <a:r>
              <a:rPr lang="en-US" sz="1250" b="1" dirty="0">
                <a:solidFill>
                  <a:srgbClr val="65D5E9"/>
                </a:solidFill>
                <a:latin typeface="Inter" pitchFamily="34" charset="0"/>
                <a:ea typeface="Inter" pitchFamily="34" charset="-122"/>
                <a:cs typeface="Inter" pitchFamily="34" charset="-120"/>
              </a:rPr>
              <a:t>2  FIND</a:t>
            </a:r>
            <a:endParaRPr lang="en-US" sz="1250" dirty="0"/>
          </a:p>
        </p:txBody>
      </p:sp>
      <p:sp>
        <p:nvSpPr>
          <p:cNvPr id="18" name="Text 16"/>
          <p:cNvSpPr/>
          <p:nvPr/>
        </p:nvSpPr>
        <p:spPr>
          <a:xfrm>
            <a:off x="2240280" y="3246120"/>
            <a:ext cx="3547872" cy="466344"/>
          </a:xfrm>
          <a:prstGeom prst="rect">
            <a:avLst/>
          </a:prstGeom>
          <a:noFill/>
          <a:ln/>
        </p:spPr>
        <p:txBody>
          <a:bodyPr wrap="square" lIns="0" tIns="0" rIns="0" bIns="0" rtlCol="0" anchor="ctr"/>
          <a:lstStyle/>
          <a:p>
            <a:pPr algn="l" indent="0" marL="0">
              <a:lnSpc>
                <a:spcPct val="100000"/>
              </a:lnSpc>
              <a:buNone/>
            </a:pPr>
            <a:r>
              <a:rPr lang="en-US" sz="1210" dirty="0">
                <a:solidFill>
                  <a:srgbClr val="DCE7F3"/>
                </a:solidFill>
                <a:latin typeface="Inter" pitchFamily="34" charset="0"/>
                <a:ea typeface="Inter" pitchFamily="34" charset="-122"/>
                <a:cs typeface="Inter" pitchFamily="34" charset="-120"/>
              </a:rPr>
              <a:t>memory miss → view table → detect cup_17</a:t>
            </a:r>
            <a:endParaRPr lang="en-US" sz="1210" dirty="0"/>
          </a:p>
        </p:txBody>
      </p:sp>
      <p:sp>
        <p:nvSpPr>
          <p:cNvPr id="19" name="Shape 17"/>
          <p:cNvSpPr/>
          <p:nvPr/>
        </p:nvSpPr>
        <p:spPr>
          <a:xfrm>
            <a:off x="594360" y="4059936"/>
            <a:ext cx="5404104" cy="758952"/>
          </a:xfrm>
          <a:prstGeom prst="roundRect">
            <a:avLst>
              <a:gd name="adj" fmla="val 16867"/>
            </a:avLst>
          </a:prstGeom>
          <a:solidFill>
            <a:srgbClr val="102335"/>
          </a:solidFill>
          <a:ln w="10795">
            <a:solidFill>
              <a:srgbClr val="294056"/>
            </a:solidFill>
            <a:prstDash val="solid"/>
          </a:ln>
        </p:spPr>
      </p:sp>
      <p:sp>
        <p:nvSpPr>
          <p:cNvPr id="20" name="Shape 18"/>
          <p:cNvSpPr/>
          <p:nvPr/>
        </p:nvSpPr>
        <p:spPr>
          <a:xfrm>
            <a:off x="594360" y="4059936"/>
            <a:ext cx="73152" cy="758952"/>
          </a:xfrm>
          <a:prstGeom prst="rect">
            <a:avLst/>
          </a:prstGeom>
          <a:solidFill>
            <a:srgbClr val="6B9BFF"/>
          </a:solidFill>
          <a:ln w="10795">
            <a:solidFill>
              <a:srgbClr val="6B9BFF"/>
            </a:solidFill>
            <a:prstDash val="solid"/>
          </a:ln>
        </p:spPr>
      </p:sp>
      <p:sp>
        <p:nvSpPr>
          <p:cNvPr id="21" name="Text 19"/>
          <p:cNvSpPr/>
          <p:nvPr/>
        </p:nvSpPr>
        <p:spPr>
          <a:xfrm>
            <a:off x="768096" y="4169664"/>
            <a:ext cx="1581912" cy="310896"/>
          </a:xfrm>
          <a:prstGeom prst="rect">
            <a:avLst/>
          </a:prstGeom>
          <a:noFill/>
          <a:ln/>
        </p:spPr>
        <p:txBody>
          <a:bodyPr wrap="square" lIns="0" tIns="0" rIns="0" bIns="0" rtlCol="0" anchor="ctr"/>
          <a:lstStyle/>
          <a:p>
            <a:pPr algn="l" indent="0" marL="0">
              <a:lnSpc>
                <a:spcPct val="100000"/>
              </a:lnSpc>
              <a:buNone/>
            </a:pPr>
            <a:r>
              <a:rPr lang="en-US" sz="1250" b="1" dirty="0">
                <a:solidFill>
                  <a:srgbClr val="6B9BFF"/>
                </a:solidFill>
                <a:latin typeface="Inter" pitchFamily="34" charset="0"/>
                <a:ea typeface="Inter" pitchFamily="34" charset="-122"/>
                <a:cs typeface="Inter" pitchFamily="34" charset="-120"/>
              </a:rPr>
              <a:t>3  NAVIGATE</a:t>
            </a:r>
            <a:endParaRPr lang="en-US" sz="1250" dirty="0"/>
          </a:p>
        </p:txBody>
      </p:sp>
      <p:sp>
        <p:nvSpPr>
          <p:cNvPr id="22" name="Text 20"/>
          <p:cNvSpPr/>
          <p:nvPr/>
        </p:nvSpPr>
        <p:spPr>
          <a:xfrm>
            <a:off x="2240280" y="4169664"/>
            <a:ext cx="3547872" cy="466344"/>
          </a:xfrm>
          <a:prstGeom prst="rect">
            <a:avLst/>
          </a:prstGeom>
          <a:noFill/>
          <a:ln/>
        </p:spPr>
        <p:txBody>
          <a:bodyPr wrap="square" lIns="0" tIns="0" rIns="0" bIns="0" rtlCol="0" anchor="ctr"/>
          <a:lstStyle/>
          <a:p>
            <a:pPr algn="l" indent="0" marL="0">
              <a:lnSpc>
                <a:spcPct val="100000"/>
              </a:lnSpc>
              <a:buNone/>
            </a:pPr>
            <a:r>
              <a:rPr lang="en-US" sz="1210" dirty="0">
                <a:solidFill>
                  <a:srgbClr val="DCE7F3"/>
                </a:solidFill>
                <a:latin typeface="Inter" pitchFamily="34" charset="0"/>
                <a:ea typeface="Inter" pitchFamily="34" charset="-122"/>
                <a:cs typeface="Inter" pitchFamily="34" charset="-120"/>
              </a:rPr>
              <a:t>walk to reachable pose near cup_17</a:t>
            </a:r>
            <a:endParaRPr lang="en-US" sz="1210" dirty="0"/>
          </a:p>
        </p:txBody>
      </p:sp>
      <p:sp>
        <p:nvSpPr>
          <p:cNvPr id="23" name="Shape 21"/>
          <p:cNvSpPr/>
          <p:nvPr/>
        </p:nvSpPr>
        <p:spPr>
          <a:xfrm>
            <a:off x="594360" y="4983480"/>
            <a:ext cx="5404104" cy="758952"/>
          </a:xfrm>
          <a:prstGeom prst="roundRect">
            <a:avLst>
              <a:gd name="adj" fmla="val 16867"/>
            </a:avLst>
          </a:prstGeom>
          <a:solidFill>
            <a:srgbClr val="102335"/>
          </a:solidFill>
          <a:ln w="10795">
            <a:solidFill>
              <a:srgbClr val="294056"/>
            </a:solidFill>
            <a:prstDash val="solid"/>
          </a:ln>
        </p:spPr>
      </p:sp>
      <p:sp>
        <p:nvSpPr>
          <p:cNvPr id="24" name="Shape 22"/>
          <p:cNvSpPr/>
          <p:nvPr/>
        </p:nvSpPr>
        <p:spPr>
          <a:xfrm>
            <a:off x="594360" y="4983480"/>
            <a:ext cx="73152" cy="758952"/>
          </a:xfrm>
          <a:prstGeom prst="rect">
            <a:avLst/>
          </a:prstGeom>
          <a:solidFill>
            <a:srgbClr val="FFC176"/>
          </a:solidFill>
          <a:ln w="10795">
            <a:solidFill>
              <a:srgbClr val="FFC176"/>
            </a:solidFill>
            <a:prstDash val="solid"/>
          </a:ln>
        </p:spPr>
      </p:sp>
      <p:sp>
        <p:nvSpPr>
          <p:cNvPr id="25" name="Text 23"/>
          <p:cNvSpPr/>
          <p:nvPr/>
        </p:nvSpPr>
        <p:spPr>
          <a:xfrm>
            <a:off x="768096" y="5093208"/>
            <a:ext cx="1581912" cy="310896"/>
          </a:xfrm>
          <a:prstGeom prst="rect">
            <a:avLst/>
          </a:prstGeom>
          <a:noFill/>
          <a:ln/>
        </p:spPr>
        <p:txBody>
          <a:bodyPr wrap="square" lIns="0" tIns="0" rIns="0" bIns="0" rtlCol="0" anchor="ctr"/>
          <a:lstStyle/>
          <a:p>
            <a:pPr algn="l" indent="0" marL="0">
              <a:lnSpc>
                <a:spcPct val="100000"/>
              </a:lnSpc>
              <a:buNone/>
            </a:pPr>
            <a:r>
              <a:rPr lang="en-US" sz="1250" b="1" dirty="0">
                <a:solidFill>
                  <a:srgbClr val="FFC176"/>
                </a:solidFill>
                <a:latin typeface="Inter" pitchFamily="34" charset="0"/>
                <a:ea typeface="Inter" pitchFamily="34" charset="-122"/>
                <a:cs typeface="Inter" pitchFamily="34" charset="-120"/>
              </a:rPr>
              <a:t>4  VLA PICK</a:t>
            </a:r>
            <a:endParaRPr lang="en-US" sz="1250" dirty="0"/>
          </a:p>
        </p:txBody>
      </p:sp>
      <p:sp>
        <p:nvSpPr>
          <p:cNvPr id="26" name="Text 24"/>
          <p:cNvSpPr/>
          <p:nvPr/>
        </p:nvSpPr>
        <p:spPr>
          <a:xfrm>
            <a:off x="2240280" y="5093208"/>
            <a:ext cx="3547872" cy="466344"/>
          </a:xfrm>
          <a:prstGeom prst="rect">
            <a:avLst/>
          </a:prstGeom>
          <a:noFill/>
          <a:ln/>
        </p:spPr>
        <p:txBody>
          <a:bodyPr wrap="square" lIns="0" tIns="0" rIns="0" bIns="0" rtlCol="0" anchor="ctr"/>
          <a:lstStyle/>
          <a:p>
            <a:pPr algn="l" indent="0" marL="0">
              <a:lnSpc>
                <a:spcPct val="100000"/>
              </a:lnSpc>
              <a:buNone/>
            </a:pPr>
            <a:r>
              <a:rPr lang="en-US" sz="1210" dirty="0">
                <a:solidFill>
                  <a:srgbClr val="DCE7F3"/>
                </a:solidFill>
                <a:latin typeface="Inter" pitchFamily="34" charset="0"/>
                <a:ea typeface="Inter" pitchFamily="34" charset="-122"/>
                <a:cs typeface="Inter" pitchFamily="34" charset="-120"/>
              </a:rPr>
              <a:t>grasp cup_17; verify ATTACHED</a:t>
            </a:r>
            <a:endParaRPr lang="en-US" sz="1210" dirty="0"/>
          </a:p>
        </p:txBody>
      </p:sp>
      <p:sp>
        <p:nvSpPr>
          <p:cNvPr id="27" name="Shape 25"/>
          <p:cNvSpPr/>
          <p:nvPr/>
        </p:nvSpPr>
        <p:spPr>
          <a:xfrm>
            <a:off x="6300216" y="2212848"/>
            <a:ext cx="5404104" cy="758952"/>
          </a:xfrm>
          <a:prstGeom prst="roundRect">
            <a:avLst>
              <a:gd name="adj" fmla="val 16867"/>
            </a:avLst>
          </a:prstGeom>
          <a:solidFill>
            <a:srgbClr val="102335"/>
          </a:solidFill>
          <a:ln w="10795">
            <a:solidFill>
              <a:srgbClr val="294056"/>
            </a:solidFill>
            <a:prstDash val="solid"/>
          </a:ln>
        </p:spPr>
      </p:sp>
      <p:sp>
        <p:nvSpPr>
          <p:cNvPr id="28" name="Shape 26"/>
          <p:cNvSpPr/>
          <p:nvPr/>
        </p:nvSpPr>
        <p:spPr>
          <a:xfrm>
            <a:off x="6300216" y="2212848"/>
            <a:ext cx="73152" cy="758952"/>
          </a:xfrm>
          <a:prstGeom prst="rect">
            <a:avLst/>
          </a:prstGeom>
          <a:solidFill>
            <a:srgbClr val="6B9BFF"/>
          </a:solidFill>
          <a:ln w="10795">
            <a:solidFill>
              <a:srgbClr val="6B9BFF"/>
            </a:solidFill>
            <a:prstDash val="solid"/>
          </a:ln>
        </p:spPr>
      </p:sp>
      <p:sp>
        <p:nvSpPr>
          <p:cNvPr id="29" name="Text 27"/>
          <p:cNvSpPr/>
          <p:nvPr/>
        </p:nvSpPr>
        <p:spPr>
          <a:xfrm>
            <a:off x="6473952" y="2322576"/>
            <a:ext cx="1581912" cy="310896"/>
          </a:xfrm>
          <a:prstGeom prst="rect">
            <a:avLst/>
          </a:prstGeom>
          <a:noFill/>
          <a:ln/>
        </p:spPr>
        <p:txBody>
          <a:bodyPr wrap="square" lIns="0" tIns="0" rIns="0" bIns="0" rtlCol="0" anchor="ctr"/>
          <a:lstStyle/>
          <a:p>
            <a:pPr algn="l" indent="0" marL="0">
              <a:lnSpc>
                <a:spcPct val="100000"/>
              </a:lnSpc>
              <a:buNone/>
            </a:pPr>
            <a:r>
              <a:rPr lang="en-US" sz="1250" b="1" dirty="0">
                <a:solidFill>
                  <a:srgbClr val="6B9BFF"/>
                </a:solidFill>
                <a:latin typeface="Inter" pitchFamily="34" charset="0"/>
                <a:ea typeface="Inter" pitchFamily="34" charset="-122"/>
                <a:cs typeface="Inter" pitchFamily="34" charset="-120"/>
              </a:rPr>
              <a:t>5  NAVIGATE</a:t>
            </a:r>
            <a:endParaRPr lang="en-US" sz="1250" dirty="0"/>
          </a:p>
        </p:txBody>
      </p:sp>
      <p:sp>
        <p:nvSpPr>
          <p:cNvPr id="30" name="Text 28"/>
          <p:cNvSpPr/>
          <p:nvPr/>
        </p:nvSpPr>
        <p:spPr>
          <a:xfrm>
            <a:off x="7946136" y="2322576"/>
            <a:ext cx="3547872" cy="466344"/>
          </a:xfrm>
          <a:prstGeom prst="rect">
            <a:avLst/>
          </a:prstGeom>
          <a:noFill/>
          <a:ln/>
        </p:spPr>
        <p:txBody>
          <a:bodyPr wrap="square" lIns="0" tIns="0" rIns="0" bIns="0" rtlCol="0" anchor="ctr"/>
          <a:lstStyle/>
          <a:p>
            <a:pPr algn="l" indent="0" marL="0">
              <a:lnSpc>
                <a:spcPct val="100000"/>
              </a:lnSpc>
              <a:buNone/>
            </a:pPr>
            <a:r>
              <a:rPr lang="en-US" sz="1210" dirty="0">
                <a:solidFill>
                  <a:srgbClr val="DCE7F3"/>
                </a:solidFill>
                <a:latin typeface="Inter" pitchFamily="34" charset="0"/>
                <a:ea typeface="Inter" pitchFamily="34" charset="-122"/>
                <a:cs typeface="Inter" pitchFamily="34" charset="-120"/>
              </a:rPr>
              <a:t>walk to kitchen while carrying cup_17</a:t>
            </a:r>
            <a:endParaRPr lang="en-US" sz="1210" dirty="0"/>
          </a:p>
        </p:txBody>
      </p:sp>
      <p:sp>
        <p:nvSpPr>
          <p:cNvPr id="31" name="Shape 29"/>
          <p:cNvSpPr/>
          <p:nvPr/>
        </p:nvSpPr>
        <p:spPr>
          <a:xfrm>
            <a:off x="6300216" y="3136392"/>
            <a:ext cx="5404104" cy="758952"/>
          </a:xfrm>
          <a:prstGeom prst="roundRect">
            <a:avLst>
              <a:gd name="adj" fmla="val 16867"/>
            </a:avLst>
          </a:prstGeom>
          <a:solidFill>
            <a:srgbClr val="102335"/>
          </a:solidFill>
          <a:ln w="10795">
            <a:solidFill>
              <a:srgbClr val="294056"/>
            </a:solidFill>
            <a:prstDash val="solid"/>
          </a:ln>
        </p:spPr>
      </p:sp>
      <p:sp>
        <p:nvSpPr>
          <p:cNvPr id="32" name="Shape 30"/>
          <p:cNvSpPr/>
          <p:nvPr/>
        </p:nvSpPr>
        <p:spPr>
          <a:xfrm>
            <a:off x="6300216" y="3136392"/>
            <a:ext cx="73152" cy="758952"/>
          </a:xfrm>
          <a:prstGeom prst="rect">
            <a:avLst/>
          </a:prstGeom>
          <a:solidFill>
            <a:srgbClr val="FFC176"/>
          </a:solidFill>
          <a:ln w="10795">
            <a:solidFill>
              <a:srgbClr val="FFC176"/>
            </a:solidFill>
            <a:prstDash val="solid"/>
          </a:ln>
        </p:spPr>
      </p:sp>
      <p:sp>
        <p:nvSpPr>
          <p:cNvPr id="33" name="Text 31"/>
          <p:cNvSpPr/>
          <p:nvPr/>
        </p:nvSpPr>
        <p:spPr>
          <a:xfrm>
            <a:off x="6473952" y="3246120"/>
            <a:ext cx="1581912" cy="310896"/>
          </a:xfrm>
          <a:prstGeom prst="rect">
            <a:avLst/>
          </a:prstGeom>
          <a:noFill/>
          <a:ln/>
        </p:spPr>
        <p:txBody>
          <a:bodyPr wrap="square" lIns="0" tIns="0" rIns="0" bIns="0" rtlCol="0" anchor="ctr"/>
          <a:lstStyle/>
          <a:p>
            <a:pPr algn="l" indent="0" marL="0">
              <a:lnSpc>
                <a:spcPct val="100000"/>
              </a:lnSpc>
              <a:buNone/>
            </a:pPr>
            <a:r>
              <a:rPr lang="en-US" sz="1250" b="1" dirty="0">
                <a:solidFill>
                  <a:srgbClr val="FFC176"/>
                </a:solidFill>
                <a:latin typeface="Inter" pitchFamily="34" charset="0"/>
                <a:ea typeface="Inter" pitchFamily="34" charset="-122"/>
                <a:cs typeface="Inter" pitchFamily="34" charset="-120"/>
              </a:rPr>
              <a:t>6  VLA PLACE</a:t>
            </a:r>
            <a:endParaRPr lang="en-US" sz="1250" dirty="0"/>
          </a:p>
        </p:txBody>
      </p:sp>
      <p:sp>
        <p:nvSpPr>
          <p:cNvPr id="34" name="Text 32"/>
          <p:cNvSpPr/>
          <p:nvPr/>
        </p:nvSpPr>
        <p:spPr>
          <a:xfrm>
            <a:off x="7946136" y="3246120"/>
            <a:ext cx="3547872" cy="466344"/>
          </a:xfrm>
          <a:prstGeom prst="rect">
            <a:avLst/>
          </a:prstGeom>
          <a:noFill/>
          <a:ln/>
        </p:spPr>
        <p:txBody>
          <a:bodyPr wrap="square" lIns="0" tIns="0" rIns="0" bIns="0" rtlCol="0" anchor="ctr"/>
          <a:lstStyle/>
          <a:p>
            <a:pPr algn="l" indent="0" marL="0">
              <a:lnSpc>
                <a:spcPct val="100000"/>
              </a:lnSpc>
              <a:buNone/>
            </a:pPr>
            <a:r>
              <a:rPr lang="en-US" sz="1210" dirty="0">
                <a:solidFill>
                  <a:srgbClr val="DCE7F3"/>
                </a:solidFill>
                <a:latin typeface="Inter" pitchFamily="34" charset="0"/>
                <a:ea typeface="Inter" pitchFamily="34" charset="-122"/>
                <a:cs typeface="Inter" pitchFamily="34" charset="-120"/>
              </a:rPr>
              <a:t>place on counter; release</a:t>
            </a:r>
            <a:endParaRPr lang="en-US" sz="1210" dirty="0"/>
          </a:p>
        </p:txBody>
      </p:sp>
      <p:sp>
        <p:nvSpPr>
          <p:cNvPr id="35" name="Shape 33"/>
          <p:cNvSpPr/>
          <p:nvPr/>
        </p:nvSpPr>
        <p:spPr>
          <a:xfrm>
            <a:off x="6300216" y="4059936"/>
            <a:ext cx="5404104" cy="758952"/>
          </a:xfrm>
          <a:prstGeom prst="roundRect">
            <a:avLst>
              <a:gd name="adj" fmla="val 16867"/>
            </a:avLst>
          </a:prstGeom>
          <a:solidFill>
            <a:srgbClr val="102335"/>
          </a:solidFill>
          <a:ln w="10795">
            <a:solidFill>
              <a:srgbClr val="294056"/>
            </a:solidFill>
            <a:prstDash val="solid"/>
          </a:ln>
        </p:spPr>
      </p:sp>
      <p:sp>
        <p:nvSpPr>
          <p:cNvPr id="36" name="Shape 34"/>
          <p:cNvSpPr/>
          <p:nvPr/>
        </p:nvSpPr>
        <p:spPr>
          <a:xfrm>
            <a:off x="6300216" y="4059936"/>
            <a:ext cx="73152" cy="758952"/>
          </a:xfrm>
          <a:prstGeom prst="rect">
            <a:avLst/>
          </a:prstGeom>
          <a:solidFill>
            <a:srgbClr val="48D7B2"/>
          </a:solidFill>
          <a:ln w="10795">
            <a:solidFill>
              <a:srgbClr val="48D7B2"/>
            </a:solidFill>
            <a:prstDash val="solid"/>
          </a:ln>
        </p:spPr>
      </p:sp>
      <p:sp>
        <p:nvSpPr>
          <p:cNvPr id="37" name="Text 35"/>
          <p:cNvSpPr/>
          <p:nvPr/>
        </p:nvSpPr>
        <p:spPr>
          <a:xfrm>
            <a:off x="6473952" y="4169664"/>
            <a:ext cx="1581912" cy="310896"/>
          </a:xfrm>
          <a:prstGeom prst="rect">
            <a:avLst/>
          </a:prstGeom>
          <a:noFill/>
          <a:ln/>
        </p:spPr>
        <p:txBody>
          <a:bodyPr wrap="square" lIns="0" tIns="0" rIns="0" bIns="0" rtlCol="0" anchor="ctr"/>
          <a:lstStyle/>
          <a:p>
            <a:pPr algn="l" indent="0" marL="0">
              <a:lnSpc>
                <a:spcPct val="100000"/>
              </a:lnSpc>
              <a:buNone/>
            </a:pPr>
            <a:r>
              <a:rPr lang="en-US" sz="1250" b="1" dirty="0">
                <a:solidFill>
                  <a:srgbClr val="48D7B2"/>
                </a:solidFill>
                <a:latin typeface="Inter" pitchFamily="34" charset="0"/>
                <a:ea typeface="Inter" pitchFamily="34" charset="-122"/>
                <a:cs typeface="Inter" pitchFamily="34" charset="-120"/>
              </a:rPr>
              <a:t>7  VERIFY</a:t>
            </a:r>
            <a:endParaRPr lang="en-US" sz="1250" dirty="0"/>
          </a:p>
        </p:txBody>
      </p:sp>
      <p:sp>
        <p:nvSpPr>
          <p:cNvPr id="38" name="Text 36"/>
          <p:cNvSpPr/>
          <p:nvPr/>
        </p:nvSpPr>
        <p:spPr>
          <a:xfrm>
            <a:off x="7946136" y="4169664"/>
            <a:ext cx="3547872" cy="466344"/>
          </a:xfrm>
          <a:prstGeom prst="rect">
            <a:avLst/>
          </a:prstGeom>
          <a:noFill/>
          <a:ln/>
        </p:spPr>
        <p:txBody>
          <a:bodyPr wrap="square" lIns="0" tIns="0" rIns="0" bIns="0" rtlCol="0" anchor="ctr"/>
          <a:lstStyle/>
          <a:p>
            <a:pPr algn="l" indent="0" marL="0">
              <a:lnSpc>
                <a:spcPct val="100000"/>
              </a:lnSpc>
              <a:buNone/>
            </a:pPr>
            <a:r>
              <a:rPr lang="en-US" sz="1210" dirty="0">
                <a:solidFill>
                  <a:srgbClr val="DCE7F3"/>
                </a:solidFill>
                <a:latin typeface="Inter" pitchFamily="34" charset="0"/>
                <a:ea typeface="Inter" pitchFamily="34" charset="-122"/>
                <a:cs typeface="Inter" pitchFamily="34" charset="-120"/>
              </a:rPr>
              <a:t>cup_17 ON counter; update persistent DB</a:t>
            </a:r>
            <a:endParaRPr lang="en-US" sz="1210" dirty="0"/>
          </a:p>
        </p:txBody>
      </p:sp>
      <p:sp>
        <p:nvSpPr>
          <p:cNvPr id="39" name="Shape 37"/>
          <p:cNvSpPr/>
          <p:nvPr/>
        </p:nvSpPr>
        <p:spPr>
          <a:xfrm>
            <a:off x="6300216" y="5257800"/>
            <a:ext cx="5367528" cy="630936"/>
          </a:xfrm>
          <a:prstGeom prst="roundRect">
            <a:avLst>
              <a:gd name="adj" fmla="val 20290"/>
            </a:avLst>
          </a:prstGeom>
          <a:solidFill>
            <a:srgbClr val="152B40"/>
          </a:solidFill>
          <a:ln w="10795">
            <a:solidFill>
              <a:srgbClr val="294056"/>
            </a:solidFill>
            <a:prstDash val="solid"/>
          </a:ln>
        </p:spPr>
      </p:sp>
      <p:sp>
        <p:nvSpPr>
          <p:cNvPr id="40" name="Text 38"/>
          <p:cNvSpPr/>
          <p:nvPr/>
        </p:nvSpPr>
        <p:spPr>
          <a:xfrm>
            <a:off x="6510528" y="5404104"/>
            <a:ext cx="4956048"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48D7B2"/>
                </a:solidFill>
                <a:latin typeface="Inter" pitchFamily="34" charset="0"/>
                <a:ea typeface="Inter" pitchFamily="34" charset="-122"/>
                <a:cs typeface="Inter" pitchFamily="34" charset="-120"/>
              </a:rPr>
              <a:t>No step combines navigation and manipulation.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CASE B / TABLE CLEANUP</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“Clean the table” can mean object removal—not wiping</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Example: move a specifically designated disposable cup from the table into a trash bin.</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21</a:t>
            </a:r>
            <a:endParaRPr lang="en-US" sz="1100" dirty="0"/>
          </a:p>
        </p:txBody>
      </p:sp>
      <p:sp>
        <p:nvSpPr>
          <p:cNvPr id="11" name="Shape 9"/>
          <p:cNvSpPr/>
          <p:nvPr/>
        </p:nvSpPr>
        <p:spPr>
          <a:xfrm>
            <a:off x="585216" y="2212848"/>
            <a:ext cx="6702552" cy="3611880"/>
          </a:xfrm>
          <a:prstGeom prst="roundRect">
            <a:avLst>
              <a:gd name="adj" fmla="val 3544"/>
            </a:avLst>
          </a:prstGeom>
          <a:solidFill>
            <a:srgbClr val="102335"/>
          </a:solidFill>
          <a:ln w="10795">
            <a:solidFill>
              <a:srgbClr val="294056"/>
            </a:solidFill>
            <a:prstDash val="solid"/>
          </a:ln>
        </p:spPr>
      </p:sp>
      <p:sp>
        <p:nvSpPr>
          <p:cNvPr id="12" name="Shape 10"/>
          <p:cNvSpPr/>
          <p:nvPr/>
        </p:nvSpPr>
        <p:spPr>
          <a:xfrm>
            <a:off x="1133856" y="3310128"/>
            <a:ext cx="2331720" cy="378562"/>
          </a:xfrm>
          <a:prstGeom prst="roundRect">
            <a:avLst>
              <a:gd name="adj" fmla="val 12077"/>
            </a:avLst>
          </a:prstGeom>
          <a:solidFill>
            <a:srgbClr val="B49A77">
              <a:alpha val="85000"/>
            </a:srgbClr>
          </a:solidFill>
          <a:ln w="10795">
            <a:solidFill>
              <a:srgbClr val="B49A77"/>
            </a:solidFill>
            <a:prstDash val="solid"/>
          </a:ln>
        </p:spPr>
      </p:sp>
      <p:sp>
        <p:nvSpPr>
          <p:cNvPr id="13" name="Shape 11"/>
          <p:cNvSpPr/>
          <p:nvPr/>
        </p:nvSpPr>
        <p:spPr>
          <a:xfrm>
            <a:off x="1320394" y="3625596"/>
            <a:ext cx="209855" cy="704545"/>
          </a:xfrm>
          <a:prstGeom prst="rect">
            <a:avLst/>
          </a:prstGeom>
          <a:solidFill>
            <a:srgbClr val="B49A77"/>
          </a:solidFill>
          <a:ln w="10795">
            <a:solidFill>
              <a:srgbClr val="B49A77"/>
            </a:solidFill>
            <a:prstDash val="solid"/>
          </a:ln>
        </p:spPr>
      </p:sp>
      <p:sp>
        <p:nvSpPr>
          <p:cNvPr id="14" name="Shape 12"/>
          <p:cNvSpPr/>
          <p:nvPr/>
        </p:nvSpPr>
        <p:spPr>
          <a:xfrm>
            <a:off x="3045866" y="3625596"/>
            <a:ext cx="209855" cy="704545"/>
          </a:xfrm>
          <a:prstGeom prst="rect">
            <a:avLst/>
          </a:prstGeom>
          <a:solidFill>
            <a:srgbClr val="B49A77"/>
          </a:solidFill>
          <a:ln w="10795">
            <a:solidFill>
              <a:srgbClr val="B49A77"/>
            </a:solidFill>
            <a:prstDash val="solid"/>
          </a:ln>
        </p:spPr>
      </p:sp>
      <p:sp>
        <p:nvSpPr>
          <p:cNvPr id="15" name="Shape 13"/>
          <p:cNvSpPr/>
          <p:nvPr/>
        </p:nvSpPr>
        <p:spPr>
          <a:xfrm>
            <a:off x="1949318" y="3124505"/>
            <a:ext cx="196230" cy="54132"/>
          </a:xfrm>
          <a:prstGeom prst="ellipse">
            <a:avLst/>
          </a:prstGeom>
          <a:solidFill>
            <a:srgbClr val="E2D07A"/>
          </a:solidFill>
          <a:ln w="12700">
            <a:solidFill>
              <a:srgbClr val="E2D07A"/>
            </a:solidFill>
            <a:prstDash val="solid"/>
          </a:ln>
        </p:spPr>
      </p:sp>
      <p:sp>
        <p:nvSpPr>
          <p:cNvPr id="16" name="Shape 14"/>
          <p:cNvSpPr/>
          <p:nvPr/>
        </p:nvSpPr>
        <p:spPr>
          <a:xfrm>
            <a:off x="1966234" y="3144804"/>
            <a:ext cx="165781" cy="175931"/>
          </a:xfrm>
          <a:prstGeom prst="roundRect">
            <a:avLst>
              <a:gd name="adj" fmla="val 22063"/>
            </a:avLst>
          </a:prstGeom>
          <a:solidFill>
            <a:srgbClr val="E2D07A"/>
          </a:solidFill>
          <a:ln w="10795">
            <a:solidFill>
              <a:srgbClr val="E2D07A"/>
            </a:solidFill>
            <a:prstDash val="solid"/>
          </a:ln>
        </p:spPr>
      </p:sp>
      <p:sp>
        <p:nvSpPr>
          <p:cNvPr id="17" name="Shape 15"/>
          <p:cNvSpPr/>
          <p:nvPr/>
        </p:nvSpPr>
        <p:spPr>
          <a:xfrm>
            <a:off x="1949318" y="3280136"/>
            <a:ext cx="196230" cy="60899"/>
          </a:xfrm>
          <a:prstGeom prst="ellipse">
            <a:avLst/>
          </a:prstGeom>
          <a:solidFill>
            <a:srgbClr val="E2D07A"/>
          </a:solidFill>
          <a:ln w="12700">
            <a:solidFill>
              <a:srgbClr val="E2D07A"/>
            </a:solidFill>
            <a:prstDash val="solid"/>
          </a:ln>
        </p:spPr>
      </p:sp>
      <p:sp>
        <p:nvSpPr>
          <p:cNvPr id="18" name="Shape 16"/>
          <p:cNvSpPr/>
          <p:nvPr/>
        </p:nvSpPr>
        <p:spPr>
          <a:xfrm>
            <a:off x="2118482" y="3192170"/>
            <a:ext cx="87965" cy="94732"/>
          </a:xfrm>
          <a:prstGeom prst="ellipse">
            <a:avLst/>
          </a:prstGeom>
          <a:solidFill>
            <a:srgbClr val="07131F"/>
          </a:solidFill>
          <a:ln w="17780">
            <a:solidFill>
              <a:srgbClr val="E2D07A"/>
            </a:solidFill>
            <a:prstDash val="solid"/>
          </a:ln>
        </p:spPr>
      </p:sp>
      <p:sp>
        <p:nvSpPr>
          <p:cNvPr id="19" name="Shape 17"/>
          <p:cNvSpPr/>
          <p:nvPr/>
        </p:nvSpPr>
        <p:spPr>
          <a:xfrm>
            <a:off x="4142232" y="3547872"/>
            <a:ext cx="197510" cy="197510"/>
          </a:xfrm>
          <a:prstGeom prst="ellipse">
            <a:avLst/>
          </a:prstGeom>
          <a:solidFill>
            <a:srgbClr val="6B9BFF"/>
          </a:solidFill>
          <a:ln w="12700">
            <a:solidFill>
              <a:srgbClr val="6B9BFF"/>
            </a:solidFill>
            <a:prstDash val="solid"/>
          </a:ln>
        </p:spPr>
      </p:sp>
      <p:sp>
        <p:nvSpPr>
          <p:cNvPr id="20" name="Shape 18"/>
          <p:cNvSpPr/>
          <p:nvPr/>
        </p:nvSpPr>
        <p:spPr>
          <a:xfrm>
            <a:off x="4120286" y="3760013"/>
            <a:ext cx="248717" cy="314554"/>
          </a:xfrm>
          <a:prstGeom prst="roundRect">
            <a:avLst>
              <a:gd name="adj" fmla="val 18382"/>
            </a:avLst>
          </a:prstGeom>
          <a:solidFill>
            <a:srgbClr val="6B9BFF"/>
          </a:solidFill>
          <a:ln w="10795">
            <a:solidFill>
              <a:srgbClr val="6B9BFF"/>
            </a:solidFill>
            <a:prstDash val="solid"/>
          </a:ln>
        </p:spPr>
      </p:sp>
      <p:sp>
        <p:nvSpPr>
          <p:cNvPr id="21" name="Shape 19"/>
          <p:cNvSpPr/>
          <p:nvPr/>
        </p:nvSpPr>
        <p:spPr>
          <a:xfrm>
            <a:off x="4127602" y="3825850"/>
            <a:ext cx="-128016" cy="153619"/>
          </a:xfrm>
          <a:prstGeom prst="line">
            <a:avLst/>
          </a:prstGeom>
          <a:noFill/>
          <a:ln w="40640">
            <a:solidFill>
              <a:srgbClr val="6B9BFF"/>
            </a:solidFill>
            <a:prstDash val="solid"/>
            <a:headEnd type="none"/>
            <a:tailEnd type="none"/>
          </a:ln>
        </p:spPr>
      </p:sp>
      <p:sp>
        <p:nvSpPr>
          <p:cNvPr id="22" name="Shape 20"/>
          <p:cNvSpPr/>
          <p:nvPr/>
        </p:nvSpPr>
        <p:spPr>
          <a:xfrm>
            <a:off x="4354373" y="3825850"/>
            <a:ext cx="124358" cy="153619"/>
          </a:xfrm>
          <a:prstGeom prst="line">
            <a:avLst/>
          </a:prstGeom>
          <a:noFill/>
          <a:ln w="40640">
            <a:solidFill>
              <a:srgbClr val="6B9BFF"/>
            </a:solidFill>
            <a:prstDash val="solid"/>
            <a:headEnd type="none"/>
            <a:tailEnd type="none"/>
          </a:ln>
        </p:spPr>
      </p:sp>
      <p:sp>
        <p:nvSpPr>
          <p:cNvPr id="23" name="Shape 21"/>
          <p:cNvSpPr/>
          <p:nvPr/>
        </p:nvSpPr>
        <p:spPr>
          <a:xfrm>
            <a:off x="4178808" y="4059936"/>
            <a:ext cx="-29261" cy="182880"/>
          </a:xfrm>
          <a:prstGeom prst="line">
            <a:avLst/>
          </a:prstGeom>
          <a:noFill/>
          <a:ln w="40640">
            <a:solidFill>
              <a:srgbClr val="6B9BFF"/>
            </a:solidFill>
            <a:prstDash val="solid"/>
            <a:headEnd type="none"/>
            <a:tailEnd type="none"/>
          </a:ln>
        </p:spPr>
      </p:sp>
      <p:sp>
        <p:nvSpPr>
          <p:cNvPr id="24" name="Shape 22"/>
          <p:cNvSpPr/>
          <p:nvPr/>
        </p:nvSpPr>
        <p:spPr>
          <a:xfrm>
            <a:off x="4317797" y="4059936"/>
            <a:ext cx="14630" cy="182880"/>
          </a:xfrm>
          <a:prstGeom prst="line">
            <a:avLst/>
          </a:prstGeom>
          <a:noFill/>
          <a:ln w="40640">
            <a:solidFill>
              <a:srgbClr val="6B9BFF"/>
            </a:solidFill>
            <a:prstDash val="solid"/>
            <a:headEnd type="none"/>
            <a:tailEnd type="none"/>
          </a:ln>
        </p:spPr>
      </p:sp>
      <p:sp>
        <p:nvSpPr>
          <p:cNvPr id="25" name="Shape 23"/>
          <p:cNvSpPr/>
          <p:nvPr/>
        </p:nvSpPr>
        <p:spPr>
          <a:xfrm>
            <a:off x="4800600" y="4105656"/>
            <a:ext cx="585216" cy="0"/>
          </a:xfrm>
          <a:prstGeom prst="line">
            <a:avLst/>
          </a:prstGeom>
          <a:noFill/>
          <a:ln w="25400">
            <a:solidFill>
              <a:srgbClr val="48D7B2"/>
            </a:solidFill>
            <a:prstDash val="solid"/>
            <a:headEnd type="none"/>
            <a:tailEnd type="triangle"/>
          </a:ln>
        </p:spPr>
      </p:sp>
      <p:sp>
        <p:nvSpPr>
          <p:cNvPr id="26" name="Shape 24"/>
          <p:cNvSpPr/>
          <p:nvPr/>
        </p:nvSpPr>
        <p:spPr>
          <a:xfrm>
            <a:off x="5810829" y="3521172"/>
            <a:ext cx="622158" cy="785287"/>
          </a:xfrm>
          <a:prstGeom prst="roundRect">
            <a:avLst>
              <a:gd name="adj" fmla="val 17637"/>
            </a:avLst>
          </a:prstGeom>
          <a:solidFill>
            <a:srgbClr val="457787"/>
          </a:solidFill>
          <a:ln w="10795">
            <a:solidFill>
              <a:srgbClr val="6FB5C2"/>
            </a:solidFill>
            <a:prstDash val="solid"/>
          </a:ln>
        </p:spPr>
      </p:sp>
      <p:sp>
        <p:nvSpPr>
          <p:cNvPr id="27" name="Shape 25"/>
          <p:cNvSpPr/>
          <p:nvPr/>
        </p:nvSpPr>
        <p:spPr>
          <a:xfrm>
            <a:off x="5751576" y="3355848"/>
            <a:ext cx="740664" cy="175656"/>
          </a:xfrm>
          <a:prstGeom prst="roundRect">
            <a:avLst>
              <a:gd name="adj" fmla="val 26028"/>
            </a:avLst>
          </a:prstGeom>
          <a:solidFill>
            <a:srgbClr val="2A4A59"/>
          </a:solidFill>
          <a:ln w="10795">
            <a:solidFill>
              <a:srgbClr val="6FB5C2"/>
            </a:solidFill>
            <a:prstDash val="solid"/>
          </a:ln>
        </p:spPr>
      </p:sp>
      <p:sp>
        <p:nvSpPr>
          <p:cNvPr id="28" name="Shape 26"/>
          <p:cNvSpPr/>
          <p:nvPr/>
        </p:nvSpPr>
        <p:spPr>
          <a:xfrm>
            <a:off x="5988588" y="3769157"/>
            <a:ext cx="0" cy="351312"/>
          </a:xfrm>
          <a:prstGeom prst="line">
            <a:avLst/>
          </a:prstGeom>
          <a:noFill/>
          <a:ln w="17780">
            <a:solidFill>
              <a:srgbClr val="8DD9E1"/>
            </a:solidFill>
            <a:prstDash val="solid"/>
            <a:headEnd type="none"/>
            <a:tailEnd type="none"/>
          </a:ln>
        </p:spPr>
      </p:sp>
      <p:sp>
        <p:nvSpPr>
          <p:cNvPr id="29" name="Shape 27"/>
          <p:cNvSpPr/>
          <p:nvPr/>
        </p:nvSpPr>
        <p:spPr>
          <a:xfrm>
            <a:off x="6255228" y="3769157"/>
            <a:ext cx="0" cy="351312"/>
          </a:xfrm>
          <a:prstGeom prst="line">
            <a:avLst/>
          </a:prstGeom>
          <a:noFill/>
          <a:ln w="17780">
            <a:solidFill>
              <a:srgbClr val="8DD9E1"/>
            </a:solidFill>
            <a:prstDash val="solid"/>
            <a:headEnd type="none"/>
            <a:tailEnd type="none"/>
          </a:ln>
        </p:spPr>
      </p:sp>
      <p:sp>
        <p:nvSpPr>
          <p:cNvPr id="30" name="Text 28"/>
          <p:cNvSpPr/>
          <p:nvPr/>
        </p:nvSpPr>
        <p:spPr>
          <a:xfrm>
            <a:off x="1764792" y="4572000"/>
            <a:ext cx="960120" cy="228600"/>
          </a:xfrm>
          <a:prstGeom prst="rect">
            <a:avLst/>
          </a:prstGeom>
          <a:noFill/>
          <a:ln/>
        </p:spPr>
        <p:txBody>
          <a:bodyPr wrap="square" lIns="0" tIns="0" rIns="0" bIns="0" rtlCol="0" anchor="ctr"/>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TABLE</a:t>
            </a:r>
            <a:endParaRPr lang="en-US" sz="1200" dirty="0"/>
          </a:p>
        </p:txBody>
      </p:sp>
      <p:sp>
        <p:nvSpPr>
          <p:cNvPr id="31" name="Text 29"/>
          <p:cNvSpPr/>
          <p:nvPr/>
        </p:nvSpPr>
        <p:spPr>
          <a:xfrm>
            <a:off x="1847088" y="2807208"/>
            <a:ext cx="2020824" cy="228600"/>
          </a:xfrm>
          <a:prstGeom prst="rect">
            <a:avLst/>
          </a:prstGeom>
          <a:noFill/>
          <a:ln/>
        </p:spPr>
        <p:txBody>
          <a:bodyPr wrap="square" lIns="0" tIns="0" rIns="0" bIns="0" rtlCol="0" anchor="ctr"/>
          <a:lstStyle/>
          <a:p>
            <a:pPr algn="l" indent="0" marL="0">
              <a:lnSpc>
                <a:spcPct val="100000"/>
              </a:lnSpc>
              <a:buNone/>
            </a:pPr>
            <a:r>
              <a:rPr lang="en-US" sz="1050" b="1" dirty="0">
                <a:solidFill>
                  <a:srgbClr val="E2D07A"/>
                </a:solidFill>
                <a:latin typeface="Inter" pitchFamily="34" charset="0"/>
                <a:ea typeface="Inter" pitchFamily="34" charset="-122"/>
                <a:cs typeface="Inter" pitchFamily="34" charset="-120"/>
              </a:rPr>
              <a:t>DISPOSABLE CUP</a:t>
            </a:r>
            <a:endParaRPr lang="en-US" sz="1050" dirty="0"/>
          </a:p>
        </p:txBody>
      </p:sp>
      <p:sp>
        <p:nvSpPr>
          <p:cNvPr id="32" name="Text 30"/>
          <p:cNvSpPr/>
          <p:nvPr/>
        </p:nvSpPr>
        <p:spPr>
          <a:xfrm>
            <a:off x="5815584" y="4572000"/>
            <a:ext cx="749808" cy="228600"/>
          </a:xfrm>
          <a:prstGeom prst="rect">
            <a:avLst/>
          </a:prstGeom>
          <a:noFill/>
          <a:ln/>
        </p:spPr>
        <p:txBody>
          <a:bodyPr wrap="square" lIns="0" tIns="0" rIns="0" bIns="0" rtlCol="0" anchor="ctr"/>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TRASH</a:t>
            </a:r>
            <a:endParaRPr lang="en-US" sz="1200" dirty="0"/>
          </a:p>
        </p:txBody>
      </p:sp>
      <p:sp>
        <p:nvSpPr>
          <p:cNvPr id="33" name="Shape 31"/>
          <p:cNvSpPr/>
          <p:nvPr/>
        </p:nvSpPr>
        <p:spPr>
          <a:xfrm>
            <a:off x="7607808" y="2212848"/>
            <a:ext cx="3959352" cy="3611880"/>
          </a:xfrm>
          <a:prstGeom prst="roundRect">
            <a:avLst>
              <a:gd name="adj" fmla="val 3544"/>
            </a:avLst>
          </a:prstGeom>
          <a:solidFill>
            <a:srgbClr val="102335"/>
          </a:solidFill>
          <a:ln w="10795">
            <a:solidFill>
              <a:srgbClr val="294056"/>
            </a:solidFill>
            <a:prstDash val="solid"/>
          </a:ln>
        </p:spPr>
      </p:sp>
      <p:sp>
        <p:nvSpPr>
          <p:cNvPr id="34" name="Text 32"/>
          <p:cNvSpPr/>
          <p:nvPr/>
        </p:nvSpPr>
        <p:spPr>
          <a:xfrm>
            <a:off x="7845552" y="2532888"/>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FFC176"/>
                </a:solidFill>
                <a:latin typeface="Inter" pitchFamily="34" charset="0"/>
                <a:ea typeface="Inter" pitchFamily="34" charset="-122"/>
                <a:cs typeface="Inter" pitchFamily="34" charset="-120"/>
              </a:rPr>
              <a:t>MISSION CONSTRAINTS</a:t>
            </a:r>
            <a:endParaRPr lang="en-US" sz="1000" dirty="0"/>
          </a:p>
        </p:txBody>
      </p:sp>
      <p:sp>
        <p:nvSpPr>
          <p:cNvPr id="35" name="Shape 33"/>
          <p:cNvSpPr/>
          <p:nvPr/>
        </p:nvSpPr>
        <p:spPr>
          <a:xfrm>
            <a:off x="7882128" y="3238805"/>
            <a:ext cx="68580" cy="68580"/>
          </a:xfrm>
          <a:prstGeom prst="ellipse">
            <a:avLst/>
          </a:prstGeom>
          <a:solidFill>
            <a:srgbClr val="FFC176"/>
          </a:solidFill>
          <a:ln w="12700">
            <a:solidFill>
              <a:srgbClr val="FFC176"/>
            </a:solidFill>
            <a:prstDash val="solid"/>
          </a:ln>
        </p:spPr>
      </p:sp>
      <p:sp>
        <p:nvSpPr>
          <p:cNvPr id="36" name="Text 34"/>
          <p:cNvSpPr/>
          <p:nvPr/>
        </p:nvSpPr>
        <p:spPr>
          <a:xfrm>
            <a:off x="8074152" y="3118104"/>
            <a:ext cx="3081528" cy="448056"/>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target = disposable_cup</a:t>
            </a:r>
            <a:endParaRPr lang="en-US" sz="1300" dirty="0"/>
          </a:p>
        </p:txBody>
      </p:sp>
      <p:sp>
        <p:nvSpPr>
          <p:cNvPr id="37" name="Shape 35"/>
          <p:cNvSpPr/>
          <p:nvPr/>
        </p:nvSpPr>
        <p:spPr>
          <a:xfrm>
            <a:off x="7882128" y="3705149"/>
            <a:ext cx="68580" cy="68580"/>
          </a:xfrm>
          <a:prstGeom prst="ellipse">
            <a:avLst/>
          </a:prstGeom>
          <a:solidFill>
            <a:srgbClr val="FFC176"/>
          </a:solidFill>
          <a:ln w="12700">
            <a:solidFill>
              <a:srgbClr val="FFC176"/>
            </a:solidFill>
            <a:prstDash val="solid"/>
          </a:ln>
        </p:spPr>
      </p:sp>
      <p:sp>
        <p:nvSpPr>
          <p:cNvPr id="38" name="Text 36"/>
          <p:cNvSpPr/>
          <p:nvPr/>
        </p:nvSpPr>
        <p:spPr>
          <a:xfrm>
            <a:off x="8074152" y="3584448"/>
            <a:ext cx="3081528" cy="448056"/>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support = table_03</a:t>
            </a:r>
            <a:endParaRPr lang="en-US" sz="1300" dirty="0"/>
          </a:p>
        </p:txBody>
      </p:sp>
      <p:sp>
        <p:nvSpPr>
          <p:cNvPr id="39" name="Shape 37"/>
          <p:cNvSpPr/>
          <p:nvPr/>
        </p:nvSpPr>
        <p:spPr>
          <a:xfrm>
            <a:off x="7882128" y="4171493"/>
            <a:ext cx="68580" cy="68580"/>
          </a:xfrm>
          <a:prstGeom prst="ellipse">
            <a:avLst/>
          </a:prstGeom>
          <a:solidFill>
            <a:srgbClr val="FFC176"/>
          </a:solidFill>
          <a:ln w="12700">
            <a:solidFill>
              <a:srgbClr val="FFC176"/>
            </a:solidFill>
            <a:prstDash val="solid"/>
          </a:ln>
        </p:spPr>
      </p:sp>
      <p:sp>
        <p:nvSpPr>
          <p:cNvPr id="40" name="Text 38"/>
          <p:cNvSpPr/>
          <p:nvPr/>
        </p:nvSpPr>
        <p:spPr>
          <a:xfrm>
            <a:off x="8074152" y="4050792"/>
            <a:ext cx="3081528" cy="448056"/>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destination = trash_bin_01</a:t>
            </a:r>
            <a:endParaRPr lang="en-US" sz="1300" dirty="0"/>
          </a:p>
        </p:txBody>
      </p:sp>
      <p:sp>
        <p:nvSpPr>
          <p:cNvPr id="41" name="Shape 39"/>
          <p:cNvSpPr/>
          <p:nvPr/>
        </p:nvSpPr>
        <p:spPr>
          <a:xfrm>
            <a:off x="7882128" y="4637837"/>
            <a:ext cx="68580" cy="68580"/>
          </a:xfrm>
          <a:prstGeom prst="ellipse">
            <a:avLst/>
          </a:prstGeom>
          <a:solidFill>
            <a:srgbClr val="FFC176"/>
          </a:solidFill>
          <a:ln w="12700">
            <a:solidFill>
              <a:srgbClr val="FFC176"/>
            </a:solidFill>
            <a:prstDash val="solid"/>
          </a:ln>
        </p:spPr>
      </p:sp>
      <p:sp>
        <p:nvSpPr>
          <p:cNvPr id="42" name="Text 40"/>
          <p:cNvSpPr/>
          <p:nvPr/>
        </p:nvSpPr>
        <p:spPr>
          <a:xfrm>
            <a:off x="8074152" y="4517136"/>
            <a:ext cx="3081528" cy="448056"/>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disposal permission required</a:t>
            </a:r>
            <a:endParaRPr lang="en-US" sz="1300" dirty="0"/>
          </a:p>
        </p:txBody>
      </p:sp>
      <p:sp>
        <p:nvSpPr>
          <p:cNvPr id="43" name="Shape 41"/>
          <p:cNvSpPr/>
          <p:nvPr/>
        </p:nvSpPr>
        <p:spPr>
          <a:xfrm>
            <a:off x="7882128" y="5104181"/>
            <a:ext cx="68580" cy="68580"/>
          </a:xfrm>
          <a:prstGeom prst="ellipse">
            <a:avLst/>
          </a:prstGeom>
          <a:solidFill>
            <a:srgbClr val="FFC176"/>
          </a:solidFill>
          <a:ln w="12700">
            <a:solidFill>
              <a:srgbClr val="FFC176"/>
            </a:solidFill>
            <a:prstDash val="solid"/>
          </a:ln>
        </p:spPr>
      </p:sp>
      <p:sp>
        <p:nvSpPr>
          <p:cNvPr id="44" name="Text 42"/>
          <p:cNvSpPr/>
          <p:nvPr/>
        </p:nvSpPr>
        <p:spPr>
          <a:xfrm>
            <a:off x="8074152" y="4983480"/>
            <a:ext cx="3081528" cy="448056"/>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verify bin contains target</a:t>
            </a:r>
            <a:endParaRPr lang="en-US" sz="1300" dirty="0"/>
          </a:p>
        </p:txBody>
      </p:sp>
      <p:sp>
        <p:nvSpPr>
          <p:cNvPr id="45" name="Text 43"/>
          <p:cNvSpPr/>
          <p:nvPr/>
        </p:nvSpPr>
        <p:spPr>
          <a:xfrm>
            <a:off x="7863840" y="5559552"/>
            <a:ext cx="3493008" cy="384048"/>
          </a:xfrm>
          <a:prstGeom prst="rect">
            <a:avLst/>
          </a:prstGeom>
          <a:noFill/>
          <a:ln/>
        </p:spPr>
        <p:txBody>
          <a:bodyPr wrap="square" lIns="0" tIns="0" rIns="0" bIns="0" rtlCol="0" anchor="ctr"/>
          <a:lstStyle/>
          <a:p>
            <a:pPr algn="ctr" indent="0" marL="0">
              <a:lnSpc>
                <a:spcPct val="100000"/>
              </a:lnSpc>
              <a:buNone/>
            </a:pPr>
            <a:r>
              <a:rPr lang="en-US" sz="1130" i="1" dirty="0">
                <a:solidFill>
                  <a:srgbClr val="A1B2C4"/>
                </a:solidFill>
                <a:latin typeface="Inter" pitchFamily="34" charset="0"/>
                <a:ea typeface="Inter" pitchFamily="34" charset="-122"/>
                <a:cs typeface="Inter" pitchFamily="34" charset="-120"/>
              </a:rPr>
              <a:t>This demonstrates pick-and-place cleanup, not surface wiping or sanitation.</a:t>
            </a:r>
            <a:endParaRPr lang="en-US" sz="113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CASE B / ACTION SEQUENCE</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Table cleanup still uses navigation and VLA as separate actions</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Same seven-step contract, with a different destination and disposal gate.</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22</a:t>
            </a:r>
            <a:endParaRPr lang="en-US" sz="1100" dirty="0"/>
          </a:p>
        </p:txBody>
      </p:sp>
      <p:sp>
        <p:nvSpPr>
          <p:cNvPr id="11" name="Shape 9"/>
          <p:cNvSpPr/>
          <p:nvPr/>
        </p:nvSpPr>
        <p:spPr>
          <a:xfrm>
            <a:off x="649224" y="2103120"/>
            <a:ext cx="10835640" cy="448056"/>
          </a:xfrm>
          <a:prstGeom prst="roundRect">
            <a:avLst>
              <a:gd name="adj" fmla="val 28571"/>
            </a:avLst>
          </a:prstGeom>
          <a:solidFill>
            <a:srgbClr val="102335"/>
          </a:solidFill>
          <a:ln w="10795">
            <a:solidFill>
              <a:srgbClr val="294056"/>
            </a:solidFill>
            <a:prstDash val="solid"/>
          </a:ln>
        </p:spPr>
      </p:sp>
      <p:sp>
        <p:nvSpPr>
          <p:cNvPr id="12" name="Shape 10"/>
          <p:cNvSpPr/>
          <p:nvPr/>
        </p:nvSpPr>
        <p:spPr>
          <a:xfrm>
            <a:off x="649224" y="2103120"/>
            <a:ext cx="59436" cy="448056"/>
          </a:xfrm>
          <a:prstGeom prst="rect">
            <a:avLst/>
          </a:prstGeom>
          <a:solidFill>
            <a:srgbClr val="B5A0F8"/>
          </a:solidFill>
          <a:ln w="10795">
            <a:solidFill>
              <a:srgbClr val="B5A0F8"/>
            </a:solidFill>
            <a:prstDash val="solid"/>
          </a:ln>
        </p:spPr>
      </p:sp>
      <p:sp>
        <p:nvSpPr>
          <p:cNvPr id="13" name="Text 11"/>
          <p:cNvSpPr/>
          <p:nvPr/>
        </p:nvSpPr>
        <p:spPr>
          <a:xfrm>
            <a:off x="859536" y="2194560"/>
            <a:ext cx="411480" cy="256032"/>
          </a:xfrm>
          <a:prstGeom prst="rect">
            <a:avLst/>
          </a:prstGeom>
          <a:noFill/>
          <a:ln/>
        </p:spPr>
        <p:txBody>
          <a:bodyPr wrap="square" lIns="0" tIns="0" rIns="0" bIns="0" rtlCol="0" anchor="ctr"/>
          <a:lstStyle/>
          <a:p>
            <a:pPr algn="l" indent="0" marL="0">
              <a:lnSpc>
                <a:spcPct val="100000"/>
              </a:lnSpc>
              <a:buNone/>
            </a:pPr>
            <a:r>
              <a:rPr lang="en-US" sz="1100" b="1" dirty="0">
                <a:solidFill>
                  <a:srgbClr val="B5A0F8"/>
                </a:solidFill>
                <a:latin typeface="Inter" pitchFamily="34" charset="0"/>
                <a:ea typeface="Inter" pitchFamily="34" charset="-122"/>
                <a:cs typeface="Inter" pitchFamily="34" charset="-120"/>
              </a:rPr>
              <a:t>01</a:t>
            </a:r>
            <a:endParaRPr lang="en-US" sz="1100" dirty="0"/>
          </a:p>
        </p:txBody>
      </p:sp>
      <p:sp>
        <p:nvSpPr>
          <p:cNvPr id="14" name="Text 12"/>
          <p:cNvSpPr/>
          <p:nvPr/>
        </p:nvSpPr>
        <p:spPr>
          <a:xfrm>
            <a:off x="1389888" y="2167128"/>
            <a:ext cx="2450592" cy="310896"/>
          </a:xfrm>
          <a:prstGeom prst="rect">
            <a:avLst/>
          </a:prstGeom>
          <a:noFill/>
          <a:ln/>
        </p:spPr>
        <p:txBody>
          <a:bodyPr wrap="square" lIns="0" tIns="0" rIns="0" bIns="0" rtlCol="0" anchor="ctr"/>
          <a:lstStyle/>
          <a:p>
            <a:pPr algn="l" indent="0" marL="0">
              <a:lnSpc>
                <a:spcPct val="100000"/>
              </a:lnSpc>
              <a:buNone/>
            </a:pPr>
            <a:r>
              <a:rPr lang="en-US" sz="1310" b="1" dirty="0">
                <a:solidFill>
                  <a:srgbClr val="B5A0F8"/>
                </a:solidFill>
                <a:latin typeface="Inter" pitchFamily="34" charset="0"/>
                <a:ea typeface="Inter" pitchFamily="34" charset="-122"/>
                <a:cs typeface="Inter" pitchFamily="34" charset="-120"/>
              </a:rPr>
              <a:t>PARSE + AUTHORIZE</a:t>
            </a:r>
            <a:endParaRPr lang="en-US" sz="1310" dirty="0"/>
          </a:p>
        </p:txBody>
      </p:sp>
      <p:sp>
        <p:nvSpPr>
          <p:cNvPr id="15" name="Text 13"/>
          <p:cNvSpPr/>
          <p:nvPr/>
        </p:nvSpPr>
        <p:spPr>
          <a:xfrm>
            <a:off x="4032504" y="2167128"/>
            <a:ext cx="6812280" cy="310896"/>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select cup eligible for disposal</a:t>
            </a:r>
            <a:endParaRPr lang="en-US" sz="1300" dirty="0"/>
          </a:p>
        </p:txBody>
      </p:sp>
      <p:sp>
        <p:nvSpPr>
          <p:cNvPr id="16" name="Shape 14"/>
          <p:cNvSpPr/>
          <p:nvPr/>
        </p:nvSpPr>
        <p:spPr>
          <a:xfrm>
            <a:off x="649224" y="2624328"/>
            <a:ext cx="10835640" cy="448056"/>
          </a:xfrm>
          <a:prstGeom prst="roundRect">
            <a:avLst>
              <a:gd name="adj" fmla="val 28571"/>
            </a:avLst>
          </a:prstGeom>
          <a:solidFill>
            <a:srgbClr val="102335"/>
          </a:solidFill>
          <a:ln w="10795">
            <a:solidFill>
              <a:srgbClr val="294056"/>
            </a:solidFill>
            <a:prstDash val="solid"/>
          </a:ln>
        </p:spPr>
      </p:sp>
      <p:sp>
        <p:nvSpPr>
          <p:cNvPr id="17" name="Shape 15"/>
          <p:cNvSpPr/>
          <p:nvPr/>
        </p:nvSpPr>
        <p:spPr>
          <a:xfrm>
            <a:off x="649224" y="2624328"/>
            <a:ext cx="59436" cy="448056"/>
          </a:xfrm>
          <a:prstGeom prst="rect">
            <a:avLst/>
          </a:prstGeom>
          <a:solidFill>
            <a:srgbClr val="65D5E9"/>
          </a:solidFill>
          <a:ln w="10795">
            <a:solidFill>
              <a:srgbClr val="65D5E9"/>
            </a:solidFill>
            <a:prstDash val="solid"/>
          </a:ln>
        </p:spPr>
      </p:sp>
      <p:sp>
        <p:nvSpPr>
          <p:cNvPr id="18" name="Text 16"/>
          <p:cNvSpPr/>
          <p:nvPr/>
        </p:nvSpPr>
        <p:spPr>
          <a:xfrm>
            <a:off x="859536" y="2715768"/>
            <a:ext cx="411480" cy="256032"/>
          </a:xfrm>
          <a:prstGeom prst="rect">
            <a:avLst/>
          </a:prstGeom>
          <a:noFill/>
          <a:ln/>
        </p:spPr>
        <p:txBody>
          <a:bodyPr wrap="square" lIns="0" tIns="0" rIns="0" bIns="0" rtlCol="0" anchor="ctr"/>
          <a:lstStyle/>
          <a:p>
            <a:pPr algn="l" indent="0" marL="0">
              <a:lnSpc>
                <a:spcPct val="100000"/>
              </a:lnSpc>
              <a:buNone/>
            </a:pPr>
            <a:r>
              <a:rPr lang="en-US" sz="1100" b="1" dirty="0">
                <a:solidFill>
                  <a:srgbClr val="65D5E9"/>
                </a:solidFill>
                <a:latin typeface="Inter" pitchFamily="34" charset="0"/>
                <a:ea typeface="Inter" pitchFamily="34" charset="-122"/>
                <a:cs typeface="Inter" pitchFamily="34" charset="-120"/>
              </a:rPr>
              <a:t>02</a:t>
            </a:r>
            <a:endParaRPr lang="en-US" sz="1100" dirty="0"/>
          </a:p>
        </p:txBody>
      </p:sp>
      <p:sp>
        <p:nvSpPr>
          <p:cNvPr id="19" name="Text 17"/>
          <p:cNvSpPr/>
          <p:nvPr/>
        </p:nvSpPr>
        <p:spPr>
          <a:xfrm>
            <a:off x="1389888" y="2688336"/>
            <a:ext cx="2450592" cy="310896"/>
          </a:xfrm>
          <a:prstGeom prst="rect">
            <a:avLst/>
          </a:prstGeom>
          <a:noFill/>
          <a:ln/>
        </p:spPr>
        <p:txBody>
          <a:bodyPr wrap="square" lIns="0" tIns="0" rIns="0" bIns="0" rtlCol="0" anchor="ctr"/>
          <a:lstStyle/>
          <a:p>
            <a:pPr algn="l" indent="0" marL="0">
              <a:lnSpc>
                <a:spcPct val="100000"/>
              </a:lnSpc>
              <a:buNone/>
            </a:pPr>
            <a:r>
              <a:rPr lang="en-US" sz="1310" b="1" dirty="0">
                <a:solidFill>
                  <a:srgbClr val="65D5E9"/>
                </a:solidFill>
                <a:latin typeface="Inter" pitchFamily="34" charset="0"/>
                <a:ea typeface="Inter" pitchFamily="34" charset="-122"/>
                <a:cs typeface="Inter" pitchFamily="34" charset="-120"/>
              </a:rPr>
              <a:t>FIND + GROUND</a:t>
            </a:r>
            <a:endParaRPr lang="en-US" sz="1310" dirty="0"/>
          </a:p>
        </p:txBody>
      </p:sp>
      <p:sp>
        <p:nvSpPr>
          <p:cNvPr id="20" name="Text 18"/>
          <p:cNvSpPr/>
          <p:nvPr/>
        </p:nvSpPr>
        <p:spPr>
          <a:xfrm>
            <a:off x="4032504" y="2688336"/>
            <a:ext cx="6812280" cy="310896"/>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cup_23 ON table_03 confirmed</a:t>
            </a:r>
            <a:endParaRPr lang="en-US" sz="1300" dirty="0"/>
          </a:p>
        </p:txBody>
      </p:sp>
      <p:sp>
        <p:nvSpPr>
          <p:cNvPr id="21" name="Shape 19"/>
          <p:cNvSpPr/>
          <p:nvPr/>
        </p:nvSpPr>
        <p:spPr>
          <a:xfrm>
            <a:off x="649224" y="3145536"/>
            <a:ext cx="10835640" cy="448056"/>
          </a:xfrm>
          <a:prstGeom prst="roundRect">
            <a:avLst>
              <a:gd name="adj" fmla="val 28571"/>
            </a:avLst>
          </a:prstGeom>
          <a:solidFill>
            <a:srgbClr val="102335"/>
          </a:solidFill>
          <a:ln w="10795">
            <a:solidFill>
              <a:srgbClr val="294056"/>
            </a:solidFill>
            <a:prstDash val="solid"/>
          </a:ln>
        </p:spPr>
      </p:sp>
      <p:sp>
        <p:nvSpPr>
          <p:cNvPr id="22" name="Shape 20"/>
          <p:cNvSpPr/>
          <p:nvPr/>
        </p:nvSpPr>
        <p:spPr>
          <a:xfrm>
            <a:off x="649224" y="3145536"/>
            <a:ext cx="59436" cy="448056"/>
          </a:xfrm>
          <a:prstGeom prst="rect">
            <a:avLst/>
          </a:prstGeom>
          <a:solidFill>
            <a:srgbClr val="6B9BFF"/>
          </a:solidFill>
          <a:ln w="10795">
            <a:solidFill>
              <a:srgbClr val="6B9BFF"/>
            </a:solidFill>
            <a:prstDash val="solid"/>
          </a:ln>
        </p:spPr>
      </p:sp>
      <p:sp>
        <p:nvSpPr>
          <p:cNvPr id="23" name="Text 21"/>
          <p:cNvSpPr/>
          <p:nvPr/>
        </p:nvSpPr>
        <p:spPr>
          <a:xfrm>
            <a:off x="859536" y="3236976"/>
            <a:ext cx="411480" cy="256032"/>
          </a:xfrm>
          <a:prstGeom prst="rect">
            <a:avLst/>
          </a:prstGeom>
          <a:noFill/>
          <a:ln/>
        </p:spPr>
        <p:txBody>
          <a:bodyPr wrap="square" lIns="0" tIns="0" rIns="0" bIns="0" rtlCol="0" anchor="ctr"/>
          <a:lstStyle/>
          <a:p>
            <a:pPr algn="l" indent="0" marL="0">
              <a:lnSpc>
                <a:spcPct val="100000"/>
              </a:lnSpc>
              <a:buNone/>
            </a:pPr>
            <a:r>
              <a:rPr lang="en-US" sz="1100" b="1" dirty="0">
                <a:solidFill>
                  <a:srgbClr val="6B9BFF"/>
                </a:solidFill>
                <a:latin typeface="Inter" pitchFamily="34" charset="0"/>
                <a:ea typeface="Inter" pitchFamily="34" charset="-122"/>
                <a:cs typeface="Inter" pitchFamily="34" charset="-120"/>
              </a:rPr>
              <a:t>03</a:t>
            </a:r>
            <a:endParaRPr lang="en-US" sz="1100" dirty="0"/>
          </a:p>
        </p:txBody>
      </p:sp>
      <p:sp>
        <p:nvSpPr>
          <p:cNvPr id="24" name="Text 22"/>
          <p:cNvSpPr/>
          <p:nvPr/>
        </p:nvSpPr>
        <p:spPr>
          <a:xfrm>
            <a:off x="1389888" y="3209544"/>
            <a:ext cx="2450592" cy="310896"/>
          </a:xfrm>
          <a:prstGeom prst="rect">
            <a:avLst/>
          </a:prstGeom>
          <a:noFill/>
          <a:ln/>
        </p:spPr>
        <p:txBody>
          <a:bodyPr wrap="square" lIns="0" tIns="0" rIns="0" bIns="0" rtlCol="0" anchor="ctr"/>
          <a:lstStyle/>
          <a:p>
            <a:pPr algn="l" indent="0" marL="0">
              <a:lnSpc>
                <a:spcPct val="100000"/>
              </a:lnSpc>
              <a:buNone/>
            </a:pPr>
            <a:r>
              <a:rPr lang="en-US" sz="1310" b="1" dirty="0">
                <a:solidFill>
                  <a:srgbClr val="6B9BFF"/>
                </a:solidFill>
                <a:latin typeface="Inter" pitchFamily="34" charset="0"/>
                <a:ea typeface="Inter" pitchFamily="34" charset="-122"/>
                <a:cs typeface="Inter" pitchFamily="34" charset="-120"/>
              </a:rPr>
              <a:t>NAVIGATE 1</a:t>
            </a:r>
            <a:endParaRPr lang="en-US" sz="1310" dirty="0"/>
          </a:p>
        </p:txBody>
      </p:sp>
      <p:sp>
        <p:nvSpPr>
          <p:cNvPr id="25" name="Text 23"/>
          <p:cNvSpPr/>
          <p:nvPr/>
        </p:nvSpPr>
        <p:spPr>
          <a:xfrm>
            <a:off x="4032504" y="3209544"/>
            <a:ext cx="6812280" cy="310896"/>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move to pickup pose beside table</a:t>
            </a:r>
            <a:endParaRPr lang="en-US" sz="1300" dirty="0"/>
          </a:p>
        </p:txBody>
      </p:sp>
      <p:sp>
        <p:nvSpPr>
          <p:cNvPr id="26" name="Shape 24"/>
          <p:cNvSpPr/>
          <p:nvPr/>
        </p:nvSpPr>
        <p:spPr>
          <a:xfrm>
            <a:off x="649224" y="3666744"/>
            <a:ext cx="10835640" cy="448056"/>
          </a:xfrm>
          <a:prstGeom prst="roundRect">
            <a:avLst>
              <a:gd name="adj" fmla="val 28571"/>
            </a:avLst>
          </a:prstGeom>
          <a:solidFill>
            <a:srgbClr val="102335"/>
          </a:solidFill>
          <a:ln w="10795">
            <a:solidFill>
              <a:srgbClr val="294056"/>
            </a:solidFill>
            <a:prstDash val="solid"/>
          </a:ln>
        </p:spPr>
      </p:sp>
      <p:sp>
        <p:nvSpPr>
          <p:cNvPr id="27" name="Shape 25"/>
          <p:cNvSpPr/>
          <p:nvPr/>
        </p:nvSpPr>
        <p:spPr>
          <a:xfrm>
            <a:off x="649224" y="3666744"/>
            <a:ext cx="59436" cy="448056"/>
          </a:xfrm>
          <a:prstGeom prst="rect">
            <a:avLst/>
          </a:prstGeom>
          <a:solidFill>
            <a:srgbClr val="FFC176"/>
          </a:solidFill>
          <a:ln w="10795">
            <a:solidFill>
              <a:srgbClr val="FFC176"/>
            </a:solidFill>
            <a:prstDash val="solid"/>
          </a:ln>
        </p:spPr>
      </p:sp>
      <p:sp>
        <p:nvSpPr>
          <p:cNvPr id="28" name="Text 26"/>
          <p:cNvSpPr/>
          <p:nvPr/>
        </p:nvSpPr>
        <p:spPr>
          <a:xfrm>
            <a:off x="859536" y="3758184"/>
            <a:ext cx="411480" cy="256032"/>
          </a:xfrm>
          <a:prstGeom prst="rect">
            <a:avLst/>
          </a:prstGeom>
          <a:noFill/>
          <a:ln/>
        </p:spPr>
        <p:txBody>
          <a:bodyPr wrap="square" lIns="0" tIns="0" rIns="0" bIns="0" rtlCol="0" anchor="ctr"/>
          <a:lstStyle/>
          <a:p>
            <a:pPr algn="l" indent="0" marL="0">
              <a:lnSpc>
                <a:spcPct val="100000"/>
              </a:lnSpc>
              <a:buNone/>
            </a:pPr>
            <a:r>
              <a:rPr lang="en-US" sz="1100" b="1" dirty="0">
                <a:solidFill>
                  <a:srgbClr val="FFC176"/>
                </a:solidFill>
                <a:latin typeface="Inter" pitchFamily="34" charset="0"/>
                <a:ea typeface="Inter" pitchFamily="34" charset="-122"/>
                <a:cs typeface="Inter" pitchFamily="34" charset="-120"/>
              </a:rPr>
              <a:t>04</a:t>
            </a:r>
            <a:endParaRPr lang="en-US" sz="1100" dirty="0"/>
          </a:p>
        </p:txBody>
      </p:sp>
      <p:sp>
        <p:nvSpPr>
          <p:cNvPr id="29" name="Text 27"/>
          <p:cNvSpPr/>
          <p:nvPr/>
        </p:nvSpPr>
        <p:spPr>
          <a:xfrm>
            <a:off x="1389888" y="3730752"/>
            <a:ext cx="2450592" cy="310896"/>
          </a:xfrm>
          <a:prstGeom prst="rect">
            <a:avLst/>
          </a:prstGeom>
          <a:noFill/>
          <a:ln/>
        </p:spPr>
        <p:txBody>
          <a:bodyPr wrap="square" lIns="0" tIns="0" rIns="0" bIns="0" rtlCol="0" anchor="ctr"/>
          <a:lstStyle/>
          <a:p>
            <a:pPr algn="l" indent="0" marL="0">
              <a:lnSpc>
                <a:spcPct val="100000"/>
              </a:lnSpc>
              <a:buNone/>
            </a:pPr>
            <a:r>
              <a:rPr lang="en-US" sz="1310" b="1" dirty="0">
                <a:solidFill>
                  <a:srgbClr val="FFC176"/>
                </a:solidFill>
                <a:latin typeface="Inter" pitchFamily="34" charset="0"/>
                <a:ea typeface="Inter" pitchFamily="34" charset="-122"/>
                <a:cs typeface="Inter" pitchFamily="34" charset="-120"/>
              </a:rPr>
              <a:t>VLA PICK</a:t>
            </a:r>
            <a:endParaRPr lang="en-US" sz="1310" dirty="0"/>
          </a:p>
        </p:txBody>
      </p:sp>
      <p:sp>
        <p:nvSpPr>
          <p:cNvPr id="30" name="Text 28"/>
          <p:cNvSpPr/>
          <p:nvPr/>
        </p:nvSpPr>
        <p:spPr>
          <a:xfrm>
            <a:off x="4032504" y="3730752"/>
            <a:ext cx="6812280" cy="310896"/>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pick cup_23; confirm held_by G1</a:t>
            </a:r>
            <a:endParaRPr lang="en-US" sz="1300" dirty="0"/>
          </a:p>
        </p:txBody>
      </p:sp>
      <p:sp>
        <p:nvSpPr>
          <p:cNvPr id="31" name="Shape 29"/>
          <p:cNvSpPr/>
          <p:nvPr/>
        </p:nvSpPr>
        <p:spPr>
          <a:xfrm>
            <a:off x="649224" y="4187952"/>
            <a:ext cx="10835640" cy="448056"/>
          </a:xfrm>
          <a:prstGeom prst="roundRect">
            <a:avLst>
              <a:gd name="adj" fmla="val 28571"/>
            </a:avLst>
          </a:prstGeom>
          <a:solidFill>
            <a:srgbClr val="102335"/>
          </a:solidFill>
          <a:ln w="10795">
            <a:solidFill>
              <a:srgbClr val="294056"/>
            </a:solidFill>
            <a:prstDash val="solid"/>
          </a:ln>
        </p:spPr>
      </p:sp>
      <p:sp>
        <p:nvSpPr>
          <p:cNvPr id="32" name="Shape 30"/>
          <p:cNvSpPr/>
          <p:nvPr/>
        </p:nvSpPr>
        <p:spPr>
          <a:xfrm>
            <a:off x="649224" y="4187952"/>
            <a:ext cx="59436" cy="448056"/>
          </a:xfrm>
          <a:prstGeom prst="rect">
            <a:avLst/>
          </a:prstGeom>
          <a:solidFill>
            <a:srgbClr val="6B9BFF"/>
          </a:solidFill>
          <a:ln w="10795">
            <a:solidFill>
              <a:srgbClr val="6B9BFF"/>
            </a:solidFill>
            <a:prstDash val="solid"/>
          </a:ln>
        </p:spPr>
      </p:sp>
      <p:sp>
        <p:nvSpPr>
          <p:cNvPr id="33" name="Text 31"/>
          <p:cNvSpPr/>
          <p:nvPr/>
        </p:nvSpPr>
        <p:spPr>
          <a:xfrm>
            <a:off x="859536" y="4279392"/>
            <a:ext cx="411480" cy="256032"/>
          </a:xfrm>
          <a:prstGeom prst="rect">
            <a:avLst/>
          </a:prstGeom>
          <a:noFill/>
          <a:ln/>
        </p:spPr>
        <p:txBody>
          <a:bodyPr wrap="square" lIns="0" tIns="0" rIns="0" bIns="0" rtlCol="0" anchor="ctr"/>
          <a:lstStyle/>
          <a:p>
            <a:pPr algn="l" indent="0" marL="0">
              <a:lnSpc>
                <a:spcPct val="100000"/>
              </a:lnSpc>
              <a:buNone/>
            </a:pPr>
            <a:r>
              <a:rPr lang="en-US" sz="1100" b="1" dirty="0">
                <a:solidFill>
                  <a:srgbClr val="6B9BFF"/>
                </a:solidFill>
                <a:latin typeface="Inter" pitchFamily="34" charset="0"/>
                <a:ea typeface="Inter" pitchFamily="34" charset="-122"/>
                <a:cs typeface="Inter" pitchFamily="34" charset="-120"/>
              </a:rPr>
              <a:t>05</a:t>
            </a:r>
            <a:endParaRPr lang="en-US" sz="1100" dirty="0"/>
          </a:p>
        </p:txBody>
      </p:sp>
      <p:sp>
        <p:nvSpPr>
          <p:cNvPr id="34" name="Text 32"/>
          <p:cNvSpPr/>
          <p:nvPr/>
        </p:nvSpPr>
        <p:spPr>
          <a:xfrm>
            <a:off x="1389888" y="4251960"/>
            <a:ext cx="2450592" cy="310896"/>
          </a:xfrm>
          <a:prstGeom prst="rect">
            <a:avLst/>
          </a:prstGeom>
          <a:noFill/>
          <a:ln/>
        </p:spPr>
        <p:txBody>
          <a:bodyPr wrap="square" lIns="0" tIns="0" rIns="0" bIns="0" rtlCol="0" anchor="ctr"/>
          <a:lstStyle/>
          <a:p>
            <a:pPr algn="l" indent="0" marL="0">
              <a:lnSpc>
                <a:spcPct val="100000"/>
              </a:lnSpc>
              <a:buNone/>
            </a:pPr>
            <a:r>
              <a:rPr lang="en-US" sz="1310" b="1" dirty="0">
                <a:solidFill>
                  <a:srgbClr val="6B9BFF"/>
                </a:solidFill>
                <a:latin typeface="Inter" pitchFamily="34" charset="0"/>
                <a:ea typeface="Inter" pitchFamily="34" charset="-122"/>
                <a:cs typeface="Inter" pitchFamily="34" charset="-120"/>
              </a:rPr>
              <a:t>NAVIGATE 2</a:t>
            </a:r>
            <a:endParaRPr lang="en-US" sz="1310" dirty="0"/>
          </a:p>
        </p:txBody>
      </p:sp>
      <p:sp>
        <p:nvSpPr>
          <p:cNvPr id="35" name="Text 33"/>
          <p:cNvSpPr/>
          <p:nvPr/>
        </p:nvSpPr>
        <p:spPr>
          <a:xfrm>
            <a:off x="4032504" y="4251960"/>
            <a:ext cx="6812280" cy="310896"/>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walk to trash_bin_01 while carrying</a:t>
            </a:r>
            <a:endParaRPr lang="en-US" sz="1300" dirty="0"/>
          </a:p>
        </p:txBody>
      </p:sp>
      <p:sp>
        <p:nvSpPr>
          <p:cNvPr id="36" name="Shape 34"/>
          <p:cNvSpPr/>
          <p:nvPr/>
        </p:nvSpPr>
        <p:spPr>
          <a:xfrm>
            <a:off x="649224" y="4709160"/>
            <a:ext cx="10835640" cy="448056"/>
          </a:xfrm>
          <a:prstGeom prst="roundRect">
            <a:avLst>
              <a:gd name="adj" fmla="val 28571"/>
            </a:avLst>
          </a:prstGeom>
          <a:solidFill>
            <a:srgbClr val="102335"/>
          </a:solidFill>
          <a:ln w="10795">
            <a:solidFill>
              <a:srgbClr val="294056"/>
            </a:solidFill>
            <a:prstDash val="solid"/>
          </a:ln>
        </p:spPr>
      </p:sp>
      <p:sp>
        <p:nvSpPr>
          <p:cNvPr id="37" name="Shape 35"/>
          <p:cNvSpPr/>
          <p:nvPr/>
        </p:nvSpPr>
        <p:spPr>
          <a:xfrm>
            <a:off x="649224" y="4709160"/>
            <a:ext cx="59436" cy="448056"/>
          </a:xfrm>
          <a:prstGeom prst="rect">
            <a:avLst/>
          </a:prstGeom>
          <a:solidFill>
            <a:srgbClr val="FFC176"/>
          </a:solidFill>
          <a:ln w="10795">
            <a:solidFill>
              <a:srgbClr val="FFC176"/>
            </a:solidFill>
            <a:prstDash val="solid"/>
          </a:ln>
        </p:spPr>
      </p:sp>
      <p:sp>
        <p:nvSpPr>
          <p:cNvPr id="38" name="Text 36"/>
          <p:cNvSpPr/>
          <p:nvPr/>
        </p:nvSpPr>
        <p:spPr>
          <a:xfrm>
            <a:off x="859536" y="4800600"/>
            <a:ext cx="411480" cy="256032"/>
          </a:xfrm>
          <a:prstGeom prst="rect">
            <a:avLst/>
          </a:prstGeom>
          <a:noFill/>
          <a:ln/>
        </p:spPr>
        <p:txBody>
          <a:bodyPr wrap="square" lIns="0" tIns="0" rIns="0" bIns="0" rtlCol="0" anchor="ctr"/>
          <a:lstStyle/>
          <a:p>
            <a:pPr algn="l" indent="0" marL="0">
              <a:lnSpc>
                <a:spcPct val="100000"/>
              </a:lnSpc>
              <a:buNone/>
            </a:pPr>
            <a:r>
              <a:rPr lang="en-US" sz="1100" b="1" dirty="0">
                <a:solidFill>
                  <a:srgbClr val="FFC176"/>
                </a:solidFill>
                <a:latin typeface="Inter" pitchFamily="34" charset="0"/>
                <a:ea typeface="Inter" pitchFamily="34" charset="-122"/>
                <a:cs typeface="Inter" pitchFamily="34" charset="-120"/>
              </a:rPr>
              <a:t>06</a:t>
            </a:r>
            <a:endParaRPr lang="en-US" sz="1100" dirty="0"/>
          </a:p>
        </p:txBody>
      </p:sp>
      <p:sp>
        <p:nvSpPr>
          <p:cNvPr id="39" name="Text 37"/>
          <p:cNvSpPr/>
          <p:nvPr/>
        </p:nvSpPr>
        <p:spPr>
          <a:xfrm>
            <a:off x="1389888" y="4773168"/>
            <a:ext cx="2450592" cy="310896"/>
          </a:xfrm>
          <a:prstGeom prst="rect">
            <a:avLst/>
          </a:prstGeom>
          <a:noFill/>
          <a:ln/>
        </p:spPr>
        <p:txBody>
          <a:bodyPr wrap="square" lIns="0" tIns="0" rIns="0" bIns="0" rtlCol="0" anchor="ctr"/>
          <a:lstStyle/>
          <a:p>
            <a:pPr algn="l" indent="0" marL="0">
              <a:lnSpc>
                <a:spcPct val="100000"/>
              </a:lnSpc>
              <a:buNone/>
            </a:pPr>
            <a:r>
              <a:rPr lang="en-US" sz="1310" b="1" dirty="0">
                <a:solidFill>
                  <a:srgbClr val="FFC176"/>
                </a:solidFill>
                <a:latin typeface="Inter" pitchFamily="34" charset="0"/>
                <a:ea typeface="Inter" pitchFamily="34" charset="-122"/>
                <a:cs typeface="Inter" pitchFamily="34" charset="-120"/>
              </a:rPr>
              <a:t>VLA PLACE</a:t>
            </a:r>
            <a:endParaRPr lang="en-US" sz="1310" dirty="0"/>
          </a:p>
        </p:txBody>
      </p:sp>
      <p:sp>
        <p:nvSpPr>
          <p:cNvPr id="40" name="Text 38"/>
          <p:cNvSpPr/>
          <p:nvPr/>
        </p:nvSpPr>
        <p:spPr>
          <a:xfrm>
            <a:off x="4032504" y="4773168"/>
            <a:ext cx="6812280" cy="310896"/>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place cup into bin opening; release</a:t>
            </a:r>
            <a:endParaRPr lang="en-US" sz="1300" dirty="0"/>
          </a:p>
        </p:txBody>
      </p:sp>
      <p:sp>
        <p:nvSpPr>
          <p:cNvPr id="41" name="Shape 39"/>
          <p:cNvSpPr/>
          <p:nvPr/>
        </p:nvSpPr>
        <p:spPr>
          <a:xfrm>
            <a:off x="649224" y="5230368"/>
            <a:ext cx="10835640" cy="448056"/>
          </a:xfrm>
          <a:prstGeom prst="roundRect">
            <a:avLst>
              <a:gd name="adj" fmla="val 28571"/>
            </a:avLst>
          </a:prstGeom>
          <a:solidFill>
            <a:srgbClr val="102335"/>
          </a:solidFill>
          <a:ln w="10795">
            <a:solidFill>
              <a:srgbClr val="294056"/>
            </a:solidFill>
            <a:prstDash val="solid"/>
          </a:ln>
        </p:spPr>
      </p:sp>
      <p:sp>
        <p:nvSpPr>
          <p:cNvPr id="42" name="Shape 40"/>
          <p:cNvSpPr/>
          <p:nvPr/>
        </p:nvSpPr>
        <p:spPr>
          <a:xfrm>
            <a:off x="649224" y="5230368"/>
            <a:ext cx="59436" cy="448056"/>
          </a:xfrm>
          <a:prstGeom prst="rect">
            <a:avLst/>
          </a:prstGeom>
          <a:solidFill>
            <a:srgbClr val="48D7B2"/>
          </a:solidFill>
          <a:ln w="10795">
            <a:solidFill>
              <a:srgbClr val="48D7B2"/>
            </a:solidFill>
            <a:prstDash val="solid"/>
          </a:ln>
        </p:spPr>
      </p:sp>
      <p:sp>
        <p:nvSpPr>
          <p:cNvPr id="43" name="Text 41"/>
          <p:cNvSpPr/>
          <p:nvPr/>
        </p:nvSpPr>
        <p:spPr>
          <a:xfrm>
            <a:off x="859536" y="5321808"/>
            <a:ext cx="411480" cy="256032"/>
          </a:xfrm>
          <a:prstGeom prst="rect">
            <a:avLst/>
          </a:prstGeom>
          <a:noFill/>
          <a:ln/>
        </p:spPr>
        <p:txBody>
          <a:bodyPr wrap="square" lIns="0" tIns="0" rIns="0" bIns="0" rtlCol="0" anchor="ctr"/>
          <a:lstStyle/>
          <a:p>
            <a:pPr algn="l" indent="0" marL="0">
              <a:lnSpc>
                <a:spcPct val="100000"/>
              </a:lnSpc>
              <a:buNone/>
            </a:pPr>
            <a:r>
              <a:rPr lang="en-US" sz="1100" b="1" dirty="0">
                <a:solidFill>
                  <a:srgbClr val="48D7B2"/>
                </a:solidFill>
                <a:latin typeface="Inter" pitchFamily="34" charset="0"/>
                <a:ea typeface="Inter" pitchFamily="34" charset="-122"/>
                <a:cs typeface="Inter" pitchFamily="34" charset="-120"/>
              </a:rPr>
              <a:t>07</a:t>
            </a:r>
            <a:endParaRPr lang="en-US" sz="1100" dirty="0"/>
          </a:p>
        </p:txBody>
      </p:sp>
      <p:sp>
        <p:nvSpPr>
          <p:cNvPr id="44" name="Text 42"/>
          <p:cNvSpPr/>
          <p:nvPr/>
        </p:nvSpPr>
        <p:spPr>
          <a:xfrm>
            <a:off x="1389888" y="5294376"/>
            <a:ext cx="2450592" cy="310896"/>
          </a:xfrm>
          <a:prstGeom prst="rect">
            <a:avLst/>
          </a:prstGeom>
          <a:noFill/>
          <a:ln/>
        </p:spPr>
        <p:txBody>
          <a:bodyPr wrap="square" lIns="0" tIns="0" rIns="0" bIns="0" rtlCol="0" anchor="ctr"/>
          <a:lstStyle/>
          <a:p>
            <a:pPr algn="l" indent="0" marL="0">
              <a:lnSpc>
                <a:spcPct val="100000"/>
              </a:lnSpc>
              <a:buNone/>
            </a:pPr>
            <a:r>
              <a:rPr lang="en-US" sz="1310" b="1" dirty="0">
                <a:solidFill>
                  <a:srgbClr val="48D7B2"/>
                </a:solidFill>
                <a:latin typeface="Inter" pitchFamily="34" charset="0"/>
                <a:ea typeface="Inter" pitchFamily="34" charset="-122"/>
                <a:cs typeface="Inter" pitchFamily="34" charset="-120"/>
              </a:rPr>
              <a:t>VERIFY + UPDATE</a:t>
            </a:r>
            <a:endParaRPr lang="en-US" sz="1310" dirty="0"/>
          </a:p>
        </p:txBody>
      </p:sp>
      <p:sp>
        <p:nvSpPr>
          <p:cNvPr id="45" name="Text 43"/>
          <p:cNvSpPr/>
          <p:nvPr/>
        </p:nvSpPr>
        <p:spPr>
          <a:xfrm>
            <a:off x="4032504" y="5294376"/>
            <a:ext cx="6812280" cy="310896"/>
          </a:xfrm>
          <a:prstGeom prst="rect">
            <a:avLst/>
          </a:prstGeom>
          <a:noFill/>
          <a:ln/>
        </p:spPr>
        <p:txBody>
          <a:bodyPr wrap="square" lIns="0" tIns="0" rIns="0" bIns="0" rtlCol="0" anchor="ctr"/>
          <a:lstStyle/>
          <a:p>
            <a:pPr algn="l" indent="0" marL="0">
              <a:lnSpc>
                <a:spcPct val="100000"/>
              </a:lnSpc>
              <a:buNone/>
            </a:pPr>
            <a:r>
              <a:rPr lang="en-US" sz="1300" dirty="0">
                <a:solidFill>
                  <a:srgbClr val="DCE7F3"/>
                </a:solidFill>
                <a:latin typeface="Inter" pitchFamily="34" charset="0"/>
                <a:ea typeface="Inter" pitchFamily="34" charset="-122"/>
                <a:cs typeface="Inter" pitchFamily="34" charset="-120"/>
              </a:rPr>
              <a:t>cup_23 INSIDE bin; table clear</a:t>
            </a:r>
            <a:endParaRPr lang="en-US" sz="1300" dirty="0"/>
          </a:p>
        </p:txBody>
      </p:sp>
      <p:sp>
        <p:nvSpPr>
          <p:cNvPr id="46" name="Shape 44"/>
          <p:cNvSpPr/>
          <p:nvPr/>
        </p:nvSpPr>
        <p:spPr>
          <a:xfrm>
            <a:off x="1014984" y="5961888"/>
            <a:ext cx="10076688" cy="329184"/>
          </a:xfrm>
          <a:prstGeom prst="roundRect">
            <a:avLst>
              <a:gd name="adj" fmla="val 38889"/>
            </a:avLst>
          </a:prstGeom>
          <a:solidFill>
            <a:srgbClr val="152B40"/>
          </a:solidFill>
          <a:ln w="10795">
            <a:solidFill>
              <a:srgbClr val="152B40"/>
            </a:solidFill>
            <a:prstDash val="solid"/>
          </a:ln>
        </p:spPr>
      </p:sp>
      <p:sp>
        <p:nvSpPr>
          <p:cNvPr id="47" name="Text 45"/>
          <p:cNvSpPr/>
          <p:nvPr/>
        </p:nvSpPr>
        <p:spPr>
          <a:xfrm>
            <a:off x="1271016" y="6016752"/>
            <a:ext cx="9564624" cy="201168"/>
          </a:xfrm>
          <a:prstGeom prst="rect">
            <a:avLst/>
          </a:prstGeom>
          <a:noFill/>
          <a:ln/>
        </p:spPr>
        <p:txBody>
          <a:bodyPr wrap="square" lIns="0" tIns="0" rIns="0" bIns="0" rtlCol="0" anchor="ctr"/>
          <a:lstStyle/>
          <a:p>
            <a:pPr algn="ctr" indent="0" marL="0">
              <a:lnSpc>
                <a:spcPct val="100000"/>
              </a:lnSpc>
              <a:buNone/>
            </a:pPr>
            <a:r>
              <a:rPr lang="en-US" sz="1200" b="1" dirty="0">
                <a:solidFill>
                  <a:srgbClr val="FF8790"/>
                </a:solidFill>
                <a:latin typeface="Inter" pitchFamily="34" charset="0"/>
                <a:ea typeface="Inter" pitchFamily="34" charset="-122"/>
                <a:cs typeface="Inter" pitchFamily="34" charset="-120"/>
              </a:rPr>
              <a:t>Place verification: cup is inside the bin, not on its rim, floor, or still in hand.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CASE B / POLICY SAFETY</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“Clean” is not permission to discard every object</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The planner must distinguish disposable trash from reusable property and uncertain items.</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23</a:t>
            </a:r>
            <a:endParaRPr lang="en-US" sz="1100" dirty="0"/>
          </a:p>
        </p:txBody>
      </p:sp>
      <p:sp>
        <p:nvSpPr>
          <p:cNvPr id="11" name="Shape 9"/>
          <p:cNvSpPr/>
          <p:nvPr/>
        </p:nvSpPr>
        <p:spPr>
          <a:xfrm>
            <a:off x="713232" y="2267712"/>
            <a:ext cx="3730752" cy="2971800"/>
          </a:xfrm>
          <a:prstGeom prst="roundRect">
            <a:avLst>
              <a:gd name="adj" fmla="val 4308"/>
            </a:avLst>
          </a:prstGeom>
          <a:solidFill>
            <a:srgbClr val="102335"/>
          </a:solidFill>
          <a:ln w="10795">
            <a:solidFill>
              <a:srgbClr val="294056"/>
            </a:solidFill>
            <a:prstDash val="solid"/>
          </a:ln>
        </p:spPr>
      </p:sp>
      <p:sp>
        <p:nvSpPr>
          <p:cNvPr id="12" name="Text 10"/>
          <p:cNvSpPr/>
          <p:nvPr/>
        </p:nvSpPr>
        <p:spPr>
          <a:xfrm>
            <a:off x="941832" y="2560320"/>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65D5E9"/>
                </a:solidFill>
                <a:latin typeface="Inter" pitchFamily="34" charset="0"/>
                <a:ea typeface="Inter" pitchFamily="34" charset="-122"/>
                <a:cs typeface="Inter" pitchFamily="34" charset="-120"/>
              </a:rPr>
              <a:t>VISUAL CLASSIFICATION</a:t>
            </a:r>
            <a:endParaRPr lang="en-US" sz="1000" dirty="0"/>
          </a:p>
        </p:txBody>
      </p:sp>
      <p:sp>
        <p:nvSpPr>
          <p:cNvPr id="13" name="Shape 11"/>
          <p:cNvSpPr/>
          <p:nvPr/>
        </p:nvSpPr>
        <p:spPr>
          <a:xfrm>
            <a:off x="960120" y="3072384"/>
            <a:ext cx="210312" cy="210312"/>
          </a:xfrm>
          <a:prstGeom prst="ellipse">
            <a:avLst/>
          </a:prstGeom>
          <a:solidFill>
            <a:srgbClr val="E2D07A"/>
          </a:solidFill>
          <a:ln w="12700">
            <a:solidFill>
              <a:srgbClr val="E2D07A"/>
            </a:solidFill>
            <a:prstDash val="solid"/>
          </a:ln>
        </p:spPr>
      </p:sp>
      <p:sp>
        <p:nvSpPr>
          <p:cNvPr id="14" name="Text 12"/>
          <p:cNvSpPr/>
          <p:nvPr/>
        </p:nvSpPr>
        <p:spPr>
          <a:xfrm>
            <a:off x="1316736" y="2990088"/>
            <a:ext cx="1207008" cy="310896"/>
          </a:xfrm>
          <a:prstGeom prst="rect">
            <a:avLst/>
          </a:prstGeom>
          <a:noFill/>
          <a:ln/>
        </p:spPr>
        <p:txBody>
          <a:bodyPr wrap="square" lIns="0" tIns="0" rIns="0" bIns="0" rtlCol="0" anchor="ctr"/>
          <a:lstStyle/>
          <a:p>
            <a:pPr algn="l" indent="0" marL="0">
              <a:lnSpc>
                <a:spcPct val="100000"/>
              </a:lnSpc>
              <a:buNone/>
            </a:pPr>
            <a:r>
              <a:rPr lang="en-US" sz="1300" b="1" dirty="0">
                <a:solidFill>
                  <a:srgbClr val="F5F7FC"/>
                </a:solidFill>
                <a:latin typeface="Inter" pitchFamily="34" charset="0"/>
                <a:ea typeface="Inter" pitchFamily="34" charset="-122"/>
                <a:cs typeface="Inter" pitchFamily="34" charset="-120"/>
              </a:rPr>
              <a:t>Paper cup</a:t>
            </a:r>
            <a:endParaRPr lang="en-US" sz="1300" dirty="0"/>
          </a:p>
        </p:txBody>
      </p:sp>
      <p:sp>
        <p:nvSpPr>
          <p:cNvPr id="15" name="Text 13"/>
          <p:cNvSpPr/>
          <p:nvPr/>
        </p:nvSpPr>
        <p:spPr>
          <a:xfrm>
            <a:off x="2679192" y="2990088"/>
            <a:ext cx="1536192" cy="310896"/>
          </a:xfrm>
          <a:prstGeom prst="rect">
            <a:avLst/>
          </a:prstGeom>
          <a:noFill/>
          <a:ln/>
        </p:spPr>
        <p:txBody>
          <a:bodyPr wrap="square" lIns="0" tIns="0" rIns="0" bIns="0" rtlCol="0" anchor="ctr"/>
          <a:lstStyle/>
          <a:p>
            <a:pPr algn="l" indent="0" marL="0">
              <a:lnSpc>
                <a:spcPct val="100000"/>
              </a:lnSpc>
              <a:buNone/>
            </a:pPr>
            <a:r>
              <a:rPr lang="en-US" sz="1150" dirty="0">
                <a:solidFill>
                  <a:srgbClr val="A1B2C4"/>
                </a:solidFill>
                <a:latin typeface="Inter" pitchFamily="34" charset="0"/>
                <a:ea typeface="Inter" pitchFamily="34" charset="-122"/>
                <a:cs typeface="Inter" pitchFamily="34" charset="-120"/>
              </a:rPr>
              <a:t>Likely disposable</a:t>
            </a:r>
            <a:endParaRPr lang="en-US" sz="1150" dirty="0"/>
          </a:p>
        </p:txBody>
      </p:sp>
      <p:sp>
        <p:nvSpPr>
          <p:cNvPr id="16" name="Shape 14"/>
          <p:cNvSpPr/>
          <p:nvPr/>
        </p:nvSpPr>
        <p:spPr>
          <a:xfrm>
            <a:off x="960120" y="3648456"/>
            <a:ext cx="210312" cy="210312"/>
          </a:xfrm>
          <a:prstGeom prst="ellipse">
            <a:avLst/>
          </a:prstGeom>
          <a:solidFill>
            <a:srgbClr val="FF8790"/>
          </a:solidFill>
          <a:ln w="12700">
            <a:solidFill>
              <a:srgbClr val="FF8790"/>
            </a:solidFill>
            <a:prstDash val="solid"/>
          </a:ln>
        </p:spPr>
      </p:sp>
      <p:sp>
        <p:nvSpPr>
          <p:cNvPr id="17" name="Text 15"/>
          <p:cNvSpPr/>
          <p:nvPr/>
        </p:nvSpPr>
        <p:spPr>
          <a:xfrm>
            <a:off x="1316736" y="3566160"/>
            <a:ext cx="1207008" cy="310896"/>
          </a:xfrm>
          <a:prstGeom prst="rect">
            <a:avLst/>
          </a:prstGeom>
          <a:noFill/>
          <a:ln/>
        </p:spPr>
        <p:txBody>
          <a:bodyPr wrap="square" lIns="0" tIns="0" rIns="0" bIns="0" rtlCol="0" anchor="ctr"/>
          <a:lstStyle/>
          <a:p>
            <a:pPr algn="l" indent="0" marL="0">
              <a:lnSpc>
                <a:spcPct val="100000"/>
              </a:lnSpc>
              <a:buNone/>
            </a:pPr>
            <a:r>
              <a:rPr lang="en-US" sz="1300" b="1" dirty="0">
                <a:solidFill>
                  <a:srgbClr val="F5F7FC"/>
                </a:solidFill>
                <a:latin typeface="Inter" pitchFamily="34" charset="0"/>
                <a:ea typeface="Inter" pitchFamily="34" charset="-122"/>
                <a:cs typeface="Inter" pitchFamily="34" charset="-120"/>
              </a:rPr>
              <a:t>Ceramic mug</a:t>
            </a:r>
            <a:endParaRPr lang="en-US" sz="1300" dirty="0"/>
          </a:p>
        </p:txBody>
      </p:sp>
      <p:sp>
        <p:nvSpPr>
          <p:cNvPr id="18" name="Text 16"/>
          <p:cNvSpPr/>
          <p:nvPr/>
        </p:nvSpPr>
        <p:spPr>
          <a:xfrm>
            <a:off x="2679192" y="3566160"/>
            <a:ext cx="1536192" cy="310896"/>
          </a:xfrm>
          <a:prstGeom prst="rect">
            <a:avLst/>
          </a:prstGeom>
          <a:noFill/>
          <a:ln/>
        </p:spPr>
        <p:txBody>
          <a:bodyPr wrap="square" lIns="0" tIns="0" rIns="0" bIns="0" rtlCol="0" anchor="ctr"/>
          <a:lstStyle/>
          <a:p>
            <a:pPr algn="l" indent="0" marL="0">
              <a:lnSpc>
                <a:spcPct val="100000"/>
              </a:lnSpc>
              <a:buNone/>
            </a:pPr>
            <a:r>
              <a:rPr lang="en-US" sz="1150" dirty="0">
                <a:solidFill>
                  <a:srgbClr val="A1B2C4"/>
                </a:solidFill>
                <a:latin typeface="Inter" pitchFamily="34" charset="0"/>
                <a:ea typeface="Inter" pitchFamily="34" charset="-122"/>
                <a:cs typeface="Inter" pitchFamily="34" charset="-120"/>
              </a:rPr>
              <a:t>Reusable property</a:t>
            </a:r>
            <a:endParaRPr lang="en-US" sz="1150" dirty="0"/>
          </a:p>
        </p:txBody>
      </p:sp>
      <p:sp>
        <p:nvSpPr>
          <p:cNvPr id="19" name="Shape 17"/>
          <p:cNvSpPr/>
          <p:nvPr/>
        </p:nvSpPr>
        <p:spPr>
          <a:xfrm>
            <a:off x="960120" y="4224528"/>
            <a:ext cx="210312" cy="210312"/>
          </a:xfrm>
          <a:prstGeom prst="ellipse">
            <a:avLst/>
          </a:prstGeom>
          <a:solidFill>
            <a:srgbClr val="A7B8C6"/>
          </a:solidFill>
          <a:ln w="12700">
            <a:solidFill>
              <a:srgbClr val="A7B8C6"/>
            </a:solidFill>
            <a:prstDash val="solid"/>
          </a:ln>
        </p:spPr>
      </p:sp>
      <p:sp>
        <p:nvSpPr>
          <p:cNvPr id="20" name="Text 18"/>
          <p:cNvSpPr/>
          <p:nvPr/>
        </p:nvSpPr>
        <p:spPr>
          <a:xfrm>
            <a:off x="1316736" y="4142232"/>
            <a:ext cx="1207008" cy="310896"/>
          </a:xfrm>
          <a:prstGeom prst="rect">
            <a:avLst/>
          </a:prstGeom>
          <a:noFill/>
          <a:ln/>
        </p:spPr>
        <p:txBody>
          <a:bodyPr wrap="square" lIns="0" tIns="0" rIns="0" bIns="0" rtlCol="0" anchor="ctr"/>
          <a:lstStyle/>
          <a:p>
            <a:pPr algn="l" indent="0" marL="0">
              <a:lnSpc>
                <a:spcPct val="100000"/>
              </a:lnSpc>
              <a:buNone/>
            </a:pPr>
            <a:r>
              <a:rPr lang="en-US" sz="1300" b="1" dirty="0">
                <a:solidFill>
                  <a:srgbClr val="F5F7FC"/>
                </a:solidFill>
                <a:latin typeface="Inter" pitchFamily="34" charset="0"/>
                <a:ea typeface="Inter" pitchFamily="34" charset="-122"/>
                <a:cs typeface="Inter" pitchFamily="34" charset="-120"/>
              </a:rPr>
              <a:t>Unknown cup</a:t>
            </a:r>
            <a:endParaRPr lang="en-US" sz="1300" dirty="0"/>
          </a:p>
        </p:txBody>
      </p:sp>
      <p:sp>
        <p:nvSpPr>
          <p:cNvPr id="21" name="Text 19"/>
          <p:cNvSpPr/>
          <p:nvPr/>
        </p:nvSpPr>
        <p:spPr>
          <a:xfrm>
            <a:off x="2679192" y="4142232"/>
            <a:ext cx="1536192" cy="310896"/>
          </a:xfrm>
          <a:prstGeom prst="rect">
            <a:avLst/>
          </a:prstGeom>
          <a:noFill/>
          <a:ln/>
        </p:spPr>
        <p:txBody>
          <a:bodyPr wrap="square" lIns="0" tIns="0" rIns="0" bIns="0" rtlCol="0" anchor="ctr"/>
          <a:lstStyle/>
          <a:p>
            <a:pPr algn="l" indent="0" marL="0">
              <a:lnSpc>
                <a:spcPct val="100000"/>
              </a:lnSpc>
              <a:buNone/>
            </a:pPr>
            <a:r>
              <a:rPr lang="en-US" sz="1150" dirty="0">
                <a:solidFill>
                  <a:srgbClr val="A1B2C4"/>
                </a:solidFill>
                <a:latin typeface="Inter" pitchFamily="34" charset="0"/>
                <a:ea typeface="Inter" pitchFamily="34" charset="-122"/>
                <a:cs typeface="Inter" pitchFamily="34" charset="-120"/>
              </a:rPr>
              <a:t>Ambiguous</a:t>
            </a:r>
            <a:endParaRPr lang="en-US" sz="1150" dirty="0"/>
          </a:p>
        </p:txBody>
      </p:sp>
      <p:sp>
        <p:nvSpPr>
          <p:cNvPr id="22" name="Shape 20"/>
          <p:cNvSpPr/>
          <p:nvPr/>
        </p:nvSpPr>
        <p:spPr>
          <a:xfrm>
            <a:off x="4709160" y="2267712"/>
            <a:ext cx="2843784" cy="2971800"/>
          </a:xfrm>
          <a:prstGeom prst="roundRect">
            <a:avLst>
              <a:gd name="adj" fmla="val 4502"/>
            </a:avLst>
          </a:prstGeom>
          <a:solidFill>
            <a:srgbClr val="102335"/>
          </a:solidFill>
          <a:ln w="10795">
            <a:solidFill>
              <a:srgbClr val="294056"/>
            </a:solidFill>
            <a:prstDash val="solid"/>
          </a:ln>
        </p:spPr>
      </p:sp>
      <p:sp>
        <p:nvSpPr>
          <p:cNvPr id="23" name="Text 21"/>
          <p:cNvSpPr/>
          <p:nvPr/>
        </p:nvSpPr>
        <p:spPr>
          <a:xfrm>
            <a:off x="4946904" y="2560320"/>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B5A0F8"/>
                </a:solidFill>
                <a:latin typeface="Inter" pitchFamily="34" charset="0"/>
                <a:ea typeface="Inter" pitchFamily="34" charset="-122"/>
                <a:cs typeface="Inter" pitchFamily="34" charset="-120"/>
              </a:rPr>
              <a:t>DECISION</a:t>
            </a:r>
            <a:endParaRPr lang="en-US" sz="1000" dirty="0"/>
          </a:p>
        </p:txBody>
      </p:sp>
      <p:sp>
        <p:nvSpPr>
          <p:cNvPr id="24" name="Shape 22"/>
          <p:cNvSpPr/>
          <p:nvPr/>
        </p:nvSpPr>
        <p:spPr>
          <a:xfrm>
            <a:off x="4974336" y="3026664"/>
            <a:ext cx="2295144" cy="749808"/>
          </a:xfrm>
          <a:prstGeom prst="roundRect">
            <a:avLst>
              <a:gd name="adj" fmla="val 17073"/>
            </a:avLst>
          </a:prstGeom>
          <a:solidFill>
            <a:srgbClr val="102335"/>
          </a:solidFill>
          <a:ln w="10795">
            <a:solidFill>
              <a:srgbClr val="294056"/>
            </a:solidFill>
            <a:prstDash val="solid"/>
          </a:ln>
        </p:spPr>
      </p:sp>
      <p:sp>
        <p:nvSpPr>
          <p:cNvPr id="25" name="Shape 23"/>
          <p:cNvSpPr/>
          <p:nvPr/>
        </p:nvSpPr>
        <p:spPr>
          <a:xfrm>
            <a:off x="4974336" y="3026664"/>
            <a:ext cx="2295144" cy="64008"/>
          </a:xfrm>
          <a:prstGeom prst="rect">
            <a:avLst/>
          </a:prstGeom>
          <a:solidFill>
            <a:srgbClr val="B5A0F8"/>
          </a:solidFill>
          <a:ln w="10795">
            <a:solidFill>
              <a:srgbClr val="B5A0F8"/>
            </a:solidFill>
            <a:prstDash val="solid"/>
          </a:ln>
        </p:spPr>
      </p:sp>
      <p:sp>
        <p:nvSpPr>
          <p:cNvPr id="26" name="Text 24"/>
          <p:cNvSpPr/>
          <p:nvPr/>
        </p:nvSpPr>
        <p:spPr>
          <a:xfrm>
            <a:off x="5093208" y="3136392"/>
            <a:ext cx="2057400" cy="256032"/>
          </a:xfrm>
          <a:prstGeom prst="rect">
            <a:avLst/>
          </a:prstGeom>
          <a:noFill/>
          <a:ln/>
        </p:spPr>
        <p:txBody>
          <a:bodyPr wrap="square" lIns="0" tIns="0" rIns="0" bIns="0" rtlCol="0" anchor="ctr"/>
          <a:lstStyle/>
          <a:p>
            <a:pPr algn="ctr" indent="0" marL="0">
              <a:lnSpc>
                <a:spcPct val="100000"/>
              </a:lnSpc>
              <a:buNone/>
            </a:pPr>
            <a:r>
              <a:rPr lang="en-US" sz="1150" b="1" dirty="0">
                <a:solidFill>
                  <a:srgbClr val="F5F7FC"/>
                </a:solidFill>
                <a:latin typeface="Inter" pitchFamily="34" charset="0"/>
                <a:ea typeface="Inter" pitchFamily="34" charset="-122"/>
                <a:cs typeface="Inter" pitchFamily="34" charset="-120"/>
              </a:rPr>
              <a:t>AUTHORIZATION</a:t>
            </a:r>
            <a:endParaRPr lang="en-US" sz="1150" dirty="0"/>
          </a:p>
        </p:txBody>
      </p:sp>
      <p:sp>
        <p:nvSpPr>
          <p:cNvPr id="27" name="Text 25"/>
          <p:cNvSpPr/>
          <p:nvPr/>
        </p:nvSpPr>
        <p:spPr>
          <a:xfrm>
            <a:off x="5084064" y="3419856"/>
            <a:ext cx="2075688" cy="320040"/>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Explicit or policy-approved</a:t>
            </a:r>
            <a:endParaRPr lang="en-US" sz="1030" dirty="0"/>
          </a:p>
        </p:txBody>
      </p:sp>
      <p:sp>
        <p:nvSpPr>
          <p:cNvPr id="28" name="Shape 26"/>
          <p:cNvSpPr/>
          <p:nvPr/>
        </p:nvSpPr>
        <p:spPr>
          <a:xfrm>
            <a:off x="6099048" y="3776472"/>
            <a:ext cx="0" cy="246888"/>
          </a:xfrm>
          <a:prstGeom prst="line">
            <a:avLst/>
          </a:prstGeom>
          <a:noFill/>
          <a:ln w="20320">
            <a:solidFill>
              <a:srgbClr val="B5A0F8"/>
            </a:solidFill>
            <a:prstDash val="solid"/>
            <a:headEnd type="none"/>
            <a:tailEnd type="triangle"/>
          </a:ln>
        </p:spPr>
      </p:sp>
      <p:sp>
        <p:nvSpPr>
          <p:cNvPr id="29" name="Shape 27"/>
          <p:cNvSpPr/>
          <p:nvPr/>
        </p:nvSpPr>
        <p:spPr>
          <a:xfrm>
            <a:off x="4974336" y="4078224"/>
            <a:ext cx="2295144" cy="713232"/>
          </a:xfrm>
          <a:prstGeom prst="roundRect">
            <a:avLst>
              <a:gd name="adj" fmla="val 17949"/>
            </a:avLst>
          </a:prstGeom>
          <a:solidFill>
            <a:srgbClr val="102335"/>
          </a:solidFill>
          <a:ln w="10795">
            <a:solidFill>
              <a:srgbClr val="294056"/>
            </a:solidFill>
            <a:prstDash val="solid"/>
          </a:ln>
        </p:spPr>
      </p:sp>
      <p:sp>
        <p:nvSpPr>
          <p:cNvPr id="30" name="Shape 28"/>
          <p:cNvSpPr/>
          <p:nvPr/>
        </p:nvSpPr>
        <p:spPr>
          <a:xfrm>
            <a:off x="4974336" y="4078224"/>
            <a:ext cx="2295144" cy="64008"/>
          </a:xfrm>
          <a:prstGeom prst="rect">
            <a:avLst/>
          </a:prstGeom>
          <a:solidFill>
            <a:srgbClr val="FF8790"/>
          </a:solidFill>
          <a:ln w="10795">
            <a:solidFill>
              <a:srgbClr val="FF8790"/>
            </a:solidFill>
            <a:prstDash val="solid"/>
          </a:ln>
        </p:spPr>
      </p:sp>
      <p:sp>
        <p:nvSpPr>
          <p:cNvPr id="31" name="Text 29"/>
          <p:cNvSpPr/>
          <p:nvPr/>
        </p:nvSpPr>
        <p:spPr>
          <a:xfrm>
            <a:off x="5093208" y="4187952"/>
            <a:ext cx="2057400" cy="256032"/>
          </a:xfrm>
          <a:prstGeom prst="rect">
            <a:avLst/>
          </a:prstGeom>
          <a:noFill/>
          <a:ln/>
        </p:spPr>
        <p:txBody>
          <a:bodyPr wrap="square" lIns="0" tIns="0" rIns="0" bIns="0" rtlCol="0" anchor="ctr"/>
          <a:lstStyle/>
          <a:p>
            <a:pPr algn="ctr" indent="0" marL="0">
              <a:lnSpc>
                <a:spcPct val="100000"/>
              </a:lnSpc>
              <a:buNone/>
            </a:pPr>
            <a:r>
              <a:rPr lang="en-US" sz="1150" b="1" dirty="0">
                <a:solidFill>
                  <a:srgbClr val="F5F7FC"/>
                </a:solidFill>
                <a:latin typeface="Inter" pitchFamily="34" charset="0"/>
                <a:ea typeface="Inter" pitchFamily="34" charset="-122"/>
                <a:cs typeface="Inter" pitchFamily="34" charset="-120"/>
              </a:rPr>
              <a:t>SAFE TO DISCARD?</a:t>
            </a:r>
            <a:endParaRPr lang="en-US" sz="1150" dirty="0"/>
          </a:p>
        </p:txBody>
      </p:sp>
      <p:sp>
        <p:nvSpPr>
          <p:cNvPr id="32" name="Text 30"/>
          <p:cNvSpPr/>
          <p:nvPr/>
        </p:nvSpPr>
        <p:spPr>
          <a:xfrm>
            <a:off x="5084064" y="4471416"/>
            <a:ext cx="2075688" cy="283464"/>
          </a:xfrm>
          <a:prstGeom prst="rect">
            <a:avLst/>
          </a:prstGeom>
          <a:noFill/>
          <a:ln/>
        </p:spPr>
        <p:txBody>
          <a:bodyPr wrap="square" lIns="0" tIns="0" rIns="0" bIns="0" rtlCol="0" anchor="ctr"/>
          <a:lstStyle/>
          <a:p>
            <a:pPr algn="ctr" indent="0" marL="0">
              <a:lnSpc>
                <a:spcPct val="100000"/>
              </a:lnSpc>
              <a:buNone/>
            </a:pPr>
            <a:r>
              <a:rPr lang="en-US" sz="1030" dirty="0">
                <a:solidFill>
                  <a:srgbClr val="A1B2C4"/>
                </a:solidFill>
                <a:latin typeface="Inter" pitchFamily="34" charset="0"/>
                <a:ea typeface="Inter" pitchFamily="34" charset="-122"/>
                <a:cs typeface="Inter" pitchFamily="34" charset="-120"/>
              </a:rPr>
              <a:t>yes / uncertain</a:t>
            </a:r>
            <a:endParaRPr lang="en-US" sz="1030" dirty="0"/>
          </a:p>
        </p:txBody>
      </p:sp>
      <p:sp>
        <p:nvSpPr>
          <p:cNvPr id="33" name="Shape 31"/>
          <p:cNvSpPr/>
          <p:nvPr/>
        </p:nvSpPr>
        <p:spPr>
          <a:xfrm>
            <a:off x="7836408" y="2267712"/>
            <a:ext cx="3712464" cy="2971800"/>
          </a:xfrm>
          <a:prstGeom prst="roundRect">
            <a:avLst>
              <a:gd name="adj" fmla="val 4308"/>
            </a:avLst>
          </a:prstGeom>
          <a:solidFill>
            <a:srgbClr val="102335"/>
          </a:solidFill>
          <a:ln w="10795">
            <a:solidFill>
              <a:srgbClr val="294056"/>
            </a:solidFill>
            <a:prstDash val="solid"/>
          </a:ln>
        </p:spPr>
      </p:sp>
      <p:sp>
        <p:nvSpPr>
          <p:cNvPr id="34" name="Text 32"/>
          <p:cNvSpPr/>
          <p:nvPr/>
        </p:nvSpPr>
        <p:spPr>
          <a:xfrm>
            <a:off x="8065008" y="2560320"/>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48D7B2"/>
                </a:solidFill>
                <a:latin typeface="Inter" pitchFamily="34" charset="0"/>
                <a:ea typeface="Inter" pitchFamily="34" charset="-122"/>
                <a:cs typeface="Inter" pitchFamily="34" charset="-120"/>
              </a:rPr>
              <a:t>OUTCOMES</a:t>
            </a:r>
            <a:endParaRPr lang="en-US" sz="1000" dirty="0"/>
          </a:p>
        </p:txBody>
      </p:sp>
      <p:sp>
        <p:nvSpPr>
          <p:cNvPr id="35" name="Shape 33"/>
          <p:cNvSpPr/>
          <p:nvPr/>
        </p:nvSpPr>
        <p:spPr>
          <a:xfrm>
            <a:off x="8092440" y="2962656"/>
            <a:ext cx="3191256" cy="758952"/>
          </a:xfrm>
          <a:prstGeom prst="roundRect">
            <a:avLst>
              <a:gd name="adj" fmla="val 16867"/>
            </a:avLst>
          </a:prstGeom>
          <a:solidFill>
            <a:srgbClr val="102335"/>
          </a:solidFill>
          <a:ln w="10795">
            <a:solidFill>
              <a:srgbClr val="294056"/>
            </a:solidFill>
            <a:prstDash val="solid"/>
          </a:ln>
        </p:spPr>
      </p:sp>
      <p:sp>
        <p:nvSpPr>
          <p:cNvPr id="36" name="Shape 34"/>
          <p:cNvSpPr/>
          <p:nvPr/>
        </p:nvSpPr>
        <p:spPr>
          <a:xfrm>
            <a:off x="8238744" y="3127248"/>
            <a:ext cx="41148" cy="429768"/>
          </a:xfrm>
          <a:prstGeom prst="rect">
            <a:avLst/>
          </a:prstGeom>
          <a:solidFill>
            <a:srgbClr val="48D7B2"/>
          </a:solidFill>
          <a:ln w="10795">
            <a:solidFill>
              <a:srgbClr val="48D7B2"/>
            </a:solidFill>
            <a:prstDash val="solid"/>
          </a:ln>
        </p:spPr>
      </p:sp>
      <p:sp>
        <p:nvSpPr>
          <p:cNvPr id="37" name="Text 35"/>
          <p:cNvSpPr/>
          <p:nvPr/>
        </p:nvSpPr>
        <p:spPr>
          <a:xfrm>
            <a:off x="8385048" y="3145536"/>
            <a:ext cx="2670048" cy="384048"/>
          </a:xfrm>
          <a:prstGeom prst="rect">
            <a:avLst/>
          </a:prstGeom>
          <a:noFill/>
          <a:ln/>
        </p:spPr>
        <p:txBody>
          <a:bodyPr wrap="square" lIns="0" tIns="0" rIns="0" bIns="0" rtlCol="0" anchor="ctr"/>
          <a:lstStyle/>
          <a:p>
            <a:pPr algn="l" indent="0" marL="0">
              <a:lnSpc>
                <a:spcPct val="100000"/>
              </a:lnSpc>
              <a:buNone/>
            </a:pPr>
            <a:r>
              <a:rPr lang="en-US" sz="1170" b="1" dirty="0">
                <a:solidFill>
                  <a:srgbClr val="F5F7FC"/>
                </a:solidFill>
                <a:latin typeface="Inter" pitchFamily="34" charset="0"/>
                <a:ea typeface="Inter" pitchFamily="34" charset="-122"/>
                <a:cs typeface="Inter" pitchFamily="34" charset="-120"/>
              </a:rPr>
              <a:t>YES</a:t>
            </a:r>
            <a:endParaRPr lang="en-US" sz="1170" dirty="0"/>
          </a:p>
        </p:txBody>
      </p:sp>
      <p:sp>
        <p:nvSpPr>
          <p:cNvPr id="38" name="Text 36"/>
          <p:cNvSpPr/>
          <p:nvPr/>
        </p:nvSpPr>
        <p:spPr>
          <a:xfrm>
            <a:off x="8385048" y="3593592"/>
            <a:ext cx="2679192" cy="-9144"/>
          </a:xfrm>
          <a:prstGeom prst="rect">
            <a:avLst/>
          </a:prstGeom>
          <a:noFill/>
          <a:ln/>
        </p:spPr>
        <p:txBody>
          <a:bodyPr wrap="square" lIns="0" tIns="0" rIns="0" bIns="0" rtlCol="0" anchor="t"/>
          <a:lstStyle/>
          <a:p>
            <a:pPr algn="l" indent="0" marL="0">
              <a:lnSpc>
                <a:spcPct val="100000"/>
              </a:lnSpc>
              <a:buNone/>
            </a:pPr>
            <a:r>
              <a:rPr lang="en-US" sz="1000" dirty="0">
                <a:solidFill>
                  <a:srgbClr val="A1B2C4"/>
                </a:solidFill>
                <a:latin typeface="Inter" pitchFamily="34" charset="0"/>
                <a:ea typeface="Inter" pitchFamily="34" charset="-122"/>
                <a:cs typeface="Inter" pitchFamily="34" charset="-120"/>
              </a:rPr>
              <a:t>Execute nav / pick / nav / place</a:t>
            </a:r>
            <a:endParaRPr lang="en-US" sz="1000" dirty="0"/>
          </a:p>
        </p:txBody>
      </p:sp>
      <p:sp>
        <p:nvSpPr>
          <p:cNvPr id="39" name="Shape 37"/>
          <p:cNvSpPr/>
          <p:nvPr/>
        </p:nvSpPr>
        <p:spPr>
          <a:xfrm>
            <a:off x="8092440" y="3950208"/>
            <a:ext cx="3191256" cy="841248"/>
          </a:xfrm>
          <a:prstGeom prst="roundRect">
            <a:avLst>
              <a:gd name="adj" fmla="val 15217"/>
            </a:avLst>
          </a:prstGeom>
          <a:solidFill>
            <a:srgbClr val="102335"/>
          </a:solidFill>
          <a:ln w="10795">
            <a:solidFill>
              <a:srgbClr val="294056"/>
            </a:solidFill>
            <a:prstDash val="solid"/>
          </a:ln>
        </p:spPr>
      </p:sp>
      <p:sp>
        <p:nvSpPr>
          <p:cNvPr id="40" name="Shape 38"/>
          <p:cNvSpPr/>
          <p:nvPr/>
        </p:nvSpPr>
        <p:spPr>
          <a:xfrm>
            <a:off x="8238744" y="4114800"/>
            <a:ext cx="41148" cy="512064"/>
          </a:xfrm>
          <a:prstGeom prst="rect">
            <a:avLst/>
          </a:prstGeom>
          <a:solidFill>
            <a:srgbClr val="FF8790"/>
          </a:solidFill>
          <a:ln w="10795">
            <a:solidFill>
              <a:srgbClr val="FF8790"/>
            </a:solidFill>
            <a:prstDash val="solid"/>
          </a:ln>
        </p:spPr>
      </p:sp>
      <p:sp>
        <p:nvSpPr>
          <p:cNvPr id="41" name="Text 39"/>
          <p:cNvSpPr/>
          <p:nvPr/>
        </p:nvSpPr>
        <p:spPr>
          <a:xfrm>
            <a:off x="8385048" y="4133088"/>
            <a:ext cx="2670048" cy="384048"/>
          </a:xfrm>
          <a:prstGeom prst="rect">
            <a:avLst/>
          </a:prstGeom>
          <a:noFill/>
          <a:ln/>
        </p:spPr>
        <p:txBody>
          <a:bodyPr wrap="square" lIns="0" tIns="0" rIns="0" bIns="0" rtlCol="0" anchor="ctr"/>
          <a:lstStyle/>
          <a:p>
            <a:pPr algn="l" indent="0" marL="0">
              <a:lnSpc>
                <a:spcPct val="100000"/>
              </a:lnSpc>
              <a:buNone/>
            </a:pPr>
            <a:r>
              <a:rPr lang="en-US" sz="1170" b="1" dirty="0">
                <a:solidFill>
                  <a:srgbClr val="F5F7FC"/>
                </a:solidFill>
                <a:latin typeface="Inter" pitchFamily="34" charset="0"/>
                <a:ea typeface="Inter" pitchFamily="34" charset="-122"/>
                <a:cs typeface="Inter" pitchFamily="34" charset="-120"/>
              </a:rPr>
              <a:t>NO / UNKNOWN</a:t>
            </a:r>
            <a:endParaRPr lang="en-US" sz="1170" dirty="0"/>
          </a:p>
        </p:txBody>
      </p:sp>
      <p:sp>
        <p:nvSpPr>
          <p:cNvPr id="42" name="Text 40"/>
          <p:cNvSpPr/>
          <p:nvPr/>
        </p:nvSpPr>
        <p:spPr>
          <a:xfrm>
            <a:off x="8385048" y="4581144"/>
            <a:ext cx="2679192" cy="73152"/>
          </a:xfrm>
          <a:prstGeom prst="rect">
            <a:avLst/>
          </a:prstGeom>
          <a:noFill/>
          <a:ln/>
        </p:spPr>
        <p:txBody>
          <a:bodyPr wrap="square" lIns="0" tIns="0" rIns="0" bIns="0" rtlCol="0" anchor="t"/>
          <a:lstStyle/>
          <a:p>
            <a:pPr algn="l" indent="0" marL="0">
              <a:lnSpc>
                <a:spcPct val="100000"/>
              </a:lnSpc>
              <a:buNone/>
            </a:pPr>
            <a:r>
              <a:rPr lang="en-US" sz="1020" dirty="0">
                <a:solidFill>
                  <a:srgbClr val="A1B2C4"/>
                </a:solidFill>
                <a:latin typeface="Inter" pitchFamily="34" charset="0"/>
                <a:ea typeface="Inter" pitchFamily="34" charset="-122"/>
                <a:cs typeface="Inter" pitchFamily="34" charset="-120"/>
              </a:rPr>
              <a:t>Ask user or choose storage</a:t>
            </a:r>
            <a:endParaRPr lang="en-US" sz="1020" dirty="0"/>
          </a:p>
        </p:txBody>
      </p:sp>
      <p:sp>
        <p:nvSpPr>
          <p:cNvPr id="43" name="Shape 41"/>
          <p:cNvSpPr/>
          <p:nvPr/>
        </p:nvSpPr>
        <p:spPr>
          <a:xfrm>
            <a:off x="1124712" y="5532120"/>
            <a:ext cx="9948672" cy="484632"/>
          </a:xfrm>
          <a:prstGeom prst="roundRect">
            <a:avLst>
              <a:gd name="adj" fmla="val 26415"/>
            </a:avLst>
          </a:prstGeom>
          <a:solidFill>
            <a:srgbClr val="152B40"/>
          </a:solidFill>
          <a:ln w="10795">
            <a:solidFill>
              <a:srgbClr val="294056"/>
            </a:solidFill>
            <a:prstDash val="solid"/>
          </a:ln>
        </p:spPr>
      </p:sp>
      <p:sp>
        <p:nvSpPr>
          <p:cNvPr id="44" name="Text 42"/>
          <p:cNvSpPr/>
          <p:nvPr/>
        </p:nvSpPr>
        <p:spPr>
          <a:xfrm>
            <a:off x="1344168" y="5641848"/>
            <a:ext cx="9518904" cy="265176"/>
          </a:xfrm>
          <a:prstGeom prst="rect">
            <a:avLst/>
          </a:prstGeom>
          <a:noFill/>
          <a:ln/>
        </p:spPr>
        <p:txBody>
          <a:bodyPr wrap="square" lIns="0" tIns="0" rIns="0" bIns="0" rtlCol="0" anchor="ctr"/>
          <a:lstStyle/>
          <a:p>
            <a:pPr algn="ctr" indent="0" marL="0">
              <a:lnSpc>
                <a:spcPct val="100000"/>
              </a:lnSpc>
              <a:buNone/>
            </a:pPr>
            <a:r>
              <a:rPr lang="en-US" sz="1300" b="1" dirty="0">
                <a:solidFill>
                  <a:srgbClr val="FF8790"/>
                </a:solidFill>
                <a:latin typeface="Inter" pitchFamily="34" charset="0"/>
                <a:ea typeface="Inter" pitchFamily="34" charset="-122"/>
                <a:cs typeface="Inter" pitchFamily="34" charset="-120"/>
              </a:rPr>
              <a:t>In experiments, disposition classification and object identity errors count as safety failures.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EXTENSION / ROOM TIDYING</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Same interface scales to multiple objects and destinations</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The planner loops over grounded objects; the underlying skill implementations remain unchanged.</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24</a:t>
            </a:r>
            <a:endParaRPr lang="en-US" sz="1100" dirty="0"/>
          </a:p>
        </p:txBody>
      </p:sp>
      <p:sp>
        <p:nvSpPr>
          <p:cNvPr id="11" name="Shape 9"/>
          <p:cNvSpPr/>
          <p:nvPr/>
        </p:nvSpPr>
        <p:spPr>
          <a:xfrm>
            <a:off x="576072" y="2267712"/>
            <a:ext cx="6455664" cy="3611880"/>
          </a:xfrm>
          <a:prstGeom prst="roundRect">
            <a:avLst>
              <a:gd name="adj" fmla="val 3544"/>
            </a:avLst>
          </a:prstGeom>
          <a:solidFill>
            <a:srgbClr val="102335"/>
          </a:solidFill>
          <a:ln w="10795">
            <a:solidFill>
              <a:srgbClr val="294056"/>
            </a:solidFill>
            <a:prstDash val="solid"/>
          </a:ln>
        </p:spPr>
      </p:sp>
      <p:sp>
        <p:nvSpPr>
          <p:cNvPr id="12" name="Text 10"/>
          <p:cNvSpPr/>
          <p:nvPr/>
        </p:nvSpPr>
        <p:spPr>
          <a:xfrm>
            <a:off x="795528" y="2487168"/>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B5A0F8"/>
                </a:solidFill>
                <a:latin typeface="Inter" pitchFamily="34" charset="0"/>
                <a:ea typeface="Inter" pitchFamily="34" charset="-122"/>
                <a:cs typeface="Inter" pitchFamily="34" charset="-120"/>
              </a:rPr>
              <a:t>SEMANTIC TASK QUEUE</a:t>
            </a:r>
            <a:endParaRPr lang="en-US" sz="1000" dirty="0"/>
          </a:p>
        </p:txBody>
      </p:sp>
      <p:sp>
        <p:nvSpPr>
          <p:cNvPr id="13" name="Shape 11"/>
          <p:cNvSpPr/>
          <p:nvPr/>
        </p:nvSpPr>
        <p:spPr>
          <a:xfrm>
            <a:off x="822960" y="2962656"/>
            <a:ext cx="5934456" cy="603504"/>
          </a:xfrm>
          <a:prstGeom prst="roundRect">
            <a:avLst>
              <a:gd name="adj" fmla="val 21212"/>
            </a:avLst>
          </a:prstGeom>
          <a:solidFill>
            <a:srgbClr val="152B40"/>
          </a:solidFill>
          <a:ln w="10795">
            <a:solidFill>
              <a:srgbClr val="294056"/>
            </a:solidFill>
            <a:prstDash val="solid"/>
          </a:ln>
        </p:spPr>
      </p:sp>
      <p:sp>
        <p:nvSpPr>
          <p:cNvPr id="14" name="Shape 12"/>
          <p:cNvSpPr/>
          <p:nvPr/>
        </p:nvSpPr>
        <p:spPr>
          <a:xfrm>
            <a:off x="969264" y="3108960"/>
            <a:ext cx="1005840" cy="283464"/>
          </a:xfrm>
          <a:prstGeom prst="roundRect">
            <a:avLst>
              <a:gd name="adj" fmla="val 58065"/>
            </a:avLst>
          </a:prstGeom>
          <a:solidFill>
            <a:srgbClr val="E2D07A">
              <a:alpha val="16000"/>
            </a:srgbClr>
          </a:solidFill>
          <a:ln w="10795">
            <a:solidFill>
              <a:srgbClr val="E2D07A"/>
            </a:solidFill>
            <a:prstDash val="solid"/>
          </a:ln>
        </p:spPr>
      </p:sp>
      <p:sp>
        <p:nvSpPr>
          <p:cNvPr id="15" name="Text 13"/>
          <p:cNvSpPr/>
          <p:nvPr/>
        </p:nvSpPr>
        <p:spPr>
          <a:xfrm>
            <a:off x="1024128" y="3118104"/>
            <a:ext cx="896112" cy="265176"/>
          </a:xfrm>
          <a:prstGeom prst="rect">
            <a:avLst/>
          </a:prstGeom>
          <a:noFill/>
          <a:ln/>
        </p:spPr>
        <p:txBody>
          <a:bodyPr wrap="square" lIns="0" tIns="0" rIns="0" bIns="0" rtlCol="0" anchor="ctr"/>
          <a:lstStyle/>
          <a:p>
            <a:pPr algn="ctr" indent="0" marL="0">
              <a:lnSpc>
                <a:spcPct val="100000"/>
              </a:lnSpc>
              <a:buNone/>
            </a:pPr>
            <a:r>
              <a:rPr lang="en-US" sz="950" b="1" dirty="0">
                <a:solidFill>
                  <a:srgbClr val="E2D07A"/>
                </a:solidFill>
                <a:latin typeface="Inter" pitchFamily="34" charset="0"/>
                <a:ea typeface="Inter" pitchFamily="34" charset="-122"/>
                <a:cs typeface="Inter" pitchFamily="34" charset="-120"/>
              </a:rPr>
              <a:t>cup_23</a:t>
            </a:r>
            <a:endParaRPr lang="en-US" sz="950" dirty="0"/>
          </a:p>
        </p:txBody>
      </p:sp>
      <p:sp>
        <p:nvSpPr>
          <p:cNvPr id="16" name="Text 14"/>
          <p:cNvSpPr/>
          <p:nvPr/>
        </p:nvSpPr>
        <p:spPr>
          <a:xfrm>
            <a:off x="2221992" y="3099816"/>
            <a:ext cx="1527048" cy="320040"/>
          </a:xfrm>
          <a:prstGeom prst="rect">
            <a:avLst/>
          </a:prstGeom>
          <a:noFill/>
          <a:ln/>
        </p:spPr>
        <p:txBody>
          <a:bodyPr wrap="square" lIns="0" tIns="0" rIns="0" bIns="0" rtlCol="0" anchor="ctr"/>
          <a:lstStyle/>
          <a:p>
            <a:pPr algn="l" indent="0" marL="0">
              <a:lnSpc>
                <a:spcPct val="100000"/>
              </a:lnSpc>
              <a:buNone/>
            </a:pPr>
            <a:r>
              <a:rPr lang="en-US" sz="1280" b="1" dirty="0">
                <a:solidFill>
                  <a:srgbClr val="F5F7FC"/>
                </a:solidFill>
                <a:latin typeface="Inter" pitchFamily="34" charset="0"/>
                <a:ea typeface="Inter" pitchFamily="34" charset="-122"/>
                <a:cs typeface="Inter" pitchFamily="34" charset="-120"/>
              </a:rPr>
              <a:t>paper cup</a:t>
            </a:r>
            <a:endParaRPr lang="en-US" sz="1280" dirty="0"/>
          </a:p>
        </p:txBody>
      </p:sp>
      <p:sp>
        <p:nvSpPr>
          <p:cNvPr id="17" name="Shape 15"/>
          <p:cNvSpPr/>
          <p:nvPr/>
        </p:nvSpPr>
        <p:spPr>
          <a:xfrm>
            <a:off x="3785616" y="3246120"/>
            <a:ext cx="347472" cy="0"/>
          </a:xfrm>
          <a:prstGeom prst="line">
            <a:avLst/>
          </a:prstGeom>
          <a:noFill/>
          <a:ln w="16510">
            <a:solidFill>
              <a:srgbClr val="A1B2C4"/>
            </a:solidFill>
            <a:prstDash val="solid"/>
            <a:headEnd type="none"/>
            <a:tailEnd type="triangle"/>
          </a:ln>
        </p:spPr>
      </p:sp>
      <p:sp>
        <p:nvSpPr>
          <p:cNvPr id="18" name="Text 16"/>
          <p:cNvSpPr/>
          <p:nvPr/>
        </p:nvSpPr>
        <p:spPr>
          <a:xfrm>
            <a:off x="4279392" y="3099816"/>
            <a:ext cx="2267712" cy="320040"/>
          </a:xfrm>
          <a:prstGeom prst="rect">
            <a:avLst/>
          </a:prstGeom>
          <a:noFill/>
          <a:ln/>
        </p:spPr>
        <p:txBody>
          <a:bodyPr wrap="square" lIns="0" tIns="0" rIns="0" bIns="0" rtlCol="0" anchor="ctr"/>
          <a:lstStyle/>
          <a:p>
            <a:pPr algn="l" indent="0" marL="0">
              <a:lnSpc>
                <a:spcPct val="100000"/>
              </a:lnSpc>
              <a:buNone/>
            </a:pPr>
            <a:r>
              <a:rPr lang="en-US" sz="1240" dirty="0">
                <a:solidFill>
                  <a:srgbClr val="A1B2C4"/>
                </a:solidFill>
                <a:latin typeface="Inter" pitchFamily="34" charset="0"/>
                <a:ea typeface="Inter" pitchFamily="34" charset="-122"/>
                <a:cs typeface="Inter" pitchFamily="34" charset="-120"/>
              </a:rPr>
              <a:t>trash_bin_01</a:t>
            </a:r>
            <a:endParaRPr lang="en-US" sz="1240" dirty="0"/>
          </a:p>
        </p:txBody>
      </p:sp>
      <p:sp>
        <p:nvSpPr>
          <p:cNvPr id="19" name="Shape 17"/>
          <p:cNvSpPr/>
          <p:nvPr/>
        </p:nvSpPr>
        <p:spPr>
          <a:xfrm>
            <a:off x="822960" y="3694176"/>
            <a:ext cx="5934456" cy="603504"/>
          </a:xfrm>
          <a:prstGeom prst="roundRect">
            <a:avLst>
              <a:gd name="adj" fmla="val 21212"/>
            </a:avLst>
          </a:prstGeom>
          <a:solidFill>
            <a:srgbClr val="152B40"/>
          </a:solidFill>
          <a:ln w="10795">
            <a:solidFill>
              <a:srgbClr val="294056"/>
            </a:solidFill>
            <a:prstDash val="solid"/>
          </a:ln>
        </p:spPr>
      </p:sp>
      <p:sp>
        <p:nvSpPr>
          <p:cNvPr id="20" name="Shape 18"/>
          <p:cNvSpPr/>
          <p:nvPr/>
        </p:nvSpPr>
        <p:spPr>
          <a:xfrm>
            <a:off x="969264" y="3840480"/>
            <a:ext cx="1005840" cy="283464"/>
          </a:xfrm>
          <a:prstGeom prst="roundRect">
            <a:avLst>
              <a:gd name="adj" fmla="val 58065"/>
            </a:avLst>
          </a:prstGeom>
          <a:solidFill>
            <a:srgbClr val="FF8790">
              <a:alpha val="16000"/>
            </a:srgbClr>
          </a:solidFill>
          <a:ln w="10795">
            <a:solidFill>
              <a:srgbClr val="FF8790"/>
            </a:solidFill>
            <a:prstDash val="solid"/>
          </a:ln>
        </p:spPr>
      </p:sp>
      <p:sp>
        <p:nvSpPr>
          <p:cNvPr id="21" name="Text 19"/>
          <p:cNvSpPr/>
          <p:nvPr/>
        </p:nvSpPr>
        <p:spPr>
          <a:xfrm>
            <a:off x="1024128" y="3849624"/>
            <a:ext cx="896112" cy="265176"/>
          </a:xfrm>
          <a:prstGeom prst="rect">
            <a:avLst/>
          </a:prstGeom>
          <a:noFill/>
          <a:ln/>
        </p:spPr>
        <p:txBody>
          <a:bodyPr wrap="square" lIns="0" tIns="0" rIns="0" bIns="0" rtlCol="0" anchor="ctr"/>
          <a:lstStyle/>
          <a:p>
            <a:pPr algn="ctr" indent="0" marL="0">
              <a:lnSpc>
                <a:spcPct val="100000"/>
              </a:lnSpc>
              <a:buNone/>
            </a:pPr>
            <a:r>
              <a:rPr lang="en-US" sz="950" b="1" dirty="0">
                <a:solidFill>
                  <a:srgbClr val="FF8790"/>
                </a:solidFill>
                <a:latin typeface="Inter" pitchFamily="34" charset="0"/>
                <a:ea typeface="Inter" pitchFamily="34" charset="-122"/>
                <a:cs typeface="Inter" pitchFamily="34" charset="-120"/>
              </a:rPr>
              <a:t>mug_08</a:t>
            </a:r>
            <a:endParaRPr lang="en-US" sz="950" dirty="0"/>
          </a:p>
        </p:txBody>
      </p:sp>
      <p:sp>
        <p:nvSpPr>
          <p:cNvPr id="22" name="Text 20"/>
          <p:cNvSpPr/>
          <p:nvPr/>
        </p:nvSpPr>
        <p:spPr>
          <a:xfrm>
            <a:off x="2221992" y="3831336"/>
            <a:ext cx="1527048" cy="320040"/>
          </a:xfrm>
          <a:prstGeom prst="rect">
            <a:avLst/>
          </a:prstGeom>
          <a:noFill/>
          <a:ln/>
        </p:spPr>
        <p:txBody>
          <a:bodyPr wrap="square" lIns="0" tIns="0" rIns="0" bIns="0" rtlCol="0" anchor="ctr"/>
          <a:lstStyle/>
          <a:p>
            <a:pPr algn="l" indent="0" marL="0">
              <a:lnSpc>
                <a:spcPct val="100000"/>
              </a:lnSpc>
              <a:buNone/>
            </a:pPr>
            <a:r>
              <a:rPr lang="en-US" sz="1280" b="1" dirty="0">
                <a:solidFill>
                  <a:srgbClr val="F5F7FC"/>
                </a:solidFill>
                <a:latin typeface="Inter" pitchFamily="34" charset="0"/>
                <a:ea typeface="Inter" pitchFamily="34" charset="-122"/>
                <a:cs typeface="Inter" pitchFamily="34" charset="-120"/>
              </a:rPr>
              <a:t>ceramic mug</a:t>
            </a:r>
            <a:endParaRPr lang="en-US" sz="1280" dirty="0"/>
          </a:p>
        </p:txBody>
      </p:sp>
      <p:sp>
        <p:nvSpPr>
          <p:cNvPr id="23" name="Shape 21"/>
          <p:cNvSpPr/>
          <p:nvPr/>
        </p:nvSpPr>
        <p:spPr>
          <a:xfrm>
            <a:off x="3785616" y="3977640"/>
            <a:ext cx="347472" cy="0"/>
          </a:xfrm>
          <a:prstGeom prst="line">
            <a:avLst/>
          </a:prstGeom>
          <a:noFill/>
          <a:ln w="16510">
            <a:solidFill>
              <a:srgbClr val="A1B2C4"/>
            </a:solidFill>
            <a:prstDash val="solid"/>
            <a:headEnd type="none"/>
            <a:tailEnd type="triangle"/>
          </a:ln>
        </p:spPr>
      </p:sp>
      <p:sp>
        <p:nvSpPr>
          <p:cNvPr id="24" name="Text 22"/>
          <p:cNvSpPr/>
          <p:nvPr/>
        </p:nvSpPr>
        <p:spPr>
          <a:xfrm>
            <a:off x="4279392" y="3831336"/>
            <a:ext cx="2267712" cy="320040"/>
          </a:xfrm>
          <a:prstGeom prst="rect">
            <a:avLst/>
          </a:prstGeom>
          <a:noFill/>
          <a:ln/>
        </p:spPr>
        <p:txBody>
          <a:bodyPr wrap="square" lIns="0" tIns="0" rIns="0" bIns="0" rtlCol="0" anchor="ctr"/>
          <a:lstStyle/>
          <a:p>
            <a:pPr algn="l" indent="0" marL="0">
              <a:lnSpc>
                <a:spcPct val="100000"/>
              </a:lnSpc>
              <a:buNone/>
            </a:pPr>
            <a:r>
              <a:rPr lang="en-US" sz="1240" dirty="0">
                <a:solidFill>
                  <a:srgbClr val="A1B2C4"/>
                </a:solidFill>
                <a:latin typeface="Inter" pitchFamily="34" charset="0"/>
                <a:ea typeface="Inter" pitchFamily="34" charset="-122"/>
                <a:cs typeface="Inter" pitchFamily="34" charset="-120"/>
              </a:rPr>
              <a:t>kitchen_counter</a:t>
            </a:r>
            <a:endParaRPr lang="en-US" sz="1240" dirty="0"/>
          </a:p>
        </p:txBody>
      </p:sp>
      <p:sp>
        <p:nvSpPr>
          <p:cNvPr id="25" name="Shape 23"/>
          <p:cNvSpPr/>
          <p:nvPr/>
        </p:nvSpPr>
        <p:spPr>
          <a:xfrm>
            <a:off x="822960" y="4425696"/>
            <a:ext cx="5934456" cy="603504"/>
          </a:xfrm>
          <a:prstGeom prst="roundRect">
            <a:avLst>
              <a:gd name="adj" fmla="val 21212"/>
            </a:avLst>
          </a:prstGeom>
          <a:solidFill>
            <a:srgbClr val="152B40"/>
          </a:solidFill>
          <a:ln w="10795">
            <a:solidFill>
              <a:srgbClr val="294056"/>
            </a:solidFill>
            <a:prstDash val="solid"/>
          </a:ln>
        </p:spPr>
      </p:sp>
      <p:sp>
        <p:nvSpPr>
          <p:cNvPr id="26" name="Shape 24"/>
          <p:cNvSpPr/>
          <p:nvPr/>
        </p:nvSpPr>
        <p:spPr>
          <a:xfrm>
            <a:off x="969264" y="4572000"/>
            <a:ext cx="1005840" cy="283464"/>
          </a:xfrm>
          <a:prstGeom prst="roundRect">
            <a:avLst>
              <a:gd name="adj" fmla="val 58065"/>
            </a:avLst>
          </a:prstGeom>
          <a:solidFill>
            <a:srgbClr val="65D5E9">
              <a:alpha val="16000"/>
            </a:srgbClr>
          </a:solidFill>
          <a:ln w="10795">
            <a:solidFill>
              <a:srgbClr val="65D5E9"/>
            </a:solidFill>
            <a:prstDash val="solid"/>
          </a:ln>
        </p:spPr>
      </p:sp>
      <p:sp>
        <p:nvSpPr>
          <p:cNvPr id="27" name="Text 25"/>
          <p:cNvSpPr/>
          <p:nvPr/>
        </p:nvSpPr>
        <p:spPr>
          <a:xfrm>
            <a:off x="1024128" y="4581144"/>
            <a:ext cx="896112" cy="265176"/>
          </a:xfrm>
          <a:prstGeom prst="rect">
            <a:avLst/>
          </a:prstGeom>
          <a:noFill/>
          <a:ln/>
        </p:spPr>
        <p:txBody>
          <a:bodyPr wrap="square" lIns="0" tIns="0" rIns="0" bIns="0" rtlCol="0" anchor="ctr"/>
          <a:lstStyle/>
          <a:p>
            <a:pPr algn="ctr" indent="0" marL="0">
              <a:lnSpc>
                <a:spcPct val="100000"/>
              </a:lnSpc>
              <a:buNone/>
            </a:pPr>
            <a:r>
              <a:rPr lang="en-US" sz="950" b="1" dirty="0">
                <a:solidFill>
                  <a:srgbClr val="65D5E9"/>
                </a:solidFill>
                <a:latin typeface="Inter" pitchFamily="34" charset="0"/>
                <a:ea typeface="Inter" pitchFamily="34" charset="-122"/>
                <a:cs typeface="Inter" pitchFamily="34" charset="-120"/>
              </a:rPr>
              <a:t>cloth_12</a:t>
            </a:r>
            <a:endParaRPr lang="en-US" sz="950" dirty="0"/>
          </a:p>
        </p:txBody>
      </p:sp>
      <p:sp>
        <p:nvSpPr>
          <p:cNvPr id="28" name="Text 26"/>
          <p:cNvSpPr/>
          <p:nvPr/>
        </p:nvSpPr>
        <p:spPr>
          <a:xfrm>
            <a:off x="2221992" y="4562856"/>
            <a:ext cx="1527048" cy="320040"/>
          </a:xfrm>
          <a:prstGeom prst="rect">
            <a:avLst/>
          </a:prstGeom>
          <a:noFill/>
          <a:ln/>
        </p:spPr>
        <p:txBody>
          <a:bodyPr wrap="square" lIns="0" tIns="0" rIns="0" bIns="0" rtlCol="0" anchor="ctr"/>
          <a:lstStyle/>
          <a:p>
            <a:pPr algn="l" indent="0" marL="0">
              <a:lnSpc>
                <a:spcPct val="100000"/>
              </a:lnSpc>
              <a:buNone/>
            </a:pPr>
            <a:r>
              <a:rPr lang="en-US" sz="1280" b="1" dirty="0">
                <a:solidFill>
                  <a:srgbClr val="F5F7FC"/>
                </a:solidFill>
                <a:latin typeface="Inter" pitchFamily="34" charset="0"/>
                <a:ea typeface="Inter" pitchFamily="34" charset="-122"/>
                <a:cs typeface="Inter" pitchFamily="34" charset="-120"/>
              </a:rPr>
              <a:t>cleaning cloth</a:t>
            </a:r>
            <a:endParaRPr lang="en-US" sz="1280" dirty="0"/>
          </a:p>
        </p:txBody>
      </p:sp>
      <p:sp>
        <p:nvSpPr>
          <p:cNvPr id="29" name="Shape 27"/>
          <p:cNvSpPr/>
          <p:nvPr/>
        </p:nvSpPr>
        <p:spPr>
          <a:xfrm>
            <a:off x="3785616" y="4709160"/>
            <a:ext cx="347472" cy="0"/>
          </a:xfrm>
          <a:prstGeom prst="line">
            <a:avLst/>
          </a:prstGeom>
          <a:noFill/>
          <a:ln w="16510">
            <a:solidFill>
              <a:srgbClr val="A1B2C4"/>
            </a:solidFill>
            <a:prstDash val="solid"/>
            <a:headEnd type="none"/>
            <a:tailEnd type="triangle"/>
          </a:ln>
        </p:spPr>
      </p:sp>
      <p:sp>
        <p:nvSpPr>
          <p:cNvPr id="30" name="Text 28"/>
          <p:cNvSpPr/>
          <p:nvPr/>
        </p:nvSpPr>
        <p:spPr>
          <a:xfrm>
            <a:off x="4279392" y="4562856"/>
            <a:ext cx="2267712" cy="320040"/>
          </a:xfrm>
          <a:prstGeom prst="rect">
            <a:avLst/>
          </a:prstGeom>
          <a:noFill/>
          <a:ln/>
        </p:spPr>
        <p:txBody>
          <a:bodyPr wrap="square" lIns="0" tIns="0" rIns="0" bIns="0" rtlCol="0" anchor="ctr"/>
          <a:lstStyle/>
          <a:p>
            <a:pPr algn="l" indent="0" marL="0">
              <a:lnSpc>
                <a:spcPct val="100000"/>
              </a:lnSpc>
              <a:buNone/>
            </a:pPr>
            <a:r>
              <a:rPr lang="en-US" sz="1240" dirty="0">
                <a:solidFill>
                  <a:srgbClr val="A1B2C4"/>
                </a:solidFill>
                <a:latin typeface="Inter" pitchFamily="34" charset="0"/>
                <a:ea typeface="Inter" pitchFamily="34" charset="-122"/>
                <a:cs typeface="Inter" pitchFamily="34" charset="-120"/>
              </a:rPr>
              <a:t>drawer_04</a:t>
            </a:r>
            <a:endParaRPr lang="en-US" sz="1240" dirty="0"/>
          </a:p>
        </p:txBody>
      </p:sp>
      <p:sp>
        <p:nvSpPr>
          <p:cNvPr id="31" name="Shape 29"/>
          <p:cNvSpPr/>
          <p:nvPr/>
        </p:nvSpPr>
        <p:spPr>
          <a:xfrm>
            <a:off x="7370064" y="2267712"/>
            <a:ext cx="4233672" cy="3611880"/>
          </a:xfrm>
          <a:prstGeom prst="roundRect">
            <a:avLst>
              <a:gd name="adj" fmla="val 3544"/>
            </a:avLst>
          </a:prstGeom>
          <a:solidFill>
            <a:srgbClr val="102335"/>
          </a:solidFill>
          <a:ln w="10795">
            <a:solidFill>
              <a:srgbClr val="294056"/>
            </a:solidFill>
            <a:prstDash val="solid"/>
          </a:ln>
        </p:spPr>
      </p:sp>
      <p:sp>
        <p:nvSpPr>
          <p:cNvPr id="32" name="Text 30"/>
          <p:cNvSpPr/>
          <p:nvPr/>
        </p:nvSpPr>
        <p:spPr>
          <a:xfrm>
            <a:off x="7607808" y="2505456"/>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48D7B2"/>
                </a:solidFill>
                <a:latin typeface="Inter" pitchFamily="34" charset="0"/>
                <a:ea typeface="Inter" pitchFamily="34" charset="-122"/>
                <a:cs typeface="Inter" pitchFamily="34" charset="-120"/>
              </a:rPr>
              <a:t>REPEATABLE LOOP</a:t>
            </a:r>
            <a:endParaRPr lang="en-US" sz="1000" dirty="0"/>
          </a:p>
        </p:txBody>
      </p:sp>
      <p:sp>
        <p:nvSpPr>
          <p:cNvPr id="33" name="Shape 31"/>
          <p:cNvSpPr/>
          <p:nvPr/>
        </p:nvSpPr>
        <p:spPr>
          <a:xfrm>
            <a:off x="7680960" y="2999232"/>
            <a:ext cx="118872" cy="118872"/>
          </a:xfrm>
          <a:prstGeom prst="ellipse">
            <a:avLst/>
          </a:prstGeom>
          <a:solidFill>
            <a:srgbClr val="6B9BFF"/>
          </a:solidFill>
          <a:ln w="12700">
            <a:solidFill>
              <a:srgbClr val="6B9BFF"/>
            </a:solidFill>
            <a:prstDash val="solid"/>
          </a:ln>
        </p:spPr>
      </p:sp>
      <p:sp>
        <p:nvSpPr>
          <p:cNvPr id="34" name="Text 32"/>
          <p:cNvSpPr/>
          <p:nvPr/>
        </p:nvSpPr>
        <p:spPr>
          <a:xfrm>
            <a:off x="8001000" y="2916936"/>
            <a:ext cx="3227832" cy="283464"/>
          </a:xfrm>
          <a:prstGeom prst="rect">
            <a:avLst/>
          </a:prstGeom>
          <a:noFill/>
          <a:ln/>
        </p:spPr>
        <p:txBody>
          <a:bodyPr wrap="square" lIns="0" tIns="0" rIns="0" bIns="0" rtlCol="0" anchor="ctr"/>
          <a:lstStyle/>
          <a:p>
            <a:pPr algn="l" indent="0" marL="0">
              <a:lnSpc>
                <a:spcPct val="100000"/>
              </a:lnSpc>
              <a:buNone/>
            </a:pPr>
            <a:r>
              <a:rPr lang="en-US" sz="1160" dirty="0">
                <a:solidFill>
                  <a:srgbClr val="DCE7F3"/>
                </a:solidFill>
                <a:latin typeface="Inter" pitchFamily="34" charset="0"/>
                <a:ea typeface="Inter" pitchFamily="34" charset="-122"/>
                <a:cs typeface="Inter" pitchFamily="34" charset="-120"/>
              </a:rPr>
              <a:t>FIND / GROUND</a:t>
            </a:r>
            <a:endParaRPr lang="en-US" sz="1160" dirty="0"/>
          </a:p>
        </p:txBody>
      </p:sp>
      <p:sp>
        <p:nvSpPr>
          <p:cNvPr id="35" name="Shape 33"/>
          <p:cNvSpPr/>
          <p:nvPr/>
        </p:nvSpPr>
        <p:spPr>
          <a:xfrm>
            <a:off x="7680960" y="3429000"/>
            <a:ext cx="118872" cy="118872"/>
          </a:xfrm>
          <a:prstGeom prst="ellipse">
            <a:avLst/>
          </a:prstGeom>
          <a:solidFill>
            <a:srgbClr val="6B9BFF"/>
          </a:solidFill>
          <a:ln w="12700">
            <a:solidFill>
              <a:srgbClr val="6B9BFF"/>
            </a:solidFill>
            <a:prstDash val="solid"/>
          </a:ln>
        </p:spPr>
      </p:sp>
      <p:sp>
        <p:nvSpPr>
          <p:cNvPr id="36" name="Text 34"/>
          <p:cNvSpPr/>
          <p:nvPr/>
        </p:nvSpPr>
        <p:spPr>
          <a:xfrm>
            <a:off x="8001000" y="3346704"/>
            <a:ext cx="3227832" cy="283464"/>
          </a:xfrm>
          <a:prstGeom prst="rect">
            <a:avLst/>
          </a:prstGeom>
          <a:noFill/>
          <a:ln/>
        </p:spPr>
        <p:txBody>
          <a:bodyPr wrap="square" lIns="0" tIns="0" rIns="0" bIns="0" rtlCol="0" anchor="ctr"/>
          <a:lstStyle/>
          <a:p>
            <a:pPr algn="l" indent="0" marL="0">
              <a:lnSpc>
                <a:spcPct val="100000"/>
              </a:lnSpc>
              <a:buNone/>
            </a:pPr>
            <a:r>
              <a:rPr lang="en-US" sz="1160" dirty="0">
                <a:solidFill>
                  <a:srgbClr val="DCE7F3"/>
                </a:solidFill>
                <a:latin typeface="Inter" pitchFamily="34" charset="0"/>
                <a:ea typeface="Inter" pitchFamily="34" charset="-122"/>
                <a:cs typeface="Inter" pitchFamily="34" charset="-120"/>
              </a:rPr>
              <a:t>NAVIGATE TO OBJECT</a:t>
            </a:r>
            <a:endParaRPr lang="en-US" sz="1160" dirty="0"/>
          </a:p>
        </p:txBody>
      </p:sp>
      <p:sp>
        <p:nvSpPr>
          <p:cNvPr id="37" name="Shape 35"/>
          <p:cNvSpPr/>
          <p:nvPr/>
        </p:nvSpPr>
        <p:spPr>
          <a:xfrm>
            <a:off x="7680960" y="3858768"/>
            <a:ext cx="118872" cy="118872"/>
          </a:xfrm>
          <a:prstGeom prst="ellipse">
            <a:avLst/>
          </a:prstGeom>
          <a:solidFill>
            <a:srgbClr val="FFC176"/>
          </a:solidFill>
          <a:ln w="12700">
            <a:solidFill>
              <a:srgbClr val="FFC176"/>
            </a:solidFill>
            <a:prstDash val="solid"/>
          </a:ln>
        </p:spPr>
      </p:sp>
      <p:sp>
        <p:nvSpPr>
          <p:cNvPr id="38" name="Text 36"/>
          <p:cNvSpPr/>
          <p:nvPr/>
        </p:nvSpPr>
        <p:spPr>
          <a:xfrm>
            <a:off x="8001000" y="3776472"/>
            <a:ext cx="3227832" cy="283464"/>
          </a:xfrm>
          <a:prstGeom prst="rect">
            <a:avLst/>
          </a:prstGeom>
          <a:noFill/>
          <a:ln/>
        </p:spPr>
        <p:txBody>
          <a:bodyPr wrap="square" lIns="0" tIns="0" rIns="0" bIns="0" rtlCol="0" anchor="ctr"/>
          <a:lstStyle/>
          <a:p>
            <a:pPr algn="l" indent="0" marL="0">
              <a:lnSpc>
                <a:spcPct val="100000"/>
              </a:lnSpc>
              <a:buNone/>
            </a:pPr>
            <a:r>
              <a:rPr lang="en-US" sz="1160" dirty="0">
                <a:solidFill>
                  <a:srgbClr val="DCE7F3"/>
                </a:solidFill>
                <a:latin typeface="Inter" pitchFamily="34" charset="0"/>
                <a:ea typeface="Inter" pitchFamily="34" charset="-122"/>
                <a:cs typeface="Inter" pitchFamily="34" charset="-120"/>
              </a:rPr>
              <a:t>VLA PICK</a:t>
            </a:r>
            <a:endParaRPr lang="en-US" sz="1160" dirty="0"/>
          </a:p>
        </p:txBody>
      </p:sp>
      <p:sp>
        <p:nvSpPr>
          <p:cNvPr id="39" name="Shape 37"/>
          <p:cNvSpPr/>
          <p:nvPr/>
        </p:nvSpPr>
        <p:spPr>
          <a:xfrm>
            <a:off x="7680960" y="4288536"/>
            <a:ext cx="118872" cy="118872"/>
          </a:xfrm>
          <a:prstGeom prst="ellipse">
            <a:avLst/>
          </a:prstGeom>
          <a:solidFill>
            <a:srgbClr val="6B9BFF"/>
          </a:solidFill>
          <a:ln w="12700">
            <a:solidFill>
              <a:srgbClr val="6B9BFF"/>
            </a:solidFill>
            <a:prstDash val="solid"/>
          </a:ln>
        </p:spPr>
      </p:sp>
      <p:sp>
        <p:nvSpPr>
          <p:cNvPr id="40" name="Text 38"/>
          <p:cNvSpPr/>
          <p:nvPr/>
        </p:nvSpPr>
        <p:spPr>
          <a:xfrm>
            <a:off x="8001000" y="4206240"/>
            <a:ext cx="3227832" cy="283464"/>
          </a:xfrm>
          <a:prstGeom prst="rect">
            <a:avLst/>
          </a:prstGeom>
          <a:noFill/>
          <a:ln/>
        </p:spPr>
        <p:txBody>
          <a:bodyPr wrap="square" lIns="0" tIns="0" rIns="0" bIns="0" rtlCol="0" anchor="ctr"/>
          <a:lstStyle/>
          <a:p>
            <a:pPr algn="l" indent="0" marL="0">
              <a:lnSpc>
                <a:spcPct val="100000"/>
              </a:lnSpc>
              <a:buNone/>
            </a:pPr>
            <a:r>
              <a:rPr lang="en-US" sz="1160" dirty="0">
                <a:solidFill>
                  <a:srgbClr val="DCE7F3"/>
                </a:solidFill>
                <a:latin typeface="Inter" pitchFamily="34" charset="0"/>
                <a:ea typeface="Inter" pitchFamily="34" charset="-122"/>
                <a:cs typeface="Inter" pitchFamily="34" charset="-120"/>
              </a:rPr>
              <a:t>NAVIGATE TO DEST</a:t>
            </a:r>
            <a:endParaRPr lang="en-US" sz="1160" dirty="0"/>
          </a:p>
        </p:txBody>
      </p:sp>
      <p:sp>
        <p:nvSpPr>
          <p:cNvPr id="41" name="Shape 39"/>
          <p:cNvSpPr/>
          <p:nvPr/>
        </p:nvSpPr>
        <p:spPr>
          <a:xfrm>
            <a:off x="7680960" y="4718304"/>
            <a:ext cx="118872" cy="118872"/>
          </a:xfrm>
          <a:prstGeom prst="ellipse">
            <a:avLst/>
          </a:prstGeom>
          <a:solidFill>
            <a:srgbClr val="FFC176"/>
          </a:solidFill>
          <a:ln w="12700">
            <a:solidFill>
              <a:srgbClr val="FFC176"/>
            </a:solidFill>
            <a:prstDash val="solid"/>
          </a:ln>
        </p:spPr>
      </p:sp>
      <p:sp>
        <p:nvSpPr>
          <p:cNvPr id="42" name="Text 40"/>
          <p:cNvSpPr/>
          <p:nvPr/>
        </p:nvSpPr>
        <p:spPr>
          <a:xfrm>
            <a:off x="8001000" y="4636008"/>
            <a:ext cx="3227832" cy="283464"/>
          </a:xfrm>
          <a:prstGeom prst="rect">
            <a:avLst/>
          </a:prstGeom>
          <a:noFill/>
          <a:ln/>
        </p:spPr>
        <p:txBody>
          <a:bodyPr wrap="square" lIns="0" tIns="0" rIns="0" bIns="0" rtlCol="0" anchor="ctr"/>
          <a:lstStyle/>
          <a:p>
            <a:pPr algn="l" indent="0" marL="0">
              <a:lnSpc>
                <a:spcPct val="100000"/>
              </a:lnSpc>
              <a:buNone/>
            </a:pPr>
            <a:r>
              <a:rPr lang="en-US" sz="1160" dirty="0">
                <a:solidFill>
                  <a:srgbClr val="DCE7F3"/>
                </a:solidFill>
                <a:latin typeface="Inter" pitchFamily="34" charset="0"/>
                <a:ea typeface="Inter" pitchFamily="34" charset="-122"/>
                <a:cs typeface="Inter" pitchFamily="34" charset="-120"/>
              </a:rPr>
              <a:t>VLA PLACE</a:t>
            </a:r>
            <a:endParaRPr lang="en-US" sz="1160" dirty="0"/>
          </a:p>
        </p:txBody>
      </p:sp>
      <p:sp>
        <p:nvSpPr>
          <p:cNvPr id="43" name="Shape 41"/>
          <p:cNvSpPr/>
          <p:nvPr/>
        </p:nvSpPr>
        <p:spPr>
          <a:xfrm>
            <a:off x="7680960" y="5148072"/>
            <a:ext cx="118872" cy="118872"/>
          </a:xfrm>
          <a:prstGeom prst="ellipse">
            <a:avLst/>
          </a:prstGeom>
          <a:solidFill>
            <a:srgbClr val="48D7B2"/>
          </a:solidFill>
          <a:ln w="12700">
            <a:solidFill>
              <a:srgbClr val="48D7B2"/>
            </a:solidFill>
            <a:prstDash val="solid"/>
          </a:ln>
        </p:spPr>
      </p:sp>
      <p:sp>
        <p:nvSpPr>
          <p:cNvPr id="44" name="Text 42"/>
          <p:cNvSpPr/>
          <p:nvPr/>
        </p:nvSpPr>
        <p:spPr>
          <a:xfrm>
            <a:off x="8001000" y="5065776"/>
            <a:ext cx="3227832" cy="283464"/>
          </a:xfrm>
          <a:prstGeom prst="rect">
            <a:avLst/>
          </a:prstGeom>
          <a:noFill/>
          <a:ln/>
        </p:spPr>
        <p:txBody>
          <a:bodyPr wrap="square" lIns="0" tIns="0" rIns="0" bIns="0" rtlCol="0" anchor="ctr"/>
          <a:lstStyle/>
          <a:p>
            <a:pPr algn="l" indent="0" marL="0">
              <a:lnSpc>
                <a:spcPct val="100000"/>
              </a:lnSpc>
              <a:buNone/>
            </a:pPr>
            <a:r>
              <a:rPr lang="en-US" sz="1160" b="1" dirty="0">
                <a:solidFill>
                  <a:srgbClr val="DCE7F3"/>
                </a:solidFill>
                <a:latin typeface="Inter" pitchFamily="34" charset="0"/>
                <a:ea typeface="Inter" pitchFamily="34" charset="-122"/>
                <a:cs typeface="Inter" pitchFamily="34" charset="-120"/>
              </a:rPr>
              <a:t>VERIFY &amp; NEXT</a:t>
            </a:r>
            <a:endParaRPr lang="en-US" sz="116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RECOVERY LOGIC</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Failures should escalate to the smallest responsible agent</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Use local recovery first; request mission-level replanning only when necessary.</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25</a:t>
            </a:r>
            <a:endParaRPr lang="en-US" sz="1100" dirty="0"/>
          </a:p>
        </p:txBody>
      </p:sp>
      <p:sp>
        <p:nvSpPr>
          <p:cNvPr id="11" name="Text 9"/>
          <p:cNvSpPr/>
          <p:nvPr/>
        </p:nvSpPr>
        <p:spPr>
          <a:xfrm>
            <a:off x="640080" y="2212848"/>
            <a:ext cx="2926080" cy="256032"/>
          </a:xfrm>
          <a:prstGeom prst="rect">
            <a:avLst/>
          </a:prstGeom>
          <a:noFill/>
          <a:ln/>
        </p:spPr>
        <p:txBody>
          <a:bodyPr wrap="square" lIns="0" tIns="0" rIns="0" bIns="0" rtlCol="0" anchor="ctr"/>
          <a:lstStyle/>
          <a:p>
            <a:pPr algn="l" indent="0" marL="0">
              <a:lnSpc>
                <a:spcPct val="100000"/>
              </a:lnSpc>
              <a:buNone/>
            </a:pPr>
            <a:r>
              <a:rPr lang="en-US" sz="1060" b="1" dirty="0">
                <a:solidFill>
                  <a:srgbClr val="65D5E9"/>
                </a:solidFill>
                <a:latin typeface="Inter" pitchFamily="34" charset="0"/>
                <a:ea typeface="Inter" pitchFamily="34" charset="-122"/>
                <a:cs typeface="Inter" pitchFamily="34" charset="-120"/>
              </a:rPr>
              <a:t>FAILURE EVENT</a:t>
            </a:r>
            <a:endParaRPr lang="en-US" sz="1060" dirty="0"/>
          </a:p>
        </p:txBody>
      </p:sp>
      <p:sp>
        <p:nvSpPr>
          <p:cNvPr id="12" name="Text 10"/>
          <p:cNvSpPr/>
          <p:nvPr/>
        </p:nvSpPr>
        <p:spPr>
          <a:xfrm>
            <a:off x="3657600" y="2212848"/>
            <a:ext cx="2542032" cy="256032"/>
          </a:xfrm>
          <a:prstGeom prst="rect">
            <a:avLst/>
          </a:prstGeom>
          <a:noFill/>
          <a:ln/>
        </p:spPr>
        <p:txBody>
          <a:bodyPr wrap="square" lIns="0" tIns="0" rIns="0" bIns="0" rtlCol="0" anchor="ctr"/>
          <a:lstStyle/>
          <a:p>
            <a:pPr algn="l" indent="0" marL="0">
              <a:lnSpc>
                <a:spcPct val="100000"/>
              </a:lnSpc>
              <a:buNone/>
            </a:pPr>
            <a:r>
              <a:rPr lang="en-US" sz="1060" b="1" dirty="0">
                <a:solidFill>
                  <a:srgbClr val="65D5E9"/>
                </a:solidFill>
                <a:latin typeface="Inter" pitchFamily="34" charset="0"/>
                <a:ea typeface="Inter" pitchFamily="34" charset="-122"/>
                <a:cs typeface="Inter" pitchFamily="34" charset="-120"/>
              </a:rPr>
              <a:t>RECOVERY OWNER</a:t>
            </a:r>
            <a:endParaRPr lang="en-US" sz="1060" dirty="0"/>
          </a:p>
        </p:txBody>
      </p:sp>
      <p:sp>
        <p:nvSpPr>
          <p:cNvPr id="13" name="Text 11"/>
          <p:cNvSpPr/>
          <p:nvPr/>
        </p:nvSpPr>
        <p:spPr>
          <a:xfrm>
            <a:off x="6355080" y="2212848"/>
            <a:ext cx="4681728" cy="256032"/>
          </a:xfrm>
          <a:prstGeom prst="rect">
            <a:avLst/>
          </a:prstGeom>
          <a:noFill/>
          <a:ln/>
        </p:spPr>
        <p:txBody>
          <a:bodyPr wrap="square" lIns="0" tIns="0" rIns="0" bIns="0" rtlCol="0" anchor="ctr"/>
          <a:lstStyle/>
          <a:p>
            <a:pPr algn="l" indent="0" marL="0">
              <a:lnSpc>
                <a:spcPct val="100000"/>
              </a:lnSpc>
              <a:buNone/>
            </a:pPr>
            <a:r>
              <a:rPr lang="en-US" sz="1060" b="1" dirty="0">
                <a:solidFill>
                  <a:srgbClr val="65D5E9"/>
                </a:solidFill>
                <a:latin typeface="Inter" pitchFamily="34" charset="0"/>
                <a:ea typeface="Inter" pitchFamily="34" charset="-122"/>
                <a:cs typeface="Inter" pitchFamily="34" charset="-120"/>
              </a:rPr>
              <a:t>CORRECT BEHAVIOR</a:t>
            </a:r>
            <a:endParaRPr lang="en-US" sz="1060" dirty="0"/>
          </a:p>
        </p:txBody>
      </p:sp>
      <p:sp>
        <p:nvSpPr>
          <p:cNvPr id="14" name="Shape 12"/>
          <p:cNvSpPr/>
          <p:nvPr/>
        </p:nvSpPr>
        <p:spPr>
          <a:xfrm>
            <a:off x="566928" y="2587752"/>
            <a:ext cx="11064240" cy="448056"/>
          </a:xfrm>
          <a:prstGeom prst="roundRect">
            <a:avLst>
              <a:gd name="adj" fmla="val 6122"/>
            </a:avLst>
          </a:prstGeom>
          <a:solidFill>
            <a:srgbClr val="102335"/>
          </a:solidFill>
          <a:ln w="10795">
            <a:solidFill>
              <a:srgbClr val="294056"/>
            </a:solidFill>
            <a:prstDash val="solid"/>
          </a:ln>
        </p:spPr>
      </p:sp>
      <p:sp>
        <p:nvSpPr>
          <p:cNvPr id="15" name="Text 13"/>
          <p:cNvSpPr/>
          <p:nvPr/>
        </p:nvSpPr>
        <p:spPr>
          <a:xfrm>
            <a:off x="713232" y="2651760"/>
            <a:ext cx="2779776" cy="301752"/>
          </a:xfrm>
          <a:prstGeom prst="rect">
            <a:avLst/>
          </a:prstGeom>
          <a:noFill/>
          <a:ln/>
        </p:spPr>
        <p:txBody>
          <a:bodyPr wrap="square" lIns="0" tIns="0" rIns="0" bIns="0" rtlCol="0" anchor="ctr"/>
          <a:lstStyle/>
          <a:p>
            <a:pPr algn="l" indent="0" marL="0">
              <a:lnSpc>
                <a:spcPct val="100000"/>
              </a:lnSpc>
              <a:buNone/>
            </a:pPr>
            <a:r>
              <a:rPr lang="en-US" sz="1240" b="1" dirty="0">
                <a:solidFill>
                  <a:srgbClr val="F5F7FC"/>
                </a:solidFill>
                <a:latin typeface="Inter" pitchFamily="34" charset="0"/>
                <a:ea typeface="Inter" pitchFamily="34" charset="-122"/>
                <a:cs typeface="Inter" pitchFamily="34" charset="-120"/>
              </a:rPr>
              <a:t>Cup not visible</a:t>
            </a:r>
            <a:endParaRPr lang="en-US" sz="1240" dirty="0"/>
          </a:p>
        </p:txBody>
      </p:sp>
      <p:sp>
        <p:nvSpPr>
          <p:cNvPr id="16" name="Text 14"/>
          <p:cNvSpPr/>
          <p:nvPr/>
        </p:nvSpPr>
        <p:spPr>
          <a:xfrm>
            <a:off x="3703320" y="2651760"/>
            <a:ext cx="2523744" cy="301752"/>
          </a:xfrm>
          <a:prstGeom prst="rect">
            <a:avLst/>
          </a:prstGeom>
          <a:noFill/>
          <a:ln/>
        </p:spPr>
        <p:txBody>
          <a:bodyPr wrap="square" lIns="0" tIns="0" rIns="0" bIns="0" rtlCol="0" anchor="ctr"/>
          <a:lstStyle/>
          <a:p>
            <a:pPr algn="l" indent="0" marL="0">
              <a:lnSpc>
                <a:spcPct val="100000"/>
              </a:lnSpc>
              <a:buNone/>
            </a:pPr>
            <a:r>
              <a:rPr lang="en-US" sz="1220" dirty="0">
                <a:solidFill>
                  <a:srgbClr val="48D7B2"/>
                </a:solidFill>
                <a:latin typeface="Inter" pitchFamily="34" charset="0"/>
                <a:ea typeface="Inter" pitchFamily="34" charset="-122"/>
                <a:cs typeface="Inter" pitchFamily="34" charset="-120"/>
              </a:rPr>
              <a:t>Active perception</a:t>
            </a:r>
            <a:endParaRPr lang="en-US" sz="1220" dirty="0"/>
          </a:p>
        </p:txBody>
      </p:sp>
      <p:sp>
        <p:nvSpPr>
          <p:cNvPr id="17" name="Text 15"/>
          <p:cNvSpPr/>
          <p:nvPr/>
        </p:nvSpPr>
        <p:spPr>
          <a:xfrm>
            <a:off x="6419088" y="2651760"/>
            <a:ext cx="4873752" cy="301752"/>
          </a:xfrm>
          <a:prstGeom prst="rect">
            <a:avLst/>
          </a:prstGeom>
          <a:noFill/>
          <a:ln/>
        </p:spPr>
        <p:txBody>
          <a:bodyPr wrap="square" lIns="0" tIns="0" rIns="0" bIns="0" rtlCol="0" anchor="ctr"/>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new viewpoint / inspect table</a:t>
            </a:r>
            <a:endParaRPr lang="en-US" sz="1220" dirty="0"/>
          </a:p>
        </p:txBody>
      </p:sp>
      <p:sp>
        <p:nvSpPr>
          <p:cNvPr id="18" name="Shape 16"/>
          <p:cNvSpPr/>
          <p:nvPr/>
        </p:nvSpPr>
        <p:spPr>
          <a:xfrm>
            <a:off x="566928" y="3090672"/>
            <a:ext cx="11064240" cy="448056"/>
          </a:xfrm>
          <a:prstGeom prst="roundRect">
            <a:avLst>
              <a:gd name="adj" fmla="val 6122"/>
            </a:avLst>
          </a:prstGeom>
          <a:solidFill>
            <a:srgbClr val="152B40"/>
          </a:solidFill>
          <a:ln w="10795">
            <a:solidFill>
              <a:srgbClr val="294056"/>
            </a:solidFill>
            <a:prstDash val="solid"/>
          </a:ln>
        </p:spPr>
      </p:sp>
      <p:sp>
        <p:nvSpPr>
          <p:cNvPr id="19" name="Text 17"/>
          <p:cNvSpPr/>
          <p:nvPr/>
        </p:nvSpPr>
        <p:spPr>
          <a:xfrm>
            <a:off x="713232" y="3154680"/>
            <a:ext cx="2779776" cy="301752"/>
          </a:xfrm>
          <a:prstGeom prst="rect">
            <a:avLst/>
          </a:prstGeom>
          <a:noFill/>
          <a:ln/>
        </p:spPr>
        <p:txBody>
          <a:bodyPr wrap="square" lIns="0" tIns="0" rIns="0" bIns="0" rtlCol="0" anchor="ctr"/>
          <a:lstStyle/>
          <a:p>
            <a:pPr algn="l" indent="0" marL="0">
              <a:lnSpc>
                <a:spcPct val="100000"/>
              </a:lnSpc>
              <a:buNone/>
            </a:pPr>
            <a:r>
              <a:rPr lang="en-US" sz="1240" b="1" dirty="0">
                <a:solidFill>
                  <a:srgbClr val="F5F7FC"/>
                </a:solidFill>
                <a:latin typeface="Inter" pitchFamily="34" charset="0"/>
                <a:ea typeface="Inter" pitchFamily="34" charset="-122"/>
                <a:cs typeface="Inter" pitchFamily="34" charset="-120"/>
              </a:rPr>
              <a:t>Cup ambiguous</a:t>
            </a:r>
            <a:endParaRPr lang="en-US" sz="1240" dirty="0"/>
          </a:p>
        </p:txBody>
      </p:sp>
      <p:sp>
        <p:nvSpPr>
          <p:cNvPr id="20" name="Text 18"/>
          <p:cNvSpPr/>
          <p:nvPr/>
        </p:nvSpPr>
        <p:spPr>
          <a:xfrm>
            <a:off x="3703320" y="3154680"/>
            <a:ext cx="2523744" cy="301752"/>
          </a:xfrm>
          <a:prstGeom prst="rect">
            <a:avLst/>
          </a:prstGeom>
          <a:noFill/>
          <a:ln/>
        </p:spPr>
        <p:txBody>
          <a:bodyPr wrap="square" lIns="0" tIns="0" rIns="0" bIns="0" rtlCol="0" anchor="ctr"/>
          <a:lstStyle/>
          <a:p>
            <a:pPr algn="l" indent="0" marL="0">
              <a:lnSpc>
                <a:spcPct val="100000"/>
              </a:lnSpc>
              <a:buNone/>
            </a:pPr>
            <a:r>
              <a:rPr lang="en-US" sz="1220" dirty="0">
                <a:solidFill>
                  <a:srgbClr val="48D7B2"/>
                </a:solidFill>
                <a:latin typeface="Inter" pitchFamily="34" charset="0"/>
                <a:ea typeface="Inter" pitchFamily="34" charset="-122"/>
                <a:cs typeface="Inter" pitchFamily="34" charset="-120"/>
              </a:rPr>
              <a:t>Grounding + planner</a:t>
            </a:r>
            <a:endParaRPr lang="en-US" sz="1220" dirty="0"/>
          </a:p>
        </p:txBody>
      </p:sp>
      <p:sp>
        <p:nvSpPr>
          <p:cNvPr id="21" name="Text 19"/>
          <p:cNvSpPr/>
          <p:nvPr/>
        </p:nvSpPr>
        <p:spPr>
          <a:xfrm>
            <a:off x="6419088" y="3154680"/>
            <a:ext cx="4873752" cy="301752"/>
          </a:xfrm>
          <a:prstGeom prst="rect">
            <a:avLst/>
          </a:prstGeom>
          <a:noFill/>
          <a:ln/>
        </p:spPr>
        <p:txBody>
          <a:bodyPr wrap="square" lIns="0" tIns="0" rIns="0" bIns="0" rtlCol="0" anchor="ctr"/>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reobserve / ask user</a:t>
            </a:r>
            <a:endParaRPr lang="en-US" sz="1220" dirty="0"/>
          </a:p>
        </p:txBody>
      </p:sp>
      <p:sp>
        <p:nvSpPr>
          <p:cNvPr id="22" name="Shape 20"/>
          <p:cNvSpPr/>
          <p:nvPr/>
        </p:nvSpPr>
        <p:spPr>
          <a:xfrm>
            <a:off x="566928" y="3593592"/>
            <a:ext cx="11064240" cy="448056"/>
          </a:xfrm>
          <a:prstGeom prst="roundRect">
            <a:avLst>
              <a:gd name="adj" fmla="val 6122"/>
            </a:avLst>
          </a:prstGeom>
          <a:solidFill>
            <a:srgbClr val="102335"/>
          </a:solidFill>
          <a:ln w="10795">
            <a:solidFill>
              <a:srgbClr val="294056"/>
            </a:solidFill>
            <a:prstDash val="solid"/>
          </a:ln>
        </p:spPr>
      </p:sp>
      <p:sp>
        <p:nvSpPr>
          <p:cNvPr id="23" name="Text 21"/>
          <p:cNvSpPr/>
          <p:nvPr/>
        </p:nvSpPr>
        <p:spPr>
          <a:xfrm>
            <a:off x="713232" y="3657600"/>
            <a:ext cx="2779776" cy="301752"/>
          </a:xfrm>
          <a:prstGeom prst="rect">
            <a:avLst/>
          </a:prstGeom>
          <a:noFill/>
          <a:ln/>
        </p:spPr>
        <p:txBody>
          <a:bodyPr wrap="square" lIns="0" tIns="0" rIns="0" bIns="0" rtlCol="0" anchor="ctr"/>
          <a:lstStyle/>
          <a:p>
            <a:pPr algn="l" indent="0" marL="0">
              <a:lnSpc>
                <a:spcPct val="100000"/>
              </a:lnSpc>
              <a:buNone/>
            </a:pPr>
            <a:r>
              <a:rPr lang="en-US" sz="1240" b="1" dirty="0">
                <a:solidFill>
                  <a:srgbClr val="F5F7FC"/>
                </a:solidFill>
                <a:latin typeface="Inter" pitchFamily="34" charset="0"/>
                <a:ea typeface="Inter" pitchFamily="34" charset="-122"/>
                <a:cs typeface="Inter" pitchFamily="34" charset="-120"/>
              </a:rPr>
              <a:t>Route blocked</a:t>
            </a:r>
            <a:endParaRPr lang="en-US" sz="1240" dirty="0"/>
          </a:p>
        </p:txBody>
      </p:sp>
      <p:sp>
        <p:nvSpPr>
          <p:cNvPr id="24" name="Text 22"/>
          <p:cNvSpPr/>
          <p:nvPr/>
        </p:nvSpPr>
        <p:spPr>
          <a:xfrm>
            <a:off x="3703320" y="3657600"/>
            <a:ext cx="2523744" cy="301752"/>
          </a:xfrm>
          <a:prstGeom prst="rect">
            <a:avLst/>
          </a:prstGeom>
          <a:noFill/>
          <a:ln/>
        </p:spPr>
        <p:txBody>
          <a:bodyPr wrap="square" lIns="0" tIns="0" rIns="0" bIns="0" rtlCol="0" anchor="ctr"/>
          <a:lstStyle/>
          <a:p>
            <a:pPr algn="l" indent="0" marL="0">
              <a:lnSpc>
                <a:spcPct val="100000"/>
              </a:lnSpc>
              <a:buNone/>
            </a:pPr>
            <a:r>
              <a:rPr lang="en-US" sz="1220" dirty="0">
                <a:solidFill>
                  <a:srgbClr val="48D7B2"/>
                </a:solidFill>
                <a:latin typeface="Inter" pitchFamily="34" charset="0"/>
                <a:ea typeface="Inter" pitchFamily="34" charset="-122"/>
                <a:cs typeface="Inter" pitchFamily="34" charset="-120"/>
              </a:rPr>
              <a:t>Navigation</a:t>
            </a:r>
            <a:endParaRPr lang="en-US" sz="1220" dirty="0"/>
          </a:p>
        </p:txBody>
      </p:sp>
      <p:sp>
        <p:nvSpPr>
          <p:cNvPr id="25" name="Text 23"/>
          <p:cNvSpPr/>
          <p:nvPr/>
        </p:nvSpPr>
        <p:spPr>
          <a:xfrm>
            <a:off x="6419088" y="3657600"/>
            <a:ext cx="4873752" cy="301752"/>
          </a:xfrm>
          <a:prstGeom prst="rect">
            <a:avLst/>
          </a:prstGeom>
          <a:noFill/>
          <a:ln/>
        </p:spPr>
        <p:txBody>
          <a:bodyPr wrap="square" lIns="0" tIns="0" rIns="0" bIns="0" rtlCol="0" anchor="ctr"/>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costmap replan / safe stop</a:t>
            </a:r>
            <a:endParaRPr lang="en-US" sz="1220" dirty="0"/>
          </a:p>
        </p:txBody>
      </p:sp>
      <p:sp>
        <p:nvSpPr>
          <p:cNvPr id="26" name="Shape 24"/>
          <p:cNvSpPr/>
          <p:nvPr/>
        </p:nvSpPr>
        <p:spPr>
          <a:xfrm>
            <a:off x="566928" y="4096512"/>
            <a:ext cx="11064240" cy="448056"/>
          </a:xfrm>
          <a:prstGeom prst="roundRect">
            <a:avLst>
              <a:gd name="adj" fmla="val 6122"/>
            </a:avLst>
          </a:prstGeom>
          <a:solidFill>
            <a:srgbClr val="152B40"/>
          </a:solidFill>
          <a:ln w="10795">
            <a:solidFill>
              <a:srgbClr val="294056"/>
            </a:solidFill>
            <a:prstDash val="solid"/>
          </a:ln>
        </p:spPr>
      </p:sp>
      <p:sp>
        <p:nvSpPr>
          <p:cNvPr id="27" name="Text 25"/>
          <p:cNvSpPr/>
          <p:nvPr/>
        </p:nvSpPr>
        <p:spPr>
          <a:xfrm>
            <a:off x="713232" y="4160520"/>
            <a:ext cx="2779776" cy="301752"/>
          </a:xfrm>
          <a:prstGeom prst="rect">
            <a:avLst/>
          </a:prstGeom>
          <a:noFill/>
          <a:ln/>
        </p:spPr>
        <p:txBody>
          <a:bodyPr wrap="square" lIns="0" tIns="0" rIns="0" bIns="0" rtlCol="0" anchor="ctr"/>
          <a:lstStyle/>
          <a:p>
            <a:pPr algn="l" indent="0" marL="0">
              <a:lnSpc>
                <a:spcPct val="100000"/>
              </a:lnSpc>
              <a:buNone/>
            </a:pPr>
            <a:r>
              <a:rPr lang="en-US" sz="1240" b="1" dirty="0">
                <a:solidFill>
                  <a:srgbClr val="F5F7FC"/>
                </a:solidFill>
                <a:latin typeface="Inter" pitchFamily="34" charset="0"/>
                <a:ea typeface="Inter" pitchFamily="34" charset="-122"/>
                <a:cs typeface="Inter" pitchFamily="34" charset="-120"/>
              </a:rPr>
              <a:t>Grasp failed</a:t>
            </a:r>
            <a:endParaRPr lang="en-US" sz="1240" dirty="0"/>
          </a:p>
        </p:txBody>
      </p:sp>
      <p:sp>
        <p:nvSpPr>
          <p:cNvPr id="28" name="Text 26"/>
          <p:cNvSpPr/>
          <p:nvPr/>
        </p:nvSpPr>
        <p:spPr>
          <a:xfrm>
            <a:off x="3703320" y="4160520"/>
            <a:ext cx="2523744" cy="301752"/>
          </a:xfrm>
          <a:prstGeom prst="rect">
            <a:avLst/>
          </a:prstGeom>
          <a:noFill/>
          <a:ln/>
        </p:spPr>
        <p:txBody>
          <a:bodyPr wrap="square" lIns="0" tIns="0" rIns="0" bIns="0" rtlCol="0" anchor="ctr"/>
          <a:lstStyle/>
          <a:p>
            <a:pPr algn="l" indent="0" marL="0">
              <a:lnSpc>
                <a:spcPct val="100000"/>
              </a:lnSpc>
              <a:buNone/>
            </a:pPr>
            <a:r>
              <a:rPr lang="en-US" sz="1220" dirty="0">
                <a:solidFill>
                  <a:srgbClr val="48D7B2"/>
                </a:solidFill>
                <a:latin typeface="Inter" pitchFamily="34" charset="0"/>
                <a:ea typeface="Inter" pitchFamily="34" charset="-122"/>
                <a:cs typeface="Inter" pitchFamily="34" charset="-120"/>
              </a:rPr>
              <a:t>Manipulation</a:t>
            </a:r>
            <a:endParaRPr lang="en-US" sz="1220" dirty="0"/>
          </a:p>
        </p:txBody>
      </p:sp>
      <p:sp>
        <p:nvSpPr>
          <p:cNvPr id="29" name="Text 27"/>
          <p:cNvSpPr/>
          <p:nvPr/>
        </p:nvSpPr>
        <p:spPr>
          <a:xfrm>
            <a:off x="6419088" y="4160520"/>
            <a:ext cx="4873752" cy="301752"/>
          </a:xfrm>
          <a:prstGeom prst="rect">
            <a:avLst/>
          </a:prstGeom>
          <a:noFill/>
          <a:ln/>
        </p:spPr>
        <p:txBody>
          <a:bodyPr wrap="square" lIns="0" tIns="0" rIns="0" bIns="0" rtlCol="0" anchor="ctr"/>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reobserve + bounded retry</a:t>
            </a:r>
            <a:endParaRPr lang="en-US" sz="1220" dirty="0"/>
          </a:p>
        </p:txBody>
      </p:sp>
      <p:sp>
        <p:nvSpPr>
          <p:cNvPr id="30" name="Shape 28"/>
          <p:cNvSpPr/>
          <p:nvPr/>
        </p:nvSpPr>
        <p:spPr>
          <a:xfrm>
            <a:off x="566928" y="4599432"/>
            <a:ext cx="11064240" cy="448056"/>
          </a:xfrm>
          <a:prstGeom prst="roundRect">
            <a:avLst>
              <a:gd name="adj" fmla="val 6122"/>
            </a:avLst>
          </a:prstGeom>
          <a:solidFill>
            <a:srgbClr val="102335"/>
          </a:solidFill>
          <a:ln w="10795">
            <a:solidFill>
              <a:srgbClr val="294056"/>
            </a:solidFill>
            <a:prstDash val="solid"/>
          </a:ln>
        </p:spPr>
      </p:sp>
      <p:sp>
        <p:nvSpPr>
          <p:cNvPr id="31" name="Text 29"/>
          <p:cNvSpPr/>
          <p:nvPr/>
        </p:nvSpPr>
        <p:spPr>
          <a:xfrm>
            <a:off x="713232" y="4663440"/>
            <a:ext cx="2779776" cy="301752"/>
          </a:xfrm>
          <a:prstGeom prst="rect">
            <a:avLst/>
          </a:prstGeom>
          <a:noFill/>
          <a:ln/>
        </p:spPr>
        <p:txBody>
          <a:bodyPr wrap="square" lIns="0" tIns="0" rIns="0" bIns="0" rtlCol="0" anchor="ctr"/>
          <a:lstStyle/>
          <a:p>
            <a:pPr algn="l" indent="0" marL="0">
              <a:lnSpc>
                <a:spcPct val="100000"/>
              </a:lnSpc>
              <a:buNone/>
            </a:pPr>
            <a:r>
              <a:rPr lang="en-US" sz="1240" b="1" dirty="0">
                <a:solidFill>
                  <a:srgbClr val="F5F7FC"/>
                </a:solidFill>
                <a:latin typeface="Inter" pitchFamily="34" charset="0"/>
                <a:ea typeface="Inter" pitchFamily="34" charset="-122"/>
                <a:cs typeface="Inter" pitchFamily="34" charset="-120"/>
              </a:rPr>
              <a:t>Cup dropped</a:t>
            </a:r>
            <a:endParaRPr lang="en-US" sz="1240" dirty="0"/>
          </a:p>
        </p:txBody>
      </p:sp>
      <p:sp>
        <p:nvSpPr>
          <p:cNvPr id="32" name="Text 30"/>
          <p:cNvSpPr/>
          <p:nvPr/>
        </p:nvSpPr>
        <p:spPr>
          <a:xfrm>
            <a:off x="3703320" y="4663440"/>
            <a:ext cx="2523744" cy="301752"/>
          </a:xfrm>
          <a:prstGeom prst="rect">
            <a:avLst/>
          </a:prstGeom>
          <a:noFill/>
          <a:ln/>
        </p:spPr>
        <p:txBody>
          <a:bodyPr wrap="square" lIns="0" tIns="0" rIns="0" bIns="0" rtlCol="0" anchor="ctr"/>
          <a:lstStyle/>
          <a:p>
            <a:pPr algn="l" indent="0" marL="0">
              <a:lnSpc>
                <a:spcPct val="100000"/>
              </a:lnSpc>
              <a:buNone/>
            </a:pPr>
            <a:r>
              <a:rPr lang="en-US" sz="1220" dirty="0">
                <a:solidFill>
                  <a:srgbClr val="FF8790"/>
                </a:solidFill>
                <a:latin typeface="Inter" pitchFamily="34" charset="0"/>
                <a:ea typeface="Inter" pitchFamily="34" charset="-122"/>
                <a:cs typeface="Inter" pitchFamily="34" charset="-120"/>
              </a:rPr>
              <a:t>World + perception</a:t>
            </a:r>
            <a:endParaRPr lang="en-US" sz="1220" dirty="0"/>
          </a:p>
        </p:txBody>
      </p:sp>
      <p:sp>
        <p:nvSpPr>
          <p:cNvPr id="33" name="Text 31"/>
          <p:cNvSpPr/>
          <p:nvPr/>
        </p:nvSpPr>
        <p:spPr>
          <a:xfrm>
            <a:off x="6419088" y="4663440"/>
            <a:ext cx="4873752" cy="301752"/>
          </a:xfrm>
          <a:prstGeom prst="rect">
            <a:avLst/>
          </a:prstGeom>
          <a:noFill/>
          <a:ln/>
        </p:spPr>
        <p:txBody>
          <a:bodyPr wrap="square" lIns="0" tIns="0" rIns="0" bIns="0" rtlCol="0" anchor="ctr"/>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mark LOST; re-localize</a:t>
            </a:r>
            <a:endParaRPr lang="en-US" sz="1220" dirty="0"/>
          </a:p>
        </p:txBody>
      </p:sp>
      <p:sp>
        <p:nvSpPr>
          <p:cNvPr id="34" name="Shape 32"/>
          <p:cNvSpPr/>
          <p:nvPr/>
        </p:nvSpPr>
        <p:spPr>
          <a:xfrm>
            <a:off x="566928" y="5102352"/>
            <a:ext cx="11064240" cy="448056"/>
          </a:xfrm>
          <a:prstGeom prst="roundRect">
            <a:avLst>
              <a:gd name="adj" fmla="val 6122"/>
            </a:avLst>
          </a:prstGeom>
          <a:solidFill>
            <a:srgbClr val="152B40"/>
          </a:solidFill>
          <a:ln w="10795">
            <a:solidFill>
              <a:srgbClr val="294056"/>
            </a:solidFill>
            <a:prstDash val="solid"/>
          </a:ln>
        </p:spPr>
      </p:sp>
      <p:sp>
        <p:nvSpPr>
          <p:cNvPr id="35" name="Text 33"/>
          <p:cNvSpPr/>
          <p:nvPr/>
        </p:nvSpPr>
        <p:spPr>
          <a:xfrm>
            <a:off x="713232" y="5166360"/>
            <a:ext cx="2779776" cy="301752"/>
          </a:xfrm>
          <a:prstGeom prst="rect">
            <a:avLst/>
          </a:prstGeom>
          <a:noFill/>
          <a:ln/>
        </p:spPr>
        <p:txBody>
          <a:bodyPr wrap="square" lIns="0" tIns="0" rIns="0" bIns="0" rtlCol="0" anchor="ctr"/>
          <a:lstStyle/>
          <a:p>
            <a:pPr algn="l" indent="0" marL="0">
              <a:lnSpc>
                <a:spcPct val="100000"/>
              </a:lnSpc>
              <a:buNone/>
            </a:pPr>
            <a:r>
              <a:rPr lang="en-US" sz="1240" b="1" dirty="0">
                <a:solidFill>
                  <a:srgbClr val="F5F7FC"/>
                </a:solidFill>
                <a:latin typeface="Inter" pitchFamily="34" charset="0"/>
                <a:ea typeface="Inter" pitchFamily="34" charset="-122"/>
                <a:cs typeface="Inter" pitchFamily="34" charset="-120"/>
              </a:rPr>
              <a:t>Trash bin full</a:t>
            </a:r>
            <a:endParaRPr lang="en-US" sz="1240" dirty="0"/>
          </a:p>
        </p:txBody>
      </p:sp>
      <p:sp>
        <p:nvSpPr>
          <p:cNvPr id="36" name="Text 34"/>
          <p:cNvSpPr/>
          <p:nvPr/>
        </p:nvSpPr>
        <p:spPr>
          <a:xfrm>
            <a:off x="3703320" y="5166360"/>
            <a:ext cx="2523744" cy="301752"/>
          </a:xfrm>
          <a:prstGeom prst="rect">
            <a:avLst/>
          </a:prstGeom>
          <a:noFill/>
          <a:ln/>
        </p:spPr>
        <p:txBody>
          <a:bodyPr wrap="square" lIns="0" tIns="0" rIns="0" bIns="0" rtlCol="0" anchor="ctr"/>
          <a:lstStyle/>
          <a:p>
            <a:pPr algn="l" indent="0" marL="0">
              <a:lnSpc>
                <a:spcPct val="100000"/>
              </a:lnSpc>
              <a:buNone/>
            </a:pPr>
            <a:r>
              <a:rPr lang="en-US" sz="1220" dirty="0">
                <a:solidFill>
                  <a:srgbClr val="48D7B2"/>
                </a:solidFill>
                <a:latin typeface="Inter" pitchFamily="34" charset="0"/>
                <a:ea typeface="Inter" pitchFamily="34" charset="-122"/>
                <a:cs typeface="Inter" pitchFamily="34" charset="-120"/>
              </a:rPr>
              <a:t>Mission planner</a:t>
            </a:r>
            <a:endParaRPr lang="en-US" sz="1220" dirty="0"/>
          </a:p>
        </p:txBody>
      </p:sp>
      <p:sp>
        <p:nvSpPr>
          <p:cNvPr id="37" name="Text 35"/>
          <p:cNvSpPr/>
          <p:nvPr/>
        </p:nvSpPr>
        <p:spPr>
          <a:xfrm>
            <a:off x="6419088" y="5166360"/>
            <a:ext cx="4873752" cy="301752"/>
          </a:xfrm>
          <a:prstGeom prst="rect">
            <a:avLst/>
          </a:prstGeom>
          <a:noFill/>
          <a:ln/>
        </p:spPr>
        <p:txBody>
          <a:bodyPr wrap="square" lIns="0" tIns="0" rIns="0" bIns="0" rtlCol="0" anchor="ctr"/>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alternate bin or report</a:t>
            </a:r>
            <a:endParaRPr lang="en-US" sz="1220" dirty="0"/>
          </a:p>
        </p:txBody>
      </p:sp>
      <p:sp>
        <p:nvSpPr>
          <p:cNvPr id="38" name="Shape 36"/>
          <p:cNvSpPr/>
          <p:nvPr/>
        </p:nvSpPr>
        <p:spPr>
          <a:xfrm>
            <a:off x="813816" y="5806440"/>
            <a:ext cx="10515600" cy="411480"/>
          </a:xfrm>
          <a:prstGeom prst="roundRect">
            <a:avLst>
              <a:gd name="adj" fmla="val 31111"/>
            </a:avLst>
          </a:prstGeom>
          <a:solidFill>
            <a:srgbClr val="152B40"/>
          </a:solidFill>
          <a:ln w="10795">
            <a:solidFill>
              <a:srgbClr val="152B40"/>
            </a:solidFill>
            <a:prstDash val="solid"/>
          </a:ln>
        </p:spPr>
      </p:sp>
      <p:sp>
        <p:nvSpPr>
          <p:cNvPr id="39" name="Text 37"/>
          <p:cNvSpPr/>
          <p:nvPr/>
        </p:nvSpPr>
        <p:spPr>
          <a:xfrm>
            <a:off x="1033272" y="5897880"/>
            <a:ext cx="10067544" cy="246888"/>
          </a:xfrm>
          <a:prstGeom prst="rect">
            <a:avLst/>
          </a:prstGeom>
          <a:noFill/>
          <a:ln/>
        </p:spPr>
        <p:txBody>
          <a:bodyPr wrap="square" lIns="0" tIns="0" rIns="0" bIns="0" rtlCol="0" anchor="ctr"/>
          <a:lstStyle/>
          <a:p>
            <a:pPr algn="ctr" indent="0" marL="0">
              <a:lnSpc>
                <a:spcPct val="100000"/>
              </a:lnSpc>
              <a:buNone/>
            </a:pPr>
            <a:r>
              <a:rPr lang="en-US" sz="1260" b="1" dirty="0">
                <a:solidFill>
                  <a:srgbClr val="FF8790"/>
                </a:solidFill>
                <a:latin typeface="Inter" pitchFamily="34" charset="0"/>
                <a:ea typeface="Inter" pitchFamily="34" charset="-122"/>
                <a:cs typeface="Inter" pitchFamily="34" charset="-120"/>
              </a:rPr>
              <a:t>Bound every retry with timeouts, attempt limits, fresh evidence, and an independent safety stop.</a:t>
            </a:r>
            <a:endParaRPr lang="en-US" sz="12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INTEGRATION / ROS 2</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Three ROS 2 communication types, three purposes</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Topics stream observations; services query memory; actions execute long-running skills.</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26</a:t>
            </a:r>
            <a:endParaRPr lang="en-US" sz="1100" dirty="0"/>
          </a:p>
        </p:txBody>
      </p:sp>
      <p:sp>
        <p:nvSpPr>
          <p:cNvPr id="11" name="Shape 9"/>
          <p:cNvSpPr/>
          <p:nvPr/>
        </p:nvSpPr>
        <p:spPr>
          <a:xfrm>
            <a:off x="557784" y="2212848"/>
            <a:ext cx="3639312" cy="3474720"/>
          </a:xfrm>
          <a:prstGeom prst="roundRect">
            <a:avLst>
              <a:gd name="adj" fmla="val 3684"/>
            </a:avLst>
          </a:prstGeom>
          <a:solidFill>
            <a:srgbClr val="102335"/>
          </a:solidFill>
          <a:ln w="10795">
            <a:solidFill>
              <a:srgbClr val="294056"/>
            </a:solidFill>
            <a:prstDash val="solid"/>
          </a:ln>
        </p:spPr>
      </p:sp>
      <p:sp>
        <p:nvSpPr>
          <p:cNvPr id="12" name="Shape 10"/>
          <p:cNvSpPr/>
          <p:nvPr/>
        </p:nvSpPr>
        <p:spPr>
          <a:xfrm>
            <a:off x="777240" y="2468880"/>
            <a:ext cx="1143000" cy="329184"/>
          </a:xfrm>
          <a:prstGeom prst="roundRect">
            <a:avLst>
              <a:gd name="adj" fmla="val 50000"/>
            </a:avLst>
          </a:prstGeom>
          <a:solidFill>
            <a:srgbClr val="65D5E9">
              <a:alpha val="16000"/>
            </a:srgbClr>
          </a:solidFill>
          <a:ln w="10795">
            <a:solidFill>
              <a:srgbClr val="65D5E9"/>
            </a:solidFill>
            <a:prstDash val="solid"/>
          </a:ln>
        </p:spPr>
      </p:sp>
      <p:sp>
        <p:nvSpPr>
          <p:cNvPr id="13" name="Text 11"/>
          <p:cNvSpPr/>
          <p:nvPr/>
        </p:nvSpPr>
        <p:spPr>
          <a:xfrm>
            <a:off x="832104" y="2478024"/>
            <a:ext cx="1033272" cy="310896"/>
          </a:xfrm>
          <a:prstGeom prst="rect">
            <a:avLst/>
          </a:prstGeom>
          <a:noFill/>
          <a:ln/>
        </p:spPr>
        <p:txBody>
          <a:bodyPr wrap="square" lIns="0" tIns="0" rIns="0" bIns="0" rtlCol="0" anchor="ctr"/>
          <a:lstStyle/>
          <a:p>
            <a:pPr algn="ctr" indent="0" marL="0">
              <a:lnSpc>
                <a:spcPct val="100000"/>
              </a:lnSpc>
              <a:buNone/>
            </a:pPr>
            <a:r>
              <a:rPr lang="en-US" sz="1050" b="1" dirty="0">
                <a:solidFill>
                  <a:srgbClr val="65D5E9"/>
                </a:solidFill>
                <a:latin typeface="Inter" pitchFamily="34" charset="0"/>
                <a:ea typeface="Inter" pitchFamily="34" charset="-122"/>
                <a:cs typeface="Inter" pitchFamily="34" charset="-120"/>
              </a:rPr>
              <a:t>TOPICS</a:t>
            </a:r>
            <a:endParaRPr lang="en-US" sz="1050" dirty="0"/>
          </a:p>
        </p:txBody>
      </p:sp>
      <p:sp>
        <p:nvSpPr>
          <p:cNvPr id="14" name="Text 12"/>
          <p:cNvSpPr/>
          <p:nvPr/>
        </p:nvSpPr>
        <p:spPr>
          <a:xfrm>
            <a:off x="804672" y="2926080"/>
            <a:ext cx="3127248" cy="365760"/>
          </a:xfrm>
          <a:prstGeom prst="rect">
            <a:avLst/>
          </a:prstGeom>
          <a:noFill/>
          <a:ln/>
        </p:spPr>
        <p:txBody>
          <a:bodyPr wrap="square" lIns="0" tIns="0" rIns="0" bIns="0" rtlCol="0" anchor="ctr"/>
          <a:lstStyle/>
          <a:p>
            <a:pPr algn="l" indent="0" marL="0">
              <a:lnSpc>
                <a:spcPct val="100000"/>
              </a:lnSpc>
              <a:buNone/>
            </a:pPr>
            <a:r>
              <a:rPr lang="en-US" sz="1500" b="1" dirty="0">
                <a:solidFill>
                  <a:srgbClr val="F5F7FC"/>
                </a:solidFill>
                <a:latin typeface="Inter" pitchFamily="34" charset="0"/>
                <a:ea typeface="Inter" pitchFamily="34" charset="-122"/>
                <a:cs typeface="Inter" pitchFamily="34" charset="-120"/>
              </a:rPr>
              <a:t>Stream, latest data</a:t>
            </a:r>
            <a:endParaRPr lang="en-US" sz="1500" dirty="0"/>
          </a:p>
        </p:txBody>
      </p:sp>
      <p:sp>
        <p:nvSpPr>
          <p:cNvPr id="15" name="Text 13"/>
          <p:cNvSpPr/>
          <p:nvPr/>
        </p:nvSpPr>
        <p:spPr>
          <a:xfrm>
            <a:off x="822960" y="3602736"/>
            <a:ext cx="3054096" cy="1783080"/>
          </a:xfrm>
          <a:prstGeom prst="rect">
            <a:avLst/>
          </a:prstGeom>
          <a:noFill/>
          <a:ln/>
        </p:spPr>
        <p:txBody>
          <a:bodyPr wrap="square" lIns="0" tIns="0" rIns="0" bIns="0" rtlCol="0" anchor="t"/>
          <a:lstStyle/>
          <a:p>
            <a:pPr algn="l" indent="0" marL="0">
              <a:lnSpc>
                <a:spcPct val="100000"/>
              </a:lnSpc>
              <a:buNone/>
            </a:pPr>
            <a:r>
              <a:rPr lang="en-US" sz="1220" dirty="0">
                <a:solidFill>
                  <a:srgbClr val="A1B2C4"/>
                </a:solidFill>
                <a:latin typeface="DejaVu Sans Mono" pitchFamily="34" charset="0"/>
                <a:ea typeface="DejaVu Sans Mono" pitchFamily="34" charset="-122"/>
                <a:cs typeface="DejaVu Sans Mono" pitchFamily="34" charset="-120"/>
              </a:rPr>
              <a:t>/perception/detections3d</a:t>
            </a:r>
            <a:endParaRPr lang="en-US" sz="1220" dirty="0"/>
          </a:p>
          <a:p>
            <a:pPr algn="l" indent="0" marL="0">
              <a:lnSpc>
                <a:spcPct val="100000"/>
              </a:lnSpc>
              <a:buNone/>
            </a:pPr>
            <a:r>
              <a:rPr lang="en-US" sz="1220" dirty="0">
                <a:solidFill>
                  <a:srgbClr val="A1B2C4"/>
                </a:solidFill>
                <a:latin typeface="DejaVu Sans Mono" pitchFamily="34" charset="0"/>
                <a:ea typeface="DejaVu Sans Mono" pitchFamily="34" charset="-122"/>
                <a:cs typeface="DejaVu Sans Mono" pitchFamily="34" charset="-120"/>
              </a:rPr>
              <a:t>/world/object_updates</a:t>
            </a:r>
            <a:endParaRPr lang="en-US" sz="1220" dirty="0"/>
          </a:p>
          <a:p>
            <a:pPr algn="l" indent="0" marL="0">
              <a:lnSpc>
                <a:spcPct val="100000"/>
              </a:lnSpc>
              <a:buNone/>
            </a:pPr>
            <a:r>
              <a:rPr lang="en-US" sz="1220" dirty="0">
                <a:solidFill>
                  <a:srgbClr val="A1B2C4"/>
                </a:solidFill>
                <a:latin typeface="DejaVu Sans Mono" pitchFamily="34" charset="0"/>
                <a:ea typeface="DejaVu Sans Mono" pitchFamily="34" charset="-122"/>
                <a:cs typeface="DejaVu Sans Mono" pitchFamily="34" charset="-120"/>
              </a:rPr>
              <a:t>/costmap /tf</a:t>
            </a:r>
            <a:endParaRPr lang="en-US" sz="1220" dirty="0"/>
          </a:p>
        </p:txBody>
      </p:sp>
      <p:sp>
        <p:nvSpPr>
          <p:cNvPr id="16" name="Shape 14"/>
          <p:cNvSpPr/>
          <p:nvPr/>
        </p:nvSpPr>
        <p:spPr>
          <a:xfrm>
            <a:off x="4425696" y="2212848"/>
            <a:ext cx="3639312" cy="3474720"/>
          </a:xfrm>
          <a:prstGeom prst="roundRect">
            <a:avLst>
              <a:gd name="adj" fmla="val 3684"/>
            </a:avLst>
          </a:prstGeom>
          <a:solidFill>
            <a:srgbClr val="102335"/>
          </a:solidFill>
          <a:ln w="10795">
            <a:solidFill>
              <a:srgbClr val="294056"/>
            </a:solidFill>
            <a:prstDash val="solid"/>
          </a:ln>
        </p:spPr>
      </p:sp>
      <p:sp>
        <p:nvSpPr>
          <p:cNvPr id="17" name="Shape 15"/>
          <p:cNvSpPr/>
          <p:nvPr/>
        </p:nvSpPr>
        <p:spPr>
          <a:xfrm>
            <a:off x="4645152" y="2468880"/>
            <a:ext cx="1143000" cy="329184"/>
          </a:xfrm>
          <a:prstGeom prst="roundRect">
            <a:avLst>
              <a:gd name="adj" fmla="val 50000"/>
            </a:avLst>
          </a:prstGeom>
          <a:solidFill>
            <a:srgbClr val="48D7B2">
              <a:alpha val="16000"/>
            </a:srgbClr>
          </a:solidFill>
          <a:ln w="10795">
            <a:solidFill>
              <a:srgbClr val="48D7B2"/>
            </a:solidFill>
            <a:prstDash val="solid"/>
          </a:ln>
        </p:spPr>
      </p:sp>
      <p:sp>
        <p:nvSpPr>
          <p:cNvPr id="18" name="Text 16"/>
          <p:cNvSpPr/>
          <p:nvPr/>
        </p:nvSpPr>
        <p:spPr>
          <a:xfrm>
            <a:off x="4700016" y="2478024"/>
            <a:ext cx="1033272" cy="310896"/>
          </a:xfrm>
          <a:prstGeom prst="rect">
            <a:avLst/>
          </a:prstGeom>
          <a:noFill/>
          <a:ln/>
        </p:spPr>
        <p:txBody>
          <a:bodyPr wrap="square" lIns="0" tIns="0" rIns="0" bIns="0" rtlCol="0" anchor="ctr"/>
          <a:lstStyle/>
          <a:p>
            <a:pPr algn="ctr" indent="0" marL="0">
              <a:lnSpc>
                <a:spcPct val="100000"/>
              </a:lnSpc>
              <a:buNone/>
            </a:pPr>
            <a:r>
              <a:rPr lang="en-US" sz="1050" b="1" dirty="0">
                <a:solidFill>
                  <a:srgbClr val="48D7B2"/>
                </a:solidFill>
                <a:latin typeface="Inter" pitchFamily="34" charset="0"/>
                <a:ea typeface="Inter" pitchFamily="34" charset="-122"/>
                <a:cs typeface="Inter" pitchFamily="34" charset="-120"/>
              </a:rPr>
              <a:t>SERVICES</a:t>
            </a:r>
            <a:endParaRPr lang="en-US" sz="1050" dirty="0"/>
          </a:p>
        </p:txBody>
      </p:sp>
      <p:sp>
        <p:nvSpPr>
          <p:cNvPr id="19" name="Text 17"/>
          <p:cNvSpPr/>
          <p:nvPr/>
        </p:nvSpPr>
        <p:spPr>
          <a:xfrm>
            <a:off x="4672584" y="2926080"/>
            <a:ext cx="3127248" cy="365760"/>
          </a:xfrm>
          <a:prstGeom prst="rect">
            <a:avLst/>
          </a:prstGeom>
          <a:noFill/>
          <a:ln/>
        </p:spPr>
        <p:txBody>
          <a:bodyPr wrap="square" lIns="0" tIns="0" rIns="0" bIns="0" rtlCol="0" anchor="ctr"/>
          <a:lstStyle/>
          <a:p>
            <a:pPr algn="l" indent="0" marL="0">
              <a:lnSpc>
                <a:spcPct val="100000"/>
              </a:lnSpc>
              <a:buNone/>
            </a:pPr>
            <a:r>
              <a:rPr lang="en-US" sz="1500" b="1" dirty="0">
                <a:solidFill>
                  <a:srgbClr val="F5F7FC"/>
                </a:solidFill>
                <a:latin typeface="Inter" pitchFamily="34" charset="0"/>
                <a:ea typeface="Inter" pitchFamily="34" charset="-122"/>
                <a:cs typeface="Inter" pitchFamily="34" charset="-120"/>
              </a:rPr>
              <a:t>Short query, reply</a:t>
            </a:r>
            <a:endParaRPr lang="en-US" sz="1500" dirty="0"/>
          </a:p>
        </p:txBody>
      </p:sp>
      <p:sp>
        <p:nvSpPr>
          <p:cNvPr id="20" name="Text 18"/>
          <p:cNvSpPr/>
          <p:nvPr/>
        </p:nvSpPr>
        <p:spPr>
          <a:xfrm>
            <a:off x="4690872" y="3602736"/>
            <a:ext cx="3054096" cy="1783080"/>
          </a:xfrm>
          <a:prstGeom prst="rect">
            <a:avLst/>
          </a:prstGeom>
          <a:noFill/>
          <a:ln/>
        </p:spPr>
        <p:txBody>
          <a:bodyPr wrap="square" lIns="0" tIns="0" rIns="0" bIns="0" rtlCol="0" anchor="t"/>
          <a:lstStyle/>
          <a:p>
            <a:pPr algn="l" indent="0" marL="0">
              <a:lnSpc>
                <a:spcPct val="100000"/>
              </a:lnSpc>
              <a:buNone/>
            </a:pPr>
            <a:r>
              <a:rPr lang="en-US" sz="1220" dirty="0">
                <a:solidFill>
                  <a:srgbClr val="A1B2C4"/>
                </a:solidFill>
                <a:latin typeface="DejaVu Sans Mono" pitchFamily="34" charset="0"/>
                <a:ea typeface="DejaVu Sans Mono" pitchFamily="34" charset="-122"/>
                <a:cs typeface="DejaVu Sans Mono" pitchFamily="34" charset="-120"/>
              </a:rPr>
              <a:t>/world/find_objects</a:t>
            </a:r>
            <a:endParaRPr lang="en-US" sz="1220" dirty="0"/>
          </a:p>
          <a:p>
            <a:pPr algn="l" indent="0" marL="0">
              <a:lnSpc>
                <a:spcPct val="100000"/>
              </a:lnSpc>
              <a:buNone/>
            </a:pPr>
            <a:r>
              <a:rPr lang="en-US" sz="1220" dirty="0">
                <a:solidFill>
                  <a:srgbClr val="A1B2C4"/>
                </a:solidFill>
                <a:latin typeface="DejaVu Sans Mono" pitchFamily="34" charset="0"/>
                <a:ea typeface="DejaVu Sans Mono" pitchFamily="34" charset="-122"/>
                <a:cs typeface="DejaVu Sans Mono" pitchFamily="34" charset="-120"/>
              </a:rPr>
              <a:t>/world/get_object</a:t>
            </a:r>
            <a:endParaRPr lang="en-US" sz="1220" dirty="0"/>
          </a:p>
          <a:p>
            <a:pPr algn="l" indent="0" marL="0">
              <a:lnSpc>
                <a:spcPct val="100000"/>
              </a:lnSpc>
              <a:buNone/>
            </a:pPr>
            <a:r>
              <a:rPr lang="en-US" sz="1220" dirty="0">
                <a:solidFill>
                  <a:srgbClr val="A1B2C4"/>
                </a:solidFill>
                <a:latin typeface="DejaVu Sans Mono" pitchFamily="34" charset="0"/>
                <a:ea typeface="DejaVu Sans Mono" pitchFamily="34" charset="-122"/>
                <a:cs typeface="DejaVu Sans Mono" pitchFamily="34" charset="-120"/>
              </a:rPr>
              <a:t>/world/get_geometry_ref</a:t>
            </a:r>
            <a:endParaRPr lang="en-US" sz="1220" dirty="0"/>
          </a:p>
        </p:txBody>
      </p:sp>
      <p:sp>
        <p:nvSpPr>
          <p:cNvPr id="21" name="Shape 19"/>
          <p:cNvSpPr/>
          <p:nvPr/>
        </p:nvSpPr>
        <p:spPr>
          <a:xfrm>
            <a:off x="8293608" y="2212848"/>
            <a:ext cx="3639312" cy="3474720"/>
          </a:xfrm>
          <a:prstGeom prst="roundRect">
            <a:avLst>
              <a:gd name="adj" fmla="val 3684"/>
            </a:avLst>
          </a:prstGeom>
          <a:solidFill>
            <a:srgbClr val="102335"/>
          </a:solidFill>
          <a:ln w="10795">
            <a:solidFill>
              <a:srgbClr val="294056"/>
            </a:solidFill>
            <a:prstDash val="solid"/>
          </a:ln>
        </p:spPr>
      </p:sp>
      <p:sp>
        <p:nvSpPr>
          <p:cNvPr id="22" name="Shape 20"/>
          <p:cNvSpPr/>
          <p:nvPr/>
        </p:nvSpPr>
        <p:spPr>
          <a:xfrm>
            <a:off x="8513064" y="2468880"/>
            <a:ext cx="1143000" cy="329184"/>
          </a:xfrm>
          <a:prstGeom prst="roundRect">
            <a:avLst>
              <a:gd name="adj" fmla="val 50000"/>
            </a:avLst>
          </a:prstGeom>
          <a:solidFill>
            <a:srgbClr val="FFC176">
              <a:alpha val="16000"/>
            </a:srgbClr>
          </a:solidFill>
          <a:ln w="10795">
            <a:solidFill>
              <a:srgbClr val="FFC176"/>
            </a:solidFill>
            <a:prstDash val="solid"/>
          </a:ln>
        </p:spPr>
      </p:sp>
      <p:sp>
        <p:nvSpPr>
          <p:cNvPr id="23" name="Text 21"/>
          <p:cNvSpPr/>
          <p:nvPr/>
        </p:nvSpPr>
        <p:spPr>
          <a:xfrm>
            <a:off x="8567928" y="2478024"/>
            <a:ext cx="1033272" cy="310896"/>
          </a:xfrm>
          <a:prstGeom prst="rect">
            <a:avLst/>
          </a:prstGeom>
          <a:noFill/>
          <a:ln/>
        </p:spPr>
        <p:txBody>
          <a:bodyPr wrap="square" lIns="0" tIns="0" rIns="0" bIns="0" rtlCol="0" anchor="ctr"/>
          <a:lstStyle/>
          <a:p>
            <a:pPr algn="ctr" indent="0" marL="0">
              <a:lnSpc>
                <a:spcPct val="100000"/>
              </a:lnSpc>
              <a:buNone/>
            </a:pPr>
            <a:r>
              <a:rPr lang="en-US" sz="1050" b="1" dirty="0">
                <a:solidFill>
                  <a:srgbClr val="FFC176"/>
                </a:solidFill>
                <a:latin typeface="Inter" pitchFamily="34" charset="0"/>
                <a:ea typeface="Inter" pitchFamily="34" charset="-122"/>
                <a:cs typeface="Inter" pitchFamily="34" charset="-120"/>
              </a:rPr>
              <a:t>ACTIONS</a:t>
            </a:r>
            <a:endParaRPr lang="en-US" sz="1050" dirty="0"/>
          </a:p>
        </p:txBody>
      </p:sp>
      <p:sp>
        <p:nvSpPr>
          <p:cNvPr id="24" name="Text 22"/>
          <p:cNvSpPr/>
          <p:nvPr/>
        </p:nvSpPr>
        <p:spPr>
          <a:xfrm>
            <a:off x="8540496" y="2926080"/>
            <a:ext cx="3127248" cy="365760"/>
          </a:xfrm>
          <a:prstGeom prst="rect">
            <a:avLst/>
          </a:prstGeom>
          <a:noFill/>
          <a:ln/>
        </p:spPr>
        <p:txBody>
          <a:bodyPr wrap="square" lIns="0" tIns="0" rIns="0" bIns="0" rtlCol="0" anchor="ctr"/>
          <a:lstStyle/>
          <a:p>
            <a:pPr algn="l" indent="0" marL="0">
              <a:lnSpc>
                <a:spcPct val="100000"/>
              </a:lnSpc>
              <a:buNone/>
            </a:pPr>
            <a:r>
              <a:rPr lang="en-US" sz="1500" b="1" dirty="0">
                <a:solidFill>
                  <a:srgbClr val="F5F7FC"/>
                </a:solidFill>
                <a:latin typeface="Inter" pitchFamily="34" charset="0"/>
                <a:ea typeface="Inter" pitchFamily="34" charset="-122"/>
                <a:cs typeface="Inter" pitchFamily="34" charset="-120"/>
              </a:rPr>
              <a:t>Goal, feedback, result</a:t>
            </a:r>
            <a:endParaRPr lang="en-US" sz="1500" dirty="0"/>
          </a:p>
        </p:txBody>
      </p:sp>
      <p:sp>
        <p:nvSpPr>
          <p:cNvPr id="25" name="Text 23"/>
          <p:cNvSpPr/>
          <p:nvPr/>
        </p:nvSpPr>
        <p:spPr>
          <a:xfrm>
            <a:off x="8558784" y="3602736"/>
            <a:ext cx="3054096" cy="1783080"/>
          </a:xfrm>
          <a:prstGeom prst="rect">
            <a:avLst/>
          </a:prstGeom>
          <a:noFill/>
          <a:ln/>
        </p:spPr>
        <p:txBody>
          <a:bodyPr wrap="square" lIns="0" tIns="0" rIns="0" bIns="0" rtlCol="0" anchor="t"/>
          <a:lstStyle/>
          <a:p>
            <a:pPr algn="l" indent="0" marL="0">
              <a:lnSpc>
                <a:spcPct val="100000"/>
              </a:lnSpc>
              <a:buNone/>
            </a:pPr>
            <a:r>
              <a:rPr lang="en-US" sz="1220" dirty="0">
                <a:solidFill>
                  <a:srgbClr val="A1B2C4"/>
                </a:solidFill>
                <a:latin typeface="DejaVu Sans Mono" pitchFamily="34" charset="0"/>
                <a:ea typeface="DejaVu Sans Mono" pitchFamily="34" charset="-122"/>
                <a:cs typeface="DejaVu Sans Mono" pitchFamily="34" charset="-120"/>
              </a:rPr>
              <a:t>/perception/find_object</a:t>
            </a:r>
            <a:endParaRPr lang="en-US" sz="1220" dirty="0"/>
          </a:p>
          <a:p>
            <a:pPr algn="l" indent="0" marL="0">
              <a:lnSpc>
                <a:spcPct val="100000"/>
              </a:lnSpc>
              <a:buNone/>
            </a:pPr>
            <a:r>
              <a:rPr lang="en-US" sz="1220" dirty="0">
                <a:solidFill>
                  <a:srgbClr val="A1B2C4"/>
                </a:solidFill>
                <a:latin typeface="DejaVu Sans Mono" pitchFamily="34" charset="0"/>
                <a:ea typeface="DejaVu Sans Mono" pitchFamily="34" charset="-122"/>
                <a:cs typeface="DejaVu Sans Mono" pitchFamily="34" charset="-120"/>
              </a:rPr>
              <a:t>/nav/navigate_to_object</a:t>
            </a:r>
            <a:endParaRPr lang="en-US" sz="1220" dirty="0"/>
          </a:p>
          <a:p>
            <a:pPr algn="l" indent="0" marL="0">
              <a:lnSpc>
                <a:spcPct val="100000"/>
              </a:lnSpc>
              <a:buNone/>
            </a:pPr>
            <a:r>
              <a:rPr lang="en-US" sz="1220" dirty="0">
                <a:solidFill>
                  <a:srgbClr val="A1B2C4"/>
                </a:solidFill>
                <a:latin typeface="DejaVu Sans Mono" pitchFamily="34" charset="0"/>
                <a:ea typeface="DejaVu Sans Mono" pitchFamily="34" charset="-122"/>
                <a:cs typeface="DejaVu Sans Mono" pitchFamily="34" charset="-120"/>
              </a:rPr>
              <a:t>/vla/pick_object</a:t>
            </a:r>
            <a:endParaRPr lang="en-US" sz="1220" dirty="0"/>
          </a:p>
          <a:p>
            <a:pPr algn="l" indent="0" marL="0">
              <a:lnSpc>
                <a:spcPct val="100000"/>
              </a:lnSpc>
              <a:buNone/>
            </a:pPr>
            <a:r>
              <a:rPr lang="en-US" sz="1220" dirty="0">
                <a:solidFill>
                  <a:srgbClr val="A1B2C4"/>
                </a:solidFill>
                <a:latin typeface="DejaVu Sans Mono" pitchFamily="34" charset="0"/>
                <a:ea typeface="DejaVu Sans Mono" pitchFamily="34" charset="-122"/>
                <a:cs typeface="DejaVu Sans Mono" pitchFamily="34" charset="-120"/>
              </a:rPr>
              <a:t>/vla/place_object</a:t>
            </a:r>
            <a:endParaRPr lang="en-US" sz="1220" dirty="0"/>
          </a:p>
        </p:txBody>
      </p:sp>
      <p:sp>
        <p:nvSpPr>
          <p:cNvPr id="26" name="Shape 24"/>
          <p:cNvSpPr/>
          <p:nvPr/>
        </p:nvSpPr>
        <p:spPr>
          <a:xfrm>
            <a:off x="960120" y="5897880"/>
            <a:ext cx="10177272" cy="320040"/>
          </a:xfrm>
          <a:prstGeom prst="roundRect">
            <a:avLst>
              <a:gd name="adj" fmla="val 40000"/>
            </a:avLst>
          </a:prstGeom>
          <a:solidFill>
            <a:srgbClr val="152B40"/>
          </a:solidFill>
          <a:ln w="10795">
            <a:solidFill>
              <a:srgbClr val="152B40"/>
            </a:solidFill>
            <a:prstDash val="solid"/>
          </a:ln>
        </p:spPr>
      </p:sp>
      <p:sp>
        <p:nvSpPr>
          <p:cNvPr id="27" name="Text 25"/>
          <p:cNvSpPr/>
          <p:nvPr/>
        </p:nvSpPr>
        <p:spPr>
          <a:xfrm>
            <a:off x="1143000" y="5943600"/>
            <a:ext cx="9848088" cy="219456"/>
          </a:xfrm>
          <a:prstGeom prst="rect">
            <a:avLst/>
          </a:prstGeom>
          <a:noFill/>
          <a:ln/>
        </p:spPr>
        <p:txBody>
          <a:bodyPr wrap="square" lIns="0" tIns="0" rIns="0" bIns="0" rtlCol="0" anchor="ctr"/>
          <a:lstStyle/>
          <a:p>
            <a:pPr algn="ctr" indent="0" marL="0">
              <a:lnSpc>
                <a:spcPct val="100000"/>
              </a:lnSpc>
              <a:buNone/>
            </a:pPr>
            <a:r>
              <a:rPr lang="en-US" sz="1140" dirty="0">
                <a:solidFill>
                  <a:srgbClr val="A1B2C4"/>
                </a:solidFill>
                <a:latin typeface="Inter" pitchFamily="34" charset="0"/>
                <a:ea typeface="Inter" pitchFamily="34" charset="-122"/>
                <a:cs typeface="Inter" pitchFamily="34" charset="-120"/>
              </a:rPr>
              <a:t>Proposed interface names. ROS 2 Action result (SUCCEEDED/FAILED) must be observed before the next skill.</a:t>
            </a:r>
            <a:endParaRPr lang="en-US" sz="114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INTEGRATION / CONTRACTS</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Use typed requests, IDs, and terminal results</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Planner output is validated before any robot motion.</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27</a:t>
            </a:r>
            <a:endParaRPr lang="en-US" sz="1100" dirty="0"/>
          </a:p>
        </p:txBody>
      </p:sp>
      <p:sp>
        <p:nvSpPr>
          <p:cNvPr id="11" name="Shape 9"/>
          <p:cNvSpPr/>
          <p:nvPr/>
        </p:nvSpPr>
        <p:spPr>
          <a:xfrm>
            <a:off x="512064" y="2203704"/>
            <a:ext cx="5504688" cy="3557016"/>
          </a:xfrm>
          <a:prstGeom prst="roundRect">
            <a:avLst>
              <a:gd name="adj" fmla="val 3599"/>
            </a:avLst>
          </a:prstGeom>
          <a:solidFill>
            <a:srgbClr val="102335"/>
          </a:solidFill>
          <a:ln w="10795">
            <a:solidFill>
              <a:srgbClr val="294056"/>
            </a:solidFill>
            <a:prstDash val="solid"/>
          </a:ln>
        </p:spPr>
      </p:sp>
      <p:sp>
        <p:nvSpPr>
          <p:cNvPr id="12" name="Text 10"/>
          <p:cNvSpPr/>
          <p:nvPr/>
        </p:nvSpPr>
        <p:spPr>
          <a:xfrm>
            <a:off x="777240" y="2468880"/>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65D5E9"/>
                </a:solidFill>
                <a:latin typeface="Inter" pitchFamily="34" charset="0"/>
                <a:ea typeface="Inter" pitchFamily="34" charset="-122"/>
                <a:cs typeface="Inter" pitchFamily="34" charset="-120"/>
              </a:rPr>
              <a:t>FIND OBJECT / ACTION GOAL</a:t>
            </a:r>
            <a:endParaRPr lang="en-US" sz="1000" dirty="0"/>
          </a:p>
        </p:txBody>
      </p:sp>
      <p:sp>
        <p:nvSpPr>
          <p:cNvPr id="13" name="Text 11"/>
          <p:cNvSpPr/>
          <p:nvPr/>
        </p:nvSpPr>
        <p:spPr>
          <a:xfrm>
            <a:off x="832104" y="2843784"/>
            <a:ext cx="4892040" cy="2523744"/>
          </a:xfrm>
          <a:prstGeom prst="rect">
            <a:avLst/>
          </a:prstGeom>
          <a:noFill/>
          <a:ln/>
        </p:spPr>
        <p:txBody>
          <a:bodyPr wrap="square" lIns="0" tIns="0" rIns="0" bIns="0" rtlCol="0" anchor="t"/>
          <a:lstStyle/>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  "target": {"class": "cup",</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             "color": "red",</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             "support_id": "table_03"},</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  "max_viewpoints": 5,</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  "time_budget_s": 120,</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  "allow_navigation": true</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a:t>
            </a:r>
            <a:endParaRPr lang="en-US" sz="1310" dirty="0"/>
          </a:p>
        </p:txBody>
      </p:sp>
      <p:sp>
        <p:nvSpPr>
          <p:cNvPr id="14" name="Shape 12"/>
          <p:cNvSpPr/>
          <p:nvPr/>
        </p:nvSpPr>
        <p:spPr>
          <a:xfrm>
            <a:off x="6208776" y="2203704"/>
            <a:ext cx="5458968" cy="3557016"/>
          </a:xfrm>
          <a:prstGeom prst="roundRect">
            <a:avLst>
              <a:gd name="adj" fmla="val 3599"/>
            </a:avLst>
          </a:prstGeom>
          <a:solidFill>
            <a:srgbClr val="102335"/>
          </a:solidFill>
          <a:ln w="10795">
            <a:solidFill>
              <a:srgbClr val="294056"/>
            </a:solidFill>
            <a:prstDash val="solid"/>
          </a:ln>
        </p:spPr>
      </p:sp>
      <p:sp>
        <p:nvSpPr>
          <p:cNvPr id="15" name="Text 13"/>
          <p:cNvSpPr/>
          <p:nvPr/>
        </p:nvSpPr>
        <p:spPr>
          <a:xfrm>
            <a:off x="6473952" y="2468880"/>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48D7B2"/>
                </a:solidFill>
                <a:latin typeface="Inter" pitchFamily="34" charset="0"/>
                <a:ea typeface="Inter" pitchFamily="34" charset="-122"/>
                <a:cs typeface="Inter" pitchFamily="34" charset="-120"/>
              </a:rPr>
              <a:t>FIND OBJECT / RESULT</a:t>
            </a:r>
            <a:endParaRPr lang="en-US" sz="1000" dirty="0"/>
          </a:p>
        </p:txBody>
      </p:sp>
      <p:sp>
        <p:nvSpPr>
          <p:cNvPr id="16" name="Text 14"/>
          <p:cNvSpPr/>
          <p:nvPr/>
        </p:nvSpPr>
        <p:spPr>
          <a:xfrm>
            <a:off x="6519672" y="2843784"/>
            <a:ext cx="4882896" cy="2523744"/>
          </a:xfrm>
          <a:prstGeom prst="rect">
            <a:avLst/>
          </a:prstGeom>
          <a:noFill/>
          <a:ln/>
        </p:spPr>
        <p:txBody>
          <a:bodyPr wrap="square" lIns="0" tIns="0" rIns="0" bIns="0" rtlCol="0" anchor="t"/>
          <a:lstStyle/>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  "status": "FOUND",</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  "object_id": "cup_17",</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  "frame_id": "map",</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  "tracking_state": "CONFIRMED",</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  "evidence_timestamp": "...",</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  "pose": [2.4, 1.7, 0.82]</a:t>
            </a:r>
            <a:endParaRPr lang="en-US" sz="1310" dirty="0"/>
          </a:p>
          <a:p>
            <a:pPr algn="l" indent="0" marL="0">
              <a:lnSpc>
                <a:spcPct val="100000"/>
              </a:lnSpc>
              <a:buNone/>
            </a:pPr>
            <a:r>
              <a:rPr lang="en-US" sz="1310" dirty="0">
                <a:solidFill>
                  <a:srgbClr val="DCE7F3"/>
                </a:solidFill>
                <a:latin typeface="DejaVu Sans Mono" pitchFamily="34" charset="0"/>
                <a:ea typeface="DejaVu Sans Mono" pitchFamily="34" charset="-122"/>
                <a:cs typeface="DejaVu Sans Mono" pitchFamily="34" charset="-120"/>
              </a:rPr>
              <a:t>}</a:t>
            </a:r>
            <a:endParaRPr lang="en-US" sz="1310" dirty="0"/>
          </a:p>
        </p:txBody>
      </p:sp>
      <p:sp>
        <p:nvSpPr>
          <p:cNvPr id="17" name="Text 15"/>
          <p:cNvSpPr/>
          <p:nvPr/>
        </p:nvSpPr>
        <p:spPr>
          <a:xfrm>
            <a:off x="932688" y="6007608"/>
            <a:ext cx="10369296" cy="210312"/>
          </a:xfrm>
          <a:prstGeom prst="rect">
            <a:avLst/>
          </a:prstGeom>
          <a:noFill/>
          <a:ln/>
        </p:spPr>
        <p:txBody>
          <a:bodyPr wrap="square" lIns="0" tIns="0" rIns="0" bIns="0" rtlCol="0" anchor="ctr"/>
          <a:lstStyle/>
          <a:p>
            <a:pPr algn="ctr" indent="0" marL="0">
              <a:lnSpc>
                <a:spcPct val="100000"/>
              </a:lnSpc>
              <a:buNone/>
            </a:pPr>
            <a:r>
              <a:rPr lang="en-US" sz="1130" dirty="0">
                <a:solidFill>
                  <a:srgbClr val="647F96"/>
                </a:solidFill>
                <a:latin typeface="Inter" pitchFamily="34" charset="0"/>
                <a:ea typeface="Inter" pitchFamily="34" charset="-122"/>
                <a:cs typeface="Inter" pitchFamily="34" charset="-120"/>
              </a:rPr>
              <a:t>Example contracts, not API responses from an existing G1 integration.</a:t>
            </a:r>
            <a:endParaRPr lang="en-US" sz="113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IMPLEMENTATION / ALGORITHMS</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Small deterministic managers around powerful models</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Planning is replaceable; the validated skill interface remains constant.</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28</a:t>
            </a:r>
            <a:endParaRPr lang="en-US" sz="1100" dirty="0"/>
          </a:p>
        </p:txBody>
      </p:sp>
      <p:sp>
        <p:nvSpPr>
          <p:cNvPr id="11" name="Shape 9"/>
          <p:cNvSpPr/>
          <p:nvPr/>
        </p:nvSpPr>
        <p:spPr>
          <a:xfrm>
            <a:off x="557784" y="2194560"/>
            <a:ext cx="5431536" cy="3520440"/>
          </a:xfrm>
          <a:prstGeom prst="roundRect">
            <a:avLst>
              <a:gd name="adj" fmla="val 3636"/>
            </a:avLst>
          </a:prstGeom>
          <a:solidFill>
            <a:srgbClr val="102335"/>
          </a:solidFill>
          <a:ln w="10795">
            <a:solidFill>
              <a:srgbClr val="294056"/>
            </a:solidFill>
            <a:prstDash val="solid"/>
          </a:ln>
        </p:spPr>
      </p:sp>
      <p:sp>
        <p:nvSpPr>
          <p:cNvPr id="12" name="Text 10"/>
          <p:cNvSpPr/>
          <p:nvPr/>
        </p:nvSpPr>
        <p:spPr>
          <a:xfrm>
            <a:off x="795528" y="2441448"/>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B5A0F8"/>
                </a:solidFill>
                <a:latin typeface="Inter" pitchFamily="34" charset="0"/>
                <a:ea typeface="Inter" pitchFamily="34" charset="-122"/>
                <a:cs typeface="Inter" pitchFamily="34" charset="-120"/>
              </a:rPr>
              <a:t>MISSION ORCHESTRATOR</a:t>
            </a:r>
            <a:endParaRPr lang="en-US" sz="1000" dirty="0"/>
          </a:p>
        </p:txBody>
      </p:sp>
      <p:sp>
        <p:nvSpPr>
          <p:cNvPr id="13" name="Text 11"/>
          <p:cNvSpPr/>
          <p:nvPr/>
        </p:nvSpPr>
        <p:spPr>
          <a:xfrm>
            <a:off x="804672" y="2788920"/>
            <a:ext cx="4828032" cy="2651760"/>
          </a:xfrm>
          <a:prstGeom prst="rect">
            <a:avLst/>
          </a:prstGeom>
          <a:noFill/>
          <a:ln/>
        </p:spPr>
        <p:txBody>
          <a:bodyPr wrap="square" lIns="0" tIns="0" rIns="0" bIns="0" rtlCol="0" anchor="t"/>
          <a:lstStyle/>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plan = parse_and_validate(text)</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obj = await find_object(plan.target)</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assert obj.status == FOUND</a:t>
            </a:r>
            <a:endParaRPr lang="en-US" sz="1230" dirty="0"/>
          </a:p>
          <a:p>
            <a:pPr algn="l" indent="0" marL="0">
              <a:lnSpc>
                <a:spcPct val="100000"/>
              </a:lnSpc>
              <a:buNone/>
            </a:pP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await navigate(obj.pick_pose)</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await vla_pick(obj.id)</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assert registry.is_attached(obj.id)</a:t>
            </a:r>
            <a:endParaRPr lang="en-US" sz="1230" dirty="0"/>
          </a:p>
          <a:p>
            <a:pPr algn="l" indent="0" marL="0">
              <a:lnSpc>
                <a:spcPct val="100000"/>
              </a:lnSpc>
              <a:buNone/>
            </a:pP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await navigate(plan.destination)</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await vla_place(obj.id, destination)</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await verify_goal(plan)</a:t>
            </a:r>
            <a:endParaRPr lang="en-US" sz="1230" dirty="0"/>
          </a:p>
        </p:txBody>
      </p:sp>
      <p:sp>
        <p:nvSpPr>
          <p:cNvPr id="14" name="Shape 12"/>
          <p:cNvSpPr/>
          <p:nvPr/>
        </p:nvSpPr>
        <p:spPr>
          <a:xfrm>
            <a:off x="6217920" y="2194560"/>
            <a:ext cx="5404104" cy="3520440"/>
          </a:xfrm>
          <a:prstGeom prst="roundRect">
            <a:avLst>
              <a:gd name="adj" fmla="val 3636"/>
            </a:avLst>
          </a:prstGeom>
          <a:solidFill>
            <a:srgbClr val="102335"/>
          </a:solidFill>
          <a:ln w="10795">
            <a:solidFill>
              <a:srgbClr val="294056"/>
            </a:solidFill>
            <a:prstDash val="solid"/>
          </a:ln>
        </p:spPr>
      </p:sp>
      <p:sp>
        <p:nvSpPr>
          <p:cNvPr id="15" name="Text 13"/>
          <p:cNvSpPr/>
          <p:nvPr/>
        </p:nvSpPr>
        <p:spPr>
          <a:xfrm>
            <a:off x="6464808" y="2441448"/>
            <a:ext cx="4572000" cy="201168"/>
          </a:xfrm>
          <a:prstGeom prst="rect">
            <a:avLst/>
          </a:prstGeom>
          <a:noFill/>
          <a:ln/>
        </p:spPr>
        <p:txBody>
          <a:bodyPr wrap="square" lIns="0" tIns="0" rIns="0" bIns="0" rtlCol="0" anchor="ctr"/>
          <a:lstStyle/>
          <a:p>
            <a:pPr algn="l" indent="0" marL="0">
              <a:lnSpc>
                <a:spcPct val="100000"/>
              </a:lnSpc>
              <a:buNone/>
            </a:pPr>
            <a:r>
              <a:rPr lang="en-US" sz="1000" b="1" spc="110" kern="0" dirty="0">
                <a:solidFill>
                  <a:srgbClr val="65D5E9"/>
                </a:solidFill>
                <a:latin typeface="Inter" pitchFamily="34" charset="0"/>
                <a:ea typeface="Inter" pitchFamily="34" charset="-122"/>
                <a:cs typeface="Inter" pitchFamily="34" charset="-120"/>
              </a:rPr>
              <a:t>ACTIVE PERCEPTION</a:t>
            </a:r>
            <a:endParaRPr lang="en-US" sz="1000" dirty="0"/>
          </a:p>
        </p:txBody>
      </p:sp>
      <p:sp>
        <p:nvSpPr>
          <p:cNvPr id="16" name="Text 14"/>
          <p:cNvSpPr/>
          <p:nvPr/>
        </p:nvSpPr>
        <p:spPr>
          <a:xfrm>
            <a:off x="6473952" y="2788920"/>
            <a:ext cx="4745736" cy="2651760"/>
          </a:xfrm>
          <a:prstGeom prst="rect">
            <a:avLst/>
          </a:prstGeom>
          <a:noFill/>
          <a:ln/>
        </p:spPr>
        <p:txBody>
          <a:bodyPr wrap="square" lIns="0" tIns="0" rIns="0" bIns="0" rtlCol="0" anchor="t"/>
          <a:lstStyle/>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candidates = world.query(target)</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if fresh_match(candidates):</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    return verify(candidates)</a:t>
            </a:r>
            <a:endParaRPr lang="en-US" sz="1230" dirty="0"/>
          </a:p>
          <a:p>
            <a:pPr algn="l" indent="0" marL="0">
              <a:lnSpc>
                <a:spcPct val="100000"/>
              </a:lnSpc>
              <a:buNone/>
            </a:pP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views = plan_safe_views(target)</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for view in views[:max_views]:</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    if await navigate(view) == SUCCESS:</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        world.update(await observe())</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        if grounded(target):</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            return FOUND(object_id)</a:t>
            </a:r>
            <a:endParaRPr lang="en-US" sz="1230" dirty="0"/>
          </a:p>
          <a:p>
            <a:pPr algn="l" indent="0" marL="0">
              <a:lnSpc>
                <a:spcPct val="100000"/>
              </a:lnSpc>
              <a:buNone/>
            </a:pPr>
            <a:r>
              <a:rPr lang="en-US" sz="1230" dirty="0">
                <a:solidFill>
                  <a:srgbClr val="DCE7F3"/>
                </a:solidFill>
                <a:latin typeface="DejaVu Sans Mono" pitchFamily="34" charset="0"/>
                <a:ea typeface="DejaVu Sans Mono" pitchFamily="34" charset="-122"/>
                <a:cs typeface="DejaVu Sans Mono" pitchFamily="34" charset="-120"/>
              </a:rPr>
              <a:t>return NOT_OBSERVED</a:t>
            </a:r>
            <a:endParaRPr lang="en-US" sz="1230" dirty="0"/>
          </a:p>
        </p:txBody>
      </p:sp>
      <p:sp>
        <p:nvSpPr>
          <p:cNvPr id="17" name="Text 15"/>
          <p:cNvSpPr/>
          <p:nvPr/>
        </p:nvSpPr>
        <p:spPr>
          <a:xfrm>
            <a:off x="941832" y="6007608"/>
            <a:ext cx="10332720" cy="237744"/>
          </a:xfrm>
          <a:prstGeom prst="rect">
            <a:avLst/>
          </a:prstGeom>
          <a:noFill/>
          <a:ln/>
        </p:spPr>
        <p:txBody>
          <a:bodyPr wrap="square" lIns="0" tIns="0" rIns="0" bIns="0" rtlCol="0" anchor="ctr"/>
          <a:lstStyle/>
          <a:p>
            <a:pPr algn="ctr" indent="0" marL="0">
              <a:lnSpc>
                <a:spcPct val="100000"/>
              </a:lnSpc>
              <a:buNone/>
            </a:pPr>
            <a:r>
              <a:rPr lang="en-US" sz="1100" dirty="0">
                <a:solidFill>
                  <a:srgbClr val="647F96"/>
                </a:solidFill>
                <a:latin typeface="Inter" pitchFamily="34" charset="0"/>
                <a:ea typeface="Inter" pitchFamily="34" charset="-122"/>
                <a:cs typeface="Inter" pitchFamily="34" charset="-120"/>
              </a:rPr>
              <a:t>Pseudocode: omitted real ROS 2 async state handling, cancellation, safety and timeout wiring.</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DEPLOYMENT / LOCAL-FIRST</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All runtime decisions can remain on your own machines</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Codex is for software engineering—not the real-time control loop.</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29</a:t>
            </a:r>
            <a:endParaRPr lang="en-US" sz="1100" dirty="0"/>
          </a:p>
        </p:txBody>
      </p:sp>
      <p:sp>
        <p:nvSpPr>
          <p:cNvPr id="11" name="Shape 9"/>
          <p:cNvSpPr/>
          <p:nvPr/>
        </p:nvSpPr>
        <p:spPr>
          <a:xfrm>
            <a:off x="576072" y="2459736"/>
            <a:ext cx="2121408" cy="2148840"/>
          </a:xfrm>
          <a:prstGeom prst="roundRect">
            <a:avLst>
              <a:gd name="adj" fmla="val 6034"/>
            </a:avLst>
          </a:prstGeom>
          <a:solidFill>
            <a:srgbClr val="102335"/>
          </a:solidFill>
          <a:ln w="10795">
            <a:solidFill>
              <a:srgbClr val="294056"/>
            </a:solidFill>
            <a:prstDash val="solid"/>
          </a:ln>
        </p:spPr>
      </p:sp>
      <p:sp>
        <p:nvSpPr>
          <p:cNvPr id="12" name="Shape 10"/>
          <p:cNvSpPr/>
          <p:nvPr/>
        </p:nvSpPr>
        <p:spPr>
          <a:xfrm>
            <a:off x="576072" y="2459736"/>
            <a:ext cx="2121408" cy="64008"/>
          </a:xfrm>
          <a:prstGeom prst="rect">
            <a:avLst/>
          </a:prstGeom>
          <a:solidFill>
            <a:srgbClr val="B5A0F8"/>
          </a:solidFill>
          <a:ln w="10795">
            <a:solidFill>
              <a:srgbClr val="B5A0F8"/>
            </a:solidFill>
            <a:prstDash val="solid"/>
          </a:ln>
        </p:spPr>
      </p:sp>
      <p:sp>
        <p:nvSpPr>
          <p:cNvPr id="13" name="Text 11"/>
          <p:cNvSpPr/>
          <p:nvPr/>
        </p:nvSpPr>
        <p:spPr>
          <a:xfrm>
            <a:off x="740664" y="2724912"/>
            <a:ext cx="1792224" cy="484632"/>
          </a:xfrm>
          <a:prstGeom prst="rect">
            <a:avLst/>
          </a:prstGeom>
          <a:noFill/>
          <a:ln/>
        </p:spPr>
        <p:txBody>
          <a:bodyPr wrap="square" lIns="0" tIns="0" rIns="0" bIns="0" rtlCol="0" anchor="ctr"/>
          <a:lstStyle/>
          <a:p>
            <a:pPr algn="ctr" indent="0" marL="0">
              <a:lnSpc>
                <a:spcPct val="100000"/>
              </a:lnSpc>
              <a:buNone/>
            </a:pPr>
            <a:r>
              <a:rPr lang="en-US" sz="1210" b="1" dirty="0">
                <a:solidFill>
                  <a:srgbClr val="B5A0F8"/>
                </a:solidFill>
                <a:latin typeface="Inter" pitchFamily="34" charset="0"/>
                <a:ea typeface="Inter" pitchFamily="34" charset="-122"/>
                <a:cs typeface="Inter" pitchFamily="34" charset="-120"/>
              </a:rPr>
              <a:t>DEV / RESEARCH PC</a:t>
            </a:r>
            <a:endParaRPr lang="en-US" sz="1210" dirty="0"/>
          </a:p>
        </p:txBody>
      </p:sp>
      <p:sp>
        <p:nvSpPr>
          <p:cNvPr id="14" name="Text 12"/>
          <p:cNvSpPr/>
          <p:nvPr/>
        </p:nvSpPr>
        <p:spPr>
          <a:xfrm>
            <a:off x="722376" y="3429000"/>
            <a:ext cx="1828800" cy="777240"/>
          </a:xfrm>
          <a:prstGeom prst="rect">
            <a:avLst/>
          </a:prstGeom>
          <a:noFill/>
          <a:ln/>
        </p:spPr>
        <p:txBody>
          <a:bodyPr wrap="square" lIns="0" tIns="0" rIns="0" bIns="0" rtlCol="0" anchor="t"/>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Codex CLI (subscription)</a:t>
            </a:r>
            <a:endParaRPr lang="en-US" sz="1200" dirty="0"/>
          </a:p>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Source audits, code, reports</a:t>
            </a:r>
            <a:endParaRPr lang="en-US" sz="1200" dirty="0"/>
          </a:p>
        </p:txBody>
      </p:sp>
      <p:sp>
        <p:nvSpPr>
          <p:cNvPr id="15" name="Shape 13"/>
          <p:cNvSpPr/>
          <p:nvPr/>
        </p:nvSpPr>
        <p:spPr>
          <a:xfrm>
            <a:off x="2697480" y="3493008"/>
            <a:ext cx="173736" cy="0"/>
          </a:xfrm>
          <a:prstGeom prst="line">
            <a:avLst/>
          </a:prstGeom>
          <a:noFill/>
          <a:ln w="17780">
            <a:solidFill>
              <a:srgbClr val="647F96"/>
            </a:solidFill>
            <a:prstDash val="solid"/>
            <a:headEnd type="none"/>
            <a:tailEnd type="triangle"/>
          </a:ln>
        </p:spPr>
      </p:sp>
      <p:sp>
        <p:nvSpPr>
          <p:cNvPr id="16" name="Shape 14"/>
          <p:cNvSpPr/>
          <p:nvPr/>
        </p:nvSpPr>
        <p:spPr>
          <a:xfrm>
            <a:off x="2898648" y="2459736"/>
            <a:ext cx="2121408" cy="2148840"/>
          </a:xfrm>
          <a:prstGeom prst="roundRect">
            <a:avLst>
              <a:gd name="adj" fmla="val 6034"/>
            </a:avLst>
          </a:prstGeom>
          <a:solidFill>
            <a:srgbClr val="102335"/>
          </a:solidFill>
          <a:ln w="10795">
            <a:solidFill>
              <a:srgbClr val="294056"/>
            </a:solidFill>
            <a:prstDash val="solid"/>
          </a:ln>
        </p:spPr>
      </p:sp>
      <p:sp>
        <p:nvSpPr>
          <p:cNvPr id="17" name="Shape 15"/>
          <p:cNvSpPr/>
          <p:nvPr/>
        </p:nvSpPr>
        <p:spPr>
          <a:xfrm>
            <a:off x="2898648" y="2459736"/>
            <a:ext cx="2121408" cy="64008"/>
          </a:xfrm>
          <a:prstGeom prst="rect">
            <a:avLst/>
          </a:prstGeom>
          <a:solidFill>
            <a:srgbClr val="B5A0F8"/>
          </a:solidFill>
          <a:ln w="10795">
            <a:solidFill>
              <a:srgbClr val="B5A0F8"/>
            </a:solidFill>
            <a:prstDash val="solid"/>
          </a:ln>
        </p:spPr>
      </p:sp>
      <p:sp>
        <p:nvSpPr>
          <p:cNvPr id="18" name="Text 16"/>
          <p:cNvSpPr/>
          <p:nvPr/>
        </p:nvSpPr>
        <p:spPr>
          <a:xfrm>
            <a:off x="3063240" y="2724912"/>
            <a:ext cx="1792224" cy="484632"/>
          </a:xfrm>
          <a:prstGeom prst="rect">
            <a:avLst/>
          </a:prstGeom>
          <a:noFill/>
          <a:ln/>
        </p:spPr>
        <p:txBody>
          <a:bodyPr wrap="square" lIns="0" tIns="0" rIns="0" bIns="0" rtlCol="0" anchor="ctr"/>
          <a:lstStyle/>
          <a:p>
            <a:pPr algn="ctr" indent="0" marL="0">
              <a:lnSpc>
                <a:spcPct val="100000"/>
              </a:lnSpc>
              <a:buNone/>
            </a:pPr>
            <a:r>
              <a:rPr lang="en-US" sz="1210" b="1" dirty="0">
                <a:solidFill>
                  <a:srgbClr val="B5A0F8"/>
                </a:solidFill>
                <a:latin typeface="Inter" pitchFamily="34" charset="0"/>
                <a:ea typeface="Inter" pitchFamily="34" charset="-122"/>
                <a:cs typeface="Inter" pitchFamily="34" charset="-120"/>
              </a:rPr>
              <a:t>PLANNER GPU</a:t>
            </a:r>
            <a:endParaRPr lang="en-US" sz="1210" dirty="0"/>
          </a:p>
        </p:txBody>
      </p:sp>
      <p:sp>
        <p:nvSpPr>
          <p:cNvPr id="19" name="Text 17"/>
          <p:cNvSpPr/>
          <p:nvPr/>
        </p:nvSpPr>
        <p:spPr>
          <a:xfrm>
            <a:off x="3044952" y="3429000"/>
            <a:ext cx="1828800" cy="777240"/>
          </a:xfrm>
          <a:prstGeom prst="rect">
            <a:avLst/>
          </a:prstGeom>
          <a:noFill/>
          <a:ln/>
        </p:spPr>
        <p:txBody>
          <a:bodyPr wrap="square" lIns="0" tIns="0" rIns="0" bIns="0" rtlCol="0" anchor="t"/>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Local RynnBrain / planner</a:t>
            </a:r>
            <a:endParaRPr lang="en-US" sz="1200" dirty="0"/>
          </a:p>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Structured mission output</a:t>
            </a:r>
            <a:endParaRPr lang="en-US" sz="1200" dirty="0"/>
          </a:p>
        </p:txBody>
      </p:sp>
      <p:sp>
        <p:nvSpPr>
          <p:cNvPr id="20" name="Shape 18"/>
          <p:cNvSpPr/>
          <p:nvPr/>
        </p:nvSpPr>
        <p:spPr>
          <a:xfrm>
            <a:off x="5020056" y="3493008"/>
            <a:ext cx="173736" cy="0"/>
          </a:xfrm>
          <a:prstGeom prst="line">
            <a:avLst/>
          </a:prstGeom>
          <a:noFill/>
          <a:ln w="17780">
            <a:solidFill>
              <a:srgbClr val="647F96"/>
            </a:solidFill>
            <a:prstDash val="solid"/>
            <a:headEnd type="none"/>
            <a:tailEnd type="triangle"/>
          </a:ln>
        </p:spPr>
      </p:sp>
      <p:sp>
        <p:nvSpPr>
          <p:cNvPr id="21" name="Shape 19"/>
          <p:cNvSpPr/>
          <p:nvPr/>
        </p:nvSpPr>
        <p:spPr>
          <a:xfrm>
            <a:off x="5221224" y="2459736"/>
            <a:ext cx="2121408" cy="2148840"/>
          </a:xfrm>
          <a:prstGeom prst="roundRect">
            <a:avLst>
              <a:gd name="adj" fmla="val 6034"/>
            </a:avLst>
          </a:prstGeom>
          <a:solidFill>
            <a:srgbClr val="102335"/>
          </a:solidFill>
          <a:ln w="10795">
            <a:solidFill>
              <a:srgbClr val="294056"/>
            </a:solidFill>
            <a:prstDash val="solid"/>
          </a:ln>
        </p:spPr>
      </p:sp>
      <p:sp>
        <p:nvSpPr>
          <p:cNvPr id="22" name="Shape 20"/>
          <p:cNvSpPr/>
          <p:nvPr/>
        </p:nvSpPr>
        <p:spPr>
          <a:xfrm>
            <a:off x="5221224" y="2459736"/>
            <a:ext cx="2121408" cy="64008"/>
          </a:xfrm>
          <a:prstGeom prst="rect">
            <a:avLst/>
          </a:prstGeom>
          <a:solidFill>
            <a:srgbClr val="65D5E9"/>
          </a:solidFill>
          <a:ln w="10795">
            <a:solidFill>
              <a:srgbClr val="65D5E9"/>
            </a:solidFill>
            <a:prstDash val="solid"/>
          </a:ln>
        </p:spPr>
      </p:sp>
      <p:sp>
        <p:nvSpPr>
          <p:cNvPr id="23" name="Text 21"/>
          <p:cNvSpPr/>
          <p:nvPr/>
        </p:nvSpPr>
        <p:spPr>
          <a:xfrm>
            <a:off x="5385816" y="2724912"/>
            <a:ext cx="1792224" cy="484632"/>
          </a:xfrm>
          <a:prstGeom prst="rect">
            <a:avLst/>
          </a:prstGeom>
          <a:noFill/>
          <a:ln/>
        </p:spPr>
        <p:txBody>
          <a:bodyPr wrap="square" lIns="0" tIns="0" rIns="0" bIns="0" rtlCol="0" anchor="ctr"/>
          <a:lstStyle/>
          <a:p>
            <a:pPr algn="ctr" indent="0" marL="0">
              <a:lnSpc>
                <a:spcPct val="100000"/>
              </a:lnSpc>
              <a:buNone/>
            </a:pPr>
            <a:r>
              <a:rPr lang="en-US" sz="1210" b="1" dirty="0">
                <a:solidFill>
                  <a:srgbClr val="65D5E9"/>
                </a:solidFill>
                <a:latin typeface="Inter" pitchFamily="34" charset="0"/>
                <a:ea typeface="Inter" pitchFamily="34" charset="-122"/>
                <a:cs typeface="Inter" pitchFamily="34" charset="-120"/>
              </a:rPr>
              <a:t>PERCEPTION + MAP</a:t>
            </a:r>
            <a:endParaRPr lang="en-US" sz="1210" dirty="0"/>
          </a:p>
        </p:txBody>
      </p:sp>
      <p:sp>
        <p:nvSpPr>
          <p:cNvPr id="24" name="Text 22"/>
          <p:cNvSpPr/>
          <p:nvPr/>
        </p:nvSpPr>
        <p:spPr>
          <a:xfrm>
            <a:off x="5367528" y="3429000"/>
            <a:ext cx="1828800" cy="777240"/>
          </a:xfrm>
          <a:prstGeom prst="rect">
            <a:avLst/>
          </a:prstGeom>
          <a:noFill/>
          <a:ln/>
        </p:spPr>
        <p:txBody>
          <a:bodyPr wrap="square" lIns="0" tIns="0" rIns="0" bIns="0" rtlCol="0" anchor="t"/>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Existing 3D detection, scene</a:t>
            </a:r>
            <a:endParaRPr lang="en-US" sz="1200" dirty="0"/>
          </a:p>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Costmap, world registry</a:t>
            </a:r>
            <a:endParaRPr lang="en-US" sz="1200" dirty="0"/>
          </a:p>
        </p:txBody>
      </p:sp>
      <p:sp>
        <p:nvSpPr>
          <p:cNvPr id="25" name="Shape 23"/>
          <p:cNvSpPr/>
          <p:nvPr/>
        </p:nvSpPr>
        <p:spPr>
          <a:xfrm>
            <a:off x="7342632" y="3493008"/>
            <a:ext cx="173736" cy="0"/>
          </a:xfrm>
          <a:prstGeom prst="line">
            <a:avLst/>
          </a:prstGeom>
          <a:noFill/>
          <a:ln w="17780">
            <a:solidFill>
              <a:srgbClr val="647F96"/>
            </a:solidFill>
            <a:prstDash val="solid"/>
            <a:headEnd type="none"/>
            <a:tailEnd type="triangle"/>
          </a:ln>
        </p:spPr>
      </p:sp>
      <p:sp>
        <p:nvSpPr>
          <p:cNvPr id="26" name="Shape 24"/>
          <p:cNvSpPr/>
          <p:nvPr/>
        </p:nvSpPr>
        <p:spPr>
          <a:xfrm>
            <a:off x="7543800" y="2459736"/>
            <a:ext cx="2121408" cy="2148840"/>
          </a:xfrm>
          <a:prstGeom prst="roundRect">
            <a:avLst>
              <a:gd name="adj" fmla="val 6034"/>
            </a:avLst>
          </a:prstGeom>
          <a:solidFill>
            <a:srgbClr val="102335"/>
          </a:solidFill>
          <a:ln w="10795">
            <a:solidFill>
              <a:srgbClr val="294056"/>
            </a:solidFill>
            <a:prstDash val="solid"/>
          </a:ln>
        </p:spPr>
      </p:sp>
      <p:sp>
        <p:nvSpPr>
          <p:cNvPr id="27" name="Shape 25"/>
          <p:cNvSpPr/>
          <p:nvPr/>
        </p:nvSpPr>
        <p:spPr>
          <a:xfrm>
            <a:off x="7543800" y="2459736"/>
            <a:ext cx="2121408" cy="64008"/>
          </a:xfrm>
          <a:prstGeom prst="rect">
            <a:avLst/>
          </a:prstGeom>
          <a:solidFill>
            <a:srgbClr val="FFC176"/>
          </a:solidFill>
          <a:ln w="10795">
            <a:solidFill>
              <a:srgbClr val="FFC176"/>
            </a:solidFill>
            <a:prstDash val="solid"/>
          </a:ln>
        </p:spPr>
      </p:sp>
      <p:sp>
        <p:nvSpPr>
          <p:cNvPr id="28" name="Text 26"/>
          <p:cNvSpPr/>
          <p:nvPr/>
        </p:nvSpPr>
        <p:spPr>
          <a:xfrm>
            <a:off x="7708392" y="2724912"/>
            <a:ext cx="1792224" cy="484632"/>
          </a:xfrm>
          <a:prstGeom prst="rect">
            <a:avLst/>
          </a:prstGeom>
          <a:noFill/>
          <a:ln/>
        </p:spPr>
        <p:txBody>
          <a:bodyPr wrap="square" lIns="0" tIns="0" rIns="0" bIns="0" rtlCol="0" anchor="ctr"/>
          <a:lstStyle/>
          <a:p>
            <a:pPr algn="ctr" indent="0" marL="0">
              <a:lnSpc>
                <a:spcPct val="100000"/>
              </a:lnSpc>
              <a:buNone/>
            </a:pPr>
            <a:r>
              <a:rPr lang="en-US" sz="1210" b="1" dirty="0">
                <a:solidFill>
                  <a:srgbClr val="FFC176"/>
                </a:solidFill>
                <a:latin typeface="Inter" pitchFamily="34" charset="0"/>
                <a:ea typeface="Inter" pitchFamily="34" charset="-122"/>
                <a:cs typeface="Inter" pitchFamily="34" charset="-120"/>
              </a:rPr>
              <a:t>VLA GPU</a:t>
            </a:r>
            <a:endParaRPr lang="en-US" sz="1210" dirty="0"/>
          </a:p>
        </p:txBody>
      </p:sp>
      <p:sp>
        <p:nvSpPr>
          <p:cNvPr id="29" name="Text 27"/>
          <p:cNvSpPr/>
          <p:nvPr/>
        </p:nvSpPr>
        <p:spPr>
          <a:xfrm>
            <a:off x="7690104" y="3429000"/>
            <a:ext cx="1828800" cy="777240"/>
          </a:xfrm>
          <a:prstGeom prst="rect">
            <a:avLst/>
          </a:prstGeom>
          <a:noFill/>
          <a:ln/>
        </p:spPr>
        <p:txBody>
          <a:bodyPr wrap="square" lIns="0" tIns="0" rIns="0" bIns="0" rtlCol="0" anchor="t"/>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GR00T N1.7 fine-tuned</a:t>
            </a:r>
            <a:endParaRPr lang="en-US" sz="1200" dirty="0"/>
          </a:p>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Policy inference</a:t>
            </a:r>
            <a:endParaRPr lang="en-US" sz="1200" dirty="0"/>
          </a:p>
        </p:txBody>
      </p:sp>
      <p:sp>
        <p:nvSpPr>
          <p:cNvPr id="30" name="Shape 28"/>
          <p:cNvSpPr/>
          <p:nvPr/>
        </p:nvSpPr>
        <p:spPr>
          <a:xfrm>
            <a:off x="9665208" y="3493008"/>
            <a:ext cx="173736" cy="0"/>
          </a:xfrm>
          <a:prstGeom prst="line">
            <a:avLst/>
          </a:prstGeom>
          <a:noFill/>
          <a:ln w="17780">
            <a:solidFill>
              <a:srgbClr val="647F96"/>
            </a:solidFill>
            <a:prstDash val="solid"/>
            <a:headEnd type="none"/>
            <a:tailEnd type="triangle"/>
          </a:ln>
        </p:spPr>
      </p:sp>
      <p:sp>
        <p:nvSpPr>
          <p:cNvPr id="31" name="Shape 29"/>
          <p:cNvSpPr/>
          <p:nvPr/>
        </p:nvSpPr>
        <p:spPr>
          <a:xfrm>
            <a:off x="9866376" y="2459736"/>
            <a:ext cx="2121408" cy="2148840"/>
          </a:xfrm>
          <a:prstGeom prst="roundRect">
            <a:avLst>
              <a:gd name="adj" fmla="val 6034"/>
            </a:avLst>
          </a:prstGeom>
          <a:solidFill>
            <a:srgbClr val="102335"/>
          </a:solidFill>
          <a:ln w="10795">
            <a:solidFill>
              <a:srgbClr val="294056"/>
            </a:solidFill>
            <a:prstDash val="solid"/>
          </a:ln>
        </p:spPr>
      </p:sp>
      <p:sp>
        <p:nvSpPr>
          <p:cNvPr id="32" name="Shape 30"/>
          <p:cNvSpPr/>
          <p:nvPr/>
        </p:nvSpPr>
        <p:spPr>
          <a:xfrm>
            <a:off x="9866376" y="2459736"/>
            <a:ext cx="2121408" cy="64008"/>
          </a:xfrm>
          <a:prstGeom prst="rect">
            <a:avLst/>
          </a:prstGeom>
          <a:solidFill>
            <a:srgbClr val="6B9BFF"/>
          </a:solidFill>
          <a:ln w="10795">
            <a:solidFill>
              <a:srgbClr val="6B9BFF"/>
            </a:solidFill>
            <a:prstDash val="solid"/>
          </a:ln>
        </p:spPr>
      </p:sp>
      <p:sp>
        <p:nvSpPr>
          <p:cNvPr id="33" name="Text 31"/>
          <p:cNvSpPr/>
          <p:nvPr/>
        </p:nvSpPr>
        <p:spPr>
          <a:xfrm>
            <a:off x="10030968" y="2724912"/>
            <a:ext cx="1792224" cy="484632"/>
          </a:xfrm>
          <a:prstGeom prst="rect">
            <a:avLst/>
          </a:prstGeom>
          <a:noFill/>
          <a:ln/>
        </p:spPr>
        <p:txBody>
          <a:bodyPr wrap="square" lIns="0" tIns="0" rIns="0" bIns="0" rtlCol="0" anchor="ctr"/>
          <a:lstStyle/>
          <a:p>
            <a:pPr algn="ctr" indent="0" marL="0">
              <a:lnSpc>
                <a:spcPct val="100000"/>
              </a:lnSpc>
              <a:buNone/>
            </a:pPr>
            <a:r>
              <a:rPr lang="en-US" sz="1210" b="1" dirty="0">
                <a:solidFill>
                  <a:srgbClr val="6B9BFF"/>
                </a:solidFill>
                <a:latin typeface="Inter" pitchFamily="34" charset="0"/>
                <a:ea typeface="Inter" pitchFamily="34" charset="-122"/>
                <a:cs typeface="Inter" pitchFamily="34" charset="-120"/>
              </a:rPr>
              <a:t>G1 / LOCAL CONTROL</a:t>
            </a:r>
            <a:endParaRPr lang="en-US" sz="1210" dirty="0"/>
          </a:p>
        </p:txBody>
      </p:sp>
      <p:sp>
        <p:nvSpPr>
          <p:cNvPr id="34" name="Text 32"/>
          <p:cNvSpPr/>
          <p:nvPr/>
        </p:nvSpPr>
        <p:spPr>
          <a:xfrm>
            <a:off x="10012680" y="3429000"/>
            <a:ext cx="1828800" cy="777240"/>
          </a:xfrm>
          <a:prstGeom prst="rect">
            <a:avLst/>
          </a:prstGeom>
          <a:noFill/>
          <a:ln/>
        </p:spPr>
        <p:txBody>
          <a:bodyPr wrap="square" lIns="0" tIns="0" rIns="0" bIns="0" rtlCol="0" anchor="t"/>
          <a:lstStyle/>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ROS2 nav bridge + WBC</a:t>
            </a:r>
            <a:endParaRPr lang="en-US" sz="1200" dirty="0"/>
          </a:p>
          <a:p>
            <a:pPr algn="ctr" indent="0" marL="0">
              <a:lnSpc>
                <a:spcPct val="100000"/>
              </a:lnSpc>
              <a:buNone/>
            </a:pPr>
            <a:r>
              <a:rPr lang="en-US" sz="1200" dirty="0">
                <a:solidFill>
                  <a:srgbClr val="A1B2C4"/>
                </a:solidFill>
                <a:latin typeface="Inter" pitchFamily="34" charset="0"/>
                <a:ea typeface="Inter" pitchFamily="34" charset="-122"/>
                <a:cs typeface="Inter" pitchFamily="34" charset="-120"/>
              </a:rPr>
              <a:t>Safety, actuation, sensors</a:t>
            </a:r>
            <a:endParaRPr lang="en-US" sz="1200" dirty="0"/>
          </a:p>
        </p:txBody>
      </p:sp>
      <p:sp>
        <p:nvSpPr>
          <p:cNvPr id="35" name="Shape 33"/>
          <p:cNvSpPr/>
          <p:nvPr/>
        </p:nvSpPr>
        <p:spPr>
          <a:xfrm>
            <a:off x="1024128" y="5020056"/>
            <a:ext cx="10168128" cy="722376"/>
          </a:xfrm>
          <a:prstGeom prst="roundRect">
            <a:avLst>
              <a:gd name="adj" fmla="val 17722"/>
            </a:avLst>
          </a:prstGeom>
          <a:solidFill>
            <a:srgbClr val="152B40"/>
          </a:solidFill>
          <a:ln w="10795">
            <a:solidFill>
              <a:srgbClr val="294056"/>
            </a:solidFill>
            <a:prstDash val="solid"/>
          </a:ln>
        </p:spPr>
      </p:sp>
      <p:sp>
        <p:nvSpPr>
          <p:cNvPr id="36" name="Text 34"/>
          <p:cNvSpPr/>
          <p:nvPr/>
        </p:nvSpPr>
        <p:spPr>
          <a:xfrm>
            <a:off x="1325880" y="5230368"/>
            <a:ext cx="9582912" cy="310896"/>
          </a:xfrm>
          <a:prstGeom prst="rect">
            <a:avLst/>
          </a:prstGeom>
          <a:noFill/>
          <a:ln/>
        </p:spPr>
        <p:txBody>
          <a:bodyPr wrap="square" lIns="0" tIns="0" rIns="0" bIns="0" rtlCol="0" anchor="ctr"/>
          <a:lstStyle/>
          <a:p>
            <a:pPr algn="ctr" indent="0" marL="0">
              <a:lnSpc>
                <a:spcPct val="100000"/>
              </a:lnSpc>
              <a:buNone/>
            </a:pPr>
            <a:r>
              <a:rPr lang="en-US" sz="1400" b="1" dirty="0">
                <a:solidFill>
                  <a:srgbClr val="48D7B2"/>
                </a:solidFill>
                <a:latin typeface="Inter" pitchFamily="34" charset="0"/>
                <a:ea typeface="Inter" pitchFamily="34" charset="-122"/>
                <a:cs typeface="Inter" pitchFamily="34" charset="-120"/>
              </a:rPr>
              <a:t>No external inference API in the robot runtime  •  Private LAN / authenticated RPC  •  Version-locked model checkpoints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VALIDATION / EXPERIMENTS</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Benchmark perception, navigation, manipulation, and safety separately</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A single end-to-end success rate cannot tell the team which component failed.</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30</a:t>
            </a:r>
            <a:endParaRPr lang="en-US" sz="1100" dirty="0"/>
          </a:p>
        </p:txBody>
      </p:sp>
      <p:sp>
        <p:nvSpPr>
          <p:cNvPr id="11" name="Shape 9"/>
          <p:cNvSpPr/>
          <p:nvPr/>
        </p:nvSpPr>
        <p:spPr>
          <a:xfrm>
            <a:off x="594360" y="2322576"/>
            <a:ext cx="3639312" cy="1362456"/>
          </a:xfrm>
          <a:prstGeom prst="roundRect">
            <a:avLst>
              <a:gd name="adj" fmla="val 9396"/>
            </a:avLst>
          </a:prstGeom>
          <a:solidFill>
            <a:srgbClr val="102335"/>
          </a:solidFill>
          <a:ln w="10795">
            <a:solidFill>
              <a:srgbClr val="294056"/>
            </a:solidFill>
            <a:prstDash val="solid"/>
          </a:ln>
        </p:spPr>
      </p:sp>
      <p:sp>
        <p:nvSpPr>
          <p:cNvPr id="12" name="Shape 10"/>
          <p:cNvSpPr/>
          <p:nvPr/>
        </p:nvSpPr>
        <p:spPr>
          <a:xfrm>
            <a:off x="740664" y="2487168"/>
            <a:ext cx="41148" cy="1033272"/>
          </a:xfrm>
          <a:prstGeom prst="rect">
            <a:avLst/>
          </a:prstGeom>
          <a:solidFill>
            <a:srgbClr val="65D5E9"/>
          </a:solidFill>
          <a:ln w="10795">
            <a:solidFill>
              <a:srgbClr val="65D5E9"/>
            </a:solidFill>
            <a:prstDash val="solid"/>
          </a:ln>
        </p:spPr>
      </p:sp>
      <p:sp>
        <p:nvSpPr>
          <p:cNvPr id="13" name="Text 11"/>
          <p:cNvSpPr/>
          <p:nvPr/>
        </p:nvSpPr>
        <p:spPr>
          <a:xfrm>
            <a:off x="886968" y="2505456"/>
            <a:ext cx="3118104" cy="384048"/>
          </a:xfrm>
          <a:prstGeom prst="rect">
            <a:avLst/>
          </a:prstGeom>
          <a:noFill/>
          <a:ln/>
        </p:spPr>
        <p:txBody>
          <a:bodyPr wrap="square" lIns="0" tIns="0" rIns="0" bIns="0" rtlCol="0" anchor="ctr"/>
          <a:lstStyle/>
          <a:p>
            <a:pPr algn="l" indent="0" marL="0">
              <a:lnSpc>
                <a:spcPct val="100000"/>
              </a:lnSpc>
              <a:buNone/>
            </a:pPr>
            <a:r>
              <a:rPr lang="en-US" sz="1660" b="1" dirty="0">
                <a:solidFill>
                  <a:srgbClr val="F5F7FC"/>
                </a:solidFill>
                <a:latin typeface="Inter" pitchFamily="34" charset="0"/>
                <a:ea typeface="Inter" pitchFamily="34" charset="-122"/>
                <a:cs typeface="Inter" pitchFamily="34" charset="-120"/>
              </a:rPr>
              <a:t>FIND</a:t>
            </a:r>
            <a:endParaRPr lang="en-US" sz="1660" dirty="0"/>
          </a:p>
        </p:txBody>
      </p:sp>
      <p:sp>
        <p:nvSpPr>
          <p:cNvPr id="14" name="Text 12"/>
          <p:cNvSpPr/>
          <p:nvPr/>
        </p:nvSpPr>
        <p:spPr>
          <a:xfrm>
            <a:off x="886968" y="2953512"/>
            <a:ext cx="3127248" cy="594360"/>
          </a:xfrm>
          <a:prstGeom prst="rect">
            <a:avLst/>
          </a:prstGeom>
          <a:noFill/>
          <a:ln/>
        </p:spPr>
        <p:txBody>
          <a:bodyPr wrap="square" lIns="0" tIns="0" rIns="0" bIns="0" rtlCol="0" anchor="t"/>
          <a:lstStyle/>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Target recall / search success</a:t>
            </a:r>
            <a:endParaRPr lang="en-US" sz="1200" dirty="0"/>
          </a:p>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views to find / false match</a:t>
            </a:r>
            <a:endParaRPr lang="en-US" sz="1200" dirty="0"/>
          </a:p>
        </p:txBody>
      </p:sp>
      <p:sp>
        <p:nvSpPr>
          <p:cNvPr id="15" name="Shape 13"/>
          <p:cNvSpPr/>
          <p:nvPr/>
        </p:nvSpPr>
        <p:spPr>
          <a:xfrm>
            <a:off x="4480560" y="2322576"/>
            <a:ext cx="3639312" cy="1362456"/>
          </a:xfrm>
          <a:prstGeom prst="roundRect">
            <a:avLst>
              <a:gd name="adj" fmla="val 9396"/>
            </a:avLst>
          </a:prstGeom>
          <a:solidFill>
            <a:srgbClr val="102335"/>
          </a:solidFill>
          <a:ln w="10795">
            <a:solidFill>
              <a:srgbClr val="294056"/>
            </a:solidFill>
            <a:prstDash val="solid"/>
          </a:ln>
        </p:spPr>
      </p:sp>
      <p:sp>
        <p:nvSpPr>
          <p:cNvPr id="16" name="Shape 14"/>
          <p:cNvSpPr/>
          <p:nvPr/>
        </p:nvSpPr>
        <p:spPr>
          <a:xfrm>
            <a:off x="4626864" y="2487168"/>
            <a:ext cx="41148" cy="1033272"/>
          </a:xfrm>
          <a:prstGeom prst="rect">
            <a:avLst/>
          </a:prstGeom>
          <a:solidFill>
            <a:srgbClr val="6B9BFF"/>
          </a:solidFill>
          <a:ln w="10795">
            <a:solidFill>
              <a:srgbClr val="6B9BFF"/>
            </a:solidFill>
            <a:prstDash val="solid"/>
          </a:ln>
        </p:spPr>
      </p:sp>
      <p:sp>
        <p:nvSpPr>
          <p:cNvPr id="17" name="Text 15"/>
          <p:cNvSpPr/>
          <p:nvPr/>
        </p:nvSpPr>
        <p:spPr>
          <a:xfrm>
            <a:off x="4773168" y="2505456"/>
            <a:ext cx="3118104" cy="384048"/>
          </a:xfrm>
          <a:prstGeom prst="rect">
            <a:avLst/>
          </a:prstGeom>
          <a:noFill/>
          <a:ln/>
        </p:spPr>
        <p:txBody>
          <a:bodyPr wrap="square" lIns="0" tIns="0" rIns="0" bIns="0" rtlCol="0" anchor="ctr"/>
          <a:lstStyle/>
          <a:p>
            <a:pPr algn="l" indent="0" marL="0">
              <a:lnSpc>
                <a:spcPct val="100000"/>
              </a:lnSpc>
              <a:buNone/>
            </a:pPr>
            <a:r>
              <a:rPr lang="en-US" sz="1660" b="1" dirty="0">
                <a:solidFill>
                  <a:srgbClr val="F5F7FC"/>
                </a:solidFill>
                <a:latin typeface="Inter" pitchFamily="34" charset="0"/>
                <a:ea typeface="Inter" pitchFamily="34" charset="-122"/>
                <a:cs typeface="Inter" pitchFamily="34" charset="-120"/>
              </a:rPr>
              <a:t>NAV</a:t>
            </a:r>
            <a:endParaRPr lang="en-US" sz="1660" dirty="0"/>
          </a:p>
        </p:txBody>
      </p:sp>
      <p:sp>
        <p:nvSpPr>
          <p:cNvPr id="18" name="Text 16"/>
          <p:cNvSpPr/>
          <p:nvPr/>
        </p:nvSpPr>
        <p:spPr>
          <a:xfrm>
            <a:off x="4773168" y="2953512"/>
            <a:ext cx="3127248" cy="594360"/>
          </a:xfrm>
          <a:prstGeom prst="rect">
            <a:avLst/>
          </a:prstGeom>
          <a:noFill/>
          <a:ln/>
        </p:spPr>
        <p:txBody>
          <a:bodyPr wrap="square" lIns="0" tIns="0" rIns="0" bIns="0" rtlCol="0" anchor="t"/>
          <a:lstStyle/>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Goal success / path cost</a:t>
            </a:r>
            <a:endParaRPr lang="en-US" sz="1200" dirty="0"/>
          </a:p>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blocked-route recovery</a:t>
            </a:r>
            <a:endParaRPr lang="en-US" sz="1200" dirty="0"/>
          </a:p>
        </p:txBody>
      </p:sp>
      <p:sp>
        <p:nvSpPr>
          <p:cNvPr id="19" name="Shape 17"/>
          <p:cNvSpPr/>
          <p:nvPr/>
        </p:nvSpPr>
        <p:spPr>
          <a:xfrm>
            <a:off x="8366760" y="2322576"/>
            <a:ext cx="3639312" cy="1362456"/>
          </a:xfrm>
          <a:prstGeom prst="roundRect">
            <a:avLst>
              <a:gd name="adj" fmla="val 9396"/>
            </a:avLst>
          </a:prstGeom>
          <a:solidFill>
            <a:srgbClr val="102335"/>
          </a:solidFill>
          <a:ln w="10795">
            <a:solidFill>
              <a:srgbClr val="294056"/>
            </a:solidFill>
            <a:prstDash val="solid"/>
          </a:ln>
        </p:spPr>
      </p:sp>
      <p:sp>
        <p:nvSpPr>
          <p:cNvPr id="20" name="Shape 18"/>
          <p:cNvSpPr/>
          <p:nvPr/>
        </p:nvSpPr>
        <p:spPr>
          <a:xfrm>
            <a:off x="8513064" y="2487168"/>
            <a:ext cx="41148" cy="1033272"/>
          </a:xfrm>
          <a:prstGeom prst="rect">
            <a:avLst/>
          </a:prstGeom>
          <a:solidFill>
            <a:srgbClr val="FFC176"/>
          </a:solidFill>
          <a:ln w="10795">
            <a:solidFill>
              <a:srgbClr val="FFC176"/>
            </a:solidFill>
            <a:prstDash val="solid"/>
          </a:ln>
        </p:spPr>
      </p:sp>
      <p:sp>
        <p:nvSpPr>
          <p:cNvPr id="21" name="Text 19"/>
          <p:cNvSpPr/>
          <p:nvPr/>
        </p:nvSpPr>
        <p:spPr>
          <a:xfrm>
            <a:off x="8659368" y="2505456"/>
            <a:ext cx="3118104" cy="384048"/>
          </a:xfrm>
          <a:prstGeom prst="rect">
            <a:avLst/>
          </a:prstGeom>
          <a:noFill/>
          <a:ln/>
        </p:spPr>
        <p:txBody>
          <a:bodyPr wrap="square" lIns="0" tIns="0" rIns="0" bIns="0" rtlCol="0" anchor="ctr"/>
          <a:lstStyle/>
          <a:p>
            <a:pPr algn="l" indent="0" marL="0">
              <a:lnSpc>
                <a:spcPct val="100000"/>
              </a:lnSpc>
              <a:buNone/>
            </a:pPr>
            <a:r>
              <a:rPr lang="en-US" sz="1660" b="1" dirty="0">
                <a:solidFill>
                  <a:srgbClr val="F5F7FC"/>
                </a:solidFill>
                <a:latin typeface="Inter" pitchFamily="34" charset="0"/>
                <a:ea typeface="Inter" pitchFamily="34" charset="-122"/>
                <a:cs typeface="Inter" pitchFamily="34" charset="-120"/>
              </a:rPr>
              <a:t>PICK</a:t>
            </a:r>
            <a:endParaRPr lang="en-US" sz="1660" dirty="0"/>
          </a:p>
        </p:txBody>
      </p:sp>
      <p:sp>
        <p:nvSpPr>
          <p:cNvPr id="22" name="Text 20"/>
          <p:cNvSpPr/>
          <p:nvPr/>
        </p:nvSpPr>
        <p:spPr>
          <a:xfrm>
            <a:off x="8659368" y="2953512"/>
            <a:ext cx="3127248" cy="594360"/>
          </a:xfrm>
          <a:prstGeom prst="rect">
            <a:avLst/>
          </a:prstGeom>
          <a:noFill/>
          <a:ln/>
        </p:spPr>
        <p:txBody>
          <a:bodyPr wrap="square" lIns="0" tIns="0" rIns="0" bIns="0" rtlCol="0" anchor="t"/>
          <a:lstStyle/>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Grasp success / retries</a:t>
            </a:r>
            <a:endParaRPr lang="en-US" sz="1200" dirty="0"/>
          </a:p>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attachment verification</a:t>
            </a:r>
            <a:endParaRPr lang="en-US" sz="1200" dirty="0"/>
          </a:p>
        </p:txBody>
      </p:sp>
      <p:sp>
        <p:nvSpPr>
          <p:cNvPr id="23" name="Shape 21"/>
          <p:cNvSpPr/>
          <p:nvPr/>
        </p:nvSpPr>
        <p:spPr>
          <a:xfrm>
            <a:off x="594360" y="3913632"/>
            <a:ext cx="3639312" cy="1362456"/>
          </a:xfrm>
          <a:prstGeom prst="roundRect">
            <a:avLst>
              <a:gd name="adj" fmla="val 9396"/>
            </a:avLst>
          </a:prstGeom>
          <a:solidFill>
            <a:srgbClr val="102335"/>
          </a:solidFill>
          <a:ln w="10795">
            <a:solidFill>
              <a:srgbClr val="294056"/>
            </a:solidFill>
            <a:prstDash val="solid"/>
          </a:ln>
        </p:spPr>
      </p:sp>
      <p:sp>
        <p:nvSpPr>
          <p:cNvPr id="24" name="Shape 22"/>
          <p:cNvSpPr/>
          <p:nvPr/>
        </p:nvSpPr>
        <p:spPr>
          <a:xfrm>
            <a:off x="740664" y="4078224"/>
            <a:ext cx="41148" cy="1033272"/>
          </a:xfrm>
          <a:prstGeom prst="rect">
            <a:avLst/>
          </a:prstGeom>
          <a:solidFill>
            <a:srgbClr val="FFC176"/>
          </a:solidFill>
          <a:ln w="10795">
            <a:solidFill>
              <a:srgbClr val="FFC176"/>
            </a:solidFill>
            <a:prstDash val="solid"/>
          </a:ln>
        </p:spPr>
      </p:sp>
      <p:sp>
        <p:nvSpPr>
          <p:cNvPr id="25" name="Text 23"/>
          <p:cNvSpPr/>
          <p:nvPr/>
        </p:nvSpPr>
        <p:spPr>
          <a:xfrm>
            <a:off x="886968" y="4096512"/>
            <a:ext cx="3118104" cy="384048"/>
          </a:xfrm>
          <a:prstGeom prst="rect">
            <a:avLst/>
          </a:prstGeom>
          <a:noFill/>
          <a:ln/>
        </p:spPr>
        <p:txBody>
          <a:bodyPr wrap="square" lIns="0" tIns="0" rIns="0" bIns="0" rtlCol="0" anchor="ctr"/>
          <a:lstStyle/>
          <a:p>
            <a:pPr algn="l" indent="0" marL="0">
              <a:lnSpc>
                <a:spcPct val="100000"/>
              </a:lnSpc>
              <a:buNone/>
            </a:pPr>
            <a:r>
              <a:rPr lang="en-US" sz="1660" b="1" dirty="0">
                <a:solidFill>
                  <a:srgbClr val="F5F7FC"/>
                </a:solidFill>
                <a:latin typeface="Inter" pitchFamily="34" charset="0"/>
                <a:ea typeface="Inter" pitchFamily="34" charset="-122"/>
                <a:cs typeface="Inter" pitchFamily="34" charset="-120"/>
              </a:rPr>
              <a:t>PLACE</a:t>
            </a:r>
            <a:endParaRPr lang="en-US" sz="1660" dirty="0"/>
          </a:p>
        </p:txBody>
      </p:sp>
      <p:sp>
        <p:nvSpPr>
          <p:cNvPr id="26" name="Text 24"/>
          <p:cNvSpPr/>
          <p:nvPr/>
        </p:nvSpPr>
        <p:spPr>
          <a:xfrm>
            <a:off x="886968" y="4544568"/>
            <a:ext cx="3127248" cy="594360"/>
          </a:xfrm>
          <a:prstGeom prst="rect">
            <a:avLst/>
          </a:prstGeom>
          <a:noFill/>
          <a:ln/>
        </p:spPr>
        <p:txBody>
          <a:bodyPr wrap="square" lIns="0" tIns="0" rIns="0" bIns="0" rtlCol="0" anchor="t"/>
          <a:lstStyle/>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Target relation success</a:t>
            </a:r>
            <a:endParaRPr lang="en-US" sz="1200" dirty="0"/>
          </a:p>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object drop / false success</a:t>
            </a:r>
            <a:endParaRPr lang="en-US" sz="1200" dirty="0"/>
          </a:p>
        </p:txBody>
      </p:sp>
      <p:sp>
        <p:nvSpPr>
          <p:cNvPr id="27" name="Shape 25"/>
          <p:cNvSpPr/>
          <p:nvPr/>
        </p:nvSpPr>
        <p:spPr>
          <a:xfrm>
            <a:off x="4480560" y="3913632"/>
            <a:ext cx="3639312" cy="1362456"/>
          </a:xfrm>
          <a:prstGeom prst="roundRect">
            <a:avLst>
              <a:gd name="adj" fmla="val 9396"/>
            </a:avLst>
          </a:prstGeom>
          <a:solidFill>
            <a:srgbClr val="102335"/>
          </a:solidFill>
          <a:ln w="10795">
            <a:solidFill>
              <a:srgbClr val="294056"/>
            </a:solidFill>
            <a:prstDash val="solid"/>
          </a:ln>
        </p:spPr>
      </p:sp>
      <p:sp>
        <p:nvSpPr>
          <p:cNvPr id="28" name="Shape 26"/>
          <p:cNvSpPr/>
          <p:nvPr/>
        </p:nvSpPr>
        <p:spPr>
          <a:xfrm>
            <a:off x="4626864" y="4078224"/>
            <a:ext cx="41148" cy="1033272"/>
          </a:xfrm>
          <a:prstGeom prst="rect">
            <a:avLst/>
          </a:prstGeom>
          <a:solidFill>
            <a:srgbClr val="48D7B2"/>
          </a:solidFill>
          <a:ln w="10795">
            <a:solidFill>
              <a:srgbClr val="48D7B2"/>
            </a:solidFill>
            <a:prstDash val="solid"/>
          </a:ln>
        </p:spPr>
      </p:sp>
      <p:sp>
        <p:nvSpPr>
          <p:cNvPr id="29" name="Text 27"/>
          <p:cNvSpPr/>
          <p:nvPr/>
        </p:nvSpPr>
        <p:spPr>
          <a:xfrm>
            <a:off x="4773168" y="4096512"/>
            <a:ext cx="3118104" cy="384048"/>
          </a:xfrm>
          <a:prstGeom prst="rect">
            <a:avLst/>
          </a:prstGeom>
          <a:noFill/>
          <a:ln/>
        </p:spPr>
        <p:txBody>
          <a:bodyPr wrap="square" lIns="0" tIns="0" rIns="0" bIns="0" rtlCol="0" anchor="ctr"/>
          <a:lstStyle/>
          <a:p>
            <a:pPr algn="l" indent="0" marL="0">
              <a:lnSpc>
                <a:spcPct val="100000"/>
              </a:lnSpc>
              <a:buNone/>
            </a:pPr>
            <a:r>
              <a:rPr lang="en-US" sz="1660" b="1" dirty="0">
                <a:solidFill>
                  <a:srgbClr val="F5F7FC"/>
                </a:solidFill>
                <a:latin typeface="Inter" pitchFamily="34" charset="0"/>
                <a:ea typeface="Inter" pitchFamily="34" charset="-122"/>
                <a:cs typeface="Inter" pitchFamily="34" charset="-120"/>
              </a:rPr>
              <a:t>MEMORY</a:t>
            </a:r>
            <a:endParaRPr lang="en-US" sz="1660" dirty="0"/>
          </a:p>
        </p:txBody>
      </p:sp>
      <p:sp>
        <p:nvSpPr>
          <p:cNvPr id="30" name="Text 28"/>
          <p:cNvSpPr/>
          <p:nvPr/>
        </p:nvSpPr>
        <p:spPr>
          <a:xfrm>
            <a:off x="4773168" y="4544568"/>
            <a:ext cx="3127248" cy="594360"/>
          </a:xfrm>
          <a:prstGeom prst="rect">
            <a:avLst/>
          </a:prstGeom>
          <a:noFill/>
          <a:ln/>
        </p:spPr>
        <p:txBody>
          <a:bodyPr wrap="square" lIns="0" tIns="0" rIns="0" bIns="0" rtlCol="0" anchor="t"/>
          <a:lstStyle/>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ID switches / stale objects</a:t>
            </a:r>
            <a:endParaRPr lang="en-US" sz="1200" dirty="0"/>
          </a:p>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correct state transitions</a:t>
            </a:r>
            <a:endParaRPr lang="en-US" sz="1200" dirty="0"/>
          </a:p>
        </p:txBody>
      </p:sp>
      <p:sp>
        <p:nvSpPr>
          <p:cNvPr id="31" name="Shape 29"/>
          <p:cNvSpPr/>
          <p:nvPr/>
        </p:nvSpPr>
        <p:spPr>
          <a:xfrm>
            <a:off x="8366760" y="3913632"/>
            <a:ext cx="3639312" cy="1362456"/>
          </a:xfrm>
          <a:prstGeom prst="roundRect">
            <a:avLst>
              <a:gd name="adj" fmla="val 9396"/>
            </a:avLst>
          </a:prstGeom>
          <a:solidFill>
            <a:srgbClr val="102335"/>
          </a:solidFill>
          <a:ln w="10795">
            <a:solidFill>
              <a:srgbClr val="294056"/>
            </a:solidFill>
            <a:prstDash val="solid"/>
          </a:ln>
        </p:spPr>
      </p:sp>
      <p:sp>
        <p:nvSpPr>
          <p:cNvPr id="32" name="Shape 30"/>
          <p:cNvSpPr/>
          <p:nvPr/>
        </p:nvSpPr>
        <p:spPr>
          <a:xfrm>
            <a:off x="8513064" y="4078224"/>
            <a:ext cx="41148" cy="1033272"/>
          </a:xfrm>
          <a:prstGeom prst="rect">
            <a:avLst/>
          </a:prstGeom>
          <a:solidFill>
            <a:srgbClr val="FF8790"/>
          </a:solidFill>
          <a:ln w="10795">
            <a:solidFill>
              <a:srgbClr val="FF8790"/>
            </a:solidFill>
            <a:prstDash val="solid"/>
          </a:ln>
        </p:spPr>
      </p:sp>
      <p:sp>
        <p:nvSpPr>
          <p:cNvPr id="33" name="Text 31"/>
          <p:cNvSpPr/>
          <p:nvPr/>
        </p:nvSpPr>
        <p:spPr>
          <a:xfrm>
            <a:off x="8659368" y="4096512"/>
            <a:ext cx="3118104" cy="384048"/>
          </a:xfrm>
          <a:prstGeom prst="rect">
            <a:avLst/>
          </a:prstGeom>
          <a:noFill/>
          <a:ln/>
        </p:spPr>
        <p:txBody>
          <a:bodyPr wrap="square" lIns="0" tIns="0" rIns="0" bIns="0" rtlCol="0" anchor="ctr"/>
          <a:lstStyle/>
          <a:p>
            <a:pPr algn="l" indent="0" marL="0">
              <a:lnSpc>
                <a:spcPct val="100000"/>
              </a:lnSpc>
              <a:buNone/>
            </a:pPr>
            <a:r>
              <a:rPr lang="en-US" sz="1660" b="1" dirty="0">
                <a:solidFill>
                  <a:srgbClr val="F5F7FC"/>
                </a:solidFill>
                <a:latin typeface="Inter" pitchFamily="34" charset="0"/>
                <a:ea typeface="Inter" pitchFamily="34" charset="-122"/>
                <a:cs typeface="Inter" pitchFamily="34" charset="-120"/>
              </a:rPr>
              <a:t>SAFETY</a:t>
            </a:r>
            <a:endParaRPr lang="en-US" sz="1660" dirty="0"/>
          </a:p>
        </p:txBody>
      </p:sp>
      <p:sp>
        <p:nvSpPr>
          <p:cNvPr id="34" name="Text 32"/>
          <p:cNvSpPr/>
          <p:nvPr/>
        </p:nvSpPr>
        <p:spPr>
          <a:xfrm>
            <a:off x="8659368" y="4544568"/>
            <a:ext cx="3127248" cy="594360"/>
          </a:xfrm>
          <a:prstGeom prst="rect">
            <a:avLst/>
          </a:prstGeom>
          <a:noFill/>
          <a:ln/>
        </p:spPr>
        <p:txBody>
          <a:bodyPr wrap="square" lIns="0" tIns="0" rIns="0" bIns="0" rtlCol="0" anchor="t"/>
          <a:lstStyle/>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Collisions / falls / wrong disposal</a:t>
            </a:r>
            <a:endParaRPr lang="en-US" sz="1200" dirty="0"/>
          </a:p>
          <a:p>
            <a:pPr algn="l" indent="0" marL="0">
              <a:lnSpc>
                <a:spcPct val="100000"/>
              </a:lnSpc>
              <a:buNone/>
            </a:pPr>
            <a:r>
              <a:rPr lang="en-US" sz="1200" dirty="0">
                <a:solidFill>
                  <a:srgbClr val="A1B2C4"/>
                </a:solidFill>
                <a:latin typeface="Inter" pitchFamily="34" charset="0"/>
                <a:ea typeface="Inter" pitchFamily="34" charset="-122"/>
                <a:cs typeface="Inter" pitchFamily="34" charset="-120"/>
              </a:rPr>
              <a:t>unsafe action refusal</a:t>
            </a:r>
            <a:endParaRPr lang="en-US" sz="1200" dirty="0"/>
          </a:p>
        </p:txBody>
      </p:sp>
      <p:sp>
        <p:nvSpPr>
          <p:cNvPr id="35" name="Shape 33"/>
          <p:cNvSpPr/>
          <p:nvPr/>
        </p:nvSpPr>
        <p:spPr>
          <a:xfrm>
            <a:off x="941832" y="5751576"/>
            <a:ext cx="10305288" cy="466344"/>
          </a:xfrm>
          <a:prstGeom prst="roundRect">
            <a:avLst>
              <a:gd name="adj" fmla="val 27451"/>
            </a:avLst>
          </a:prstGeom>
          <a:solidFill>
            <a:srgbClr val="152B40"/>
          </a:solidFill>
          <a:ln w="10795">
            <a:solidFill>
              <a:srgbClr val="294056"/>
            </a:solidFill>
            <a:prstDash val="solid"/>
          </a:ln>
        </p:spPr>
      </p:sp>
      <p:sp>
        <p:nvSpPr>
          <p:cNvPr id="36" name="Text 34"/>
          <p:cNvSpPr/>
          <p:nvPr/>
        </p:nvSpPr>
        <p:spPr>
          <a:xfrm>
            <a:off x="1152144" y="5879592"/>
            <a:ext cx="9875520" cy="246888"/>
          </a:xfrm>
          <a:prstGeom prst="rect">
            <a:avLst/>
          </a:prstGeom>
          <a:noFill/>
          <a:ln/>
        </p:spPr>
        <p:txBody>
          <a:bodyPr wrap="square" lIns="0" tIns="0" rIns="0" bIns="0" rtlCol="0" anchor="ctr"/>
          <a:lstStyle/>
          <a:p>
            <a:pPr algn="ctr" indent="0" marL="0">
              <a:lnSpc>
                <a:spcPct val="100000"/>
              </a:lnSpc>
              <a:buNone/>
            </a:pPr>
            <a:r>
              <a:rPr lang="en-US" sz="1250" b="1" dirty="0">
                <a:solidFill>
                  <a:srgbClr val="A1B2C4"/>
                </a:solidFill>
                <a:latin typeface="Inter" pitchFamily="34" charset="0"/>
                <a:ea typeface="Inter" pitchFamily="34" charset="-122"/>
                <a:cs typeface="Inter" pitchFamily="34" charset="-120"/>
              </a:rPr>
              <a:t>Start in deterministic skill simulation → Isaac Lab G1 physics → supervised real robot, after safety approval.</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ENGINEERING ROADMAP</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Build in acceptance-gated milestones</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Implement the semantic bridge first; integrate G1 motion only after simulation safety passes.</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31</a:t>
            </a:r>
            <a:endParaRPr lang="en-US" sz="1100" dirty="0"/>
          </a:p>
        </p:txBody>
      </p:sp>
      <p:sp>
        <p:nvSpPr>
          <p:cNvPr id="11" name="Shape 9"/>
          <p:cNvSpPr/>
          <p:nvPr/>
        </p:nvSpPr>
        <p:spPr>
          <a:xfrm>
            <a:off x="603504" y="2221992"/>
            <a:ext cx="3639312" cy="1426464"/>
          </a:xfrm>
          <a:prstGeom prst="roundRect">
            <a:avLst>
              <a:gd name="adj" fmla="val 8974"/>
            </a:avLst>
          </a:prstGeom>
          <a:solidFill>
            <a:srgbClr val="102335"/>
          </a:solidFill>
          <a:ln w="10795">
            <a:solidFill>
              <a:srgbClr val="294056"/>
            </a:solidFill>
            <a:prstDash val="solid"/>
          </a:ln>
        </p:spPr>
      </p:sp>
      <p:sp>
        <p:nvSpPr>
          <p:cNvPr id="12" name="Shape 10"/>
          <p:cNvSpPr/>
          <p:nvPr/>
        </p:nvSpPr>
        <p:spPr>
          <a:xfrm>
            <a:off x="768096" y="2359152"/>
            <a:ext cx="512064" cy="292608"/>
          </a:xfrm>
          <a:prstGeom prst="roundRect">
            <a:avLst>
              <a:gd name="adj" fmla="val 56250"/>
            </a:avLst>
          </a:prstGeom>
          <a:solidFill>
            <a:srgbClr val="A1B2C4">
              <a:alpha val="16000"/>
            </a:srgbClr>
          </a:solidFill>
          <a:ln w="10795">
            <a:solidFill>
              <a:srgbClr val="A1B2C4"/>
            </a:solidFill>
            <a:prstDash val="solid"/>
          </a:ln>
        </p:spPr>
      </p:sp>
      <p:sp>
        <p:nvSpPr>
          <p:cNvPr id="13" name="Text 11"/>
          <p:cNvSpPr/>
          <p:nvPr/>
        </p:nvSpPr>
        <p:spPr>
          <a:xfrm>
            <a:off x="822960" y="2368296"/>
            <a:ext cx="402336" cy="274320"/>
          </a:xfrm>
          <a:prstGeom prst="rect">
            <a:avLst/>
          </a:prstGeom>
          <a:noFill/>
          <a:ln/>
        </p:spPr>
        <p:txBody>
          <a:bodyPr wrap="square" lIns="0" tIns="0" rIns="0" bIns="0" rtlCol="0" anchor="ctr"/>
          <a:lstStyle/>
          <a:p>
            <a:pPr algn="ctr" indent="0" marL="0">
              <a:lnSpc>
                <a:spcPct val="100000"/>
              </a:lnSpc>
              <a:buNone/>
            </a:pPr>
            <a:r>
              <a:rPr lang="en-US" sz="1000" b="1" dirty="0">
                <a:solidFill>
                  <a:srgbClr val="A1B2C4"/>
                </a:solidFill>
                <a:latin typeface="Inter" pitchFamily="34" charset="0"/>
                <a:ea typeface="Inter" pitchFamily="34" charset="-122"/>
                <a:cs typeface="Inter" pitchFamily="34" charset="-120"/>
              </a:rPr>
              <a:t>M0</a:t>
            </a:r>
            <a:endParaRPr lang="en-US" sz="1000" dirty="0"/>
          </a:p>
        </p:txBody>
      </p:sp>
      <p:sp>
        <p:nvSpPr>
          <p:cNvPr id="14" name="Text 12"/>
          <p:cNvSpPr/>
          <p:nvPr/>
        </p:nvSpPr>
        <p:spPr>
          <a:xfrm>
            <a:off x="1417320" y="2350008"/>
            <a:ext cx="2542032" cy="338328"/>
          </a:xfrm>
          <a:prstGeom prst="rect">
            <a:avLst/>
          </a:prstGeom>
          <a:noFill/>
          <a:ln/>
        </p:spPr>
        <p:txBody>
          <a:bodyPr wrap="square" lIns="0" tIns="0" rIns="0" bIns="0" rtlCol="0" anchor="ctr"/>
          <a:lstStyle/>
          <a:p>
            <a:pPr algn="l" indent="0" marL="0">
              <a:lnSpc>
                <a:spcPct val="100000"/>
              </a:lnSpc>
              <a:buNone/>
            </a:pPr>
            <a:r>
              <a:rPr lang="en-US" sz="1500" b="1" dirty="0">
                <a:solidFill>
                  <a:srgbClr val="F5F7FC"/>
                </a:solidFill>
                <a:latin typeface="Inter" pitchFamily="34" charset="0"/>
                <a:ea typeface="Inter" pitchFamily="34" charset="-122"/>
                <a:cs typeface="Inter" pitchFamily="34" charset="-120"/>
              </a:rPr>
              <a:t>Interfaces &amp; fixtures</a:t>
            </a:r>
            <a:endParaRPr lang="en-US" sz="1500" dirty="0"/>
          </a:p>
        </p:txBody>
      </p:sp>
      <p:sp>
        <p:nvSpPr>
          <p:cNvPr id="15" name="Text 13"/>
          <p:cNvSpPr/>
          <p:nvPr/>
        </p:nvSpPr>
        <p:spPr>
          <a:xfrm>
            <a:off x="813816" y="2880360"/>
            <a:ext cx="3236976" cy="594360"/>
          </a:xfrm>
          <a:prstGeom prst="rect">
            <a:avLst/>
          </a:prstGeom>
          <a:noFill/>
          <a:ln/>
        </p:spPr>
        <p:txBody>
          <a:bodyPr wrap="square" lIns="0" tIns="0" rIns="0" bIns="0" rtlCol="0" anchor="t"/>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Typed ROS2 contracts, TF2 frames, sample worlds</a:t>
            </a:r>
            <a:endParaRPr lang="en-US" sz="1220" dirty="0"/>
          </a:p>
        </p:txBody>
      </p:sp>
      <p:sp>
        <p:nvSpPr>
          <p:cNvPr id="16" name="Shape 14"/>
          <p:cNvSpPr/>
          <p:nvPr/>
        </p:nvSpPr>
        <p:spPr>
          <a:xfrm>
            <a:off x="4480560" y="2221992"/>
            <a:ext cx="3639312" cy="1426464"/>
          </a:xfrm>
          <a:prstGeom prst="roundRect">
            <a:avLst>
              <a:gd name="adj" fmla="val 8974"/>
            </a:avLst>
          </a:prstGeom>
          <a:solidFill>
            <a:srgbClr val="102335"/>
          </a:solidFill>
          <a:ln w="10795">
            <a:solidFill>
              <a:srgbClr val="294056"/>
            </a:solidFill>
            <a:prstDash val="solid"/>
          </a:ln>
        </p:spPr>
      </p:sp>
      <p:sp>
        <p:nvSpPr>
          <p:cNvPr id="17" name="Shape 15"/>
          <p:cNvSpPr/>
          <p:nvPr/>
        </p:nvSpPr>
        <p:spPr>
          <a:xfrm>
            <a:off x="4645152" y="2359152"/>
            <a:ext cx="512064" cy="292608"/>
          </a:xfrm>
          <a:prstGeom prst="roundRect">
            <a:avLst>
              <a:gd name="adj" fmla="val 56250"/>
            </a:avLst>
          </a:prstGeom>
          <a:solidFill>
            <a:srgbClr val="48D7B2">
              <a:alpha val="16000"/>
            </a:srgbClr>
          </a:solidFill>
          <a:ln w="10795">
            <a:solidFill>
              <a:srgbClr val="48D7B2"/>
            </a:solidFill>
            <a:prstDash val="solid"/>
          </a:ln>
        </p:spPr>
      </p:sp>
      <p:sp>
        <p:nvSpPr>
          <p:cNvPr id="18" name="Text 16"/>
          <p:cNvSpPr/>
          <p:nvPr/>
        </p:nvSpPr>
        <p:spPr>
          <a:xfrm>
            <a:off x="4700016" y="2368296"/>
            <a:ext cx="402336" cy="274320"/>
          </a:xfrm>
          <a:prstGeom prst="rect">
            <a:avLst/>
          </a:prstGeom>
          <a:noFill/>
          <a:ln/>
        </p:spPr>
        <p:txBody>
          <a:bodyPr wrap="square" lIns="0" tIns="0" rIns="0" bIns="0" rtlCol="0" anchor="ctr"/>
          <a:lstStyle/>
          <a:p>
            <a:pPr algn="ctr" indent="0" marL="0">
              <a:lnSpc>
                <a:spcPct val="100000"/>
              </a:lnSpc>
              <a:buNone/>
            </a:pPr>
            <a:r>
              <a:rPr lang="en-US" sz="1000" b="1" dirty="0">
                <a:solidFill>
                  <a:srgbClr val="48D7B2"/>
                </a:solidFill>
                <a:latin typeface="Inter" pitchFamily="34" charset="0"/>
                <a:ea typeface="Inter" pitchFamily="34" charset="-122"/>
                <a:cs typeface="Inter" pitchFamily="34" charset="-120"/>
              </a:rPr>
              <a:t>M1</a:t>
            </a:r>
            <a:endParaRPr lang="en-US" sz="1000" dirty="0"/>
          </a:p>
        </p:txBody>
      </p:sp>
      <p:sp>
        <p:nvSpPr>
          <p:cNvPr id="19" name="Text 17"/>
          <p:cNvSpPr/>
          <p:nvPr/>
        </p:nvSpPr>
        <p:spPr>
          <a:xfrm>
            <a:off x="5294376" y="2350008"/>
            <a:ext cx="2542032" cy="338328"/>
          </a:xfrm>
          <a:prstGeom prst="rect">
            <a:avLst/>
          </a:prstGeom>
          <a:noFill/>
          <a:ln/>
        </p:spPr>
        <p:txBody>
          <a:bodyPr wrap="square" lIns="0" tIns="0" rIns="0" bIns="0" rtlCol="0" anchor="ctr"/>
          <a:lstStyle/>
          <a:p>
            <a:pPr algn="l" indent="0" marL="0">
              <a:lnSpc>
                <a:spcPct val="100000"/>
              </a:lnSpc>
              <a:buNone/>
            </a:pPr>
            <a:r>
              <a:rPr lang="en-US" sz="1500" b="1" dirty="0">
                <a:solidFill>
                  <a:srgbClr val="F5F7FC"/>
                </a:solidFill>
                <a:latin typeface="Inter" pitchFamily="34" charset="0"/>
                <a:ea typeface="Inter" pitchFamily="34" charset="-122"/>
                <a:cs typeface="Inter" pitchFamily="34" charset="-120"/>
              </a:rPr>
              <a:t>Semantic memory</a:t>
            </a:r>
            <a:endParaRPr lang="en-US" sz="1500" dirty="0"/>
          </a:p>
        </p:txBody>
      </p:sp>
      <p:sp>
        <p:nvSpPr>
          <p:cNvPr id="20" name="Text 18"/>
          <p:cNvSpPr/>
          <p:nvPr/>
        </p:nvSpPr>
        <p:spPr>
          <a:xfrm>
            <a:off x="4690872" y="2880360"/>
            <a:ext cx="3236976" cy="594360"/>
          </a:xfrm>
          <a:prstGeom prst="rect">
            <a:avLst/>
          </a:prstGeom>
          <a:noFill/>
          <a:ln/>
        </p:spPr>
        <p:txBody>
          <a:bodyPr wrap="square" lIns="0" tIns="0" rIns="0" bIns="0" rtlCol="0" anchor="t"/>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Stable object IDs, relations, persistence, queries</a:t>
            </a:r>
            <a:endParaRPr lang="en-US" sz="1220" dirty="0"/>
          </a:p>
        </p:txBody>
      </p:sp>
      <p:sp>
        <p:nvSpPr>
          <p:cNvPr id="21" name="Shape 19"/>
          <p:cNvSpPr/>
          <p:nvPr/>
        </p:nvSpPr>
        <p:spPr>
          <a:xfrm>
            <a:off x="8357616" y="2221992"/>
            <a:ext cx="3639312" cy="1426464"/>
          </a:xfrm>
          <a:prstGeom prst="roundRect">
            <a:avLst>
              <a:gd name="adj" fmla="val 8974"/>
            </a:avLst>
          </a:prstGeom>
          <a:solidFill>
            <a:srgbClr val="102335"/>
          </a:solidFill>
          <a:ln w="10795">
            <a:solidFill>
              <a:srgbClr val="294056"/>
            </a:solidFill>
            <a:prstDash val="solid"/>
          </a:ln>
        </p:spPr>
      </p:sp>
      <p:sp>
        <p:nvSpPr>
          <p:cNvPr id="22" name="Shape 20"/>
          <p:cNvSpPr/>
          <p:nvPr/>
        </p:nvSpPr>
        <p:spPr>
          <a:xfrm>
            <a:off x="8522208" y="2359152"/>
            <a:ext cx="512064" cy="292608"/>
          </a:xfrm>
          <a:prstGeom prst="roundRect">
            <a:avLst>
              <a:gd name="adj" fmla="val 56250"/>
            </a:avLst>
          </a:prstGeom>
          <a:solidFill>
            <a:srgbClr val="65D5E9">
              <a:alpha val="16000"/>
            </a:srgbClr>
          </a:solidFill>
          <a:ln w="10795">
            <a:solidFill>
              <a:srgbClr val="65D5E9"/>
            </a:solidFill>
            <a:prstDash val="solid"/>
          </a:ln>
        </p:spPr>
      </p:sp>
      <p:sp>
        <p:nvSpPr>
          <p:cNvPr id="23" name="Text 21"/>
          <p:cNvSpPr/>
          <p:nvPr/>
        </p:nvSpPr>
        <p:spPr>
          <a:xfrm>
            <a:off x="8577072" y="2368296"/>
            <a:ext cx="402336" cy="274320"/>
          </a:xfrm>
          <a:prstGeom prst="rect">
            <a:avLst/>
          </a:prstGeom>
          <a:noFill/>
          <a:ln/>
        </p:spPr>
        <p:txBody>
          <a:bodyPr wrap="square" lIns="0" tIns="0" rIns="0" bIns="0" rtlCol="0" anchor="ctr"/>
          <a:lstStyle/>
          <a:p>
            <a:pPr algn="ctr" indent="0" marL="0">
              <a:lnSpc>
                <a:spcPct val="100000"/>
              </a:lnSpc>
              <a:buNone/>
            </a:pPr>
            <a:r>
              <a:rPr lang="en-US" sz="1000" b="1" dirty="0">
                <a:solidFill>
                  <a:srgbClr val="65D5E9"/>
                </a:solidFill>
                <a:latin typeface="Inter" pitchFamily="34" charset="0"/>
                <a:ea typeface="Inter" pitchFamily="34" charset="-122"/>
                <a:cs typeface="Inter" pitchFamily="34" charset="-120"/>
              </a:rPr>
              <a:t>M2</a:t>
            </a:r>
            <a:endParaRPr lang="en-US" sz="1000" dirty="0"/>
          </a:p>
        </p:txBody>
      </p:sp>
      <p:sp>
        <p:nvSpPr>
          <p:cNvPr id="24" name="Text 22"/>
          <p:cNvSpPr/>
          <p:nvPr/>
        </p:nvSpPr>
        <p:spPr>
          <a:xfrm>
            <a:off x="9171432" y="2350008"/>
            <a:ext cx="2542032" cy="338328"/>
          </a:xfrm>
          <a:prstGeom prst="rect">
            <a:avLst/>
          </a:prstGeom>
          <a:noFill/>
          <a:ln/>
        </p:spPr>
        <p:txBody>
          <a:bodyPr wrap="square" lIns="0" tIns="0" rIns="0" bIns="0" rtlCol="0" anchor="ctr"/>
          <a:lstStyle/>
          <a:p>
            <a:pPr algn="l" indent="0" marL="0">
              <a:lnSpc>
                <a:spcPct val="100000"/>
              </a:lnSpc>
              <a:buNone/>
            </a:pPr>
            <a:r>
              <a:rPr lang="en-US" sz="1500" b="1" dirty="0">
                <a:solidFill>
                  <a:srgbClr val="F5F7FC"/>
                </a:solidFill>
                <a:latin typeface="Inter" pitchFamily="34" charset="0"/>
                <a:ea typeface="Inter" pitchFamily="34" charset="-122"/>
                <a:cs typeface="Inter" pitchFamily="34" charset="-120"/>
              </a:rPr>
              <a:t>Active perception</a:t>
            </a:r>
            <a:endParaRPr lang="en-US" sz="1500" dirty="0"/>
          </a:p>
        </p:txBody>
      </p:sp>
      <p:sp>
        <p:nvSpPr>
          <p:cNvPr id="25" name="Text 23"/>
          <p:cNvSpPr/>
          <p:nvPr/>
        </p:nvSpPr>
        <p:spPr>
          <a:xfrm>
            <a:off x="8567928" y="2880360"/>
            <a:ext cx="3236976" cy="594360"/>
          </a:xfrm>
          <a:prstGeom prst="rect">
            <a:avLst/>
          </a:prstGeom>
          <a:noFill/>
          <a:ln/>
        </p:spPr>
        <p:txBody>
          <a:bodyPr wrap="square" lIns="0" tIns="0" rIns="0" bIns="0" rtlCol="0" anchor="t"/>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Viewpoint planning, grounded search, budgets</a:t>
            </a:r>
            <a:endParaRPr lang="en-US" sz="1220" dirty="0"/>
          </a:p>
        </p:txBody>
      </p:sp>
      <p:sp>
        <p:nvSpPr>
          <p:cNvPr id="26" name="Shape 24"/>
          <p:cNvSpPr/>
          <p:nvPr/>
        </p:nvSpPr>
        <p:spPr>
          <a:xfrm>
            <a:off x="603504" y="3849624"/>
            <a:ext cx="3639312" cy="1426464"/>
          </a:xfrm>
          <a:prstGeom prst="roundRect">
            <a:avLst>
              <a:gd name="adj" fmla="val 8974"/>
            </a:avLst>
          </a:prstGeom>
          <a:solidFill>
            <a:srgbClr val="102335"/>
          </a:solidFill>
          <a:ln w="10795">
            <a:solidFill>
              <a:srgbClr val="294056"/>
            </a:solidFill>
            <a:prstDash val="solid"/>
          </a:ln>
        </p:spPr>
      </p:sp>
      <p:sp>
        <p:nvSpPr>
          <p:cNvPr id="27" name="Shape 25"/>
          <p:cNvSpPr/>
          <p:nvPr/>
        </p:nvSpPr>
        <p:spPr>
          <a:xfrm>
            <a:off x="768096" y="3986784"/>
            <a:ext cx="512064" cy="292608"/>
          </a:xfrm>
          <a:prstGeom prst="roundRect">
            <a:avLst>
              <a:gd name="adj" fmla="val 56250"/>
            </a:avLst>
          </a:prstGeom>
          <a:solidFill>
            <a:srgbClr val="6B9BFF">
              <a:alpha val="16000"/>
            </a:srgbClr>
          </a:solidFill>
          <a:ln w="10795">
            <a:solidFill>
              <a:srgbClr val="6B9BFF"/>
            </a:solidFill>
            <a:prstDash val="solid"/>
          </a:ln>
        </p:spPr>
      </p:sp>
      <p:sp>
        <p:nvSpPr>
          <p:cNvPr id="28" name="Text 26"/>
          <p:cNvSpPr/>
          <p:nvPr/>
        </p:nvSpPr>
        <p:spPr>
          <a:xfrm>
            <a:off x="822960" y="3995928"/>
            <a:ext cx="402336" cy="274320"/>
          </a:xfrm>
          <a:prstGeom prst="rect">
            <a:avLst/>
          </a:prstGeom>
          <a:noFill/>
          <a:ln/>
        </p:spPr>
        <p:txBody>
          <a:bodyPr wrap="square" lIns="0" tIns="0" rIns="0" bIns="0" rtlCol="0" anchor="ctr"/>
          <a:lstStyle/>
          <a:p>
            <a:pPr algn="ctr" indent="0" marL="0">
              <a:lnSpc>
                <a:spcPct val="100000"/>
              </a:lnSpc>
              <a:buNone/>
            </a:pPr>
            <a:r>
              <a:rPr lang="en-US" sz="1000" b="1" dirty="0">
                <a:solidFill>
                  <a:srgbClr val="6B9BFF"/>
                </a:solidFill>
                <a:latin typeface="Inter" pitchFamily="34" charset="0"/>
                <a:ea typeface="Inter" pitchFamily="34" charset="-122"/>
                <a:cs typeface="Inter" pitchFamily="34" charset="-120"/>
              </a:rPr>
              <a:t>M3</a:t>
            </a:r>
            <a:endParaRPr lang="en-US" sz="1000" dirty="0"/>
          </a:p>
        </p:txBody>
      </p:sp>
      <p:sp>
        <p:nvSpPr>
          <p:cNvPr id="29" name="Text 27"/>
          <p:cNvSpPr/>
          <p:nvPr/>
        </p:nvSpPr>
        <p:spPr>
          <a:xfrm>
            <a:off x="1417320" y="3977640"/>
            <a:ext cx="2542032" cy="338328"/>
          </a:xfrm>
          <a:prstGeom prst="rect">
            <a:avLst/>
          </a:prstGeom>
          <a:noFill/>
          <a:ln/>
        </p:spPr>
        <p:txBody>
          <a:bodyPr wrap="square" lIns="0" tIns="0" rIns="0" bIns="0" rtlCol="0" anchor="ctr"/>
          <a:lstStyle/>
          <a:p>
            <a:pPr algn="l" indent="0" marL="0">
              <a:lnSpc>
                <a:spcPct val="100000"/>
              </a:lnSpc>
              <a:buNone/>
            </a:pPr>
            <a:r>
              <a:rPr lang="en-US" sz="1500" b="1" dirty="0">
                <a:solidFill>
                  <a:srgbClr val="F5F7FC"/>
                </a:solidFill>
                <a:latin typeface="Inter" pitchFamily="34" charset="0"/>
                <a:ea typeface="Inter" pitchFamily="34" charset="-122"/>
                <a:cs typeface="Inter" pitchFamily="34" charset="-120"/>
              </a:rPr>
              <a:t>Navigation</a:t>
            </a:r>
            <a:endParaRPr lang="en-US" sz="1500" dirty="0"/>
          </a:p>
        </p:txBody>
      </p:sp>
      <p:sp>
        <p:nvSpPr>
          <p:cNvPr id="30" name="Text 28"/>
          <p:cNvSpPr/>
          <p:nvPr/>
        </p:nvSpPr>
        <p:spPr>
          <a:xfrm>
            <a:off x="813816" y="4507992"/>
            <a:ext cx="3236976" cy="594360"/>
          </a:xfrm>
          <a:prstGeom prst="rect">
            <a:avLst/>
          </a:prstGeom>
          <a:noFill/>
          <a:ln/>
        </p:spPr>
        <p:txBody>
          <a:bodyPr wrap="square" lIns="0" tIns="0" rIns="0" bIns="0" rtlCol="0" anchor="t"/>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Nav2/G1 bridge, approach poses, feedback</a:t>
            </a:r>
            <a:endParaRPr lang="en-US" sz="1220" dirty="0"/>
          </a:p>
        </p:txBody>
      </p:sp>
      <p:sp>
        <p:nvSpPr>
          <p:cNvPr id="31" name="Shape 29"/>
          <p:cNvSpPr/>
          <p:nvPr/>
        </p:nvSpPr>
        <p:spPr>
          <a:xfrm>
            <a:off x="4480560" y="3849624"/>
            <a:ext cx="3639312" cy="1426464"/>
          </a:xfrm>
          <a:prstGeom prst="roundRect">
            <a:avLst>
              <a:gd name="adj" fmla="val 8974"/>
            </a:avLst>
          </a:prstGeom>
          <a:solidFill>
            <a:srgbClr val="102335"/>
          </a:solidFill>
          <a:ln w="10795">
            <a:solidFill>
              <a:srgbClr val="294056"/>
            </a:solidFill>
            <a:prstDash val="solid"/>
          </a:ln>
        </p:spPr>
      </p:sp>
      <p:sp>
        <p:nvSpPr>
          <p:cNvPr id="32" name="Shape 30"/>
          <p:cNvSpPr/>
          <p:nvPr/>
        </p:nvSpPr>
        <p:spPr>
          <a:xfrm>
            <a:off x="4645152" y="3986784"/>
            <a:ext cx="512064" cy="292608"/>
          </a:xfrm>
          <a:prstGeom prst="roundRect">
            <a:avLst>
              <a:gd name="adj" fmla="val 56250"/>
            </a:avLst>
          </a:prstGeom>
          <a:solidFill>
            <a:srgbClr val="FFC176">
              <a:alpha val="16000"/>
            </a:srgbClr>
          </a:solidFill>
          <a:ln w="10795">
            <a:solidFill>
              <a:srgbClr val="FFC176"/>
            </a:solidFill>
            <a:prstDash val="solid"/>
          </a:ln>
        </p:spPr>
      </p:sp>
      <p:sp>
        <p:nvSpPr>
          <p:cNvPr id="33" name="Text 31"/>
          <p:cNvSpPr/>
          <p:nvPr/>
        </p:nvSpPr>
        <p:spPr>
          <a:xfrm>
            <a:off x="4700016" y="3995928"/>
            <a:ext cx="402336" cy="274320"/>
          </a:xfrm>
          <a:prstGeom prst="rect">
            <a:avLst/>
          </a:prstGeom>
          <a:noFill/>
          <a:ln/>
        </p:spPr>
        <p:txBody>
          <a:bodyPr wrap="square" lIns="0" tIns="0" rIns="0" bIns="0" rtlCol="0" anchor="ctr"/>
          <a:lstStyle/>
          <a:p>
            <a:pPr algn="ctr" indent="0" marL="0">
              <a:lnSpc>
                <a:spcPct val="100000"/>
              </a:lnSpc>
              <a:buNone/>
            </a:pPr>
            <a:r>
              <a:rPr lang="en-US" sz="1000" b="1" dirty="0">
                <a:solidFill>
                  <a:srgbClr val="FFC176"/>
                </a:solidFill>
                <a:latin typeface="Inter" pitchFamily="34" charset="0"/>
                <a:ea typeface="Inter" pitchFamily="34" charset="-122"/>
                <a:cs typeface="Inter" pitchFamily="34" charset="-120"/>
              </a:rPr>
              <a:t>M4</a:t>
            </a:r>
            <a:endParaRPr lang="en-US" sz="1000" dirty="0"/>
          </a:p>
        </p:txBody>
      </p:sp>
      <p:sp>
        <p:nvSpPr>
          <p:cNvPr id="34" name="Text 32"/>
          <p:cNvSpPr/>
          <p:nvPr/>
        </p:nvSpPr>
        <p:spPr>
          <a:xfrm>
            <a:off x="5294376" y="3977640"/>
            <a:ext cx="2542032" cy="338328"/>
          </a:xfrm>
          <a:prstGeom prst="rect">
            <a:avLst/>
          </a:prstGeom>
          <a:noFill/>
          <a:ln/>
        </p:spPr>
        <p:txBody>
          <a:bodyPr wrap="square" lIns="0" tIns="0" rIns="0" bIns="0" rtlCol="0" anchor="ctr"/>
          <a:lstStyle/>
          <a:p>
            <a:pPr algn="l" indent="0" marL="0">
              <a:lnSpc>
                <a:spcPct val="100000"/>
              </a:lnSpc>
              <a:buNone/>
            </a:pPr>
            <a:r>
              <a:rPr lang="en-US" sz="1500" b="1" dirty="0">
                <a:solidFill>
                  <a:srgbClr val="F5F7FC"/>
                </a:solidFill>
                <a:latin typeface="Inter" pitchFamily="34" charset="0"/>
                <a:ea typeface="Inter" pitchFamily="34" charset="-122"/>
                <a:cs typeface="Inter" pitchFamily="34" charset="-120"/>
              </a:rPr>
              <a:t>VLA skills</a:t>
            </a:r>
            <a:endParaRPr lang="en-US" sz="1500" dirty="0"/>
          </a:p>
        </p:txBody>
      </p:sp>
      <p:sp>
        <p:nvSpPr>
          <p:cNvPr id="35" name="Text 33"/>
          <p:cNvSpPr/>
          <p:nvPr/>
        </p:nvSpPr>
        <p:spPr>
          <a:xfrm>
            <a:off x="4690872" y="4507992"/>
            <a:ext cx="3236976" cy="594360"/>
          </a:xfrm>
          <a:prstGeom prst="rect">
            <a:avLst/>
          </a:prstGeom>
          <a:noFill/>
          <a:ln/>
        </p:spPr>
        <p:txBody>
          <a:bodyPr wrap="square" lIns="0" tIns="0" rIns="0" bIns="0" rtlCol="0" anchor="t"/>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G1-trained N1.7 pick/place + state updates</a:t>
            </a:r>
            <a:endParaRPr lang="en-US" sz="1220" dirty="0"/>
          </a:p>
        </p:txBody>
      </p:sp>
      <p:sp>
        <p:nvSpPr>
          <p:cNvPr id="36" name="Shape 34"/>
          <p:cNvSpPr/>
          <p:nvPr/>
        </p:nvSpPr>
        <p:spPr>
          <a:xfrm>
            <a:off x="8357616" y="3849624"/>
            <a:ext cx="3639312" cy="1426464"/>
          </a:xfrm>
          <a:prstGeom prst="roundRect">
            <a:avLst>
              <a:gd name="adj" fmla="val 8974"/>
            </a:avLst>
          </a:prstGeom>
          <a:solidFill>
            <a:srgbClr val="102335"/>
          </a:solidFill>
          <a:ln w="10795">
            <a:solidFill>
              <a:srgbClr val="294056"/>
            </a:solidFill>
            <a:prstDash val="solid"/>
          </a:ln>
        </p:spPr>
      </p:sp>
      <p:sp>
        <p:nvSpPr>
          <p:cNvPr id="37" name="Shape 35"/>
          <p:cNvSpPr/>
          <p:nvPr/>
        </p:nvSpPr>
        <p:spPr>
          <a:xfrm>
            <a:off x="8522208" y="3986784"/>
            <a:ext cx="512064" cy="292608"/>
          </a:xfrm>
          <a:prstGeom prst="roundRect">
            <a:avLst>
              <a:gd name="adj" fmla="val 56250"/>
            </a:avLst>
          </a:prstGeom>
          <a:solidFill>
            <a:srgbClr val="B5A0F8">
              <a:alpha val="16000"/>
            </a:srgbClr>
          </a:solidFill>
          <a:ln w="10795">
            <a:solidFill>
              <a:srgbClr val="B5A0F8"/>
            </a:solidFill>
            <a:prstDash val="solid"/>
          </a:ln>
        </p:spPr>
      </p:sp>
      <p:sp>
        <p:nvSpPr>
          <p:cNvPr id="38" name="Text 36"/>
          <p:cNvSpPr/>
          <p:nvPr/>
        </p:nvSpPr>
        <p:spPr>
          <a:xfrm>
            <a:off x="8577072" y="3995928"/>
            <a:ext cx="402336" cy="274320"/>
          </a:xfrm>
          <a:prstGeom prst="rect">
            <a:avLst/>
          </a:prstGeom>
          <a:noFill/>
          <a:ln/>
        </p:spPr>
        <p:txBody>
          <a:bodyPr wrap="square" lIns="0" tIns="0" rIns="0" bIns="0" rtlCol="0" anchor="ctr"/>
          <a:lstStyle/>
          <a:p>
            <a:pPr algn="ctr" indent="0" marL="0">
              <a:lnSpc>
                <a:spcPct val="100000"/>
              </a:lnSpc>
              <a:buNone/>
            </a:pPr>
            <a:r>
              <a:rPr lang="en-US" sz="1000" b="1" dirty="0">
                <a:solidFill>
                  <a:srgbClr val="B5A0F8"/>
                </a:solidFill>
                <a:latin typeface="Inter" pitchFamily="34" charset="0"/>
                <a:ea typeface="Inter" pitchFamily="34" charset="-122"/>
                <a:cs typeface="Inter" pitchFamily="34" charset="-120"/>
              </a:rPr>
              <a:t>M5</a:t>
            </a:r>
            <a:endParaRPr lang="en-US" sz="1000" dirty="0"/>
          </a:p>
        </p:txBody>
      </p:sp>
      <p:sp>
        <p:nvSpPr>
          <p:cNvPr id="39" name="Text 37"/>
          <p:cNvSpPr/>
          <p:nvPr/>
        </p:nvSpPr>
        <p:spPr>
          <a:xfrm>
            <a:off x="9171432" y="3977640"/>
            <a:ext cx="2542032" cy="338328"/>
          </a:xfrm>
          <a:prstGeom prst="rect">
            <a:avLst/>
          </a:prstGeom>
          <a:noFill/>
          <a:ln/>
        </p:spPr>
        <p:txBody>
          <a:bodyPr wrap="square" lIns="0" tIns="0" rIns="0" bIns="0" rtlCol="0" anchor="ctr"/>
          <a:lstStyle/>
          <a:p>
            <a:pPr algn="l" indent="0" marL="0">
              <a:lnSpc>
                <a:spcPct val="100000"/>
              </a:lnSpc>
              <a:buNone/>
            </a:pPr>
            <a:r>
              <a:rPr lang="en-US" sz="1500" b="1" dirty="0">
                <a:solidFill>
                  <a:srgbClr val="F5F7FC"/>
                </a:solidFill>
                <a:latin typeface="Inter" pitchFamily="34" charset="0"/>
                <a:ea typeface="Inter" pitchFamily="34" charset="-122"/>
                <a:cs typeface="Inter" pitchFamily="34" charset="-120"/>
              </a:rPr>
              <a:t>Full missions</a:t>
            </a:r>
            <a:endParaRPr lang="en-US" sz="1500" dirty="0"/>
          </a:p>
        </p:txBody>
      </p:sp>
      <p:sp>
        <p:nvSpPr>
          <p:cNvPr id="40" name="Text 38"/>
          <p:cNvSpPr/>
          <p:nvPr/>
        </p:nvSpPr>
        <p:spPr>
          <a:xfrm>
            <a:off x="8567928" y="4507992"/>
            <a:ext cx="3236976" cy="594360"/>
          </a:xfrm>
          <a:prstGeom prst="rect">
            <a:avLst/>
          </a:prstGeom>
          <a:noFill/>
          <a:ln/>
        </p:spPr>
        <p:txBody>
          <a:bodyPr wrap="square" lIns="0" tIns="0" rIns="0" bIns="0" rtlCol="0" anchor="t"/>
          <a:lstStyle/>
          <a:p>
            <a:pPr algn="l" indent="0" marL="0">
              <a:lnSpc>
                <a:spcPct val="100000"/>
              </a:lnSpc>
              <a:buNone/>
            </a:pPr>
            <a:r>
              <a:rPr lang="en-US" sz="1220" dirty="0">
                <a:solidFill>
                  <a:srgbClr val="A1B2C4"/>
                </a:solidFill>
                <a:latin typeface="Inter" pitchFamily="34" charset="0"/>
                <a:ea typeface="Inter" pitchFamily="34" charset="-122"/>
                <a:cs typeface="Inter" pitchFamily="34" charset="-120"/>
              </a:rPr>
              <a:t>Case A + B + recovery + held-out benchmark</a:t>
            </a:r>
            <a:endParaRPr lang="en-US" sz="1220" dirty="0"/>
          </a:p>
        </p:txBody>
      </p:sp>
      <p:sp>
        <p:nvSpPr>
          <p:cNvPr id="41" name="Shape 39"/>
          <p:cNvSpPr/>
          <p:nvPr/>
        </p:nvSpPr>
        <p:spPr>
          <a:xfrm>
            <a:off x="914400" y="5843016"/>
            <a:ext cx="10415016" cy="347472"/>
          </a:xfrm>
          <a:prstGeom prst="roundRect">
            <a:avLst>
              <a:gd name="adj" fmla="val 36842"/>
            </a:avLst>
          </a:prstGeom>
          <a:solidFill>
            <a:srgbClr val="152B40"/>
          </a:solidFill>
          <a:ln w="10795">
            <a:solidFill>
              <a:srgbClr val="152B40"/>
            </a:solidFill>
            <a:prstDash val="solid"/>
          </a:ln>
        </p:spPr>
      </p:sp>
      <p:sp>
        <p:nvSpPr>
          <p:cNvPr id="42" name="Text 40"/>
          <p:cNvSpPr/>
          <p:nvPr/>
        </p:nvSpPr>
        <p:spPr>
          <a:xfrm>
            <a:off x="1161288" y="5907024"/>
            <a:ext cx="9930384" cy="210312"/>
          </a:xfrm>
          <a:prstGeom prst="rect">
            <a:avLst/>
          </a:prstGeom>
          <a:noFill/>
          <a:ln/>
        </p:spPr>
        <p:txBody>
          <a:bodyPr wrap="square" lIns="0" tIns="0" rIns="0" bIns="0" rtlCol="0" anchor="ctr"/>
          <a:lstStyle/>
          <a:p>
            <a:pPr algn="ctr" indent="0" marL="0">
              <a:lnSpc>
                <a:spcPct val="100000"/>
              </a:lnSpc>
              <a:buNone/>
            </a:pPr>
            <a:r>
              <a:rPr lang="en-US" sz="1200" b="1" dirty="0">
                <a:solidFill>
                  <a:srgbClr val="48D7B2"/>
                </a:solidFill>
                <a:latin typeface="Inter" pitchFamily="34" charset="0"/>
                <a:ea typeface="Inter" pitchFamily="34" charset="-122"/>
                <a:cs typeface="Inter" pitchFamily="34" charset="-120"/>
              </a:rPr>
              <a:t>Each milestone produces tests, logs, and explicit acceptance evidence before the next stage.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31F"/>
          </a:solidFill>
          <a:ln w="10795">
            <a:solidFill>
              <a:srgbClr val="07131F"/>
            </a:solidFill>
            <a:prstDash val="solid"/>
          </a:ln>
        </p:spPr>
      </p:sp>
      <p:sp>
        <p:nvSpPr>
          <p:cNvPr id="3" name="Shape 1"/>
          <p:cNvSpPr/>
          <p:nvPr/>
        </p:nvSpPr>
        <p:spPr>
          <a:xfrm>
            <a:off x="411480" y="283464"/>
            <a:ext cx="512064" cy="38405"/>
          </a:xfrm>
          <a:prstGeom prst="rect">
            <a:avLst/>
          </a:prstGeom>
          <a:solidFill>
            <a:srgbClr val="65D5E9"/>
          </a:solidFill>
          <a:ln w="10795">
            <a:solidFill>
              <a:srgbClr val="65D5E9"/>
            </a:solidFill>
            <a:prstDash val="solid"/>
          </a:ln>
        </p:spPr>
      </p:sp>
      <p:sp>
        <p:nvSpPr>
          <p:cNvPr id="4" name="Text 2"/>
          <p:cNvSpPr/>
          <p:nvPr/>
        </p:nvSpPr>
        <p:spPr>
          <a:xfrm>
            <a:off x="1033272" y="182880"/>
            <a:ext cx="4023360" cy="228600"/>
          </a:xfrm>
          <a:prstGeom prst="rect">
            <a:avLst/>
          </a:prstGeom>
          <a:noFill/>
          <a:ln/>
        </p:spPr>
        <p:txBody>
          <a:bodyPr wrap="square" lIns="0" tIns="0" rIns="0" bIns="0" rtlCol="0" anchor="ctr"/>
          <a:lstStyle/>
          <a:p>
            <a:pPr algn="l" indent="0" marL="0">
              <a:lnSpc>
                <a:spcPct val="100000"/>
              </a:lnSpc>
              <a:buNone/>
            </a:pPr>
            <a:r>
              <a:rPr lang="en-US" sz="1020" b="1" spc="120" kern="0" dirty="0">
                <a:solidFill>
                  <a:srgbClr val="A1B2C4"/>
                </a:solidFill>
                <a:latin typeface="Inter" pitchFamily="34" charset="0"/>
                <a:ea typeface="Inter" pitchFamily="34" charset="-122"/>
                <a:cs typeface="Inter" pitchFamily="34" charset="-120"/>
              </a:rPr>
              <a:t>G1 / EMBODIED SYSTEMS</a:t>
            </a:r>
            <a:endParaRPr lang="en-US" sz="1020" dirty="0"/>
          </a:p>
        </p:txBody>
      </p:sp>
      <p:sp>
        <p:nvSpPr>
          <p:cNvPr id="5" name="Text 3"/>
          <p:cNvSpPr/>
          <p:nvPr/>
        </p:nvSpPr>
        <p:spPr>
          <a:xfrm>
            <a:off x="457200" y="649224"/>
            <a:ext cx="10789920" cy="228600"/>
          </a:xfrm>
          <a:prstGeom prst="rect">
            <a:avLst/>
          </a:prstGeom>
          <a:noFill/>
          <a:ln/>
        </p:spPr>
        <p:txBody>
          <a:bodyPr wrap="square" lIns="0" tIns="0" rIns="0" bIns="0" rtlCol="0" anchor="ctr"/>
          <a:lstStyle/>
          <a:p>
            <a:pPr algn="l" indent="0" marL="0">
              <a:lnSpc>
                <a:spcPct val="100000"/>
              </a:lnSpc>
              <a:buNone/>
            </a:pPr>
            <a:r>
              <a:rPr lang="en-US" sz="1060" b="1" spc="150" kern="0" dirty="0">
                <a:solidFill>
                  <a:srgbClr val="65D5E9"/>
                </a:solidFill>
                <a:latin typeface="Inter" pitchFamily="34" charset="0"/>
                <a:ea typeface="Inter" pitchFamily="34" charset="-122"/>
                <a:cs typeface="Inter" pitchFamily="34" charset="-120"/>
              </a:rPr>
              <a:t>SOURCES / BOUNDARIES</a:t>
            </a:r>
            <a:endParaRPr lang="en-US" sz="1060" dirty="0"/>
          </a:p>
        </p:txBody>
      </p:sp>
      <p:sp>
        <p:nvSpPr>
          <p:cNvPr id="6" name="Text 4"/>
          <p:cNvSpPr/>
          <p:nvPr/>
        </p:nvSpPr>
        <p:spPr>
          <a:xfrm>
            <a:off x="457200" y="950976"/>
            <a:ext cx="11292840" cy="603504"/>
          </a:xfrm>
          <a:prstGeom prst="rect">
            <a:avLst/>
          </a:prstGeom>
          <a:noFill/>
          <a:ln/>
        </p:spPr>
        <p:txBody>
          <a:bodyPr wrap="square" lIns="0" tIns="0" rIns="0" bIns="0" rtlCol="0" anchor="ctr"/>
          <a:lstStyle/>
          <a:p>
            <a:pPr algn="l" indent="0" marL="0">
              <a:lnSpc>
                <a:spcPct val="100000"/>
              </a:lnSpc>
              <a:buNone/>
            </a:pPr>
            <a:r>
              <a:rPr lang="en-US" sz="2600" b="1" dirty="0">
                <a:solidFill>
                  <a:srgbClr val="F5F7FC"/>
                </a:solidFill>
                <a:latin typeface="Inter" pitchFamily="34" charset="0"/>
                <a:ea typeface="Inter" pitchFamily="34" charset="-122"/>
                <a:cs typeface="Inter" pitchFamily="34" charset="-120"/>
              </a:rPr>
              <a:t>Upstream capabilities vs proposed G1 additions</a:t>
            </a:r>
            <a:endParaRPr lang="en-US" sz="2600" dirty="0"/>
          </a:p>
        </p:txBody>
      </p:sp>
      <p:sp>
        <p:nvSpPr>
          <p:cNvPr id="7" name="Text 5"/>
          <p:cNvSpPr/>
          <p:nvPr/>
        </p:nvSpPr>
        <p:spPr>
          <a:xfrm>
            <a:off x="475488" y="1618488"/>
            <a:ext cx="11064240" cy="457200"/>
          </a:xfrm>
          <a:prstGeom prst="rect">
            <a:avLst/>
          </a:prstGeom>
          <a:noFill/>
          <a:ln/>
        </p:spPr>
        <p:txBody>
          <a:bodyPr wrap="square" lIns="0" tIns="0" rIns="0" bIns="0" rtlCol="0" anchor="t"/>
          <a:lstStyle/>
          <a:p>
            <a:pPr algn="l" indent="0" marL="0">
              <a:lnSpc>
                <a:spcPct val="100000"/>
              </a:lnSpc>
              <a:buNone/>
            </a:pPr>
            <a:r>
              <a:rPr lang="en-US" sz="1340" dirty="0">
                <a:solidFill>
                  <a:srgbClr val="A1B2C4"/>
                </a:solidFill>
                <a:latin typeface="Inter" pitchFamily="34" charset="0"/>
                <a:ea typeface="Inter" pitchFamily="34" charset="-122"/>
                <a:cs typeface="Inter" pitchFamily="34" charset="-120"/>
              </a:rPr>
              <a:t>The deck distinguishes demonstrated source behavior from a research implementation plan.</a:t>
            </a:r>
            <a:endParaRPr lang="en-US" sz="1340" dirty="0"/>
          </a:p>
        </p:txBody>
      </p:sp>
      <p:sp>
        <p:nvSpPr>
          <p:cNvPr id="8" name="Shape 6"/>
          <p:cNvSpPr/>
          <p:nvPr/>
        </p:nvSpPr>
        <p:spPr>
          <a:xfrm>
            <a:off x="457200" y="6464808"/>
            <a:ext cx="11274552" cy="0"/>
          </a:xfrm>
          <a:prstGeom prst="line">
            <a:avLst/>
          </a:prstGeom>
          <a:noFill/>
          <a:ln w="10160">
            <a:solidFill>
              <a:srgbClr val="294056"/>
            </a:solidFill>
            <a:prstDash val="solid"/>
            <a:headEnd type="none"/>
            <a:tailEnd type="none"/>
          </a:ln>
        </p:spPr>
      </p:sp>
      <p:sp>
        <p:nvSpPr>
          <p:cNvPr id="9" name="Text 7"/>
          <p:cNvSpPr/>
          <p:nvPr/>
        </p:nvSpPr>
        <p:spPr>
          <a:xfrm>
            <a:off x="466344" y="6515100"/>
            <a:ext cx="9875520" cy="146304"/>
          </a:xfrm>
          <a:prstGeom prst="rect">
            <a:avLst/>
          </a:prstGeom>
          <a:noFill/>
          <a:ln/>
        </p:spPr>
        <p:txBody>
          <a:bodyPr wrap="square" lIns="0" tIns="0" rIns="0" bIns="0" rtlCol="0" anchor="ctr"/>
          <a:lstStyle/>
          <a:p>
            <a:pPr algn="l" indent="0" marL="0">
              <a:lnSpc>
                <a:spcPct val="100000"/>
              </a:lnSpc>
              <a:buNone/>
            </a:pPr>
            <a:r>
              <a:rPr lang="en-US" sz="800" dirty="0">
                <a:solidFill>
                  <a:srgbClr val="647F96"/>
                </a:solidFill>
                <a:latin typeface="Inter" pitchFamily="34" charset="0"/>
                <a:ea typeface="Inter" pitchFamily="34" charset="-122"/>
                <a:cs typeface="Inter" pitchFamily="34" charset="-120"/>
              </a:rPr>
              <a:t>G1 SEMANTIC WORLD  •  PROPOSED RESEARCH DESIGN  •  OFFLINE-FIRST</a:t>
            </a:r>
            <a:endParaRPr lang="en-US" sz="800" dirty="0"/>
          </a:p>
        </p:txBody>
      </p:sp>
      <p:sp>
        <p:nvSpPr>
          <p:cNvPr id="10" name="Text 8"/>
          <p:cNvSpPr/>
          <p:nvPr/>
        </p:nvSpPr>
        <p:spPr>
          <a:xfrm>
            <a:off x="11283696" y="6492240"/>
            <a:ext cx="429768" cy="210312"/>
          </a:xfrm>
          <a:prstGeom prst="rect">
            <a:avLst/>
          </a:prstGeom>
          <a:noFill/>
          <a:ln/>
        </p:spPr>
        <p:txBody>
          <a:bodyPr wrap="square" lIns="0" tIns="0" rIns="0" bIns="0" rtlCol="0" anchor="ctr"/>
          <a:lstStyle/>
          <a:p>
            <a:pPr algn="r" indent="0" marL="0">
              <a:lnSpc>
                <a:spcPct val="100000"/>
              </a:lnSpc>
              <a:buNone/>
            </a:pPr>
            <a:r>
              <a:rPr lang="en-US" sz="1100" b="1" dirty="0">
                <a:solidFill>
                  <a:srgbClr val="A1B2C4"/>
                </a:solidFill>
                <a:latin typeface="Inter" pitchFamily="34" charset="0"/>
                <a:ea typeface="Inter" pitchFamily="34" charset="-122"/>
                <a:cs typeface="Inter" pitchFamily="34" charset="-120"/>
              </a:rPr>
              <a:t>32</a:t>
            </a:r>
            <a:endParaRPr lang="en-US" sz="1100" dirty="0"/>
          </a:p>
        </p:txBody>
      </p:sp>
      <p:sp>
        <p:nvSpPr>
          <p:cNvPr id="11" name="Shape 9"/>
          <p:cNvSpPr/>
          <p:nvPr/>
        </p:nvSpPr>
        <p:spPr>
          <a:xfrm>
            <a:off x="594360" y="2139696"/>
            <a:ext cx="5413248" cy="859536"/>
          </a:xfrm>
          <a:prstGeom prst="roundRect">
            <a:avLst>
              <a:gd name="adj" fmla="val 14894"/>
            </a:avLst>
          </a:prstGeom>
          <a:solidFill>
            <a:srgbClr val="102335"/>
          </a:solidFill>
          <a:ln w="10795">
            <a:solidFill>
              <a:srgbClr val="294056"/>
            </a:solidFill>
            <a:prstDash val="solid"/>
          </a:ln>
        </p:spPr>
      </p:sp>
      <p:sp>
        <p:nvSpPr>
          <p:cNvPr id="12" name="Text 10"/>
          <p:cNvSpPr/>
          <p:nvPr/>
        </p:nvSpPr>
        <p:spPr>
          <a:xfrm>
            <a:off x="777240" y="2249424"/>
            <a:ext cx="5020056" cy="256032"/>
          </a:xfrm>
          <a:prstGeom prst="rect">
            <a:avLst/>
          </a:prstGeom>
          <a:noFill/>
          <a:ln/>
        </p:spPr>
        <p:txBody>
          <a:bodyPr wrap="square" lIns="0" tIns="0" rIns="0" bIns="0" rtlCol="0" anchor="ctr"/>
          <a:lstStyle/>
          <a:p>
            <a:pPr algn="l" indent="0" marL="0">
              <a:lnSpc>
                <a:spcPct val="100000"/>
              </a:lnSpc>
              <a:buNone/>
            </a:pPr>
            <a:r>
              <a:rPr lang="en-US" sz="1330" b="1" dirty="0">
                <a:solidFill>
                  <a:srgbClr val="F5F7FC"/>
                </a:solidFill>
                <a:latin typeface="Inter" pitchFamily="34" charset="0"/>
                <a:ea typeface="Inter" pitchFamily="34" charset="-122"/>
                <a:cs typeface="Inter" pitchFamily="34" charset="-120"/>
              </a:rPr>
              <a:t>Semantic-nav-amr</a:t>
            </a:r>
            <a:endParaRPr lang="en-US" sz="1330" dirty="0"/>
          </a:p>
        </p:txBody>
      </p:sp>
      <p:sp>
        <p:nvSpPr>
          <p:cNvPr id="13" name="Text 11"/>
          <p:cNvSpPr/>
          <p:nvPr/>
        </p:nvSpPr>
        <p:spPr>
          <a:xfrm>
            <a:off x="777240" y="2578608"/>
            <a:ext cx="5010912" cy="228600"/>
          </a:xfrm>
          <a:prstGeom prst="rect">
            <a:avLst/>
          </a:prstGeom>
          <a:noFill/>
          <a:ln/>
        </p:spPr>
        <p:txBody>
          <a:bodyPr wrap="square" lIns="0" tIns="0" rIns="0" bIns="0" rtlCol="0" anchor="ctr"/>
          <a:lstStyle/>
          <a:p>
            <a:pPr algn="l" indent="0" marL="0">
              <a:lnSpc>
                <a:spcPct val="100000"/>
              </a:lnSpc>
              <a:buNone/>
            </a:pPr>
            <a:r>
              <a:rPr lang="en-US" sz="1160" dirty="0">
                <a:solidFill>
                  <a:srgbClr val="A1B2C4"/>
                </a:solidFill>
                <a:latin typeface="Inter" pitchFamily="34" charset="0"/>
                <a:ea typeface="Inter" pitchFamily="34" charset="-122"/>
                <a:cs typeface="Inter" pitchFamily="34" charset="-120"/>
              </a:rPr>
              <a:t>Memory/lookup + Nav2 object goal</a:t>
            </a:r>
            <a:endParaRPr lang="en-US" sz="1160" dirty="0"/>
          </a:p>
        </p:txBody>
      </p:sp>
      <p:sp>
        <p:nvSpPr>
          <p:cNvPr id="14" name="Shape 12"/>
          <p:cNvSpPr/>
          <p:nvPr/>
        </p:nvSpPr>
        <p:spPr>
          <a:xfrm>
            <a:off x="594360" y="3127248"/>
            <a:ext cx="5413248" cy="859536"/>
          </a:xfrm>
          <a:prstGeom prst="roundRect">
            <a:avLst>
              <a:gd name="adj" fmla="val 14894"/>
            </a:avLst>
          </a:prstGeom>
          <a:solidFill>
            <a:srgbClr val="102335"/>
          </a:solidFill>
          <a:ln w="10795">
            <a:solidFill>
              <a:srgbClr val="294056"/>
            </a:solidFill>
            <a:prstDash val="solid"/>
          </a:ln>
        </p:spPr>
      </p:sp>
      <p:sp>
        <p:nvSpPr>
          <p:cNvPr id="15" name="Text 13"/>
          <p:cNvSpPr/>
          <p:nvPr/>
        </p:nvSpPr>
        <p:spPr>
          <a:xfrm>
            <a:off x="777240" y="3236976"/>
            <a:ext cx="5020056" cy="256032"/>
          </a:xfrm>
          <a:prstGeom prst="rect">
            <a:avLst/>
          </a:prstGeom>
          <a:noFill/>
          <a:ln/>
        </p:spPr>
        <p:txBody>
          <a:bodyPr wrap="square" lIns="0" tIns="0" rIns="0" bIns="0" rtlCol="0" anchor="ctr"/>
          <a:lstStyle/>
          <a:p>
            <a:pPr algn="l" indent="0" marL="0">
              <a:lnSpc>
                <a:spcPct val="100000"/>
              </a:lnSpc>
              <a:buNone/>
            </a:pPr>
            <a:r>
              <a:rPr lang="en-US" sz="1330" b="1" dirty="0">
                <a:solidFill>
                  <a:srgbClr val="F5F7FC"/>
                </a:solidFill>
                <a:latin typeface="Inter" pitchFamily="34" charset="0"/>
                <a:ea typeface="Inter" pitchFamily="34" charset="-122"/>
                <a:cs typeface="Inter" pitchFamily="34" charset="-120"/>
              </a:rPr>
              <a:t>Nav2 API</a:t>
            </a:r>
            <a:endParaRPr lang="en-US" sz="1330" dirty="0"/>
          </a:p>
        </p:txBody>
      </p:sp>
      <p:sp>
        <p:nvSpPr>
          <p:cNvPr id="16" name="Text 14"/>
          <p:cNvSpPr/>
          <p:nvPr/>
        </p:nvSpPr>
        <p:spPr>
          <a:xfrm>
            <a:off x="777240" y="3566160"/>
            <a:ext cx="5010912" cy="228600"/>
          </a:xfrm>
          <a:prstGeom prst="rect">
            <a:avLst/>
          </a:prstGeom>
          <a:noFill/>
          <a:ln/>
        </p:spPr>
        <p:txBody>
          <a:bodyPr wrap="square" lIns="0" tIns="0" rIns="0" bIns="0" rtlCol="0" anchor="ctr"/>
          <a:lstStyle/>
          <a:p>
            <a:pPr algn="l" indent="0" marL="0">
              <a:lnSpc>
                <a:spcPct val="100000"/>
              </a:lnSpc>
              <a:buNone/>
            </a:pPr>
            <a:r>
              <a:rPr lang="en-US" sz="1160" dirty="0">
                <a:solidFill>
                  <a:srgbClr val="A1B2C4"/>
                </a:solidFill>
                <a:latin typeface="Inter" pitchFamily="34" charset="0"/>
                <a:ea typeface="Inter" pitchFamily="34" charset="-122"/>
                <a:cs typeface="Inter" pitchFamily="34" charset="-120"/>
              </a:rPr>
              <a:t>Goal / feedback / result contracts</a:t>
            </a:r>
            <a:endParaRPr lang="en-US" sz="1160" dirty="0"/>
          </a:p>
        </p:txBody>
      </p:sp>
      <p:sp>
        <p:nvSpPr>
          <p:cNvPr id="17" name="Shape 15"/>
          <p:cNvSpPr/>
          <p:nvPr/>
        </p:nvSpPr>
        <p:spPr>
          <a:xfrm>
            <a:off x="594360" y="4114800"/>
            <a:ext cx="5413248" cy="859536"/>
          </a:xfrm>
          <a:prstGeom prst="roundRect">
            <a:avLst>
              <a:gd name="adj" fmla="val 14894"/>
            </a:avLst>
          </a:prstGeom>
          <a:solidFill>
            <a:srgbClr val="102335"/>
          </a:solidFill>
          <a:ln w="10795">
            <a:solidFill>
              <a:srgbClr val="294056"/>
            </a:solidFill>
            <a:prstDash val="solid"/>
          </a:ln>
        </p:spPr>
      </p:sp>
      <p:sp>
        <p:nvSpPr>
          <p:cNvPr id="18" name="Text 16"/>
          <p:cNvSpPr/>
          <p:nvPr/>
        </p:nvSpPr>
        <p:spPr>
          <a:xfrm>
            <a:off x="777240" y="4224528"/>
            <a:ext cx="5020056" cy="256032"/>
          </a:xfrm>
          <a:prstGeom prst="rect">
            <a:avLst/>
          </a:prstGeom>
          <a:noFill/>
          <a:ln/>
        </p:spPr>
        <p:txBody>
          <a:bodyPr wrap="square" lIns="0" tIns="0" rIns="0" bIns="0" rtlCol="0" anchor="ctr"/>
          <a:lstStyle/>
          <a:p>
            <a:pPr algn="l" indent="0" marL="0">
              <a:lnSpc>
                <a:spcPct val="100000"/>
              </a:lnSpc>
              <a:buNone/>
            </a:pPr>
            <a:r>
              <a:rPr lang="en-US" sz="1330" b="1" dirty="0">
                <a:solidFill>
                  <a:srgbClr val="F5F7FC"/>
                </a:solidFill>
                <a:latin typeface="Inter" pitchFamily="34" charset="0"/>
                <a:ea typeface="Inter" pitchFamily="34" charset="-122"/>
                <a:cs typeface="Inter" pitchFamily="34" charset="-120"/>
              </a:rPr>
              <a:t>ROS 2 Actions</a:t>
            </a:r>
            <a:endParaRPr lang="en-US" sz="1330" dirty="0"/>
          </a:p>
        </p:txBody>
      </p:sp>
      <p:sp>
        <p:nvSpPr>
          <p:cNvPr id="19" name="Text 17"/>
          <p:cNvSpPr/>
          <p:nvPr/>
        </p:nvSpPr>
        <p:spPr>
          <a:xfrm>
            <a:off x="777240" y="4553712"/>
            <a:ext cx="5010912" cy="228600"/>
          </a:xfrm>
          <a:prstGeom prst="rect">
            <a:avLst/>
          </a:prstGeom>
          <a:noFill/>
          <a:ln/>
        </p:spPr>
        <p:txBody>
          <a:bodyPr wrap="square" lIns="0" tIns="0" rIns="0" bIns="0" rtlCol="0" anchor="ctr"/>
          <a:lstStyle/>
          <a:p>
            <a:pPr algn="l" indent="0" marL="0">
              <a:lnSpc>
                <a:spcPct val="100000"/>
              </a:lnSpc>
              <a:buNone/>
            </a:pPr>
            <a:r>
              <a:rPr lang="en-US" sz="1160" dirty="0">
                <a:solidFill>
                  <a:srgbClr val="A1B2C4"/>
                </a:solidFill>
                <a:latin typeface="Inter" pitchFamily="34" charset="0"/>
                <a:ea typeface="Inter" pitchFamily="34" charset="-122"/>
                <a:cs typeface="Inter" pitchFamily="34" charset="-120"/>
              </a:rPr>
              <a:t>Long-running skill semantics</a:t>
            </a:r>
            <a:endParaRPr lang="en-US" sz="1160" dirty="0"/>
          </a:p>
        </p:txBody>
      </p:sp>
      <p:sp>
        <p:nvSpPr>
          <p:cNvPr id="20" name="Shape 18"/>
          <p:cNvSpPr/>
          <p:nvPr/>
        </p:nvSpPr>
        <p:spPr>
          <a:xfrm>
            <a:off x="594360" y="5102352"/>
            <a:ext cx="5413248" cy="859536"/>
          </a:xfrm>
          <a:prstGeom prst="roundRect">
            <a:avLst>
              <a:gd name="adj" fmla="val 14894"/>
            </a:avLst>
          </a:prstGeom>
          <a:solidFill>
            <a:srgbClr val="102335"/>
          </a:solidFill>
          <a:ln w="10795">
            <a:solidFill>
              <a:srgbClr val="294056"/>
            </a:solidFill>
            <a:prstDash val="solid"/>
          </a:ln>
        </p:spPr>
      </p:sp>
      <p:sp>
        <p:nvSpPr>
          <p:cNvPr id="21" name="Text 19"/>
          <p:cNvSpPr/>
          <p:nvPr/>
        </p:nvSpPr>
        <p:spPr>
          <a:xfrm>
            <a:off x="777240" y="5212080"/>
            <a:ext cx="5020056" cy="256032"/>
          </a:xfrm>
          <a:prstGeom prst="rect">
            <a:avLst/>
          </a:prstGeom>
          <a:noFill/>
          <a:ln/>
        </p:spPr>
        <p:txBody>
          <a:bodyPr wrap="square" lIns="0" tIns="0" rIns="0" bIns="0" rtlCol="0" anchor="ctr"/>
          <a:lstStyle/>
          <a:p>
            <a:pPr algn="l" indent="0" marL="0">
              <a:lnSpc>
                <a:spcPct val="100000"/>
              </a:lnSpc>
              <a:buNone/>
            </a:pPr>
            <a:r>
              <a:rPr lang="en-US" sz="1330" b="1" dirty="0">
                <a:solidFill>
                  <a:srgbClr val="F5F7FC"/>
                </a:solidFill>
                <a:latin typeface="Inter" pitchFamily="34" charset="0"/>
                <a:ea typeface="Inter" pitchFamily="34" charset="-122"/>
                <a:cs typeface="Inter" pitchFamily="34" charset="-120"/>
              </a:rPr>
              <a:t>vision_msgs</a:t>
            </a:r>
            <a:endParaRPr lang="en-US" sz="1330" dirty="0"/>
          </a:p>
        </p:txBody>
      </p:sp>
      <p:sp>
        <p:nvSpPr>
          <p:cNvPr id="22" name="Text 20"/>
          <p:cNvSpPr/>
          <p:nvPr/>
        </p:nvSpPr>
        <p:spPr>
          <a:xfrm>
            <a:off x="777240" y="5541264"/>
            <a:ext cx="5010912" cy="228600"/>
          </a:xfrm>
          <a:prstGeom prst="rect">
            <a:avLst/>
          </a:prstGeom>
          <a:noFill/>
          <a:ln/>
        </p:spPr>
        <p:txBody>
          <a:bodyPr wrap="square" lIns="0" tIns="0" rIns="0" bIns="0" rtlCol="0" anchor="ctr"/>
          <a:lstStyle/>
          <a:p>
            <a:pPr algn="l" indent="0" marL="0">
              <a:lnSpc>
                <a:spcPct val="100000"/>
              </a:lnSpc>
              <a:buNone/>
            </a:pPr>
            <a:r>
              <a:rPr lang="en-US" sz="1160" dirty="0">
                <a:solidFill>
                  <a:srgbClr val="A1B2C4"/>
                </a:solidFill>
                <a:latin typeface="Inter" pitchFamily="34" charset="0"/>
                <a:ea typeface="Inter" pitchFamily="34" charset="-122"/>
                <a:cs typeface="Inter" pitchFamily="34" charset="-120"/>
              </a:rPr>
              <a:t>3D detector message conventions</a:t>
            </a:r>
            <a:endParaRPr lang="en-US" sz="1160" dirty="0"/>
          </a:p>
        </p:txBody>
      </p:sp>
      <p:sp>
        <p:nvSpPr>
          <p:cNvPr id="23" name="Shape 21"/>
          <p:cNvSpPr/>
          <p:nvPr/>
        </p:nvSpPr>
        <p:spPr>
          <a:xfrm>
            <a:off x="6263640" y="2139696"/>
            <a:ext cx="5413248" cy="859536"/>
          </a:xfrm>
          <a:prstGeom prst="roundRect">
            <a:avLst>
              <a:gd name="adj" fmla="val 14894"/>
            </a:avLst>
          </a:prstGeom>
          <a:solidFill>
            <a:srgbClr val="102335"/>
          </a:solidFill>
          <a:ln w="10795">
            <a:solidFill>
              <a:srgbClr val="294056"/>
            </a:solidFill>
            <a:prstDash val="solid"/>
          </a:ln>
        </p:spPr>
      </p:sp>
      <p:sp>
        <p:nvSpPr>
          <p:cNvPr id="24" name="Text 22"/>
          <p:cNvSpPr/>
          <p:nvPr/>
        </p:nvSpPr>
        <p:spPr>
          <a:xfrm>
            <a:off x="6446520" y="2249424"/>
            <a:ext cx="5020056" cy="256032"/>
          </a:xfrm>
          <a:prstGeom prst="rect">
            <a:avLst/>
          </a:prstGeom>
          <a:noFill/>
          <a:ln/>
        </p:spPr>
        <p:txBody>
          <a:bodyPr wrap="square" lIns="0" tIns="0" rIns="0" bIns="0" rtlCol="0" anchor="ctr"/>
          <a:lstStyle/>
          <a:p>
            <a:pPr algn="l" indent="0" marL="0">
              <a:lnSpc>
                <a:spcPct val="100000"/>
              </a:lnSpc>
              <a:buNone/>
            </a:pPr>
            <a:r>
              <a:rPr lang="en-US" sz="1330" b="1" dirty="0">
                <a:solidFill>
                  <a:srgbClr val="F5F7FC"/>
                </a:solidFill>
                <a:latin typeface="Inter" pitchFamily="34" charset="0"/>
                <a:ea typeface="Inter" pitchFamily="34" charset="-122"/>
                <a:cs typeface="Inter" pitchFamily="34" charset="-120"/>
              </a:rPr>
              <a:t>Spark-DSG</a:t>
            </a:r>
            <a:endParaRPr lang="en-US" sz="1330" dirty="0"/>
          </a:p>
        </p:txBody>
      </p:sp>
      <p:sp>
        <p:nvSpPr>
          <p:cNvPr id="25" name="Text 23"/>
          <p:cNvSpPr/>
          <p:nvPr/>
        </p:nvSpPr>
        <p:spPr>
          <a:xfrm>
            <a:off x="6446520" y="2578608"/>
            <a:ext cx="5010912" cy="228600"/>
          </a:xfrm>
          <a:prstGeom prst="rect">
            <a:avLst/>
          </a:prstGeom>
          <a:noFill/>
          <a:ln/>
        </p:spPr>
        <p:txBody>
          <a:bodyPr wrap="square" lIns="0" tIns="0" rIns="0" bIns="0" rtlCol="0" anchor="ctr"/>
          <a:lstStyle/>
          <a:p>
            <a:pPr algn="l" indent="0" marL="0">
              <a:lnSpc>
                <a:spcPct val="100000"/>
              </a:lnSpc>
              <a:buNone/>
            </a:pPr>
            <a:r>
              <a:rPr lang="en-US" sz="1160" dirty="0">
                <a:solidFill>
                  <a:srgbClr val="A1B2C4"/>
                </a:solidFill>
                <a:latin typeface="Inter" pitchFamily="34" charset="0"/>
                <a:ea typeface="Inter" pitchFamily="34" charset="-122"/>
                <a:cs typeface="Inter" pitchFamily="34" charset="-120"/>
              </a:rPr>
              <a:t>Optional scene graph data structure</a:t>
            </a:r>
            <a:endParaRPr lang="en-US" sz="1160" dirty="0"/>
          </a:p>
        </p:txBody>
      </p:sp>
      <p:sp>
        <p:nvSpPr>
          <p:cNvPr id="26" name="Shape 24"/>
          <p:cNvSpPr/>
          <p:nvPr/>
        </p:nvSpPr>
        <p:spPr>
          <a:xfrm>
            <a:off x="6263640" y="3127248"/>
            <a:ext cx="5413248" cy="859536"/>
          </a:xfrm>
          <a:prstGeom prst="roundRect">
            <a:avLst>
              <a:gd name="adj" fmla="val 14894"/>
            </a:avLst>
          </a:prstGeom>
          <a:solidFill>
            <a:srgbClr val="102335"/>
          </a:solidFill>
          <a:ln w="10795">
            <a:solidFill>
              <a:srgbClr val="294056"/>
            </a:solidFill>
            <a:prstDash val="solid"/>
          </a:ln>
        </p:spPr>
      </p:sp>
      <p:sp>
        <p:nvSpPr>
          <p:cNvPr id="27" name="Text 25"/>
          <p:cNvSpPr/>
          <p:nvPr/>
        </p:nvSpPr>
        <p:spPr>
          <a:xfrm>
            <a:off x="6446520" y="3236976"/>
            <a:ext cx="5020056" cy="256032"/>
          </a:xfrm>
          <a:prstGeom prst="rect">
            <a:avLst/>
          </a:prstGeom>
          <a:noFill/>
          <a:ln/>
        </p:spPr>
        <p:txBody>
          <a:bodyPr wrap="square" lIns="0" tIns="0" rIns="0" bIns="0" rtlCol="0" anchor="ctr"/>
          <a:lstStyle/>
          <a:p>
            <a:pPr algn="l" indent="0" marL="0">
              <a:lnSpc>
                <a:spcPct val="100000"/>
              </a:lnSpc>
              <a:buNone/>
            </a:pPr>
            <a:r>
              <a:rPr lang="en-US" sz="1330" b="1" dirty="0">
                <a:solidFill>
                  <a:srgbClr val="F5F7FC"/>
                </a:solidFill>
                <a:latin typeface="Inter" pitchFamily="34" charset="0"/>
                <a:ea typeface="Inter" pitchFamily="34" charset="-122"/>
                <a:cs typeface="Inter" pitchFamily="34" charset="-120"/>
              </a:rPr>
              <a:t>GR00T Whole-Body Control</a:t>
            </a:r>
            <a:endParaRPr lang="en-US" sz="1330" dirty="0"/>
          </a:p>
        </p:txBody>
      </p:sp>
      <p:sp>
        <p:nvSpPr>
          <p:cNvPr id="28" name="Text 26"/>
          <p:cNvSpPr/>
          <p:nvPr/>
        </p:nvSpPr>
        <p:spPr>
          <a:xfrm>
            <a:off x="6446520" y="3566160"/>
            <a:ext cx="5010912" cy="228600"/>
          </a:xfrm>
          <a:prstGeom prst="rect">
            <a:avLst/>
          </a:prstGeom>
          <a:noFill/>
          <a:ln/>
        </p:spPr>
        <p:txBody>
          <a:bodyPr wrap="square" lIns="0" tIns="0" rIns="0" bIns="0" rtlCol="0" anchor="ctr"/>
          <a:lstStyle/>
          <a:p>
            <a:pPr algn="l" indent="0" marL="0">
              <a:lnSpc>
                <a:spcPct val="100000"/>
              </a:lnSpc>
              <a:buNone/>
            </a:pPr>
            <a:r>
              <a:rPr lang="en-US" sz="1160" dirty="0">
                <a:solidFill>
                  <a:srgbClr val="A1B2C4"/>
                </a:solidFill>
                <a:latin typeface="Inter" pitchFamily="34" charset="0"/>
                <a:ea typeface="Inter" pitchFamily="34" charset="-122"/>
                <a:cs typeface="Inter" pitchFamily="34" charset="-120"/>
              </a:rPr>
              <a:t>G1 fine-tune + SONIC integration</a:t>
            </a:r>
            <a:endParaRPr lang="en-US" sz="1160" dirty="0"/>
          </a:p>
        </p:txBody>
      </p:sp>
      <p:sp>
        <p:nvSpPr>
          <p:cNvPr id="29" name="Shape 27"/>
          <p:cNvSpPr/>
          <p:nvPr/>
        </p:nvSpPr>
        <p:spPr>
          <a:xfrm>
            <a:off x="6263640" y="4114800"/>
            <a:ext cx="5413248" cy="859536"/>
          </a:xfrm>
          <a:prstGeom prst="roundRect">
            <a:avLst>
              <a:gd name="adj" fmla="val 14894"/>
            </a:avLst>
          </a:prstGeom>
          <a:solidFill>
            <a:srgbClr val="102335"/>
          </a:solidFill>
          <a:ln w="10795">
            <a:solidFill>
              <a:srgbClr val="294056"/>
            </a:solidFill>
            <a:prstDash val="solid"/>
          </a:ln>
        </p:spPr>
      </p:sp>
      <p:sp>
        <p:nvSpPr>
          <p:cNvPr id="30" name="Text 28"/>
          <p:cNvSpPr/>
          <p:nvPr/>
        </p:nvSpPr>
        <p:spPr>
          <a:xfrm>
            <a:off x="6446520" y="4224528"/>
            <a:ext cx="5020056" cy="256032"/>
          </a:xfrm>
          <a:prstGeom prst="rect">
            <a:avLst/>
          </a:prstGeom>
          <a:noFill/>
          <a:ln/>
        </p:spPr>
        <p:txBody>
          <a:bodyPr wrap="square" lIns="0" tIns="0" rIns="0" bIns="0" rtlCol="0" anchor="ctr"/>
          <a:lstStyle/>
          <a:p>
            <a:pPr algn="l" indent="0" marL="0">
              <a:lnSpc>
                <a:spcPct val="100000"/>
              </a:lnSpc>
              <a:buNone/>
            </a:pPr>
            <a:r>
              <a:rPr lang="en-US" sz="1330" b="1" dirty="0">
                <a:solidFill>
                  <a:srgbClr val="F5F7FC"/>
                </a:solidFill>
                <a:latin typeface="Inter" pitchFamily="34" charset="0"/>
                <a:ea typeface="Inter" pitchFamily="34" charset="-122"/>
                <a:cs typeface="Inter" pitchFamily="34" charset="-120"/>
              </a:rPr>
              <a:t>Isaac Lab-Arena</a:t>
            </a:r>
            <a:endParaRPr lang="en-US" sz="1330" dirty="0"/>
          </a:p>
        </p:txBody>
      </p:sp>
      <p:sp>
        <p:nvSpPr>
          <p:cNvPr id="31" name="Text 29"/>
          <p:cNvSpPr/>
          <p:nvPr/>
        </p:nvSpPr>
        <p:spPr>
          <a:xfrm>
            <a:off x="6446520" y="4553712"/>
            <a:ext cx="5010912" cy="228600"/>
          </a:xfrm>
          <a:prstGeom prst="rect">
            <a:avLst/>
          </a:prstGeom>
          <a:noFill/>
          <a:ln/>
        </p:spPr>
        <p:txBody>
          <a:bodyPr wrap="square" lIns="0" tIns="0" rIns="0" bIns="0" rtlCol="0" anchor="ctr"/>
          <a:lstStyle/>
          <a:p>
            <a:pPr algn="l" indent="0" marL="0">
              <a:lnSpc>
                <a:spcPct val="100000"/>
              </a:lnSpc>
              <a:buNone/>
            </a:pPr>
            <a:r>
              <a:rPr lang="en-US" sz="1160" dirty="0">
                <a:solidFill>
                  <a:srgbClr val="A1B2C4"/>
                </a:solidFill>
                <a:latin typeface="Inter" pitchFamily="34" charset="0"/>
                <a:ea typeface="Inter" pitchFamily="34" charset="-122"/>
                <a:cs typeface="Inter" pitchFamily="34" charset="-120"/>
              </a:rPr>
              <a:t>G1 physics benchmark (published N1.6 example)</a:t>
            </a:r>
            <a:endParaRPr lang="en-US" sz="1160" dirty="0"/>
          </a:p>
        </p:txBody>
      </p:sp>
      <p:sp>
        <p:nvSpPr>
          <p:cNvPr id="32" name="Shape 30"/>
          <p:cNvSpPr/>
          <p:nvPr/>
        </p:nvSpPr>
        <p:spPr>
          <a:xfrm>
            <a:off x="6263640" y="5102352"/>
            <a:ext cx="5413248" cy="859536"/>
          </a:xfrm>
          <a:prstGeom prst="roundRect">
            <a:avLst>
              <a:gd name="adj" fmla="val 14894"/>
            </a:avLst>
          </a:prstGeom>
          <a:solidFill>
            <a:srgbClr val="102335"/>
          </a:solidFill>
          <a:ln w="10795">
            <a:solidFill>
              <a:srgbClr val="294056"/>
            </a:solidFill>
            <a:prstDash val="solid"/>
          </a:ln>
        </p:spPr>
      </p:sp>
      <p:sp>
        <p:nvSpPr>
          <p:cNvPr id="33" name="Text 31"/>
          <p:cNvSpPr/>
          <p:nvPr/>
        </p:nvSpPr>
        <p:spPr>
          <a:xfrm>
            <a:off x="6446520" y="5212080"/>
            <a:ext cx="5020056" cy="256032"/>
          </a:xfrm>
          <a:prstGeom prst="rect">
            <a:avLst/>
          </a:prstGeom>
          <a:noFill/>
          <a:ln/>
        </p:spPr>
        <p:txBody>
          <a:bodyPr wrap="square" lIns="0" tIns="0" rIns="0" bIns="0" rtlCol="0" anchor="ctr"/>
          <a:lstStyle/>
          <a:p>
            <a:pPr algn="l" indent="0" marL="0">
              <a:lnSpc>
                <a:spcPct val="100000"/>
              </a:lnSpc>
              <a:buNone/>
            </a:pPr>
            <a:r>
              <a:rPr lang="en-US" sz="1330" b="1" dirty="0">
                <a:solidFill>
                  <a:srgbClr val="F5F7FC"/>
                </a:solidFill>
                <a:latin typeface="Inter" pitchFamily="34" charset="0"/>
                <a:ea typeface="Inter" pitchFamily="34" charset="-122"/>
                <a:cs typeface="Inter" pitchFamily="34" charset="-120"/>
              </a:rPr>
              <a:t>RynnBrain Plan</a:t>
            </a:r>
            <a:endParaRPr lang="en-US" sz="1330" dirty="0"/>
          </a:p>
        </p:txBody>
      </p:sp>
      <p:sp>
        <p:nvSpPr>
          <p:cNvPr id="34" name="Text 32"/>
          <p:cNvSpPr/>
          <p:nvPr/>
        </p:nvSpPr>
        <p:spPr>
          <a:xfrm>
            <a:off x="6446520" y="5541264"/>
            <a:ext cx="5010912" cy="228600"/>
          </a:xfrm>
          <a:prstGeom prst="rect">
            <a:avLst/>
          </a:prstGeom>
          <a:noFill/>
          <a:ln/>
        </p:spPr>
        <p:txBody>
          <a:bodyPr wrap="square" lIns="0" tIns="0" rIns="0" bIns="0" rtlCol="0" anchor="ctr"/>
          <a:lstStyle/>
          <a:p>
            <a:pPr algn="l" indent="0" marL="0">
              <a:lnSpc>
                <a:spcPct val="100000"/>
              </a:lnSpc>
              <a:buNone/>
            </a:pPr>
            <a:r>
              <a:rPr lang="en-US" sz="1160" dirty="0">
                <a:solidFill>
                  <a:srgbClr val="A1B2C4"/>
                </a:solidFill>
                <a:latin typeface="Inter" pitchFamily="34" charset="0"/>
                <a:ea typeface="Inter" pitchFamily="34" charset="-122"/>
                <a:cs typeface="Inter" pitchFamily="34" charset="-120"/>
              </a:rPr>
              <a:t>Local embodied task planner candidate</a:t>
            </a:r>
            <a:endParaRPr lang="en-US" sz="1160" dirty="0"/>
          </a:p>
        </p:txBody>
      </p:sp>
      <p:sp>
        <p:nvSpPr>
          <p:cNvPr id="36" name="Text 33"/>
          <p:cNvSpPr/>
          <p:nvPr/>
        </p:nvSpPr>
        <p:spPr>
          <a:xfrm>
            <a:off x="950976" y="6089904"/>
            <a:ext cx="10469880" cy="210312"/>
          </a:xfrm>
          <a:prstGeom prst="rect">
            <a:avLst/>
          </a:prstGeom>
          <a:noFill/>
          <a:ln/>
        </p:spPr>
        <p:txBody>
          <a:bodyPr wrap="square" lIns="0" tIns="0" rIns="0" bIns="0" rtlCol="0" anchor="ctr"/>
          <a:lstStyle/>
          <a:p>
            <a:pPr algn="ctr" indent="0" marL="0">
              <a:lnSpc>
                <a:spcPct val="100000"/>
              </a:lnSpc>
              <a:buNone/>
            </a:pPr>
            <a:r>
              <a:rPr lang="en-US" sz="1020" dirty="0">
                <a:solidFill>
                  <a:srgbClr val="647F96"/>
                </a:solidFill>
                <a:latin typeface="Inter" pitchFamily="34" charset="0"/>
                <a:ea typeface="Inter" pitchFamily="34" charset="-122"/>
                <a:cs typeface="Inter" pitchFamily="34" charset="-120"/>
              </a:rPr>
              <a:t>Full citations and links are included in slide notes. Source models and licences must be verified per deployment.</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Robotics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Instruction to Grounded Action — Unitree G1</dc:title>
  <dc:subject>Unitree G1 active perception, semantic world model, navigation, and VLA manipulation</dc:subject>
  <dc:creator>OpenAI</dc:creator>
  <cp:lastModifiedBy>OpenAI</cp:lastModifiedBy>
  <cp:revision>1</cp:revision>
  <dcterms:created xsi:type="dcterms:W3CDTF">2026-10-29T12:48:59Z</dcterms:created>
  <dcterms:modified xsi:type="dcterms:W3CDTF">2026-10-29T12:48:59Z</dcterms:modified>
</cp:coreProperties>
</file>